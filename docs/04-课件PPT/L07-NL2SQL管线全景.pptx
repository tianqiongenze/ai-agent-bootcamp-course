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9EBEE8"/>
                </a:solidFill>
                <a:latin typeface="Calibri"/>
                <a:ea typeface="Microsoft YaHei"/>
              </a:rPr>
              <a:t>《AI驱动的数据中台项目实战》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Microsoft YaHei"/>
              </a:rPr>
              <a:t>NL2SQL 管线全景——从一句话到一条安全 SQL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F39C12"/>
                </a:solidFill>
                <a:latin typeface="Calibri"/>
                <a:ea typeface="Microsoft YaHei"/>
              </a:rPr>
              <a:t>学习情境 L07 ｜ 授课课件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 i="0">
                <a:solidFill>
                  <a:srgbClr val="C8D6EE"/>
                </a:solidFill>
                <a:latin typeface="Calibri"/>
                <a:ea typeface="Microsoft YaHei"/>
              </a:rPr>
              <a:t>六学时 ｜ 校内理实一体 + 企业实训站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0">
                <a:solidFill>
                  <a:srgbClr val="8A9DBE"/>
                </a:solidFill>
                <a:latin typeface="Calibri"/>
                <a:ea typeface="Microsoft YaHei"/>
              </a:rPr>
              <a:t>德国双元制本土化 · 六步工作法 · 费曼学生讲堂 · 布鲁姆认知分层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本讲导航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学习情境 L07 · 六步工作法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0759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074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30759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学习情境与客户委托单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来自 DAP-v2 真实任务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075688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75688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记忆 → 理解 → 应用 → 分析 → 评价 → 创造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43784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16936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843784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重点与难点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附突破策略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11880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85032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11880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六步工作法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资讯 30′ → 计划 30′ → 决策 20′ → 实施 90′ → 检查 40′ → 评价+学生讲堂 30′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379976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453128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379976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企业站实践任务卡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2 学时 · 结对编程 · PR 评审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148072"/>
            <a:ext cx="566928" cy="56692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21224"/>
            <a:ext cx="56692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148072"/>
            <a:ext cx="10408615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2C3345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100" b="0" i="0">
                <a:solidFill>
                  <a:srgbClr val="6B7A90"/>
                </a:solidFill>
                <a:latin typeface="Calibri"/>
                <a:ea typeface="Microsoft YaHei"/>
              </a:rPr>
              <a:t>以教代学，讲清才算掌握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学习情境基本信息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双元场所 · 学时 · 布鲁姆层级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70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1204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学习领域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LF3 智能查询服务开发：NL2SQL 与知识引擎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第 07 讲（第 7 周）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学时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6 学时（校内理实一体 4 学时 + 企业站实践 2 学时）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布鲁姆主层级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应用（记忆、理解、分析渗透）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双元场地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校内：理实一体机房；企业站：DAP-v2 集群，洞察 Agent 服务 insight-agent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L05 数仓已灌 105.9 万订单；L06 网关读写路径理解；LiteLLM→qwen2.5:14b 服务可达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1204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企业站 PR 任务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PR-07：跑通 3 条指定问句，逐条交付"问句 → 生成 SQL → 行数/结果 → 护栏记录"证据链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1204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课后费曼任务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把五步管线讲成"外卖下单"类比，讲给完全不懂 AI 的听众并录 3 分钟音频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客户委托单（任务描述）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本讲要解决的真实业务问题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1274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💡 </a:t>
            </a:r>
            <a:r>
              <a:rPr sz="1600" b="1" i="1">
                <a:solidFill>
                  <a:srgbClr val="6B7A90"/>
                </a:solidFill>
                <a:latin typeface="Calibri"/>
                <a:ea typeface="Microsoft YaHei"/>
              </a:rPr>
              <a:t>委托单编号：DAP-NL2SQL-07</a:t>
            </a:r>
            <a:r>
              <a:rPr sz="1600" b="0" i="1">
                <a:solidFill>
                  <a:srgbClr val="6B7A90"/>
                </a:solidFill>
                <a:latin typeface="Calibri"/>
                <a:ea typeface="Microsoft YaHei"/>
              </a:rPr>
              <a:t> 业务方在门户输入一句自然语言："2026年5月销售额最高的10个品类"。洞察 Agent 组委托你们：全程追踪这句话如何变成一条安全可执行的 SQL——跑通五步管线并留存每步产物；解剖评测集 Q17 题从"错选表"到修复的完整过程；亲手触发 LLM 输出的 JSON 解析容错与自校验重试路由，最后交付 3 条问句的 SQL 与行数证据链，证明"答案不是编的"。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学习目标（布鲁姆分层）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可测量的行为化目标 · 考核即按此命题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【记忆】按序复述 NL2SQL 五步管线：意图理解 → Schema Linking（列级反向索引）→ LLM 生成（LiteLLM→qwen2.5:14b，温度 0.1，JSON 模式）→ 自校验（列归属 + 重试≤2）→ 沙箱执行（四层护栏）。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67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【理解】解释列级反向索引为什么能把 prompt 从"全库 schema"压缩到"表 X 字段清单"，以及对准确率与 token 成本的双面收益。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553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【应用】运行管线 CLI 并留存五步产物文件（intent / schema_link / sql / check / result），解释每个文件中关键字段的来源。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1404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4.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【分析】定位 Q17（"2026年5月销售额最高的10个品类"）错选表根因，说明"同义词映射 + 分层白名单"修复方案并复现修复前后对比。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72697"/>
            <a:ext cx="11185855" cy="648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5.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【理解】说明 JSON 解析容错的三级降序策略与自校验失败后的重试路由（重试≤2 次后转人工/模板兜底），并说出对应指标名。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教学难点与突破策略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教学重点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1429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五步管线逐环产物与数据流：每一环的输入、输出、失败出口（缺一环讲不清整链）。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6722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Q17 真实错题的根因分析：Schema Linking 层的"列→表"映射错误如何污染下游所有环节。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9147"/>
            <a:ext cx="11185855" cy="3724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教学难点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31572"/>
            <a:ext cx="11185855" cy="1477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学生普遍低估 Schema Linking 的价值，认为"把全库 schema 塞进 prompt 也行"。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：现场算账 + 干扰实验——① token 账：全库 5 层 40+ 表 ≈ 12k token/次 vs 命中 2 表 ≈ 800 token/次（成本 15 倍差）；② 干扰账：给 qwen2.5:14b 看全部表时现场复现"错选 ODS 表"（Q17 旧版行为），只看白名单表时稳定正确——用同一模型两次结果对比，让"少即是多"可感。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18897"/>
            <a:ext cx="11185855" cy="92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"自校验放在 LLM 之后"的必要性（LLM 会幻觉出不存在或不在白名单的列）。 </a:t>
            </a:r>
            <a:r>
              <a:rPr sz="1500" b="1" i="0">
                <a:solidFill>
                  <a:srgbClr val="2C3345"/>
                </a:solidFill>
                <a:latin typeface="Calibri"/>
                <a:ea typeface="Microsoft YaHei"/>
              </a:rPr>
              <a:t>突破策略</a:t>
            </a:r>
            <a:r>
              <a:rPr sz="1500" b="0" i="0">
                <a:solidFill>
                  <a:srgbClr val="2C3345"/>
                </a:solidFill>
                <a:latin typeface="Calibri"/>
                <a:ea typeface="Microsoft YaHei"/>
              </a:rPr>
              <a:t>：幻觉注入演示——构造 prompt 让模型生成 `dwd_order_items.profit_margin`（表中不存在），观察 validator 拦截并触发重试路由，展示 `check` 产物里的 `violations` 字段。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教学准备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环境 · 资料 · 分组 · 安全须知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55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59266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类别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环境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insight-agent 服务与 CLI 可用；TiDB 数仓就绪（表：ods_orders、dwd_orders、dwd_order_items、dim_products、dws_sales_daily 等）；LiteLLM 网关路由 qwen2.5:14b（temperature=0.1，response_format=json）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代码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services/insight-agent/app/nl2sql/：intent.py / schema_link.py / generator.py / validator.py / executor.py；索引快照 evals/fixtures/schema_index_v0.jsonl（Q17 修复前版）与 services/insight-agent/resources/schema_index.jsonl（现行版）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评测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evals/nl2sql_evalset.jsonl（24 题，现基线 accuracy=0.917，bootstrap 95%CI [0.792, 1.000]）；evals/run.py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59266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工具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curl、jq、mysql 客户端（复核行数）；任务单含"证据链粘贴区"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59267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分组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沿用结对；每组认领 1 条"必翻车问句"用于 L08 铺垫（如"订单号 O 开头怎么查"）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6047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以 Q17 问句开场，先演示最终效果（门面在最后揭穿）：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2448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services.insight_agent.nl2sql run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--q "2026年5月销售额最高的10个品类" --trace out/q17/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6868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// out/q17/3_sql.json（产物示例）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{"sql": "SELECT p.category, SUM(i.pay_amount) AS sales_amt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FROM dwd_order_items i JOIN dim_products p ON i.product_id = p.product_id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WHERE i.order_ts &gt;= '2026-05-01' AND i.order_ts &lt; '2026-06-01'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GROUP BY p.category ORDER BY sales_amt DESC LIMIT 10",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"tables": ["dwd_order_items", "dim_products"], "confidence": 0.86}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383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板书五步管线数据流（含每步失败出口）：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0239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问句 ─①意图理解─▶ intent{domain, time_range, metrics, topn}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─②Schema Linking（列级反向索引）─▶ 候选表 + "表X字段清单" prompt 注入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─③LLM 生成（LiteLLM→qwen2.5:14b，temp=0.1，JSON 模式）─▶ {sql, tables}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├─ JSON 解析失败 → 剥围栏/正则提段/重生成 1 次（parse_fail_total 计数）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─④自校验：列归属（SQL 中每列 ∈ 候选表字段清单？）+ 只读白名单预检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     ├─ 违规 → 带违规原因重试路由回 ③（≤2 次）→ 仍败 → 模板/人工兜底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    ─⑤沙箱执行（四层护栏：AST 只读白名单 / 强制 LIMIT+超时 / 租户表授权 / 高危审批）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─▶ 行集 + 行数证据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资讯（续1）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6.1 资讯（30′）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讲解两个关键设计动机：① 反向索引 = "列名/同义词 → 表.列"的倒排，把 12k token 压到 ~800；② 温度 0.1 + JSON 模式 = 让同一个问句的输出尽量确定、可解析（评测集可回归的前提）。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4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预告评测基线：24 题 91.7%（22/24），CI 下界 79.2%——"你们今天要亲手抓到那 2 题中的一题的历史版本"。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7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复画管线图并给每步标注"失败出口"；在任务单记录 token 账与温度/JSON 模式的两个"为什么"。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0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演示导入 + 板书数据流 + 追问。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381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先见结果再见骨架，动机（成本、确定性）先行，避免管线沦为名词背诵；失败出口为实施环节的容错实验建立预期。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计划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6.2 计划（30′）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指导各组排实施顺序与证据采集计划（三实验 + 一复盘）：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1760474"/>
          <a:ext cx="11185855" cy="18986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37973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实验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产物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时间盒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E1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五步全流程追踪（自选问句 + Q17）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out/*/** 五件产物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E2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Q17 错选表复现与修复对比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修复前后 2_schema_link/3_sql 截图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E3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JSON 容错 + 幻觉列重试路由注入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fuzz 输出 + check 违规字段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25′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7973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E4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行数复核（mysql 直查对账）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对账 SQL 与行数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15′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02920" y="37091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结对定自选问句（避开 Q17）；预写 E2 的"预期差异"（旧索引会把"销售额"链到哪张表？）；分配 Driver/Navigator 轮换点。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0094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实验矩阵计划法。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3495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把 90′ 实施拆成可验收的四个实验，每个实验都有对照物（前后/两侧），训练"对比取证"习惯。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决策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6.3 决策（20′）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审核各组问句是否覆盖不同环节风险（时间解析 / 多表 JOIN / 聚合维度各至少一题）；统一安全口径：所有跑数走 `dap_app` 只读账号；`--trace` 目录按问句 ID 归档避免覆盖。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01828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微调问句清单；确认归档结构 `out/{qid}/1_intent.json … 5_result.csv`。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清单审核 + 教师放行。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问句覆盖度直接决定证据链的教学价值；归档规范为评测回归（L15）留档。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2235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services.insight_agent.nl2sql run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--q "2026年5月销售额最高的10个品类" --trace out/q17/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cat out/q17/1_intent.json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{"domain":"sales","time_range":{"start":"2026-05-01","end":"2026-06-01"},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"metrics":["销售额"],"topn":10,"intent":"rank"}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cat out/q17/2_schema_link.json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{"candidates":["dwd_order_items","dim_products","dws_sales_daily"],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"prompt_tables":{"dwd_order_items":"id,order_id,product_id,qty,pay_amount,order_ts,…",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                 "dim_products":"product_id,sku,category,brand,…"},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"index_hits":["销售额→dwd_order_items.pay_amount","品类→dim_products.category"]}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2166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任务单必答：②的 `prompt_tables` 里为什么没有 `ods_orders`？（答：索引白名单只收 DWD/DWS/DIM/ADS，ODS 不对外。）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13484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用修复前索引快照复现错选表：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services.insight_agent.nl2sql run --trace out/q17_old/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--q "2026年5月销售额最高的10个品类"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--index evals/fixtures/schema_index_v0.jsonl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cat out/q17_old/2_schema_link.json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旧版索引把 "销售额" 命中到 ods_orders.total_amount（字段名最直白，但 ODS 含运费且不该对外）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cat out/q17_old/3_sql.json | jq -r .sql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SELECT … FROM ods_orders …            ← 错选表：口径错（含运费）+ 层次错（ODS 暴露）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8958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修复三步（对照现行 `resources/schema_index.jsonl`）：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1.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分层白名单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：Schema Linking 只在 DWD/DWS/DIM/ADS 层的列上建倒排；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79047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2.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同义词映射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：`销售额/营业额/营收 → dwd_order_items.pay_amount`、`销售额(日汇总场景) → dws_sales_daily.sale_amount`；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4122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E86DE"/>
                </a:solidFill>
                <a:latin typeface="Calibri"/>
                <a:ea typeface="Microsoft YaHei"/>
              </a:rPr>
              <a:t>3. 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评测回归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776304"/>
            <a:ext cx="11185855" cy="584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evals.run --set evals/nl2sql_evalset.jsonl --only Q17   # PASS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evals.run --set evals/nl2sql_evalset.jsonl              # 24 题 0.917 不回退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420504"/>
            <a:ext cx="11185855" cy="304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① JSON 容错三级降序（注入模型常见劣化输出）：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services.insight_agent.nl2sql.fuzz_json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--case fence --case trailing-comma --case truncated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输出示例：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fence           → strip ```json 围栏后 parse OK（lenient=1）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trailing-comma  → 剥尾逗号后 parse OK（lenient=1）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truncated       → parse FAIL → 重生成 1 次 → parse_fail_total{reason="truncated"} +1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/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② 幻觉列注入：诱导生成不存在的 profit_margin 列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python -m services.insight_agent.nl2sql run --trace out/hallu/ \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--q "2026年5月各品类利润率排名前10"      --index evals/fixtures/index_with_profit_hint.jsonl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cat out/hallu/4_check.json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{"passed":false,"violations":["column dwd_order_items.profit_margin not in table schema"],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"retry":1,"route":"regenerate_with_violations"}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28504"/>
            <a:ext cx="111858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A90"/>
                </a:solidFill>
                <a:latin typeface="Calibri"/>
                <a:ea typeface="Microsoft YaHei"/>
              </a:rPr>
              <a:t>…（另有 1 行，详见教学方案原文）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实施（续2）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6.4 实施（90′）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426464"/>
            <a:ext cx="11185855" cy="14097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mysql -h 10.167.2.175 -P 4000 -u dap_app -p -e 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SELECT COUNT(*) FROM (SELECT p.category, SUM(i.pay_amount) amt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FROM dwd_order_items i JOIN dim_products p ON i.product_id=p.product_id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WHERE i.order_ts&gt;='2026-05-01' AND i.order_ts&lt;'2026-06-01'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GROUP BY p.category ORDER BY amt DESC LIMIT 10) t;"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与 out/q17/5_result.csv 行数一致（=10）→ 对账通过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8961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巡回；在 E2 处集中演示一次"索引差异 diff"（`diff &lt;(jq -S . old) &lt;(jq -S . new)`）把"修复"从概念变成两行可见的索引条目；收集各组幻觉列案例（哪个列名被幻觉最多——常见 `profit_margin`/`user_name`）。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4579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按实验矩阵执行并粘贴证据；每完成一实验在任务单打勾并记录偏差（如 fuzz 某 case 与预期不符，原样记录留讨论）。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3761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对比实验法 + 注入式测试（fuzz/幻觉注入）。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7162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E2 是全课"用数据说话"的样板：错误可复现、修复可 diff、回归有指标；E3 让学生站在管线作者视角制造故障，理解容错代码存在的理由（而非"别人写好的黑盒"）。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检查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6.5 检查（40′）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112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按证据链四查验收：① 五步产物齐全且字段能解释；② Q17 前后对比两截图 + 索引 diff；③ fuzz 三 case 输出 + check 违规字段；④ 对账行数一致。追问两组："如果 qwen2.5:14b 换成 72b，哪些环节可能要重调？"（答：JSON 模式稳定性↑可简化容错；幻觉列概率↓但 validator 不能删——护栏与模型能力解耦）。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3390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组间交换证据链互查（重点查 5_result.csv 行数与对账 SQL 是否真跑过）；登记缺项并现场补跑或如实标注。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12572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证据链核验 + 迁移追问。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5973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"护栏与模型能力解耦"是本讲最重要的架构判断，用换模型思想实验检验学生是否真正理解各环节存在的原因。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六步法 · 评价＋学生讲堂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6.6 评价 + 学生讲堂（30′）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6487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648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资讯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2679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2679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计划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8871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8871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决策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5063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5063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实施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71255" y="1024128"/>
            <a:ext cx="1481328" cy="274320"/>
          </a:xfrm>
          <a:prstGeom prst="rect">
            <a:avLst/>
          </a:prstGeom>
          <a:solidFill>
            <a:srgbClr val="3A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71255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Microsoft YaHei"/>
              </a:rPr>
              <a:t>检查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07447" y="1024128"/>
            <a:ext cx="1481328" cy="2743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7447" y="1051560"/>
            <a:ext cx="14813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A"/>
                </a:solidFill>
                <a:latin typeface="Calibri"/>
                <a:ea typeface="Microsoft YaHei"/>
              </a:rPr>
              <a:t>评价＋学生讲堂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426464"/>
            <a:ext cx="11185855" cy="8696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【教师活动】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按第八节评分；学生讲堂："我把五步管线讲成外卖下单"（随机抽 3 组各 3 分钟：意图=读懂你想吃啥、Schema Linking=只带相关餐厅的菜单、生成=后厨照单做、自校验=出餐前核对有没有点了没有的菜、沙箱执行=通过食安检查才出餐）；布置 L08 预习：思考"为什么 Q17 对了，'订单号 O 开头怎么查'这类问句还是会翻车"。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27609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【学生活动】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类比讲解（类比必须保真：映射错一处扣分）；听众互评"类比是否帮理解而非误导"；完成自评三问。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610104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【教学方法】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费曼讲堂 + 类比保真互评。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44114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【设计意图】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类比是对理解的最强压缩测试——映射错（如把自校验说成"做错了重做"漏掉列归属）立即暴露理解空洞；预习问题直通 L08 混合检索。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11185855" cy="414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2E86DE"/>
                </a:solidFill>
                <a:latin typeface="Calibri"/>
                <a:ea typeface="Microsoft YaHei"/>
              </a:rPr>
              <a:t>▍任务卡 PR-07：三条问句证据链交付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75891"/>
          <a:ext cx="11185855" cy="18224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4556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任务目标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跑通 3 条指定问句，交付"问句→SQL→行数/结果→护栏记录"完整证据链，并修复其中暴露的一个索引缺口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4556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前置条件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E1-E4 校内完成；dap_app 只读账号可用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45561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指定问句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"2026年第二季度各区域的订单量排名" ② "复购客户（≥2 单）贡献的销售额占比" ③ 各组自选 1 条（需覆盖时间筛选或 JOIN 之外的第三种风险：模糊条件/口径词）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48341"/>
            <a:ext cx="11185855" cy="35401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步骤：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2351"/>
            <a:ext cx="11185855" cy="18161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/>
          <a:lstStyle/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for q in "2026年第二季度各区域的订单量排名" "复购客户（≥2单）贡献的销售额占比" "&lt;自选&gt;"; do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  python -m services.insight_agent.nl2sql run --q "$q" --trace "out/pr07/$(echo $q|md5sum|cut -c1-6)/"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done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每条问句交付：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1) 5 步产物目录（1_intent…5_result）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2) 对账：mysql 用同 SQL 复核行数/金额，截图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3) 若自校验有 retry≥1：解释违规原因与重试后行为</a:t>
            </a:r>
          </a:p>
          <a:p>
            <a:pPr algn="l"/>
            <a:r>
              <a:rPr sz="1200" b="0" i="0">
                <a:solidFill>
                  <a:srgbClr val="C9E0FF"/>
                </a:solidFill>
                <a:latin typeface="Calibri"/>
                <a:ea typeface="Microsoft YaHei"/>
              </a:rPr>
              <a:t>#  4) 若问句失败：定位失败在第几步 + 根因（索引缺口/口径未定义/模型解析），能修索引的修，不能修的写入"未解决清单"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58451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交付物（PR 内容）：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`docs/07-项目资源/g{N}/L07-证据链.md`（3 问句 × 4 要素表格化）、`out/pr07/` 产物、索引补丁（若有）。</a:t>
            </a:r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必须含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"失败与未解决清单"栏。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0271"/>
            <a:ext cx="11185855" cy="611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2C3345"/>
                </a:solidFill>
                <a:latin typeface="Calibri"/>
                <a:ea typeface="Microsoft YaHei"/>
              </a:rPr>
              <a:t>评审标准（企业导师三查）：</a:t>
            </a:r>
            <a:r>
              <a:rPr sz="1400" b="0" i="0">
                <a:solidFill>
                  <a:srgbClr val="2C3345"/>
                </a:solidFill>
                <a:latin typeface="Calibri"/>
                <a:ea typeface="Microsoft YaHei"/>
              </a:rPr>
              <a:t> 查链（SQL 与结果能互相对账）；查真（产物时间戳/行数可复核，禁止手改 jsonl 产物）；查根因（失败项定位到管线步骤，不允许写"模型不行"了事）。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企业站实践任务卡（2 学时）（续1）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结对编程 · 工程标准三查 · PR 评审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9080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302683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双导师签栏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意见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签名/日期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02683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校内导师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02684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企业导师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/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本讲评价设计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任务单评分 · 证据链要求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2298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10"/>
              </a:tblGrid>
              <a:tr h="32838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维度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权重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90-100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75-89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60-74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&lt;60 分标准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管线复述（资讯）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五步 + 失败出口全对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五步对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漏一步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靠提示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E1 产物解读（实施）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五件产物字段全部能解释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4 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 件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未跑通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E2 根因分析（实施）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25%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复现+索引 diff+回归三证齐全，能讲清分层白名单逻辑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缺回归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 diff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未复现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E3 容错实验（实施）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三 case + 幻觉注入全做且解释路由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缺一项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仅跑通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未做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32838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E4 对账（实施）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3 条问句全对账一致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2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 条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未对账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2839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学生讲堂（评价）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10%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类比映射全保真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一处失真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多处失真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讲不出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610572"/>
            <a:ext cx="11185855" cy="3355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2C3345"/>
                </a:solidFill>
                <a:latin typeface="Calibri"/>
                <a:ea typeface="Microsoft YaHei"/>
              </a:rPr>
              <a:t>红线</a:t>
            </a:r>
            <a:r>
              <a:rPr sz="1300" b="0" i="0">
                <a:solidFill>
                  <a:srgbClr val="2C3345"/>
                </a:solidFill>
                <a:latin typeface="Calibri"/>
                <a:ea typeface="Microsoft YaHei"/>
              </a:rPr>
              <a:t>：手改产物文件伪造"正确 SQL"或对账截图与实际行数不符，本讲 0 分重做（HSA）。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78638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"/>
            <a:ext cx="1118585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  <a:ea typeface="Microsoft YaHei"/>
              </a:rPr>
              <a:t>课后费曼任务</a:t>
            </a:r>
          </a:p>
          <a:p>
            <a:r>
              <a:rPr sz="1300" b="0" i="0">
                <a:solidFill>
                  <a:srgbClr val="B8C9E4"/>
                </a:solidFill>
                <a:latin typeface="Calibri"/>
                <a:ea typeface="Microsoft YaHei"/>
              </a:rPr>
              <a:t>以教代学 · 讲给非技术听众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《AI驱动的数据中台项目实战》｜德国双元制本土化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A90"/>
                </a:solidFill>
                <a:latin typeface="Calibri"/>
                <a:ea typeface="Microsoft YaHe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61872"/>
          <a:ext cx="11185855" cy="307975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592927"/>
                <a:gridCol w="5592928"/>
              </a:tblGrid>
              <a:tr h="769937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内容</a:t>
                      </a:r>
                    </a:p>
                  </a:txBody>
                  <a:tcPr marL="54864" marR="36576" marT="18288" marB="18288" anchor="ctr">
                    <a:solidFill>
                      <a:srgbClr val="243B63"/>
                    </a:solidFill>
                  </a:tcPr>
                </a:tc>
              </a:tr>
              <a:tr h="769937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讲给谁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完全不懂 AI 与数据库的家人/朋友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769937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讲什么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用"外卖下单"类比讲五步管线，录 3 分钟音频：每一步映射必须保真（意图=点单备注、Schema Linking=只带相关菜单、生成=后厨备菜、自校验=出餐前核对、沙箱=食安检查），并回答对方至少 1 个追问（如"为什么不让 AI 直接连数据库跑？"——答：幻觉列/口径错/权限，四层护栏的存在理由）</a:t>
                      </a:r>
                    </a:p>
                  </a:txBody>
                  <a:tcPr marL="54864" marR="36576" marT="18288" marB="18288" anchor="ctr">
                    <a:solidFill>
                      <a:srgbClr val="F2F5FA"/>
                    </a:solidFill>
                  </a:tcPr>
                </a:tc>
              </a:tr>
              <a:tr h="769939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自评三问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C3345"/>
                          </a:solidFill>
                          <a:latin typeface="Calibri"/>
                          <a:ea typeface="Microsoft YaHei"/>
                        </a:rPr>
                        <a:t>① 我的类比里哪一步映射最勉强，听众听懂了吗？② 我能不能不用任何类比，直接用三句话讲清"为什么先 Schema Linking 再生成"？③ 如果业务问"利润率"而数仓没有这列，我的系统会发生什么——我能把整条失败路径背出来吗？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libri"/>
                <a:ea typeface="Microsoft YaHei"/>
              </a:rPr>
              <a:t>L07 · NL2SQL 管线全景——从一句话到一条安全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提交六步法任务工单（含诚实清单栏，EVAL-01）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企业站 PR 按评审单三查自查（EVAL-02）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完成课后费曼任务（讲不清的记入补讲清单）</a:t>
            </a:r>
          </a:p>
          <a:p>
            <a:pPr>
              <a:spcBef>
                <a:spcPts val="800"/>
              </a:spcBef>
            </a:pPr>
            <a:r>
              <a:rPr sz="1600" b="0" i="0">
                <a:solidFill>
                  <a:srgbClr val="C8D6EE"/>
                </a:solidFill>
                <a:latin typeface="Calibri"/>
                <a:ea typeface="Microsoft YaHei"/>
              </a:rPr>
              <a:t>✓ 未完成事项如实申报 —— 承认未完成不是失败，虚报完成才是（HSA）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8A9DBE"/>
                </a:solidFill>
                <a:latin typeface="Calibri"/>
                <a:ea typeface="Microsoft YaHei"/>
              </a:rPr>
              <a:t>《AI驱动的数据中台项目实战》课程仓库 · 教学方案为本课件单一事实源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