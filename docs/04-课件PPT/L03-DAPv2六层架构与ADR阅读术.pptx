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9EBEE8"/>
                </a:solidFill>
                <a:latin typeface="Calibri"/>
                <a:ea typeface="Microsoft YaHei"/>
              </a:rPr>
              <a:t>《AI驱动的数据中台项目实战》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  <a:ea typeface="Microsoft YaHei"/>
              </a:rPr>
              <a:t>DAP-v2 六层架构与 ADR 阅读术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F39C12"/>
                </a:solidFill>
                <a:latin typeface="Calibri"/>
                <a:ea typeface="Microsoft YaHei"/>
              </a:rPr>
              <a:t>学习情境 L03 ｜ 授课课件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C8D6EE"/>
                </a:solidFill>
                <a:latin typeface="Calibri"/>
                <a:ea typeface="Microsoft YaHei"/>
              </a:rPr>
              <a:t>学时 6（校内 4 ＋ 企业站 2）　·　布鲁姆层级 理解 / 分析（解/析），评价渗透　·　校内理实一体教室＋企业实训站（dap-v2 仓库与集群）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8A9DBE"/>
                </a:solidFill>
                <a:latin typeface="Calibri"/>
                <a:ea typeface="Microsoft YaHei"/>
              </a:rPr>
              <a:t>德国双元制本土化 · 六步工作法 · 费曼学生讲堂 · 布鲁姆认知分层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本讲导航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学习情境 L03 · 六步工作法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07592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074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07592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学习情境与客户委托单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来自 DAP-v2 真实任务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75688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4884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75688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学习目标（布鲁姆分层）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记忆 → 理解 → 应用 → 分析 → 评价 → 创造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43784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1693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843784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重点与难点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附突破策略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11880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8503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611880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六步工作法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资讯 30′ → 计划 30′ → 决策 20′ → 实施 90′ → 检查 40′ → 评价+学生讲堂 30′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379976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45312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379976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企业站实践任务卡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2 学时 · 结对编程 · PR 评审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148072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22122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48072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课后费曼任务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以教代学，讲清才算掌握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学习情境基本信息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双元场所 · 学时 · 布鲁姆层级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111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64309"/>
                <a:gridCol w="1864309"/>
                <a:gridCol w="1864309"/>
                <a:gridCol w="1864309"/>
                <a:gridCol w="1864309"/>
                <a:gridCol w="1864310"/>
              </a:tblGrid>
              <a:tr h="5588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学习领域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LF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讲次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学时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布鲁姆主层级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双元场地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LF1 数据中台认知与数仓架构规划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LF1（第 3/3 讲）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L03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6（校内 4 ＋ 企业站 2）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理解 / 分析（解/析），评价渗透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校内理实一体教室＋企业实训站（dap-v2 仓库与集群）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2429472"/>
            <a:ext cx="11185855" cy="92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企业站 PR 任务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：向课程仓库提交一张"架构说明补充/勘误 PR"——通读 `docs/design/architecture/` 架构文档与 `docs/design/adr/`（共 8 份，精读 6 份），为其中一处含糊/缺漏/笔误提交补充段落或勘误（含修订理由），由企业导师评审合并。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64347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课后费曼任务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：学生讲堂①预演——每人自选 1 份 ADR，准备 3 分钟脱稿讲解（背景约束→决策→代价），下次课开讲前抽讲。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客户委托单（任务描述）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本讲要解决的真实业务问题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98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0">
                <a:solidFill>
                  <a:srgbClr val="2C3345"/>
                </a:solidFill>
                <a:latin typeface="Calibri"/>
                <a:ea typeface="Microsoft YaHei"/>
              </a:rPr>
              <a:t>某零售集团数据部收到集团架构办评审意见：DAP-v2 涉及 20+ 组件，"为什么不用现成编排框架？为什么元数据库还要读写分离？"要求项目组一周内提交架构说明与决策依据。数据部决定让新员工先精读 6 份 ADR，再向架构办复述六层架构与关键取舍，并接受现场质询。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学习目标（布鲁姆分层）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可测量的行为化目标 · 考核即按此命题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1477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【理解】能按数据流顺序讲清 DAP-v2 六层架构：①接入层 React 控制台→②网关层 GraphQL/REST（FastAPI+Strawberry）→③编排层 LangGraph 风格状态图→④Agent 层（洞察/质量/根因/ETL 四 Agent）→⑤知识引擎层（CRDB 元数据＋Milvus 混合 RAG＋Nebula 血缘）→⑥工具层 MCP（sql-executor 四层护栏），TiDB 零售数仓为数据底座；每层一句话职责＋一个真实组件名。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9197"/>
            <a:ext cx="11185855" cy="92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【理解】能说出 ADR（Architecture Decision Record）的三段结构——背景 Context、决策 Decision、后果 Consequences（含被放弃的替代方案），并解释"替代方案对比"为什么不可省。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840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3.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【分析】能拆解 ADR-001～006 各自解决的约束与付出的代价：001 复用基建、002 自研编排、003 v2 并行灰度、004 诚实容量、005 三级缓存、006 Pulsar 异步＋DLQ。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4272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4.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【分析·渗透】面对质询（如"FAQ 为什么不全走 LLM"），能从架构图定位相关层、引用真实指标（FAQ 直答 420ms vs LLM 56s；held-out 24 题 91.7%；k6 140RPS）组织证据作答。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0013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5.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【评价·渗透】能按互评量表对同伴架构图给出 ≥3 条有依据的评价（至少 1 条改进建议），而非"画得好看"式空评。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教学重点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教学重点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六层架构的分层逻辑与每层核心组件：分层即"变化速率隔离"（前端月抛、编排周调、数据底座十年不动），接口在层间（GraphQL schema、MCP 工具协议）。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52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ADR 三段式阅读法与"取舍"意识：每个决策都是用一种代价换一种收益（自研编排＝掌控状态循环，代价是自己修 bug）。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教学难点与突破策略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教学难点（附突破策略）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92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理解决策的"代价面"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——学生只看结论不看放弃的替代方案，把 ADR 读成"通知"。 突破策略：①"买房 vs 租房"决策表类比（决策=选项+约束+代价，缺一不可）；②每人精读 1 份 ADR 后必须填写"放弃清单"表格（放弃了什么/为什么能承受/什么条件下反悔），组内互讲。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6747"/>
            <a:ext cx="11185855" cy="92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从"看懂图"到"经受质询"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——被动复述容易，被追问即崩。 突破策略：红蓝对抗——蓝方讲解员、白方持质询卡追问（质询卡预置 8 问，含冷门角度：Milvus 挂了 FAQ 还能答吗？编排层为什么不用 LangGraph 现成框架？），答不上记为"回炉点"而非扣分羞辱。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教学准备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环境 · 资料 · 分组 · 安全须知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33655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56091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类别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准备内容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5609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环境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课程仓库 dap-v2 课程镜像（含 docs/design/adr/ 全套 8 份 ADR 与架构总图）；② DAP-v2 控制台只读＋K8S 大屏（kubectl get pods -n dap-v2 -o wide 能看到各层对应工作负载）；③ 白板/绘图纸或 drawio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609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资料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六份精读 ADR 打印件（每人 1 份主责 ADR＋全组 6 份）：ADR-001 复用基建、ADR-002 自研编排、ADR-003 v2 并行、ADR-004 诚实容量、ADR-005 三级缓存、ADR-006 Pulsar 异步+DLQ；ADR 阅读模板（背景/决策/后果/放弃清单四栏）；架构图互评量表；质询卡 8 张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5609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分组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沿用虚拟数据部；本讲主角色＝数据工程；Jigsaw 分工：每组 6 人各认领 1 份 ADR（人数不足时 1 人兼 2 份）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609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仓库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git checkout course/L03-baseline；PR 目标分支 course/L03-review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56092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安全须知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集群与大屏只读（get/describe/logs）；ADR 打印件为教学脱敏版，不含真实主机凭据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六步工作法 · 过程总表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校内 4 学时节奏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22987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6"/>
              </a:tblGrid>
              <a:tr h="328385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步骤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时长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核心内容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主要产出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32838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资讯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30′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架构办质询函宣读；六层架构走读（对照大屏）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架构走读笔记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2838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计划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30′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Jigsaw 分工与精读计划；质询问题池预测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精读任务分配表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2838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决策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20′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定讲解框架（层→组件→指标→取舍）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讲解提纲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2838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实施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90′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①六层走读深读 ②ADR 拼图精读 ③默画架构图 ④红蓝对抗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放弃清单×6＋全组架构图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2838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检查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40′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架构图核对单互评＋教师质询抽测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互评量表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2839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评价＋学生讲堂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30′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"向架构办汇报 3 分钟"＋量表评分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评价量表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资讯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6.1 资讯（30′）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138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【教师活动】宣读架构办质询函原文（投影两个质询问题）；在大屏上以一次真实 NL 查数请求为线索走读六层：请求从 React 控制台发出→GraphQL 网关（FastAPI+Strawberry）→编排层状态图→路由到洞察 Agent→知识引擎先查（CRDB 元数据命中？Milvus 混合检索？）→未命中则经 MCP 调 sql-executor（四层护栏）→SQL 落 TiDB 数仓执行→结果回传渲染。同步对照 `kubectl get pods -n dap-v2 -o wide`，把每一层指到真实 Pod。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8217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【学生活动】跟随走读填《架构走读笔记》：每层记"组件名/一句话职责/这次请求经过它时发生了什么"。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18572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【教学方法】链路追踪法（一条请求串六层）＋现场对照（图↔Pod）。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54973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【设计意图】用动态数据流代替静态框图背诵，先有"旅程感"再谈"分层论"。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91374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六层职责速查表（走读板书底稿，也是"挂了会怎样"抽测题源）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02920" y="4247754"/>
          <a:ext cx="11185855" cy="26797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6"/>
              </a:tblGrid>
              <a:tr h="38281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层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核心组件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一句话职责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挂了会怎样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38281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接入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React 控制台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人机入口，收敛提问与展示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业务不可用，链路无损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8281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网关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FastAPI+Strawberry（GraphQL/REST）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协议接入、鉴权、限流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全站入口不可达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8281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编排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LangGraph 风格状态图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决定"先查知识还是先生成"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请求无路由，全面超时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8281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Agent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洞察/质量/根因/ETL 四 Agent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四类任务的领域智能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对应能力退化，其余可用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8281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知识引擎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CRDB 元数据＋Milvus 混合 RAG＋Nebula 血缘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口径/知识/血缘的复用中枢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直答失效、生成质量下滑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8281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工具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MCP sql-executor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唯一 SQL 出口，四层护栏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所有查数不可用（安全优先）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资讯（续1）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6.1 资讯（30′）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《架构走读笔记》模板（每人一张，走读时随听随填）：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02920" y="1760474"/>
          <a:ext cx="11185855" cy="20510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6"/>
              </a:tblGrid>
              <a:tr h="293007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层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组件名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一句话职责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这次请求经过时发生了什么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293007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接入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93007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网关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293007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编排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93007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Agent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293007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知识引擎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9300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工具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计划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6.2 计划（30′）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【教师活动】布置 Jigsaw：每组 6 人各领 1 份 ADR；给出精读模板四栏（背景约束/决策/后果与代价/放弃清单）；引导预测架构办可能的 8 类质询并制成问题池。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4828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【学生活动】认领 ADR 并通读一遍标出不懂术语（预计集中：AST 白名单、held-out、bootstrap CI、灰度并行、DLQ）；组内排定互讲顺序（每人 3 分钟）；把问题池分工到人预防。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701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【教学方法】拼图式合作学习（Jigsaw）。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0341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【设计意图】每人深读一份、互讲换六份——精读深度与覆盖面兼得；问题池让学生站到质询方视角。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39812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精读目录（课程仓库，共 8 份，本讲精读前 6 份）：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732134"/>
            <a:ext cx="11185855" cy="16129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docs/design/adr/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├── ADR-001-复用基建.md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├── ADR-002-自研编排.md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├── ADR-003-v2并行.md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├── ADR-004-诚实容量.md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├── ADR-005-三级缓存.md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└── ADR-006-Pulsar异步与DLQ.md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40503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ADR 阅读模板（每人一张，四栏必填，缺栏重读）：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02920" y="5739044"/>
          <a:ext cx="11185855" cy="14795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29591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栏目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要回答的问题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29591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背景约束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当时被什么卡住了（人力/时间/存量系统）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9591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决策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选了什么，换来了什么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29591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后果与代价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付出了什么，什么场景会疼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9591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放弃清单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被弃方案＋为何可承受＋反悔条件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计划（续1）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6.2 计划（30′）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人数不足 6 人的组：一人兼读 005/006（同属"性能与可靠性"主题，认知负荷相近）。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决策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6.3 决策（20′）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【教师活动】给定统一讲解框架"层→组件→指标→取舍"，审核各组提纲是否覆盖六层与至少 3 个真实指标（420ms/91.7%/140RPS/105.9 万/四层护栏任选）。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482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【学生活动】产出讲解提纲，明确谁讲架构、谁应答哪类质询（按 ADR 主责认领答辩区）。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4122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【教学方法】框架约束法。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7763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【设计意图】框架保证汇报可比可评，答辩区认领让"被质询"责任到人。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1403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答辩区认领表（决策环节产出，贴在组牌上）：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02920" y="3474324"/>
          <a:ext cx="11185855" cy="14795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29591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质询方向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主答人（ADR 主责）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副答人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29591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编排与 Agent 层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ADR-002 主责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9591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缓存与性能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ADR-005 主责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29591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异步与可靠性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ADR-006 主责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9591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容量与发布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ADR-004 主责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6.4 实施（90′）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回到仓库，按层找到代码/配置落点并登记（示例）：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02920" y="1760474"/>
          <a:ext cx="11185855" cy="28892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41275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层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仓库落点（示例）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学生需记录的证据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1275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接入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web/（React 控制台）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提问输入框调用的 GraphQL mutation 名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网关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services/gateway/（FastAPI+Strawberry）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/graphql 与 /rest 两个入口路由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1275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编排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services/orchestrator/ 状态图定义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状态节点与转移条件各 3 个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Agent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洞察/质量/根因/ETL 四 Agent 目录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每个 Agent 一句话职责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1275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知识引擎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CRDB 元数据/Milvus 集合/Nebula 血缘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FAQ 元数据表名、向量集合名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工具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services/sql-executor/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四层护栏的代码入口顺序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02920" y="469972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每人按四栏模板精读主责 ADR，重点填"放弃清单"。参考锚点（学生需在原文中验证而非照抄板书）：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03373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ADR-001 复用基建：约束是两人小团队+已有 K8S 集群；决策为最大化复用数据基建（TiDB/CRDB/Milvus/Pulsar）；代价是接受既有组件边界。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65555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ADR-002 自研编排：约束是 LangGraph 风格状态循环需深度掌控；决策为自研轻量编排而非直接引入重型框架；代价是自担维护、放弃框架社区生态。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27737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ADR-003 v2 并行：约束是 v1 在用不能停；决策为 v2 并行建设+灰度切流；代价是一段时间双轨运维成本。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64138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ADR-004 诚实容量：约束是单副本两节点集群压不出 100 万并发；决策为只声明实测容量（k6 140RPS 实测口径）+线性外推公式写明假设；代价是"数字不好看但可审计"。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726320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ADR-005 三级缓存 / ADR-006 Pulsar 异步＋DLQ：分别回答"为什么 FAQ 能 420ms"与"慢任务为什么不能堵死网关"。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实施（续1）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6.4 实施（90′）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组内轮讲（每人 3 分钟），听者签字确认并在对方"放弃清单"上补 1 个追问。互讲纪律：主讲人不许念原文段落，必须换成自己的话；追问未答上的条目当场记入"回炉点"清单，不许跳过。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1828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全组合力在白板默画：六层＋TiDB 底座＋层间接口标注＋至少 3 个指标落位（如 420ms 标在网关/知识引擎之间、140RPS 标在网关、91.7% 标在 NL2SQL 管线、四层护栏标在工具层）。不允许照抄原图——凭走读记忆重构。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10104"/>
            <a:ext cx="11185855" cy="869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组间对抗：甲组 2 人任蓝方讲解员，乙组抽 3 张质询卡追问（例：①为什么元数据选 CRDB 还做读写分离？②Milvus 不可用时查询链路怎么走？③held-out 24 题为什么必须与训练/调优集隔离？④140RPS 之后系统会先死在哪一层？）。答不全记"回炉点"，轮换。教师只在僵局时给线索。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45973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质询卡（8 问，红蓝对抗与教师抽测共用）：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79374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为什么不直接用现成编排框架，而要自研状态图？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15775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元数据为什么选 CRDB，还额外做读写分离？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5217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3.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Milvus 不可用时，查询链路降级后怎么走？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88577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4.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FAQ 为什么不全走 LLM 生成？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2497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5.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held-out 24 题为什么必须与调优用例隔离存放？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6137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6.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140RPS 再往上压，最先饱和的会是哪一层？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9778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7.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"语法正确但越权"的 SQL 会被四层护栏的第几层拦下？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3418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8.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v1 还在服役，v2 切流凭什么保证可回退？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检查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6.5 检查（40′）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【教师活动】发放架构图核对单（六层齐全/组件名准确/数据流向正确/≥3 指标落位/层间接口标注），组织组间互评并抽样复述。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482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【学生活动】按互评量表给邻组打分并写 1 条改进建议；接受教师抽测（随机指图中一层问"它挂了会怎样"）。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4122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【教学方法】核对单互评＋故障假设抽测。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7763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【设计意图】"挂了会怎样"是检验架构理解的最廉价探针——能答说明真懂职责与依赖。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1403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架构图核对单（互评依据，5 项全过为优）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02920" y="3474324"/>
          <a:ext cx="11185855" cy="19748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329141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#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核对项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判定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329141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六层＋TiDB 底座齐全、层序正确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29141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每层标注真实组件名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29141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数据流向与真实请求旅程一致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29141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≥3 个指标落位到正确的层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29145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层间接口（GraphQL schema／MCP 协议）有标注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评价＋学生讲堂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6.6 评价＋学生讲堂（30′）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【教师活动】主持"向架构办汇报 3 分钟"（每组 1 人，面向全班扮演的"架构办"，必须回应质询函两个原始问题）；量表评分并点评"证据引用"质量。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482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【学生活动】汇报答辩；完成自评互评；登记回炉点，领取企业站 PR 任务与费曼任务（预演 3 分钟讲 ADR）。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4122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【教学方法】角色扮演＋表现性评价。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7763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【设计意图】闭环本讲情境任务（回应架构办），并为下讲学生讲堂①做好预演。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14031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教师收束两句话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：①架构图不是画给评委看的，是画给三年后接手的人看的；②ADR 的价值一半在"决策"，另一半在"记录了为什么没选另一条路"。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企业站实践任务卡（2 学时）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结对编程 · 工程标准三查 · PR 评审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2946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58928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项目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58928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任务目标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以"文档贡献者"身份向课程仓库提交架构文档补充/勘误 PR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操作步骤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git checkout -b g0X/L03-arch-docs 基于 course/L03-baseline；② 通读 docs/design/architecture/ 与 docs/design/adr/ 前 6 份，对照本讲走读笔记找 1 处可改进点（缺交叉引用/指标未更新/图与文字不一致/术语不一致均可）；③ 撰写补充段落或勘误（≤60 行），文末附"修订理由：…"；④ 提 PR 至 course/L03-review，标题注明 [docs]；⑤ 回应企业导师 review 意见至少一轮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58928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交付物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PR 链接＋修订理由说明（含所引 ADR/代码行证据）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评审标准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改进点真实成立（3）；修订理由引证据而非"我觉得"（3）；diff 克制、不动无关内容（2）；review 往复礼仪与响应（2）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258272"/>
          <a:ext cx="11185855" cy="9080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302683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双导师签栏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签名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日期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30268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企业导师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0268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校内导师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216322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可接受的改进点类型示例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：架构图组件名与代码目录不一致／ADR 之间交叉引用缺失／文档指标未随最新 TEST-REPORT 更新／术语表缺词条。纯排版类修改不计分。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本讲评价设计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任务单评分 · 证据链要求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26035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43391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评价维度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权重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评分标准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339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架构走读笔记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优：六层各有组件名＋职责＋旅程事件；良：缺 1 层细节；中：仅组件名；差：层序错乱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339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ADR 放弃清单（6 份）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25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优：每份含被弃方案+可承受理由+反悔条件；良：缺反悔条件；中：仅结论复述；差：未填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339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默画架构图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优：核对单 5 项全过；良：过 4 项；中：过 3 项；差：≤2 项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339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红蓝对抗表现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15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优：答对≥2 题且能定位层；良：答对 1 题有定位；中：答对但说不出层；差：未参与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3392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汇报与证据引用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优：回应两个原始质询＋引用≥3 个真实指标；良：回应 1 个；中：泛泛而谈；差：未汇报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915372"/>
            <a:ext cx="11185855" cy="574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C3345"/>
                </a:solidFill>
                <a:latin typeface="Calibri"/>
                <a:ea typeface="Microsoft YaHei"/>
              </a:rPr>
              <a:t>过程性观察点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：①精读时是否在 ADR 原文标注而非抄板书锚点（防"锚点即答案"的假验证）；②红蓝对抗中"回炉点"是否被如实登记（HSA 观察）；③互评建议是否指向结构（层/接口/指标）而非字迹美观。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课后费曼任务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以教代学 · 讲给非技术听众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25844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64611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项目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646112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讲给谁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下次课全班（学生讲堂①正式抽讲，3 分钟/人）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646112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讲什么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自选 1 份 ADR，脱稿讲三件事：当时被什么逼着做决定（约束）；决定是什么、换来了什么；付出了什么代价、什么条件下会反悔。禁用 PPT，允许一张手绘图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64611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自评三问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我能不用架构术语把"为什么这么选"讲给产品经理听吗？② 我卡壳在哪——约束没读懂还是代价没想透？③ 卡壳处回炉：重读该 ADR 的 Context 与 Consequences 两段＋对照课程手册架构章；仍不通则列入学生讲堂答疑池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896322"/>
            <a:ext cx="11185855" cy="685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2C3345"/>
                </a:solidFill>
                <a:latin typeface="Calibri"/>
                <a:ea typeface="Microsoft YaHei"/>
              </a:rPr>
              <a:t>讲述提纲提示</a:t>
            </a:r>
            <a:r>
              <a:rPr sz="1600" b="0" i="0">
                <a:solidFill>
                  <a:srgbClr val="2C3345"/>
                </a:solidFill>
                <a:latin typeface="Calibri"/>
                <a:ea typeface="Microsoft YaHei"/>
              </a:rPr>
              <a:t>：用"当时只有两个人、两周时间"开场把听众拉进约束情境→讲决策与代价→结尾抛"如果换成你，会在什么条件下反悔？"引发讨论。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icrosoft YaHei"/>
              </a:rPr>
              <a:t>L03 · DAP-v2 六层架构与 ADR 阅读术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提交六步法任务工单（含诚实清单栏，EVAL-01）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企业站 PR 按评审单三查自查（EVAL-02）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完成课后费曼任务（讲不清的记入补讲清单）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未完成事项如实申报 —— 承认未完成不是失败，虚报完成才是（HSA）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8A9DBE"/>
                </a:solidFill>
                <a:latin typeface="Calibri"/>
                <a:ea typeface="Microsoft YaHei"/>
              </a:rPr>
              <a:t>《AI驱动的数据中台项目实战》课程仓库 · 教学方案为本课件单一事实源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