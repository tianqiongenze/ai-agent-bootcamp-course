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数据基建五件套部署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L05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L05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70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120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LF2 平台基础设施搭建与运维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05 讲（第 5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学时（校内理实一体 4 学时 + 企业站实践 2 学时）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应用（记忆、理解、评价渗透）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校内：理实一体机房（演示 + 仿真）；企业站：DAP-v2 两节点 K8S 集群（10.167.2.175 / 10.167.2.176），课程命名空间 dap-course-g{N}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L04 已完成课程 ns 创建、kubeconfig 与 dap-v2 仓库课程分支 course/g{N} 就绪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PR-05：向 TiDB 目标数仓灌入零售样例数据并验证 105.9 万行可查（附验收 SQL 与结果截图）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学生讲堂②预演：任选五件套之一，讲清"它解决什么问题、去掉它会坏什么"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56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委托单编号：DAP-DEPLOY-05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某零售集团 DAP-v2 数据中台即将在两节点 K8S 集群投产。运维组委托你们小组：以 GitOps 声明式方式部署 TiDB / CRDB / Milvus / Pulsar / Redis 数据基建五件套，逐项完成健康验证，并向 TiDB 灌入零售数仓样例数据（105.9 万订单）。交付一份含 `make diff` 漂移检测证据的部署验收单，未通过项必须如实标注，不得隐瞒。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【记忆】说出五件套各自的版本、端口与角色定位：TiDB v8.5.8:4000（HTAP 目标数仓）、CRDB（平台库，写 26257 / 读 26267）、Milvus v2.6.6:19530（`dap_knowledge` + `dap_semantic_cache`）、Pulsar 4.0.5:6650（`jobs` 6 分区 + 应用侧 DLQ）、Redis（缓存与分布式限流）。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729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【理解】解释每件套的选型理由与"去掉它会坏什么"，以及 GitOps"仓库为唯一事实源、先 diff 后 apply"的工作原理。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316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【应用】在课程命名空间用 `make diff` / `make apply` 完成五件套部署，并用真实命令逐项验证健康状态。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902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【应用】完成 TiDB 灌数前连通性验证与专库账号 `dap_app` 权限核验，为 L05 企业站灌数做准备。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26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【评价】对照《部署验收单》逐项判定部署是否达标，对失败/未验证项如实标注 DEFERRED 及原因（HSA 诚实文化）。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五件套分工与"为什么选它"：TiDB HTAP 一份数据同时扛交易与分析、CRDB 强一致 + 读写分离拓扑、Milvus 高维向量近邻检索、Pulsar 持久化队列 + 死信重投、Redis 微秒级热路径缓存与限流。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29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GitOps 部署闭环：`git 仓库 → make diff（dry-run 漂移预览）→ make apply → make diff 复核归零`。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315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840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五件套功能边界易混淆（学生常问："Milvus 和 Redis 都是'缓存'？"、"Pulsar 和 Redis 的 List 都是'队列'？"）。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：用"去掉它会坏什么"反事实提问 + 对比矩阵（一致性 / 持久化 / 查询模型 / 延迟量级四列），让每组现场回答两个反事实问题后再填表。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88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漂移（drift）概念的抽象性：live 集群状态与 git 声明的差异学生难以感知。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：实施第 3 子步骤中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亲手制造一次漂移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（手动 scale），亲眼看到 `make diff` 输出差异并修复归零，把抽象概念变成一次可复现事件。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479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9596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959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两节点 K8S 集群（10.167.2.175/.176）可达；kubeconfig context dap-course；课程 ns dap-course-g{N}（42 个共享 ns 之一，资源配额已由运维预设）；dap-v2 仓库课程分支 course/g{N}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959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deploy/Makefile、deploy/k8s/base/、deploy/k8s/overlays/course/；样例数据包 data/retail_warehouse.sql.gz（零售 105.9 万订单，ODS/DWD/DIM/DWS/ADS 全分层）；《部署验收单》模板 docs/07-项目资源/L05-验收单.md；五件套官方文档速查卡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959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kubectl ≥1.28、mysql 客户端、git、python3.11 + requirements.txt（注意：numpy&gt;=1.26,&lt;2.0 钉版本——numpy 2.x 在 X86_V2 CPU 上触发非法指令；pymilvus 主键必须 int64）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9596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人结对（Driver/Navigator 每 20′ 轮换），全班按组号使用各自 ns 与分支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发放委托单 DAP-DEPLOY-05，用 5 分钟讲清交付物：五件套全绿 + 漂移归零 + 验收单。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12448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 DAP-v2 数据面拓扑：`dap-gateway(FastAPI+Strawberry GraphQL)` → 平台库 CRDB（写 `cockroachdb-a:26257` / 读 `cockroachdb-b:26267`）｜洞察 Agent → 目标数仓 TiDB `:4000`（专库账号 `dap_app`）+ Milvus `:19530`｜任务面 Pulsar `:6650`（`persistent://dap/prod/jobs`，6 分区）｜热路径 Redis。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619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带领填写五件套选型对照矩阵（重点：每行"为什么选它"必须能说出替代品为什么不行）：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625934"/>
          <a:ext cx="11185855" cy="5118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85301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组件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版本:端口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解决的核心问题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为什么选它（对比项）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去掉它会坏什么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8530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TiDB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v8.5.8 :4000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数仓 OLAP 分析 + HTAP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TiKV 行存 + TiFlash 列存同一份数据，免"再导一份到 ClickHouse"；国产自主可控（课程思政点）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NL2SQL 沙箱执行无处跑，105.9 万订单分析退回手工导表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8530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CRDB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写 26257 / 读 26267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平台元数据、用户、审计的强一致存储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PostgreSQL 协议兼容（SQL 零改造）、raft 强一致、天然支持双集群读写分离拓扑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网关无平台库；读写分离（L06）失去载体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8530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Milvus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v2.6.6 :19530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向量近邻检索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十亿级向量 ANN 索引 + 标量过滤；dap_knowledge（知识）与 dap_semantic_cache（cosine≥0.92 语义缓存）两个 collection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RAG 检索（L08）与语义缓存全部失效，问句必须每次裸调 LLM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85301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Pulsar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4.0.5 :6650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异步任务持久化队列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BookKeeper 分层持久化、消息可重放、6 分区并行消费；应用侧 DLQ 承接 redelivery≥3 的毒丸消息（DLP 铁律）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长任务丢失、失败任务无限重试堵死队列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8530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Redis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7.x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热点缓存 + 分布式限流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微秒级；令牌桶 Lua 脚本原子限流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每问句全量打 CRDB/TiDB，高峰限流失效雪崩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穿插两个真实"依赖漂移"教训（10′）：① `numpy 2.x` 在 X86_V2 CPU 上直接 `Illegal instruction`——所以 `requirements.txt` 钉死 `numpy&gt;=1.26,&lt;2.0`；② `pymilvus` 插入主键必须 int64，字符串 id 报 schema 不匹配。结论：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部署清单 = 镜像版本 + 依赖版本双钉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639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接收委托单；跟随拓扑图在自己纸上复画数据流；结对完成对照矩阵"去掉它会坏什么"两问；记录两个依赖坑到任务单"风险栏"。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557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客户委托单导入 + 讲授 + 反事实提问（对比分析）。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8973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用"委托单 + 反事实"把记忆层信息（版本/端口/角色）转成理解层判断（选型权衡）；依赖坑案例为实施第 4 子步骤的版本核验埋伏笔。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投屏 `deploy/` 目录结构与 `Makefile` 关键目标，示范如何读部署计划：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deploy/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├── Makefile                 # diff / apply / ps / destroy 目标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└── k8s/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├── base/                # 五件套 + dap-gateway 的 Kustomize base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│   ├── tidb-cluster.yaml      cockroachdb-a.yaml  cockroachdb-b.yaml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│   ├── milvus.yaml            pulsar.yaml          redis.yaml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└── overlays/course/      # 课程 ns 补丁：资源配额收敛、NodePort、课程镜像 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3337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deploy/Makefile（节选）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NS ?= dap-course-g1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diff:   ## 漂移预览：git 声明 vs 集群 live（不改动任何资源）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	kubectl diff -k k8s/overlays/course -n $(NS)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apply:  ## 声明式应用（git 为唯一事实源）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	kubectl apply -k k8s/overlays/course -n $(NS)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ps: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	kubectl -n $(NS) get pods -o wide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0947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结对制定《部署计划表》：① 部署顺序及理由（提示：存储类先行，网关最后）；② 每件套的验证命令清单（每人至少写 2 条）；③ 时间盒分配（90′ 实施）；④ 风险与回滚方式（`kubectl delete -k` / `make apply` 重推）。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591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引导文法（Leittext）：计划表只给栏目标题，内容由学生从 Makefile 与 yaml 中自行挖掘。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计划环节强迫学生先读声明文件再动手，避免"上来就 apply"的冲动；验证命令清单直接供 6.4 使用，形成闭环。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逐组快速过计划表，只把关两件事：① 是否"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先 diff 后 apply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"（diff 非零 = 有漂移或首次部署，必须能解释每一行差异）；② 部署顺序是否考虑依赖（Redis/CRDB 先行，依赖它们的 dap-gateway 最后）。宣布纪律：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禁止 `kubectl edit/scale` 直接改 live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（DGO 铁律），一切变更改 overlay yaml 后经 `make apply`。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339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汇报计划要点（每组 90 秒）；根据教师反馈修订计划表并签字确认。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决策会（小组汇报 + 教师否决权）。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双元制"决策"步骤训练工程判断：顺序与纪律比速度重要；把 GitOps 铁律变成课堂硬约束。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6B7A90"/>
                </a:solidFill>
                <a:latin typeface="Calibri"/>
                <a:ea typeface="Microsoft YaHei"/>
              </a:rPr>
              <a:t>💡 环境变量示例：`export NS=dap-course-g1`、`export CTX=dap-course`；以下命令均在 `dap-v2/` 仓库根目录执行。输出为示例，以实际为准，证据需截图入验收单。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18284"/>
            <a:ext cx="11185855" cy="990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checkout course/g1 &amp;&amp; cd deploy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diff NS=$NS        # 首次部署：全部资源显示 "to be created"，确认无意外删除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apply NS=$NS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--context $CTX -n $NS get pods -o wide   # 等待 Running/Ready 1/1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688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预期（示例）：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02894"/>
            <a:ext cx="11185855" cy="16129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NAME                          READY  STATUS   IP            NODE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cockroachdb-a-0               1/1    Running  10.244.1.11   node-176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cockroachdb-b-0               1/1    Running  10.244.2.11   node-175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tidb-0                        2/2    Running  10.244.1.12   node-176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milvus-standalone-0           1/1    Running  10.244.2.12   node-175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pulsar-broker-0               1/1    Running  10.244.1.13   node-176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redis-master-0                1/1    Running  10.244.2.13   node-175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757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6B7A90"/>
                </a:solidFill>
                <a:latin typeface="Calibri"/>
                <a:ea typeface="Microsoft YaHei"/>
              </a:rPr>
              <a:t>💡 共享集群注意：42 个 ns 共享两节点，若出现 Pending，用 `kubectl -n $NS describe pod &lt;pod&gt;` 查看 ResourceQuota，</a:t>
            </a:r>
            <a:r>
              <a:rPr sz="1400" b="1" i="1">
                <a:solidFill>
                  <a:srgbClr val="6B7A90"/>
                </a:solidFill>
                <a:latin typeface="Calibri"/>
                <a:ea typeface="Microsoft YaHei"/>
              </a:rPr>
              <a:t>不要</a:t>
            </a:r>
            <a:r>
              <a:rPr sz="1400" b="0" i="1">
                <a:solidFill>
                  <a:srgbClr val="6B7A90"/>
                </a:solidFill>
                <a:latin typeface="Calibri"/>
                <a:ea typeface="Microsoft YaHei"/>
              </a:rPr>
              <a:t>去删别的 ns 的资源，向教师报告并等待资源窗口。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6761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CRDB 双库（写/读各验一次，L06 读写分离的地基）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exec cockroachdb-a-0 -- ./cockroach sql --insecure -e "SELECT 1;"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exec cockroachdb-b-0 -- ./cockroach sql --insecure -e "SELECT 1;"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TiDB：连通性 + 版本 + 专库账号权限（只读核验）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10.167.2.175 -P 4000 -u dap_app -p -e "SELECT VERSION();"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 8.5.8；再验只读（预期报权限错 = 权限收敛正确）：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10.167.2.175 -P 4000 -u dap_app -p -e "CREATE TABLE t(x int);"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ERROR 1044 (42000): Access denied —— 这是"期望中的报错"，截图入验收单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Milvus：两个 collection 必须在列表中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 &lt;&lt;'PY'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pymilvus import MilvusClient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 = MilvusClient(uri="http://10.167.2.175:19530")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877561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14 行，详见教学方案原文）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制造漂移：手动把 Redis 副本改成 1（违反 DGO 的教学性破坏，仅限课程 ns）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$NS scale deploy/redis-master --replicas=1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漂移检测：make diff 必须红（退出码非 0），指出 replicas: 2 -&gt; 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diff NS=$NS || echo "DRIFT DETECTED (exit=$?)"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以 git 为源修复：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apply NS=$NS &amp;&amp; kubectl -n $NS get deploy redis-master   # 回到 2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④ 复核归零：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diff NS=$NS &amp;&amp; echo "CLEAN"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0256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grep -n "numpy" requirements.txt        # 必须出现 numpy&gt;=1.26,&lt;2.0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-c "import numpy; print(numpy.__version__)"   # 1.26.x，确认非 2.x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467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巡回指导；对 Pending/CrashLoop 用 5 分钟"现场诊断术"集中讲解（`describe` → Events → 常见三类：配额、镜像拉取、探针失败）；收取每组漂移实验的前后 diff 截图。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385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结对按子步骤执行，Driver 操作 / Navigator 对照计划表逐项勾选并记录偏差；所有验证命令输出截图归档到 `docs/07-项目资源/g{N}/L05-evidence/`。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304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任务驱动 + 结对编程 + 现场诊断示范。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644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实施按"部署 → 验证 → 破坏 → 修复"递进：验证培养"无证据不声称完成"，漂移实验把 DGO 铁律从条文变成肌肉记忆；子步骤 2 的 5 条命令即企业站灌数的排障工具箱。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发布《部署验收单》检查口径：五件套健康证据（5 项）+ diff 归零证据（1 项）+ 漂移实验证据（1 项）+ 依赖核验（1 项）= 8 项。组织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组间交叉验收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：A 组用 B 组的命令清单逐条复跑（只读命令），验证可复现性。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完成自检后交换验收单；对复跑失败项在验收单"复核人"栏如实记录（不得替对方掩盖）；全班汇总共性问题 3 条贴到看板。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检查表法 + 同伴互评（交叉复跑 = 最朴素的契约测试）。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"可复现"是工程证据的底线；交叉验收同时暴露文档不完整问题（截图 ≠ 可复跑），呼应 HSA 诚实文化。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 + 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按第八节评分表现场评分（抽查 2 组答辩 3 分钟：任指一件套问"为什么选它"）；主持学生讲堂②：随机抽 3 人，每人 3 分钟讲"一个中间件解决什么问题、去掉会坏什么"，不能用 PPT，只许白板；宣布课后费曼任务与下周 L06 预习（读写分离代码 `services/gateway/app/db/dual_pool.py` 通读一遍）。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被抽讲学生白板讲解；听众用互评量表（讲明白/有例子/答上反问 三项各 ★1-3）；未抽到的学生完成自评三问（见第九节）。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867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费曼学生讲堂 + 同伴互评量表。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19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3 分钟无 PPT 讲解逼学生用自己的话重构知识（费曼法核心）；互评量表给出可操作的标准而非印象分。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▍任务卡 PR-05：TiDB 灌数验证（105.9 万行）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75891"/>
          <a:ext cx="11185855" cy="1822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56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向 TiDB 目标数仓灌入零售样例数据，验证 105.9 万订单全量可查、抽样业务问题可答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前置条件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L05 校内部署验收 8 项中 ≥6 项通过；dap_app 账号可连 10.167.2.175:4000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56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结对方式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人结对，Driver/Navigator 30′ 轮换；在企业导师见证下操作课程分支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48341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步骤：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2351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1. 灌数（脚本内部按 ODS→DWD/DIM→DWS→ADS 顺序执行，幂等可重跑）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10.167.2.175 -P 4000 -u root -p &lt; scripts/seed/create_retail_schema.sql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zcat data/retail_warehouse.sql.gz |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mysql -h 10.167.2.175 -P 4000 -u root -p --local-infile=1 retail_dw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2. 行数铁证（预期 1,059,3xx，以实际灌数为准，截图入 PR）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10.167.2.175 -P 4000 -u dap_app -p -e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"SELECT COUNT(*) FROM retail_dw.ods_orders;"        # ≈ 1,059,000+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... -e "SELECT COUNT(*) FROM retail_dw.dwd_order_items;"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... -e "SELECT COUNT(*) FROM retail_dw.dim_products;"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3. 三条业务抽验 SQL（必须用 dap_app 只读账号执行）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Q1 品类销售 Top3：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p.category, SUM(i.pay_amount) amt FROM dwd_order_items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990351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6 行，详见教学方案原文）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交付物（PR 内容）：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95882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分支 `course/g{N}` → `main` 的 PR，含：验收单 `docs/07-项目资源/g{N}/L05-验收单.md`、证据截图目录、`docs/07-项目资源/g{N}/L05-灌数报告.md`（行数、三条抽验 SQL 及结果、异常记录）。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75512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灌数报告中必须含"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未验证/未完成清单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"栏（如某 DWS 表行数异常未排查，写明现象与下一步）。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9522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评审标准（企业导师三查）：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73532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查证据：行数截图与 SQL 结果一一对应，无"声称完成"无证据项；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37542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查规范：命令可复现（他人按 PR 可重跑）、只读账号用对、无 root 跑业务查询；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01552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查诚实：失败与未验证项如实列出；虚报一项即打回重做。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26556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意见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签名/日期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060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437242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90-100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75-89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60-74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&lt;60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3724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选型理解（资讯）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对照矩阵五项全对，能答任意反事实追问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四项对，反事实答出大意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三项对，靠提示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两项以下或照抄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724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部署规范（实施）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先 diff 后 apply 全程零手动改 live；Pending 自诊断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个别步骤顺序颠倒但自纠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需教师提示完成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直接 apply 或改 live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724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验证证据（实施）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五件套 5 条命令输出全截图且可复跑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 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 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≤2 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724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漂移实验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制造→检测→修复→归零四步证据齐全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缺归零复核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只完成制造+检测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37242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交叉验收与协作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复跑他组全部通过并给出改进建议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复跑通过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部分通过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未参与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372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白板讲清问题+反例，答上追问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讲清问题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复述概念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讲不出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7257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总评 = Σ(维度分 × 权重)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；企业站 PR-05 另按 15% 计入课程总评（见课程标准 §五）。</a:t>
            </a:r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红线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：验收单虚报（写"通过"但无证据）该维度按 0 分计并要求重做。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584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4611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461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一位非计算机专业的同学/家人（完全不懂数据库的人）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46112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任选五件套之一（建议选你今天踩坑最多的那个），用 3 分钟讲清三件事：① 它解决什么问题（用一个生活化类比）；② 去掉它整个平台会坏什么；③ 它和最容易被混淆的那个组件（如 Milvus vs Redis）差在哪。录音或文字记录对方听懂没有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4611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我有没有用到"向量""持久化"这类对方听不懂的词而没解释？② 对方能不能用自己的话复述"去掉它会坏什么"？③ 如果对方问"为什么不直接用 MySQL 存所有东西"，我能答上来吗？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L05 · 数据基建五件套部署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