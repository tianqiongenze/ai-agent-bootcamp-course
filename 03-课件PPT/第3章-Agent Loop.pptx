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  <p:sldId id="362" r:id="rId113"/>
    <p:sldId id="363" r:id="rId114"/>
    <p:sldId id="364" r:id="rId115"/>
    <p:sldId id="365" r:id="rId116"/>
    <p:sldId id="366" r:id="rId117"/>
    <p:sldId id="367" r:id="rId118"/>
    <p:sldId id="368" r:id="rId119"/>
    <p:sldId id="369" r:id="rId120"/>
    <p:sldId id="370" r:id="rId121"/>
    <p:sldId id="371" r:id="rId122"/>
    <p:sldId id="372" r:id="rId123"/>
    <p:sldId id="373" r:id="rId124"/>
    <p:sldId id="374" r:id="rId125"/>
    <p:sldId id="375" r:id="rId126"/>
    <p:sldId id="376" r:id="rId127"/>
    <p:sldId id="377" r:id="rId128"/>
    <p:sldId id="378" r:id="rId129"/>
    <p:sldId id="379" r:id="rId130"/>
    <p:sldId id="380" r:id="rId131"/>
    <p:sldId id="381" r:id="rId132"/>
    <p:sldId id="382" r:id="rId133"/>
    <p:sldId id="383" r:id="rId134"/>
    <p:sldId id="384" r:id="rId135"/>
    <p:sldId id="385" r:id="rId136"/>
    <p:sldId id="386" r:id="rId137"/>
    <p:sldId id="387" r:id="rId138"/>
    <p:sldId id="388" r:id="rId139"/>
    <p:sldId id="389" r:id="rId140"/>
    <p:sldId id="390" r:id="rId141"/>
    <p:sldId id="391" r:id="rId142"/>
    <p:sldId id="392" r:id="rId143"/>
    <p:sldId id="393" r:id="rId144"/>
    <p:sldId id="394" r:id="rId14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Relationship Id="rId125" Type="http://schemas.openxmlformats.org/officeDocument/2006/relationships/slide" Target="slides/slide119.xml"/><Relationship Id="rId126" Type="http://schemas.openxmlformats.org/officeDocument/2006/relationships/slide" Target="slides/slide120.xml"/><Relationship Id="rId127" Type="http://schemas.openxmlformats.org/officeDocument/2006/relationships/slide" Target="slides/slide121.xml"/><Relationship Id="rId128" Type="http://schemas.openxmlformats.org/officeDocument/2006/relationships/slide" Target="slides/slide122.xml"/><Relationship Id="rId129" Type="http://schemas.openxmlformats.org/officeDocument/2006/relationships/slide" Target="slides/slide123.xml"/><Relationship Id="rId130" Type="http://schemas.openxmlformats.org/officeDocument/2006/relationships/slide" Target="slides/slide124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Relationship Id="rId144" Type="http://schemas.openxmlformats.org/officeDocument/2006/relationships/slide" Target="slides/slide138.xml"/><Relationship Id="rId145" Type="http://schemas.openxmlformats.org/officeDocument/2006/relationships/slide" Target="slides/slide1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77120" y="1486160"/>
            <a:ext cx="4953000" cy="4953000"/>
          </a:xfrm>
          <a:prstGeom prst="ellipse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9477280" y="1086040"/>
            <a:ext cx="3619500" cy="3619500"/>
          </a:xfrm>
          <a:prstGeom prst="ellipse">
            <a:avLst/>
          </a:prstGeom>
          <a:solidFill>
            <a:srgbClr val="1B37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406000" y="714500"/>
            <a:ext cx="2381250" cy="2381250"/>
          </a:xfrm>
          <a:prstGeom prst="ellipse">
            <a:avLst/>
          </a:prstGeom>
          <a:solidFill>
            <a:srgbClr val="2446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618000"/>
            <a:ext cx="12192000" cy="24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57250" y="914400"/>
            <a:ext cx="552450" cy="5524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7250" y="857250"/>
            <a:ext cx="55245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0B1D3A"/>
                </a:solidFill>
                <a:latin typeface="PingFang S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9250" y="1143000"/>
            <a:ext cx="5524500" cy="666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94A3B8"/>
                </a:solidFill>
                <a:latin typeface="PingFang SC"/>
              </a:rPr>
              <a:t>AI AGENT 全栈工程师训练营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19250" y="2000250"/>
            <a:ext cx="6858000" cy="2000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>
                <a:solidFill>
                  <a:srgbClr val="FFFFFF"/>
                </a:solidFill>
                <a:latin typeface="PingFang SC"/>
              </a:rPr>
              <a:t>Agent Loop、State Machine 与 Codebase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9250" y="4191000"/>
            <a:ext cx="6477000" cy="762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CBD5E1"/>
                </a:solidFill>
                <a:latin typeface="PingFang SC"/>
              </a:rPr>
              <a:t>从单轮调用到长程任务 · 里程碑 M3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19250" y="5429250"/>
            <a:ext cx="83820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Agent Engineering Platform · v1.3 · 审计 9.4/10 · 125 测试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525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6750" y="609600"/>
            <a:ext cx="102870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FFFFFF"/>
                </a:solidFill>
                <a:latin typeface="PingFang SC"/>
              </a:rPr>
              <a:t>本章目录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6750" y="1238250"/>
            <a:ext cx="933450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94A3B8"/>
                </a:solidFill>
                <a:latin typeface="PingFang SC"/>
              </a:rPr>
              <a:t>8 个知识模块 · 含实测数据图表与代码走查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19050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870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495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725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57250" y="26289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495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725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57250" y="3352800"/>
            <a:ext cx="47625" cy="5905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870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59E0B"/>
                </a:solidFill>
                <a:latin typeface="PingFang SC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495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25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250" y="4076700"/>
            <a:ext cx="47625" cy="5905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870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34D399"/>
                </a:solidFill>
                <a:latin typeface="PingFang SC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495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709410" y="19050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709410" y="1905000"/>
            <a:ext cx="47625" cy="5905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80860" y="19050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87171"/>
                </a:solidFill>
                <a:latin typeface="PingFang SC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57110" y="19050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09410" y="26289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709410" y="2628900"/>
            <a:ext cx="47625" cy="5905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80860" y="26289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57110" y="26289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本章小结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709410" y="33528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709410" y="3352800"/>
            <a:ext cx="47625" cy="5905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80860" y="33528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14B8A6"/>
                </a:solidFill>
                <a:latin typeface="PingFang SC"/>
              </a:rPr>
              <a:t>07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57110" y="33528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Lab3 验收清单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709410" y="4076700"/>
            <a:ext cx="5364480" cy="5905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709410" y="4076700"/>
            <a:ext cx="47625" cy="5905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80860" y="4076700"/>
            <a:ext cx="41910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8B5CF6"/>
                </a:solidFill>
                <a:latin typeface="PingFang SC"/>
              </a:rPr>
              <a:t>08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57110" y="4076700"/>
            <a:ext cx="4564380" cy="590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CBD5E1"/>
                </a:solidFill>
                <a:latin typeface="PingFang SC"/>
              </a:rPr>
              <a:t>下一章预告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2/139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3-1 · 从 Tool Agent 到 Agent Loop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01 / 05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单轮 Tool Calling 的三堵墙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多步任务:一步给不出完整答案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错误恢复:工具失败就终结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上下文累积:每轮独立失忆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结论:复杂任务需要循环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4/139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ReAct:推理与行动交替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Reason:我要做什么、为什么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Act:调用工具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Observe:看结果再想下一步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循环直到任务完成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Agent Loop 的思想源头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5/139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一轮时序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Decider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Executor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观察区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Reason(我要查鉴权)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1333500" y="26289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6200000">
            <a:off x="1333500" y="25860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1907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2. Act(search_code)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333500" y="344805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结果入观察区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Observe 回灌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下一轮 Think 或 finalize|思考可追溯:每轮留痕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6/139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Plan-and-Execute 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先出完整计划,再逐步执行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优点:全局视角,成本可控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缺点:计划跟不上变化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与 ReAct 的取舍看任务稳定性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7/139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五段循环标准形态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observe → think/plan → act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observe → finalize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平台:Action(call_tool/finish)表达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Decider=思考,Executor=行动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8/139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五段循环(平台 AgentLoop)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orchestration/loop.py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think 决策(Decider)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act 执行(Tool)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observe 结果回灌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finalize 输出|orchestration/loop.py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1053084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Isosceles Triangle 39"/>
          <p:cNvSpPr/>
          <p:nvPr/>
        </p:nvSpPr>
        <p:spPr>
          <a:xfrm rot="10800000">
            <a:off x="1048797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onnector 40"/>
          <p:cNvCxnSpPr/>
          <p:nvPr/>
        </p:nvCxnSpPr>
        <p:spPr>
          <a:xfrm flipH="1">
            <a:off x="3878580" y="4095750"/>
            <a:ext cx="665226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16200000">
            <a:off x="387858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 flipV="1">
            <a:off x="387858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>
            <a:off x="383571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78580" y="3848100"/>
            <a:ext cx="826008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Decider=LLM 防腐层:测试注入脚本,生产接 Gateway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9/139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循环终止条件设计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finish 动作:模型自己认为完成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max_iterations:硬上限防失控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死循环熔断:重复动作检测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外部取消:用户叫停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四个出口一个都不能少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10/139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任务九态状态机(真实实现)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24125" y="1238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24125" y="1238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created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5375" y="1238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05375" y="1238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planning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86625" y="1238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86625" y="1238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24125" y="28575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24125" y="28575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waiting_tool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05375" y="28575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05375" y="28575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tool_failed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86625" y="28575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6625" y="28575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24125" y="44767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24125" y="44767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05375" y="44767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05375" y="44767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86625" y="44767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6625" y="44767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52975" y="1762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4819651" y="1719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71925" y="1438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拿到目标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34225" y="176212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5400000">
            <a:off x="7200901" y="171926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3175" y="1438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计划就绪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4752975" y="1762125"/>
            <a:ext cx="3648075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4763917">
            <a:off x="4749289" y="3321124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43562" y="1438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发起调用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4752975" y="1762125"/>
            <a:ext cx="2533650" cy="161925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3445047">
            <a:off x="7207647" y="1742345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62550" y="30575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结果回灌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752975" y="33813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5400000">
            <a:off x="4819651" y="33385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71925" y="30575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执行异常</a:t>
            </a:r>
          </a:p>
        </p:txBody>
      </p:sp>
      <p:cxnSp>
        <p:nvCxnSpPr>
          <p:cNvPr id="38" name="Connector 37"/>
          <p:cNvCxnSpPr/>
          <p:nvPr/>
        </p:nvCxnSpPr>
        <p:spPr>
          <a:xfrm flipH="1">
            <a:off x="4752975" y="1762125"/>
            <a:ext cx="3648075" cy="3238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/>
          <p:cNvSpPr/>
          <p:nvPr/>
        </p:nvSpPr>
        <p:spPr>
          <a:xfrm rot="13704217">
            <a:off x="4742167" y="492930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43562" y="1438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finish 动作</a:t>
            </a:r>
          </a:p>
        </p:txBody>
      </p:sp>
      <p:cxnSp>
        <p:nvCxnSpPr>
          <p:cNvPr id="41" name="Connector 40"/>
          <p:cNvCxnSpPr/>
          <p:nvPr/>
        </p:nvCxnSpPr>
        <p:spPr>
          <a:xfrm flipH="1">
            <a:off x="7134225" y="1762125"/>
            <a:ext cx="1266825" cy="3238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Isosceles Triangle 41"/>
          <p:cNvSpPr/>
          <p:nvPr/>
        </p:nvSpPr>
        <p:spPr>
          <a:xfrm rot="12081856">
            <a:off x="7106977" y="491784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34187" y="14382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上限/死循环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7134225" y="1762125"/>
            <a:ext cx="152400" cy="3238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161657">
            <a:off x="7241749" y="176207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53175" y="467677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resume 恢复|AgentState 枚举即此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11/139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死循环识别算法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连续 N 个完全相同的动作签名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平台:N=3 触发 LoopFailedError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签名=kind+tool+args 的规范序列化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实测:重复天气查询被熔断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12/139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Loop 护栏三数字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3^连^相同动作即熔断;8^轮^默认 max_iterations;4^条^终止出口|实测:重复天气查询被 LoopFailedError 拦截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相同动作即熔断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默认 max_iterations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终止出口|实测:重复天气查询被 LoopFailedError 拦截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13/139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任务中断与恢复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进程被杀:状态在 Checkpoint 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续跑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历史观察完整带回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平台实测:中断恢复演示通过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14/139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应用:多步研究任务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搜资料 → 读报告 → 交叉验证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生成结论 → 引用核对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每步都是一次工具调用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第5章 Multi-Agent 会并行化它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15/139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研究任务五步流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平均 3~5 轮收敛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搜资料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读报告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交叉验证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生成结论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引用核对|平均 3~5 轮收敛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每步都是一次工具调用+观察回灌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16/139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应用:数据修复流水线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扫描异常数据 → 定位原因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生成修复 SQL → 审核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执行 → 校验 → 汇报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修复类任务是 Loop 主战场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17/139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踩坑:LLM 决策的抖动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同一状态两次决策不同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循环在两个动作间震荡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缓解:温度0+观察去重+熔断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18/139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踩坑:观察结果撑爆上下文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工具返回大 JSON 全量回灌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两轮就超窗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优化:观察压缩与摘要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第4章 Context 工程系统解决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19/139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观察压缩实测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20^条^原始观察;6^条^压缩后保留;70%^降幅^FitReport 实测|头尾保留/中段折叠摘要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477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47750" y="1905000"/>
            <a:ext cx="3175000" cy="762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77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2563EB"/>
                </a:solidFill>
                <a:latin typeface="PingFang SC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原始观察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0850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8500" y="1905000"/>
            <a:ext cx="3175000" cy="76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850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14B8A6"/>
                </a:solidFill>
                <a:latin typeface="PingFang SC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0850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090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压缩后保留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9250" y="1905000"/>
            <a:ext cx="3175000" cy="28575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69250" y="1905000"/>
            <a:ext cx="3175000" cy="762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69250" y="2286000"/>
            <a:ext cx="317500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" b="1">
                <a:solidFill>
                  <a:srgbClr val="8B5CF6"/>
                </a:solidFill>
                <a:latin typeface="PingFang SC"/>
              </a:rPr>
              <a:t>70%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69250" y="3333750"/>
            <a:ext cx="317500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0">
                <a:solidFill>
                  <a:srgbClr val="94A3B8"/>
                </a:solidFill>
                <a:latin typeface="PingFang SC"/>
              </a:rPr>
              <a:t>降幅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1650" y="4057650"/>
            <a:ext cx="2870200" cy="571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FitReport 实测|头尾保留/中段折叠摘要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20/139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踩坑:假完成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模型提前 finish,任务没做完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缓解:完成定义进 Prompt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审计:finish 前的步骤完整性检查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21/139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的成本预算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每轮记录 Token 消耗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预算耗尽强制收敛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收敛策略:总结现状输出半成品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成本失控常发生在循环里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22/139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优化:并发工具执行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无依赖动作并行发起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gather+超时隔离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延迟大幅下降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平台第5章 Supervisor 同款机制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23/139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优化:循环可视化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每轮:思考摘要+动作+观察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前端时间线回放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调试效率倍增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Trace 树是第6章的地基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24/139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平台工程对照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orchestration/loop.py 全量实现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12 个测试覆盖四条终止路径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ScriptedDecider 让测试确定化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先测骨架,再接真模型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25/139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3-1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26/139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ReAct 的失败模式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思考与行动脱节:想A做B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观察视而不见:重复失败动作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缓解:观察回灌强制引用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让"看结果"成为结构约束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27/139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五段循环的代码表达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Action 两个工厂方法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Decider 返回下一个动作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run() 主循环约 60 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复杂度在治理,不在骨架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28/139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应用:客服工单升级链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查工单 → 查知识库 → 命中?答复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未命中 → 升级人工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全程状态机流转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29/139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应用:竞品监控日报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每日定时:抓取→比对→摘要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异常变化→追加分析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产物进邮件与看板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30/139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踩坑:观察回灌顺序错乱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并发工具结果乱序回灌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模型因果判断错乱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修复:结果携带调用序号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31/139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优化:Loop 遥测指标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每任务:轮数/工具次数/Token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分布异常即告警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与成本账本联动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32/139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优化:断点续跑的幂等键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步骤签名做幂等键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恢复后跳过已完成步骤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配合工具幂等设计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33/139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主循环:四出口+死循环熔断 · src/agent_platform/orchestration/loop.py:150-196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5143" y="762000"/>
            <a:ext cx="9301713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34/139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Agent Loop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四个终止条件各自的适用场景?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死循环签名为什么用序列化比对?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假完成如何检测?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循环预算怎么定?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35/139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3-2 · Planning 与任务拆解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02 / 05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并非所有任务都要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两步内能完成的别上计划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Planner 本身消耗 Token 与延迟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判断标准:步骤数与不确定性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过度规划是常见反模式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37/139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Planning 三级策略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动态计划:执行中重估,成本高;一次性计划:目标明确步骤稳;无 Planner:两步内直接做|自顶向下按复杂度选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935855" y="1333500"/>
            <a:ext cx="232029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35855" y="1333500"/>
            <a:ext cx="57150" cy="10668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26355" y="1333500"/>
            <a:ext cx="8817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8B5CF6"/>
                </a:solidFill>
                <a:latin typeface="PingFang SC"/>
              </a:rPr>
              <a:t>动态计划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63971" y="1333500"/>
            <a:ext cx="1345768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执行中重估,成本高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41935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505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134802" y="2609850"/>
            <a:ext cx="3922395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34802" y="2609850"/>
            <a:ext cx="57150" cy="10668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25302" y="2609850"/>
            <a:ext cx="14905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4B8A6"/>
                </a:solidFill>
                <a:latin typeface="PingFang SC"/>
              </a:rPr>
              <a:t>一次性计划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03760" y="2609850"/>
            <a:ext cx="2274989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目标明确步骤稳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96000" y="3695700"/>
            <a:ext cx="0" cy="17145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0800000">
            <a:off x="6053138" y="37814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33750" y="3886200"/>
            <a:ext cx="5524500" cy="1066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333750" y="3886200"/>
            <a:ext cx="57150" cy="1066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24250" y="3886200"/>
            <a:ext cx="20993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2563EB"/>
                </a:solidFill>
                <a:latin typeface="PingFang SC"/>
              </a:rPr>
              <a:t>无 Planner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550" y="3886200"/>
            <a:ext cx="3204210" cy="1066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475569"/>
                </a:solidFill>
                <a:latin typeface="PingFang SC"/>
              </a:rPr>
              <a:t>两步内直接做|自顶向下按复杂度选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38/139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两种计划模式对比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一次性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开始出全清单,稳任务省 Token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动态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每步重估,探索型适应强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共同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修订留痕+偏差处理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取舍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确定性 vs 灵活性|按任务稳定性选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39/139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一次性计划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开始时产出完整步骤清单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适合:目标明确、步骤稳定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例:数据导出报表类任务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失败处理:整单重试或终止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40/139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执行中信息不断变化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每步后重估下一步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适合:探索型/诊断型任务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代价:Token 成本更高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41/139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Plan Revision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执行发现计划错误 → 修订计划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触发:工具结果与预期偏离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修订要留痕:为什么改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计划是文档,不是契约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42/139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AgentLoop 初始化:resume 语义 · src/agent_platform/orchestration/loop.py:104-126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53395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43/139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动态计划循环-&gt;生成计划-&gt;执行一步-&gt;校验偏差-&gt;偏离?-&gt;是:修订计划-&gt;继续-&gt;完成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计划是文档不是契约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04775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04775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3251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loop=2|计划是文档不是契约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修订留痕:为什么改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44/139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子目标拆解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大目标 → 里程碑 → 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每个子目标可独立验证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依赖关系显式声明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45/139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拆解三层结构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2609850"/>
            <a:ext cx="32004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业务北极星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9580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95800" y="2609850"/>
            <a:ext cx="32004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4820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820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635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里程碑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820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可独立验证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943850" y="2609850"/>
            <a:ext cx="320040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943850" y="2609850"/>
            <a:ext cx="32004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96250" y="2800350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96250" y="2800350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34400" y="2819400"/>
            <a:ext cx="24574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96250" y="3219450"/>
            <a:ext cx="289560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原子动作+依赖|拆解质量决定执行质量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46/139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步骤依赖建模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串行:前步输出是后步输入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并行:独立步骤同时发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DAG 表达,拓扑执行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Supervisor 的调度依据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47/139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何时用固定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 100% 确定:审批流/ETL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合规要求每步可审计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高频高频次:Workflow 更省钱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能用 Workflow 就别上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48/139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Workflow vs Agent Loop,维度,Workflow,Agent Loop;路径,预定义固定,运行时决定;成本,低且可预测,Token 消耗高;可审计,每步天然,需 Trace;适用,稳定流程,探索任务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49/139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何时用 Agent Loop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步骤依赖中间结果决定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存在分支与异常路径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任务多样性高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灵活性换成本,想清楚再上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50/139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计划与执行偏差处理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工具失败:重试/换路/降级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测试不过:回到计划修订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上下文变化:触发重规划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偏差处理逻辑要显式写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51/139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偏差处理四策略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工具失败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重试/换路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测试不过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回计划修订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上下文变化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重规划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目标变化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终止重启|偏差处理逻辑显式写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52/139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应用:发版排障 SOP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SOP:看监控→查日志→定位→修复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 化:每步映射工具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分支:常见故障直接命中知识库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从 SOP 到 Loop 的标准转换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53/139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踩坑:计划幻觉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模型编造不存在的步骤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步骤引用不存在的工具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防护:计划阶段就做工具存在性校验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54/139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踩坑:计划过细变脆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十步精确计划一步错全错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修复:里程碑粒度计划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执行层自由度交给 Loop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55/139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优化:计划缓存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相同任务类型复用计划骨架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参数化差异部分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命中后跳过规划阶段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成本与延迟双降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56/139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优化:分级 Planner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简单任务:无 Planner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中等:一次性计划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复杂:动态+修订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路由成本,别用大炮打蚊子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57/139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优化:计划的可视化评审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计划先给用户确认再执行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高危任务默认人工过目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确认记录进审计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Human-in-the-loop 的第一站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58/139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3-2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59/139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Planning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判断是否需要 Planner 的两个标准?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Plan Revision 的触发时机?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计划过细为什么反而脆弱?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计划缓存的前提是什么?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60/139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3-3 · State Machine 与 Checkpoint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03 / 05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为什么 Agent 需要状态机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长程任务横跨多次请求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状态散落各处=不可恢复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显式状态=可观测/可恢复/可审计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62/139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任务九态全景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created → planning → running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waiting_tool / tool_failed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completed / failed / cancelled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AgentState 枚举即此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63/139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状态迁移规则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created→planning:拿到目标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planning→running:计划就绪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running→waiting_tool:发起调用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waiting_tool→running/tool_failed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任何态→cancelled:用户取消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64/139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审批分支补充图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71475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71475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running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96000" y="190500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96000" y="190500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waiting_approval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1475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475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completed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96000" y="3524250"/>
            <a:ext cx="2228850" cy="1047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3524250"/>
            <a:ext cx="2228850" cy="1047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B1D3A"/>
                </a:solidFill>
                <a:latin typeface="PingFang SC"/>
              </a:rPr>
              <a:t>cancelled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943600" y="2428875"/>
            <a:ext cx="152400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 rot="5400000">
            <a:off x="6010276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2550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高危动作</a:t>
            </a:r>
          </a:p>
        </p:txBody>
      </p:sp>
      <p:cxnSp>
        <p:nvCxnSpPr>
          <p:cNvPr id="16" name="Connector 15"/>
          <p:cNvCxnSpPr/>
          <p:nvPr/>
        </p:nvCxnSpPr>
        <p:spPr>
          <a:xfrm flipH="1">
            <a:off x="5943600" y="2428875"/>
            <a:ext cx="1266825" cy="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16200000">
            <a:off x="5943600" y="2386013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43562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approved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210425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10800000">
            <a:off x="7167563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3418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拒绝/超时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829175" y="2952750"/>
            <a:ext cx="0" cy="571500"/>
          </a:xfrm>
          <a:prstGeom prst="line">
            <a:avLst/>
          </a:prstGeom>
          <a:ln w="1778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4786313" y="3438526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52937" y="2105025"/>
            <a:ext cx="1714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finish|HITL 的一等公民态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65/139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步骤状态:细粒度记录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当前步骤/工具名/输入参数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工具输出/失败原因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重试记录/下一步决策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排查问题的第一手材料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66/139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内容四件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状态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当前 AgentState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步骤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工具+参数+输出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观察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obs_history 全量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计划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版本+修订记录|最小集:够恢复就行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67/139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Checkpoint:什么必须存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任务状态+目标+run_id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已执行步骤与观察历史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计划(若有)与版本信息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最小集原则:够恢复就行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68/139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断点恢复时序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CheckpointStore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进程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每轮 save(深拷贝)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333500" y="2628900"/>
            <a:ext cx="952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kill -9 模拟崩溃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0858500" y="34480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11344276" y="34051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11430000" y="34480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11387138" y="35718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10858500" y="36576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6200000">
            <a:off x="10858500" y="36147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53750" y="31813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重启加载</a:t>
            </a:r>
          </a:p>
        </p:txBody>
      </p:sp>
      <p:cxnSp>
        <p:nvCxnSpPr>
          <p:cNvPr id="27" name="Connector 26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resume_from 续跑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333500" y="508635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1819276" y="504348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>
            <a:off x="1905000" y="5086350"/>
            <a:ext cx="0" cy="20955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0800000">
            <a:off x="1862138" y="5210176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>
            <a:off x="1333500" y="5295900"/>
            <a:ext cx="571500" cy="0"/>
          </a:xfrm>
          <a:prstGeom prst="line">
            <a:avLst/>
          </a:prstGeom>
          <a:ln w="17780">
            <a:solidFill>
              <a:srgbClr val="14B8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16200000">
            <a:off x="1333500" y="5253038"/>
            <a:ext cx="85725" cy="85725"/>
          </a:xfrm>
          <a:prstGeom prst="triangl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28750" y="4819650"/>
            <a:ext cx="24765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14B8A6"/>
                </a:solidFill>
                <a:latin typeface="PingFang SC"/>
              </a:rPr>
              <a:t>历史观察完整带入→finalize|实测:test_checkpoint_resumes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69/139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Checkpoint 时机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每轮循环结束即保存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工具执行前后双保险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状态迁移原子写入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平台:深拷贝防共享可变状态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70/139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中断恢复实战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kill 进程模拟崩溃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重启后 resume_from 加载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从最后观察点继续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平台测试:test_checkpoint_resumes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71/139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DatabaseRouter:异步写会话+锚定 · src/agent_platform/shared/dao.py:34-52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762000"/>
            <a:ext cx="11460480" cy="43627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72/139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kill/resume 演示实录,$ kill -9 &lt;agent-pid&gt;  # 模拟崩溃;进程消失,Checkpoint 已落盘;$ loop2 = AgentLoop(resume_from=run_id);COMPLETED  历史观察完整带回;# 每轮 save(深拷贝)是底气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真实复现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真实复现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73/139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失败任务复现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失败时保存完整现场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Replay:同输入重执行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修复后验证行为变化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第6章 ReplayStore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74/139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人工接管后续跑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waiting_approval 挂起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人工批准/修改参数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从确认点继续执行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确认记录进审计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75/139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人工接管时序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Agent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435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435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控制台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人工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333500" y="180975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400000">
            <a:off x="60102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075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waiting_approval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628900"/>
            <a:ext cx="47625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10772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5325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展示上下文+风险</a:t>
            </a:r>
          </a:p>
        </p:txBody>
      </p:sp>
      <p:cxnSp>
        <p:nvCxnSpPr>
          <p:cNvPr id="20" name="Connector 19"/>
          <p:cNvCxnSpPr/>
          <p:nvPr/>
        </p:nvCxnSpPr>
        <p:spPr>
          <a:xfrm flipH="1">
            <a:off x="6096000" y="34480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16200000">
            <a:off x="6096000" y="34051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5325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3. 修改参数/批准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1333500" y="426720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19075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从确认点续跑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5086350"/>
            <a:ext cx="47625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50434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9075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5. 拒绝→cancelled|接管记录进审计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76/139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应用:长任务控制台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任务列表:状态/进度/耗时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详情:步骤时间线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操作:取消/接管/重试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GraphQL 查询面的典型消费方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77/139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任务控制台信息架构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GraphQL BFF 的典型消费方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1023937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列表页:状态/进度/耗时/租户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2033587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2100263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976437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查询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2185987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224087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224087"/>
            <a:ext cx="47625" cy="1023937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224087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详情页:步骤时间线+观察流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3305174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3371850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3248024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下钻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457574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495674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495674"/>
            <a:ext cx="47625" cy="1023937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495674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操作区:取消/接管/重试/确认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4576761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643437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4519611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操作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729161"/>
            <a:ext cx="8877300" cy="1100137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767261"/>
            <a:ext cx="8763000" cy="1023937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767261"/>
            <a:ext cx="47625" cy="1023937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767261"/>
            <a:ext cx="8534400" cy="1023937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数据面:GraphQL 查询+Trace|GraphQL BFF 的典型消费方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78/139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踩坑:状态与缓存不一致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Redis 缓存状态,PG 是事实源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缓存过期读旧态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规则:写双清,读以 PG 兜底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读写分离下读己之写回主库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79/139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踩坑:Checkpoint 太大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全量上下文每轮都存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存储爆炸,恢复变慢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优化:增量+摘要,大观察外置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80/139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优化:状态机代码化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迁移表驱动而非 if-else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非法迁移直接抛错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迁移全量留痕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平台枚举+显式迁移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81/139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优化:任务幂等重启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恢复后重复步骤自动跳过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步骤级幂等键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配合工具幂等设计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82/139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3-3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83/139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状态与检查点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九态中哪三个是挂起态?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Checkpoint 最小集包含什么?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缓存与事实源不一致怎么防?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为什么每轮都要落盘?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84/139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3-4 · Sandbox 与执行边界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04 / 05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三类边界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47850" y="9144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9050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9050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38350" y="9525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文件:allowed_roots 可读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8768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768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10150" y="9525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writable_roots 可写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48600" y="9525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848600" y="952500"/>
            <a:ext cx="47625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81950" y="9525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realpath 防逃逸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096000" y="215265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10800000">
            <a:off x="6053138" y="221932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48400" y="209550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声明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847850" y="230505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9050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9050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383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Shell:命令白名单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768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8768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101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危险模式硬拦截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48600" y="234315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48600" y="2343150"/>
            <a:ext cx="47625" cy="1143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81950" y="234315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禁用头部(sudo/dd)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96000" y="35433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10800000">
            <a:off x="6053138" y="36099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48400" y="34861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校验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847850" y="3695700"/>
            <a:ext cx="8877300" cy="12192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9050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9050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383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网络:域名白名单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8768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8768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101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内网按需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848600" y="3733800"/>
            <a:ext cx="28194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848600" y="3733800"/>
            <a:ext cx="47625" cy="11430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81950" y="3733800"/>
            <a:ext cx="2590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统一网关出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86/139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的权限悖论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能力越强,破坏力越大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文件/Shell/网络都是双刃剑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没有边界的 Agent 不能上生产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87/139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三类执行边界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文件:可读/可写/禁止三区分离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Shell:白名单+超时+高危拦截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网络:内网白名单/外网开关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LocalSandbox 三接口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88/139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文件边界实现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realpath 归一化防 ../ 逃逸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allowed_roots 与 writable_roots 分离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默认拒绝,显式授权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读≠写,最小权限原则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89/139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路径逃逸攻防实测,$ sandbox.check_read("repo/../../etc/passwd");SandboxViolation: read denied (realpath 归一后判定);$ ln -s /etc/passwd evil &amp;&amp; read evil;SandboxViolation: symlink 逃逸被拦;# realpath+resolve 后再判前缀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两连攻击全拦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两连攻击全拦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90/139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Shell 边界实现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命令头必须进白名单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危险模式硬拦截:mkfs/rm变体/管道sh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sudo/dd/shutdown 直接禁用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平台实测:rm -rf 被拦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91/139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Sandbox 拦截实测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$ sandbox.check_command("rm -rf --no-preserve-root /");SandboxViolation: dangerous pattern blocked;$ sandbox.check_command("ls -la")  # 白名单内;True;$ sandbox.check_read("/etc/passwd")  # roots 外;SandboxViolation: read denied outside roots|默认拒绝:白名单外一律拦截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sandbox.check_command("rm -rf --no-preserve-root /")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dangerous pattern blocked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sandbox.check_command("ls -la")  # 白名单内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True</a:t>
            </a:r>
          </a:p>
          <a:p>
            <a:pPr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enlo"/>
              </a:rPr>
              <a:t>$ sandbox.check_read("/etc/passwd")  # roots 外</a:t>
            </a:r>
          </a:p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SandboxViolation: read denied outside roots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92/139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网络边界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出网域名白名单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内网服务按需授权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第三方 API 走网关统一出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禁止 Agent 自带任意 curl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93/139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进程内模拟边界,教学友好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适合:调试/轻量任务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局限:共享内核,隔离不彻底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94/139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Docker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独立容器执行,隔离升级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限制:无网/只读根/资源上限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临时卷交换产出物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生命周期:用完即毁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95/139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容器沙箱执行时序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Loop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33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55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5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Docker API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0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731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31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容器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83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9906000" y="990600"/>
            <a:ext cx="1905000" cy="400050"/>
          </a:xfrm>
          <a:prstGeom prst="roundRect">
            <a:avLst>
              <a:gd name="adj" fmla="val 8000"/>
            </a:avLst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0" y="990600"/>
            <a:ext cx="1905000" cy="400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产物卷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858500" y="1428750"/>
            <a:ext cx="0" cy="4381500"/>
          </a:xfrm>
          <a:prstGeom prst="line">
            <a:avLst/>
          </a:prstGeom>
          <a:ln w="12700">
            <a:solidFill>
              <a:srgbClr val="DDE5E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333500" y="18097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5400000">
            <a:off x="4422776" y="17668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97000" y="15240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1. create(无网/只读根)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08500" y="262890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Isosceles Triangle 20"/>
          <p:cNvSpPr/>
          <p:nvPr/>
        </p:nvSpPr>
        <p:spPr>
          <a:xfrm rot="5400000">
            <a:off x="7597776" y="258603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0" y="23431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2. exec 命令(超时)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683500" y="34480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10772776" y="34051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47000" y="31623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3. 写产物卷</a:t>
            </a:r>
          </a:p>
        </p:txBody>
      </p:sp>
      <p:cxnSp>
        <p:nvCxnSpPr>
          <p:cNvPr id="26" name="Connector 25"/>
          <p:cNvCxnSpPr/>
          <p:nvPr/>
        </p:nvCxnSpPr>
        <p:spPr>
          <a:xfrm flipH="1">
            <a:off x="1333500" y="4267200"/>
            <a:ext cx="9525000" cy="0"/>
          </a:xfrm>
          <a:prstGeom prst="line">
            <a:avLst/>
          </a:prstGeom>
          <a:ln w="2032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 rot="16200000">
            <a:off x="1333500" y="422433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98145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F59E0B"/>
                </a:solidFill>
                <a:latin typeface="PingFang SC"/>
              </a:rPr>
              <a:t>4. 收集结果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08500" y="5086350"/>
            <a:ext cx="3175000" cy="0"/>
          </a:xfrm>
          <a:prstGeom prst="line">
            <a:avLst/>
          </a:prstGeom>
          <a:ln w="2032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7597776" y="5043488"/>
            <a:ext cx="85725" cy="85725"/>
          </a:xfrm>
          <a:prstGeom prst="triangl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0" y="4800600"/>
            <a:ext cx="3048000" cy="228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>
                <a:solidFill>
                  <a:srgbClr val="2563EB"/>
                </a:solidFill>
                <a:latin typeface="PingFang SC"/>
              </a:rPr>
              <a:t>5. destroy(用完即毁)|资源上限+drop caps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96/139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本地 vs 容器边界差异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文件:挂载点即边界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网络:容器网络策略更硬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权限:非 root 用户+drop caps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环境变量:显式注入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同一接口,两种实现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97/139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沙箱形态对比,维度,本地 Sandbox,Docker Sandbox;文件边界,roots 前缀检查,挂载点即边界;网络,进程级约束,容器网络策略;权限,共享内核,nonroot+drop caps;隔离强度,教学/调试,生产级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98/139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工具审计与风险回放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每条命令/文件操作全记录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出事后按 run_id 回放现场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危险动作复核制度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审计是边界的最后兜底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99/139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应用:Codebase Agent 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可读:整个仓库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可写:仅 src/ 与 tests/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禁止:.git/生产配置/密钥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Lab3 的标准配置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100/139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应用:数据清洗任务的边界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可写:临时工作目录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网络:仅内网数据源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Shell:pandas/python 白名单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按任务定制边界模板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101/139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踩坑:路径逃逸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../.. 绕过前缀检查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符号链接指向外部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修复:realpath+resolve 后再判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平台实现已含此防护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102/139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踩坑:白名单过宽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bash 等于没有白名单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允许 python -c 等于任意代码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原则:白名单到具体命令+参数模式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103/139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优化:边界即配置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边界模板按任务类型预设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高危任务自动收紧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边界变更留痕可审计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104/139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优化:逃逸测试集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攻击样例库:逃逸/提权/绕过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每次边界改动全量回归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把渗透测试思维引入教学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105/139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3-4 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106/139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命令白名单+危险模式硬拦截 · src/agent_platform/orchestration/sandbox.py:17-44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79" y="762000"/>
            <a:ext cx="10452440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107/139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Sandbox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为什么读和写要分两个根?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realpath 防住了什么攻击?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白名单过宽的典型例子?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本地与容器沙箱怎么选?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108/139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572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954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73355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171700" y="952500"/>
            <a:ext cx="323850" cy="76200"/>
          </a:xfrm>
          <a:prstGeom prst="rect">
            <a:avLst/>
          </a:prstGeom>
          <a:solidFill>
            <a:srgbClr val="274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609850" y="952500"/>
            <a:ext cx="323850" cy="762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57250" y="2381250"/>
            <a:ext cx="11430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2857500"/>
            <a:ext cx="9906000" cy="1238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FFFFF"/>
                </a:solidFill>
                <a:latin typeface="PingFang SC"/>
              </a:rPr>
              <a:t>讲次 3-5 · Harness、LangGraph 与 Codebase 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7250" y="4286250"/>
            <a:ext cx="9334500" cy="4762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F59E0B"/>
                </a:solidFill>
                <a:latin typeface="PingFang SC"/>
              </a:rPr>
              <a:t>LECTURE 05 / 05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是什么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模型+工具+状态+上下文+环境的组织框架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让 Agent 可配置/可追踪/可恢复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从"一次调用"到"任务执行系统"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平台 orchestration 就是 Harness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110/139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五要素装配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五要素全部可替换(测试注入 Mock)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47850" y="9144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905000" y="9525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905000" y="952500"/>
            <a:ext cx="47625" cy="819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38350" y="9525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96000" y="18288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Isosceles Triangle 10"/>
          <p:cNvSpPr/>
          <p:nvPr/>
        </p:nvSpPr>
        <p:spPr>
          <a:xfrm rot="10800000">
            <a:off x="6053138" y="18954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48400" y="17716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配置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47850" y="19812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905000" y="20193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905000" y="2019300"/>
            <a:ext cx="47625" cy="819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8350" y="20193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工具:Registry 动态装配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096000" y="28956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Isosceles Triangle 17"/>
          <p:cNvSpPr/>
          <p:nvPr/>
        </p:nvSpPr>
        <p:spPr>
          <a:xfrm rot="10800000">
            <a:off x="6053138" y="29622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48400" y="28384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运行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847850" y="30480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905000" y="30861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905000" y="3086100"/>
            <a:ext cx="47625" cy="819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038350" y="30861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096000" y="39624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10800000">
            <a:off x="6053138" y="40290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8400" y="3905250"/>
            <a:ext cx="2095500" cy="2476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94A3B8"/>
                </a:solidFill>
                <a:latin typeface="PingFang SC"/>
              </a:rPr>
              <a:t>恢复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47850" y="41148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1905000" y="41529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905000" y="4152900"/>
            <a:ext cx="47625" cy="819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38350" y="41529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096000" y="5029200"/>
            <a:ext cx="0" cy="152400"/>
          </a:xfrm>
          <a:prstGeom prst="line">
            <a:avLst/>
          </a:prstGeom>
          <a:ln w="15240">
            <a:solidFill>
              <a:srgbClr val="94A3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10800000">
            <a:off x="6053138" y="5095876"/>
            <a:ext cx="85725" cy="85725"/>
          </a:xfrm>
          <a:prstGeom prst="triangle">
            <a:avLst/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847850" y="5181600"/>
            <a:ext cx="8877300" cy="895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905000" y="5219700"/>
            <a:ext cx="8763000" cy="81915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905000" y="5219700"/>
            <a:ext cx="47625" cy="819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38350" y="5219700"/>
            <a:ext cx="8534400" cy="8191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环境:Sandbox 边界|五要素全部可替换(测试注入 Mock)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111/139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Harness 的装配五要素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模型:Provider+Router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工具集:Registry 动态装配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状态:State+Checkpoint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上下文:Context 管理器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环境:Sandbox 边界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五要素全部可配置替换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112/139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Agent 生命周期管理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创建→运行→挂起→恢复→终结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每个阶段有钩子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资源随生命周期释放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教学:构造即启动,Close 即清理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113/139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Human-in-the-loop 节点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改文件/删数据/外部请求前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挂起等待确认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平台:waiting_approval+confirmed 凭据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风险节点前置设计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114/139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核心对象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StateGraph:状态图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节点=动作,边=流转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条件边实现分支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Checkpointer 内置持久化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115/139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09600"/>
          </a:xfrm>
          <a:prstGeom prst="rect">
            <a:avLst/>
          </a:prstGeom>
          <a:solidFill>
            <a:srgbClr val="14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1430000" cy="609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59E0B"/>
                </a:solidFill>
                <a:latin typeface="PingFang SC"/>
              </a:rPr>
              <a:t>run 主循环:四出口实现 · src/agent_platform/orchestration/loop.py:128-176</a:t>
            </a:r>
          </a:p>
        </p:txBody>
      </p:sp>
      <p:pic>
        <p:nvPicPr>
          <p:cNvPr id="5" name="Picture 4" descr="code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604" y="762000"/>
            <a:ext cx="6336792" cy="57607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116/139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前沿①:编排生态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LangGraph 1.0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生产化里程碑(Checkpointer 原生)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OpenAI Agents SDK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Handoffs 范式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A2A 协议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跨厂商 Agent 互操作( discovery/card)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Decider 防腐层可对接任一框架|A2A=Agent 界的 HTTP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117/139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图对象四件套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StateGraph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状态承载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Node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动作(薄节点)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Edge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流转/条件分支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Checkpointer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每步持久化|节点薄/逻辑在域层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118/139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LangGraph 关键能力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Interrupt:图内人工介入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ToolNode:工具节点标准化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循环与条件分支原生支持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Studio 可视化调试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119/139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三框架定位对比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LangGraph:状态图编排,控制力强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OpenAI Agents SDK:轻量,生态绑定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AgentScope:多 Agent 消息范式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选型:要控制力选 LangGraph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120/139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编排框架对比,维度,LangGraph,OpenAI SDK,AgentScope;范式,状态图,轻量代理,消息协作;控制力,强(DIY),中,中;生态,通用,绑定 OpenAI,多Agent;适合,精细控制,快速原型,协作仿真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143000" y="1047750"/>
            <a:ext cx="9906000" cy="561975"/>
          </a:xfrm>
          <a:prstGeom prst="roundRect">
            <a:avLst>
              <a:gd name="adj" fmla="val 8000"/>
            </a:avLst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57300" y="1047750"/>
            <a:ext cx="9696450" cy="5619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hl=1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121/139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与传统 Workflow 的关系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Workflow:确定性流程编排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LangGraph:状态+LLM 决策的混合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固定流程仍用 Workflow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Dify 用户:节点思维可平移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122/139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Codebase Agent 工具清单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list_files/read_file/read_directory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search_code/write_file/apply_patch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run_test/run_command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git_diff/git_status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十件套覆盖开发日常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123/139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代码工具十件套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list_files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目录结构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1658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116580" y="172402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26898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6898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713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search_code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898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关键词定位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8541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85410" y="172402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33781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3781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7596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read_file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781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单文件读取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5424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54240" y="172402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40664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0664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4479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read_directory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0664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目录概览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23070" y="172402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323070" y="1724025"/>
            <a:ext cx="182118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947547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47547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13620" y="193357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write_file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75470" y="233362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写入产出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4775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47750" y="3495675"/>
            <a:ext cx="182118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63830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apply_patch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0015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精准修改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311658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116580" y="3495675"/>
            <a:ext cx="182118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326898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26898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0713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run_test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6898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执行测试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18541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185410" y="3495675"/>
            <a:ext cx="182118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533781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3781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7596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run_command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3781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白名单命令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25424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254240" y="3495675"/>
            <a:ext cx="182118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40664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40664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84479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git_diff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40664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变更视图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323070" y="3495675"/>
            <a:ext cx="1821180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323070" y="3495675"/>
            <a:ext cx="182118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947547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7547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10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13620" y="3705225"/>
            <a:ext cx="107823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git_status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475470" y="4105275"/>
            <a:ext cx="1516380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仓库状态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124/139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任务一:代码理解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需求:找出登录逻辑,输出 Markdown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路径:search_code(auth)→read 相关文件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梳理调用链 → 生成文档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产物:模块说明+文件路径引用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Lab3 验收任务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125/139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代码理解任务流(实测)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Lab3 标准任务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60782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1828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1828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search_code(auth)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07467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074670" y="2667000"/>
            <a:ext cx="160782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570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570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087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read 相关文件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52222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91274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29209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2090" y="2667000"/>
            <a:ext cx="160782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829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梳理调用链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473964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513016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50951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09510" y="2667000"/>
            <a:ext cx="160782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817054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7054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8571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生成 Markdown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95706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734758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9726930" y="2667000"/>
            <a:ext cx="160782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9726930" y="2667000"/>
            <a:ext cx="160782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1038796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38796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03130" y="2800350"/>
            <a:ext cx="145542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输出文件引用|Lab3 标准任务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174480" y="3238500"/>
            <a:ext cx="47625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956500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" y="5715000"/>
            <a:ext cx="10477500" cy="41910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9650" y="5715000"/>
            <a:ext cx="10172700" cy="4191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2563EB"/>
                </a:solidFill>
                <a:latin typeface="PingFang SC"/>
              </a:rPr>
              <a:t>▶ 验收:输出含模块说明+文件路径引用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126/139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任务二:测试生成与修复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定位函数 → 分析既有测试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编写新测试 → 执行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读失败日志 → 修正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→ 输出变更说明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典型的多轮纠错循环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127/139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测试修复循环(多轮纠错)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典型多轮 Loop:平均 2-3 轮收敛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72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572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239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39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34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定位函数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003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4B8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00300" y="2667000"/>
            <a:ext cx="1219200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670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70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765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分析既有测试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1336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Isosceles Triangle 16"/>
          <p:cNvSpPr/>
          <p:nvPr/>
        </p:nvSpPr>
        <p:spPr>
          <a:xfrm rot="5400000">
            <a:off x="22383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9433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8B5C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43350" y="2667000"/>
            <a:ext cx="1219200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100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100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195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编写新测试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6766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37814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4864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59E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0" y="2667000"/>
            <a:ext cx="1219200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531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531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26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执行 run_test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2197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53244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0294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34D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029450" y="2667000"/>
            <a:ext cx="1219200" cy="5715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74961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961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1056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读失败日志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67627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68675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250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F8717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572500" y="2667000"/>
            <a:ext cx="1219200" cy="57150"/>
          </a:xfrm>
          <a:prstGeom prst="rect">
            <a:avLst/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903922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03922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4870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修正代码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30580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841057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10115550" y="2667000"/>
            <a:ext cx="1219200" cy="1143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0115550" y="2667000"/>
            <a:ext cx="1219200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10582275" y="25241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82275" y="25146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191750" y="2800350"/>
            <a:ext cx="1066800" cy="95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475569"/>
                </a:solidFill>
                <a:latin typeface="PingFang SC"/>
              </a:rPr>
              <a:t>再执行通过|典型多轮 Loop:平均 2-3 轮收敛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848850" y="3238500"/>
            <a:ext cx="190500" cy="0"/>
          </a:xfrm>
          <a:prstGeom prst="line">
            <a:avLst/>
          </a:prstGeom>
          <a:ln w="20320">
            <a:solidFill>
              <a:srgbClr val="47556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9953626" y="3195638"/>
            <a:ext cx="85725" cy="85725"/>
          </a:xfrm>
          <a:prstGeom prst="triangle">
            <a:avLst/>
          </a:prstGeom>
          <a:solidFill>
            <a:srgbClr val="4755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3" name="Connector 52"/>
          <p:cNvCxnSpPr/>
          <p:nvPr/>
        </p:nvCxnSpPr>
        <p:spPr>
          <a:xfrm>
            <a:off x="107251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/>
          <p:cNvSpPr/>
          <p:nvPr/>
        </p:nvSpPr>
        <p:spPr>
          <a:xfrm rot="10800000">
            <a:off x="10682288" y="4010026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onnector 54"/>
          <p:cNvCxnSpPr/>
          <p:nvPr/>
        </p:nvCxnSpPr>
        <p:spPr>
          <a:xfrm flipH="1">
            <a:off x="7639050" y="4095750"/>
            <a:ext cx="3086100" cy="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16200000">
            <a:off x="7639050" y="4052888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 flipV="1">
            <a:off x="7639050" y="3867150"/>
            <a:ext cx="0" cy="228600"/>
          </a:xfrm>
          <a:prstGeom prst="line">
            <a:avLst/>
          </a:prstGeom>
          <a:ln w="20320">
            <a:solidFill>
              <a:srgbClr val="F59E0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>
            <a:off x="7596188" y="3867150"/>
            <a:ext cx="85725" cy="85725"/>
          </a:xfrm>
          <a:prstGeom prst="triangl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3848100"/>
            <a:ext cx="4305300" cy="2095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1">
                <a:solidFill>
                  <a:srgbClr val="F59E0B"/>
                </a:solidFill>
                <a:latin typeface="PingFang SC"/>
              </a:rPr>
              <a:t>循环(loop)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128/139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应用:从岗位任务拆能力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开发岗:代码工具+项目记忆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QA 岗:测试工具+失败分析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运维岗:Shell+监控+回滚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能力包=第5章 Skill 的雏形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129/139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岗位→能力包映射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开发岗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代码工具+项目记忆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QA 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测试工具+失败分析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运维岗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Shell+监控+回滚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分析岗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检索+报表生成|能力包=Skill 的雏形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130/139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踩坑:Harness 过度抽象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为未来场景堆配置项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结果:没人会用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原则:三个真实场景驱动抽象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131/139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踩坑:LangGraph 全流程依赖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把业务逻辑全塞进图节点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平台代码不可测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建议:节点薄,领域逻辑在平台层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132/139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优化:Harness 的测试策略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五要素全部接口化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测试注入 Mock 实现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决策脚本化(平台 ScriptedDecider)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确定性测试是平台根基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133/139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编排层测试实测,$ uv run pytest -m unit tests/unit/orchestration;............ 12 passed in 0.31s;# ScriptedDecider:决策脚本化;# 四条终止路径全覆盖(含死循环熔断);# 无需真实模型即可回归编排层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tests 真实输出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33500" y="952500"/>
            <a:ext cx="9525000" cy="5048250"/>
          </a:xfrm>
          <a:prstGeom prst="roundRect">
            <a:avLst>
              <a:gd name="adj" fmla="val 8000"/>
            </a:avLst>
          </a:prstGeom>
          <a:solidFill>
            <a:srgbClr val="0D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333500" y="952500"/>
            <a:ext cx="9525000" cy="3810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049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8717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75260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000250" y="1085850"/>
            <a:ext cx="123825" cy="123825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81250" y="952500"/>
            <a:ext cx="8286750" cy="381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terminal — 平台实测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62100" y="1485900"/>
            <a:ext cx="9067800" cy="438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>
                <a:solidFill>
                  <a:srgbClr val="CBD5E1"/>
                </a:solidFill>
                <a:latin typeface="Menlo"/>
              </a:rPr>
              <a:t>tests 真实输出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134/139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Loop:四出口+死循环熔断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Planning:按任务选策略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状态机+Checkpoint:可恢复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Sandbox:三类边界最小权限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下一章:认知能力扩展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135/139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2026 前沿②:Computer Use 与多模态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47750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47750" y="1724025"/>
            <a:ext cx="4924425" cy="5715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200150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150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38300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Computer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00150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GUI 操作型 Agent(浏览器/桌面)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9825" y="172402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9825" y="1724025"/>
            <a:ext cx="4924425" cy="5715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72225" y="191452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2225" y="191452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0375" y="193357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Browser 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225" y="233362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结构化网页操作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47750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47750" y="3495675"/>
            <a:ext cx="4924425" cy="5715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200150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00150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38300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多模态输入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00150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截图理解→操作决策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9825" y="3495675"/>
            <a:ext cx="4924425" cy="1524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19825" y="3495675"/>
            <a:ext cx="4924425" cy="571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372225" y="3686175"/>
            <a:ext cx="323850" cy="3238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2225" y="3686175"/>
            <a:ext cx="323850" cy="323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PingFang SC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0375" y="3705225"/>
            <a:ext cx="4181475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0B1D3A"/>
                </a:solidFill>
                <a:latin typeface="PingFang SC"/>
              </a:rPr>
              <a:t>本平台延伸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2225" y="4105275"/>
            <a:ext cx="4619625" cy="7810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>
                <a:solidFill>
                  <a:srgbClr val="475569"/>
                </a:solidFill>
                <a:latin typeface="PingFang SC"/>
              </a:rPr>
              <a:t>Sandbox 内跑无头浏览器|案例:Manus 通用任务代理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136/139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Lab3 验收清单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47625" cy="8763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450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演示仓库完成代码理解任务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09650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81725" y="9144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1725" y="914400"/>
            <a:ext cx="47625" cy="8763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19875" y="9144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kill 后 resume_from 恢复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15075" y="12858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76300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6300" y="1962150"/>
            <a:ext cx="47625" cy="8763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14450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危险命令被 Sandbox 拦截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09650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81725" y="196215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81725" y="1962150"/>
            <a:ext cx="47625" cy="8763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9875" y="196215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连续重复动作触发熔断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15075" y="233362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76300" y="3009900"/>
            <a:ext cx="5133975" cy="8763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76300" y="3009900"/>
            <a:ext cx="47625" cy="87630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14450" y="3009900"/>
            <a:ext cx="4524375" cy="8763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1">
                <a:solidFill>
                  <a:srgbClr val="475569"/>
                </a:solidFill>
                <a:latin typeface="PingFang SC"/>
              </a:rPr>
              <a:t>[ ] 九态流转全程留痕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9650" y="3381375"/>
            <a:ext cx="133350" cy="133350"/>
          </a:xfrm>
          <a:prstGeom prst="roundRect">
            <a:avLst>
              <a:gd name="adj" fmla="val 8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137/139</a:t>
            </a:r>
          </a:p>
        </p:txBody>
      </p:sp>
    </p:spTree>
  </p:cSld>
  <p:clrMapOvr>
    <a:masterClrMapping/>
  </p:clrMapOvr>
</p:sld>
</file>

<file path=ppt/slides/slide1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04800" y="0"/>
            <a:ext cx="11430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0B1D3A"/>
                </a:solidFill>
                <a:latin typeface="PingFang SC"/>
              </a:rPr>
              <a:t>自测 · Harness 与 LangGraph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43000" y="1143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90650" y="1143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5000" y="1143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Harness 五要素如何注入测试?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1905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1905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1905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5000" y="1905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LangGraph 与本平台 Loop 的映射?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667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2667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2667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5000" y="2667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Computer Use 型 Agent 的沙箱要求?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29000"/>
            <a:ext cx="9906000" cy="5905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3429000"/>
            <a:ext cx="47625" cy="647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3429000"/>
            <a:ext cx="4191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2563EB"/>
                </a:solidFill>
                <a:latin typeface="PingFang SC"/>
              </a:rPr>
              <a:t>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5000" y="3429000"/>
            <a:ext cx="8572500" cy="647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0">
                <a:solidFill>
                  <a:srgbClr val="475569"/>
                </a:solidFill>
                <a:latin typeface="PingFang SC"/>
              </a:rPr>
              <a:t>何时选 A2A 而非进程内子代理?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138/139</a:t>
            </a:r>
          </a:p>
        </p:txBody>
      </p:sp>
    </p:spTree>
  </p:cSld>
  <p:clrMapOvr>
    <a:masterClrMapping/>
  </p:clrMapOvr>
</p:sld>
</file>

<file path=ppt/slides/slide1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704850"/>
          </a:xfrm>
          <a:prstGeom prst="rect">
            <a:avLst/>
          </a:prstGeom>
          <a:solidFill>
            <a:srgbClr val="0B1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70485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66700" y="0"/>
            <a:ext cx="1028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FFFFFF"/>
                </a:solidFill>
                <a:latin typeface="PingFang SC"/>
              </a:rPr>
              <a:t>下一章预告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34500" y="0"/>
            <a:ext cx="2667000" cy="7048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>
                <a:solidFill>
                  <a:srgbClr val="94A3B8"/>
                </a:solidFill>
                <a:latin typeface="PingFang SC"/>
              </a:rPr>
              <a:t>第3章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76300" y="9144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76300" y="914400"/>
            <a:ext cx="57150" cy="10287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47750" y="12858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7750" y="12763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9144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上下文:Agent 的认知带宽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6300" y="21145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6300" y="2114550"/>
            <a:ext cx="57150" cy="10287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047750" y="24860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7750" y="24765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5900" y="21145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记忆:短期/长期/项目级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76300" y="331470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6300" y="3314700"/>
            <a:ext cx="57150" cy="102870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47750" y="368617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7750" y="367665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5900" y="331470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RAG:让 Agent 查到该查的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76300" y="4514850"/>
            <a:ext cx="10439400" cy="10287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5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76300" y="4514850"/>
            <a:ext cx="57150" cy="10287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47750" y="4886325"/>
            <a:ext cx="285750" cy="285750"/>
          </a:xfrm>
          <a:prstGeom prst="roundRect">
            <a:avLst>
              <a:gd name="adj" fmla="val 8000"/>
            </a:avLst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47750" y="4876800"/>
            <a:ext cx="285750" cy="2857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FFFF"/>
                </a:solidFill>
                <a:latin typeface="PingFang S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85900" y="4514850"/>
            <a:ext cx="9601200" cy="1028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1">
                <a:solidFill>
                  <a:srgbClr val="475569"/>
                </a:solidFill>
                <a:latin typeface="PingFang SC"/>
              </a:rPr>
              <a:t>目标里程碑 M4:Codebase RAG&amp;Memory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6300" y="6019800"/>
            <a:ext cx="10439400" cy="514350"/>
          </a:xfrm>
          <a:prstGeom prst="roundRect">
            <a:avLst>
              <a:gd name="adj" fmla="val 8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66800" y="6019800"/>
            <a:ext cx="10058400" cy="55245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2563EB"/>
                </a:solidFill>
                <a:latin typeface="PingFang SC"/>
              </a:rPr>
              <a:t>▶ 决定上限的不是模型,是喂了什么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87000" y="6534150"/>
            <a:ext cx="1619250" cy="2667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>
                <a:solidFill>
                  <a:srgbClr val="94A3B8"/>
                </a:solidFill>
                <a:latin typeface="PingFang SC"/>
              </a:rPr>
              <a:t>第3章 · 139/139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