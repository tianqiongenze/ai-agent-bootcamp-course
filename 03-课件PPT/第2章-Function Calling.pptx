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00.xml" ContentType="application/vnd.openxmlformats-officedocument.presentationml.slide+xml"/>
  <Override PartName="/ppt/slides/slide101.xml" ContentType="application/vnd.openxmlformats-officedocument.presentationml.slide+xml"/>
  <Override PartName="/ppt/slides/slide102.xml" ContentType="application/vnd.openxmlformats-officedocument.presentationml.slide+xml"/>
  <Override PartName="/ppt/slides/slide103.xml" ContentType="application/vnd.openxmlformats-officedocument.presentationml.slide+xml"/>
  <Override PartName="/ppt/slides/slide104.xml" ContentType="application/vnd.openxmlformats-officedocument.presentationml.slide+xml"/>
  <Override PartName="/ppt/slides/slide105.xml" ContentType="application/vnd.openxmlformats-officedocument.presentationml.slide+xml"/>
  <Override PartName="/ppt/slides/slide106.xml" ContentType="application/vnd.openxmlformats-officedocument.presentationml.slide+xml"/>
  <Override PartName="/ppt/slides/slide107.xml" ContentType="application/vnd.openxmlformats-officedocument.presentationml.slide+xml"/>
  <Override PartName="/ppt/slides/slide108.xml" ContentType="application/vnd.openxmlformats-officedocument.presentationml.slide+xml"/>
  <Override PartName="/ppt/slides/slide109.xml" ContentType="application/vnd.openxmlformats-officedocument.presentationml.slide+xml"/>
  <Override PartName="/ppt/slides/slide11.xml" ContentType="application/vnd.openxmlformats-officedocument.presentationml.slide+xml"/>
  <Override PartName="/ppt/slides/slide110.xml" ContentType="application/vnd.openxmlformats-officedocument.presentationml.slide+xml"/>
  <Override PartName="/ppt/slides/slide111.xml" ContentType="application/vnd.openxmlformats-officedocument.presentationml.slide+xml"/>
  <Override PartName="/ppt/slides/slide112.xml" ContentType="application/vnd.openxmlformats-officedocument.presentationml.slide+xml"/>
  <Override PartName="/ppt/slides/slide113.xml" ContentType="application/vnd.openxmlformats-officedocument.presentationml.slide+xml"/>
  <Override PartName="/ppt/slides/slide114.xml" ContentType="application/vnd.openxmlformats-officedocument.presentationml.slide+xml"/>
  <Override PartName="/ppt/slides/slide115.xml" ContentType="application/vnd.openxmlformats-officedocument.presentationml.slide+xml"/>
  <Override PartName="/ppt/slides/slide116.xml" ContentType="application/vnd.openxmlformats-officedocument.presentationml.slide+xml"/>
  <Override PartName="/ppt/slides/slide117.xml" ContentType="application/vnd.openxmlformats-officedocument.presentationml.slide+xml"/>
  <Override PartName="/ppt/slides/slide118.xml" ContentType="application/vnd.openxmlformats-officedocument.presentationml.slide+xml"/>
  <Override PartName="/ppt/slides/slide119.xml" ContentType="application/vnd.openxmlformats-officedocument.presentationml.slide+xml"/>
  <Override PartName="/ppt/slides/slide12.xml" ContentType="application/vnd.openxmlformats-officedocument.presentationml.slide+xml"/>
  <Override PartName="/ppt/slides/slide120.xml" ContentType="application/vnd.openxmlformats-officedocument.presentationml.slide+xml"/>
  <Override PartName="/ppt/slides/slide121.xml" ContentType="application/vnd.openxmlformats-officedocument.presentationml.slide+xml"/>
  <Override PartName="/ppt/slides/slide122.xml" ContentType="application/vnd.openxmlformats-officedocument.presentationml.slide+xml"/>
  <Override PartName="/ppt/slides/slide123.xml" ContentType="application/vnd.openxmlformats-officedocument.presentationml.slide+xml"/>
  <Override PartName="/ppt/slides/slide124.xml" ContentType="application/vnd.openxmlformats-officedocument.presentationml.slide+xml"/>
  <Override PartName="/ppt/slides/slide125.xml" ContentType="application/vnd.openxmlformats-officedocument.presentationml.slide+xml"/>
  <Override PartName="/ppt/slides/slide126.xml" ContentType="application/vnd.openxmlformats-officedocument.presentationml.slide+xml"/>
  <Override PartName="/ppt/slides/slide127.xml" ContentType="application/vnd.openxmlformats-officedocument.presentationml.slide+xml"/>
  <Override PartName="/ppt/slides/slide128.xml" ContentType="application/vnd.openxmlformats-officedocument.presentationml.slide+xml"/>
  <Override PartName="/ppt/slides/slide129.xml" ContentType="application/vnd.openxmlformats-officedocument.presentationml.slide+xml"/>
  <Override PartName="/ppt/slides/slide13.xml" ContentType="application/vnd.openxmlformats-officedocument.presentationml.slide+xml"/>
  <Override PartName="/ppt/slides/slide130.xml" ContentType="application/vnd.openxmlformats-officedocument.presentationml.slide+xml"/>
  <Override PartName="/ppt/slides/slide131.xml" ContentType="application/vnd.openxmlformats-officedocument.presentationml.slide+xml"/>
  <Override PartName="/ppt/slides/slide132.xml" ContentType="application/vnd.openxmlformats-officedocument.presentationml.slide+xml"/>
  <Override PartName="/ppt/slides/slide133.xml" ContentType="application/vnd.openxmlformats-officedocument.presentationml.slide+xml"/>
  <Override PartName="/ppt/slides/slide134.xml" ContentType="application/vnd.openxmlformats-officedocument.presentationml.slide+xml"/>
  <Override PartName="/ppt/slides/slide135.xml" ContentType="application/vnd.openxmlformats-officedocument.presentationml.slide+xml"/>
  <Override PartName="/ppt/slides/slide136.xml" ContentType="application/vnd.openxmlformats-officedocument.presentationml.slide+xml"/>
  <Override PartName="/ppt/slides/slide137.xml" ContentType="application/vnd.openxmlformats-officedocument.presentationml.slide+xml"/>
  <Override PartName="/ppt/slides/slide138.xml" ContentType="application/vnd.openxmlformats-officedocument.presentationml.slide+xml"/>
  <Override PartName="/ppt/slides/slide139.xml" ContentType="application/vnd.openxmlformats-officedocument.presentationml.slide+xml"/>
  <Override PartName="/ppt/slides/slide14.xml" ContentType="application/vnd.openxmlformats-officedocument.presentationml.slide+xml"/>
  <Override PartName="/ppt/slides/slide140.xml" ContentType="application/vnd.openxmlformats-officedocument.presentationml.slide+xml"/>
  <Override PartName="/ppt/slides/slide141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37.xml" ContentType="application/vnd.openxmlformats-officedocument.presentationml.slide+xml"/>
  <Override PartName="/ppt/slides/slide38.xml" ContentType="application/vnd.openxmlformats-officedocument.presentationml.slide+xml"/>
  <Override PartName="/ppt/slides/slide39.xml" ContentType="application/vnd.openxmlformats-officedocument.presentationml.slide+xml"/>
  <Override PartName="/ppt/slides/slide4.xml" ContentType="application/vnd.openxmlformats-officedocument.presentationml.slide+xml"/>
  <Override PartName="/ppt/slides/slide40.xml" ContentType="application/vnd.openxmlformats-officedocument.presentationml.slide+xml"/>
  <Override PartName="/ppt/slides/slide41.xml" ContentType="application/vnd.openxmlformats-officedocument.presentationml.slide+xml"/>
  <Override PartName="/ppt/slides/slide42.xml" ContentType="application/vnd.openxmlformats-officedocument.presentationml.slide+xml"/>
  <Override PartName="/ppt/slides/slide43.xml" ContentType="application/vnd.openxmlformats-officedocument.presentationml.slide+xml"/>
  <Override PartName="/ppt/slides/slide44.xml" ContentType="application/vnd.openxmlformats-officedocument.presentationml.slide+xml"/>
  <Override PartName="/ppt/slides/slide45.xml" ContentType="application/vnd.openxmlformats-officedocument.presentationml.slide+xml"/>
  <Override PartName="/ppt/slides/slide46.xml" ContentType="application/vnd.openxmlformats-officedocument.presentationml.slide+xml"/>
  <Override PartName="/ppt/slides/slide47.xml" ContentType="application/vnd.openxmlformats-officedocument.presentationml.slide+xml"/>
  <Override PartName="/ppt/slides/slide48.xml" ContentType="application/vnd.openxmlformats-officedocument.presentationml.slide+xml"/>
  <Override PartName="/ppt/slides/slide49.xml" ContentType="application/vnd.openxmlformats-officedocument.presentationml.slide+xml"/>
  <Override PartName="/ppt/slides/slide5.xml" ContentType="application/vnd.openxmlformats-officedocument.presentationml.slide+xml"/>
  <Override PartName="/ppt/slides/slide50.xml" ContentType="application/vnd.openxmlformats-officedocument.presentationml.slide+xml"/>
  <Override PartName="/ppt/slides/slide51.xml" ContentType="application/vnd.openxmlformats-officedocument.presentationml.slide+xml"/>
  <Override PartName="/ppt/slides/slide52.xml" ContentType="application/vnd.openxmlformats-officedocument.presentationml.slide+xml"/>
  <Override PartName="/ppt/slides/slide53.xml" ContentType="application/vnd.openxmlformats-officedocument.presentationml.slide+xml"/>
  <Override PartName="/ppt/slides/slide54.xml" ContentType="application/vnd.openxmlformats-officedocument.presentationml.slide+xml"/>
  <Override PartName="/ppt/slides/slide55.xml" ContentType="application/vnd.openxmlformats-officedocument.presentationml.slide+xml"/>
  <Override PartName="/ppt/slides/slide56.xml" ContentType="application/vnd.openxmlformats-officedocument.presentationml.slide+xml"/>
  <Override PartName="/ppt/slides/slide57.xml" ContentType="application/vnd.openxmlformats-officedocument.presentationml.slide+xml"/>
  <Override PartName="/ppt/slides/slide58.xml" ContentType="application/vnd.openxmlformats-officedocument.presentationml.slide+xml"/>
  <Override PartName="/ppt/slides/slide59.xml" ContentType="application/vnd.openxmlformats-officedocument.presentationml.slide+xml"/>
  <Override PartName="/ppt/slides/slide6.xml" ContentType="application/vnd.openxmlformats-officedocument.presentationml.slide+xml"/>
  <Override PartName="/ppt/slides/slide60.xml" ContentType="application/vnd.openxmlformats-officedocument.presentationml.slide+xml"/>
  <Override PartName="/ppt/slides/slide61.xml" ContentType="application/vnd.openxmlformats-officedocument.presentationml.slide+xml"/>
  <Override PartName="/ppt/slides/slide62.xml" ContentType="application/vnd.openxmlformats-officedocument.presentationml.slide+xml"/>
  <Override PartName="/ppt/slides/slide63.xml" ContentType="application/vnd.openxmlformats-officedocument.presentationml.slide+xml"/>
  <Override PartName="/ppt/slides/slide64.xml" ContentType="application/vnd.openxmlformats-officedocument.presentationml.slide+xml"/>
  <Override PartName="/ppt/slides/slide65.xml" ContentType="application/vnd.openxmlformats-officedocument.presentationml.slide+xml"/>
  <Override PartName="/ppt/slides/slide66.xml" ContentType="application/vnd.openxmlformats-officedocument.presentationml.slide+xml"/>
  <Override PartName="/ppt/slides/slide67.xml" ContentType="application/vnd.openxmlformats-officedocument.presentationml.slide+xml"/>
  <Override PartName="/ppt/slides/slide68.xml" ContentType="application/vnd.openxmlformats-officedocument.presentationml.slide+xml"/>
  <Override PartName="/ppt/slides/slide69.xml" ContentType="application/vnd.openxmlformats-officedocument.presentationml.slide+xml"/>
  <Override PartName="/ppt/slides/slide7.xml" ContentType="application/vnd.openxmlformats-officedocument.presentationml.slide+xml"/>
  <Override PartName="/ppt/slides/slide70.xml" ContentType="application/vnd.openxmlformats-officedocument.presentationml.slide+xml"/>
  <Override PartName="/ppt/slides/slide71.xml" ContentType="application/vnd.openxmlformats-officedocument.presentationml.slide+xml"/>
  <Override PartName="/ppt/slides/slide72.xml" ContentType="application/vnd.openxmlformats-officedocument.presentationml.slide+xml"/>
  <Override PartName="/ppt/slides/slide73.xml" ContentType="application/vnd.openxmlformats-officedocument.presentationml.slide+xml"/>
  <Override PartName="/ppt/slides/slide74.xml" ContentType="application/vnd.openxmlformats-officedocument.presentationml.slide+xml"/>
  <Override PartName="/ppt/slides/slide75.xml" ContentType="application/vnd.openxmlformats-officedocument.presentationml.slide+xml"/>
  <Override PartName="/ppt/slides/slide76.xml" ContentType="application/vnd.openxmlformats-officedocument.presentationml.slide+xml"/>
  <Override PartName="/ppt/slides/slide77.xml" ContentType="application/vnd.openxmlformats-officedocument.presentationml.slide+xml"/>
  <Override PartName="/ppt/slides/slide78.xml" ContentType="application/vnd.openxmlformats-officedocument.presentationml.slide+xml"/>
  <Override PartName="/ppt/slides/slide79.xml" ContentType="application/vnd.openxmlformats-officedocument.presentationml.slide+xml"/>
  <Override PartName="/ppt/slides/slide8.xml" ContentType="application/vnd.openxmlformats-officedocument.presentationml.slide+xml"/>
  <Override PartName="/ppt/slides/slide80.xml" ContentType="application/vnd.openxmlformats-officedocument.presentationml.slide+xml"/>
  <Override PartName="/ppt/slides/slide81.xml" ContentType="application/vnd.openxmlformats-officedocument.presentationml.slide+xml"/>
  <Override PartName="/ppt/slides/slide82.xml" ContentType="application/vnd.openxmlformats-officedocument.presentationml.slide+xml"/>
  <Override PartName="/ppt/slides/slide83.xml" ContentType="application/vnd.openxmlformats-officedocument.presentationml.slide+xml"/>
  <Override PartName="/ppt/slides/slide84.xml" ContentType="application/vnd.openxmlformats-officedocument.presentationml.slide+xml"/>
  <Override PartName="/ppt/slides/slide85.xml" ContentType="application/vnd.openxmlformats-officedocument.presentationml.slide+xml"/>
  <Override PartName="/ppt/slides/slide86.xml" ContentType="application/vnd.openxmlformats-officedocument.presentationml.slide+xml"/>
  <Override PartName="/ppt/slides/slide87.xml" ContentType="application/vnd.openxmlformats-officedocument.presentationml.slide+xml"/>
  <Override PartName="/ppt/slides/slide88.xml" ContentType="application/vnd.openxmlformats-officedocument.presentationml.slide+xml"/>
  <Override PartName="/ppt/slides/slide89.xml" ContentType="application/vnd.openxmlformats-officedocument.presentationml.slide+xml"/>
  <Override PartName="/ppt/slides/slide9.xml" ContentType="application/vnd.openxmlformats-officedocument.presentationml.slide+xml"/>
  <Override PartName="/ppt/slides/slide90.xml" ContentType="application/vnd.openxmlformats-officedocument.presentationml.slide+xml"/>
  <Override PartName="/ppt/slides/slide91.xml" ContentType="application/vnd.openxmlformats-officedocument.presentationml.slide+xml"/>
  <Override PartName="/ppt/slides/slide92.xml" ContentType="application/vnd.openxmlformats-officedocument.presentationml.slide+xml"/>
  <Override PartName="/ppt/slides/slide93.xml" ContentType="application/vnd.openxmlformats-officedocument.presentationml.slide+xml"/>
  <Override PartName="/ppt/slides/slide94.xml" ContentType="application/vnd.openxmlformats-officedocument.presentationml.slide+xml"/>
  <Override PartName="/ppt/slides/slide95.xml" ContentType="application/vnd.openxmlformats-officedocument.presentationml.slide+xml"/>
  <Override PartName="/ppt/slides/slide96.xml" ContentType="application/vnd.openxmlformats-officedocument.presentationml.slide+xml"/>
  <Override PartName="/ppt/slides/slide97.xml" ContentType="application/vnd.openxmlformats-officedocument.presentationml.slide+xml"/>
  <Override PartName="/ppt/slides/slide98.xml" ContentType="application/vnd.openxmlformats-officedocument.presentationml.slide+xml"/>
  <Override PartName="/ppt/slides/slide9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  <p:sldId id="271" r:id="rId22"/>
    <p:sldId id="272" r:id="rId23"/>
    <p:sldId id="273" r:id="rId24"/>
    <p:sldId id="274" r:id="rId25"/>
    <p:sldId id="275" r:id="rId26"/>
    <p:sldId id="276" r:id="rId27"/>
    <p:sldId id="277" r:id="rId28"/>
    <p:sldId id="278" r:id="rId29"/>
    <p:sldId id="279" r:id="rId30"/>
    <p:sldId id="280" r:id="rId31"/>
    <p:sldId id="281" r:id="rId32"/>
    <p:sldId id="282" r:id="rId33"/>
    <p:sldId id="283" r:id="rId34"/>
    <p:sldId id="284" r:id="rId35"/>
    <p:sldId id="285" r:id="rId36"/>
    <p:sldId id="286" r:id="rId37"/>
    <p:sldId id="287" r:id="rId38"/>
    <p:sldId id="288" r:id="rId39"/>
    <p:sldId id="289" r:id="rId40"/>
    <p:sldId id="290" r:id="rId41"/>
    <p:sldId id="291" r:id="rId42"/>
    <p:sldId id="292" r:id="rId43"/>
    <p:sldId id="293" r:id="rId44"/>
    <p:sldId id="294" r:id="rId45"/>
    <p:sldId id="295" r:id="rId46"/>
    <p:sldId id="296" r:id="rId47"/>
    <p:sldId id="297" r:id="rId48"/>
    <p:sldId id="298" r:id="rId49"/>
    <p:sldId id="299" r:id="rId50"/>
    <p:sldId id="300" r:id="rId51"/>
    <p:sldId id="301" r:id="rId52"/>
    <p:sldId id="302" r:id="rId53"/>
    <p:sldId id="303" r:id="rId54"/>
    <p:sldId id="304" r:id="rId55"/>
    <p:sldId id="305" r:id="rId56"/>
    <p:sldId id="306" r:id="rId57"/>
    <p:sldId id="307" r:id="rId58"/>
    <p:sldId id="308" r:id="rId59"/>
    <p:sldId id="309" r:id="rId60"/>
    <p:sldId id="310" r:id="rId61"/>
    <p:sldId id="311" r:id="rId62"/>
    <p:sldId id="312" r:id="rId63"/>
    <p:sldId id="313" r:id="rId64"/>
    <p:sldId id="314" r:id="rId65"/>
    <p:sldId id="315" r:id="rId66"/>
    <p:sldId id="316" r:id="rId67"/>
    <p:sldId id="317" r:id="rId68"/>
    <p:sldId id="318" r:id="rId69"/>
    <p:sldId id="319" r:id="rId70"/>
    <p:sldId id="320" r:id="rId71"/>
    <p:sldId id="321" r:id="rId72"/>
    <p:sldId id="322" r:id="rId73"/>
    <p:sldId id="323" r:id="rId74"/>
    <p:sldId id="324" r:id="rId75"/>
    <p:sldId id="325" r:id="rId76"/>
    <p:sldId id="326" r:id="rId77"/>
    <p:sldId id="327" r:id="rId78"/>
    <p:sldId id="328" r:id="rId79"/>
    <p:sldId id="329" r:id="rId80"/>
    <p:sldId id="330" r:id="rId81"/>
    <p:sldId id="331" r:id="rId82"/>
    <p:sldId id="332" r:id="rId83"/>
    <p:sldId id="333" r:id="rId84"/>
    <p:sldId id="334" r:id="rId85"/>
    <p:sldId id="335" r:id="rId86"/>
    <p:sldId id="336" r:id="rId87"/>
    <p:sldId id="337" r:id="rId88"/>
    <p:sldId id="338" r:id="rId89"/>
    <p:sldId id="339" r:id="rId90"/>
    <p:sldId id="340" r:id="rId91"/>
    <p:sldId id="341" r:id="rId92"/>
    <p:sldId id="342" r:id="rId93"/>
    <p:sldId id="343" r:id="rId94"/>
    <p:sldId id="344" r:id="rId95"/>
    <p:sldId id="345" r:id="rId96"/>
    <p:sldId id="346" r:id="rId97"/>
    <p:sldId id="347" r:id="rId98"/>
    <p:sldId id="348" r:id="rId99"/>
    <p:sldId id="349" r:id="rId100"/>
    <p:sldId id="350" r:id="rId101"/>
    <p:sldId id="351" r:id="rId102"/>
    <p:sldId id="352" r:id="rId103"/>
    <p:sldId id="353" r:id="rId104"/>
    <p:sldId id="354" r:id="rId105"/>
    <p:sldId id="355" r:id="rId106"/>
    <p:sldId id="356" r:id="rId107"/>
    <p:sldId id="357" r:id="rId108"/>
    <p:sldId id="358" r:id="rId109"/>
    <p:sldId id="359" r:id="rId110"/>
    <p:sldId id="360" r:id="rId111"/>
    <p:sldId id="361" r:id="rId112"/>
    <p:sldId id="362" r:id="rId113"/>
    <p:sldId id="363" r:id="rId114"/>
    <p:sldId id="364" r:id="rId115"/>
    <p:sldId id="365" r:id="rId116"/>
    <p:sldId id="366" r:id="rId117"/>
    <p:sldId id="367" r:id="rId118"/>
    <p:sldId id="368" r:id="rId119"/>
    <p:sldId id="369" r:id="rId120"/>
    <p:sldId id="370" r:id="rId121"/>
    <p:sldId id="371" r:id="rId122"/>
    <p:sldId id="372" r:id="rId123"/>
    <p:sldId id="373" r:id="rId124"/>
    <p:sldId id="374" r:id="rId125"/>
    <p:sldId id="375" r:id="rId126"/>
    <p:sldId id="376" r:id="rId127"/>
    <p:sldId id="377" r:id="rId128"/>
    <p:sldId id="378" r:id="rId129"/>
    <p:sldId id="379" r:id="rId130"/>
    <p:sldId id="380" r:id="rId131"/>
    <p:sldId id="381" r:id="rId132"/>
    <p:sldId id="382" r:id="rId133"/>
    <p:sldId id="383" r:id="rId134"/>
    <p:sldId id="384" r:id="rId135"/>
    <p:sldId id="385" r:id="rId136"/>
    <p:sldId id="386" r:id="rId137"/>
    <p:sldId id="387" r:id="rId138"/>
    <p:sldId id="388" r:id="rId139"/>
    <p:sldId id="389" r:id="rId140"/>
    <p:sldId id="390" r:id="rId141"/>
    <p:sldId id="391" r:id="rId142"/>
    <p:sldId id="392" r:id="rId143"/>
    <p:sldId id="393" r:id="rId144"/>
    <p:sldId id="394" r:id="rId145"/>
    <p:sldId id="395" r:id="rId146"/>
    <p:sldId id="396" r:id="rId147"/>
  </p:sldIdLst>
  <p:sldSz cx="12192000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Relationship Id="rId22" Type="http://schemas.openxmlformats.org/officeDocument/2006/relationships/slide" Target="slides/slide16.xml"/><Relationship Id="rId23" Type="http://schemas.openxmlformats.org/officeDocument/2006/relationships/slide" Target="slides/slide17.xml"/><Relationship Id="rId24" Type="http://schemas.openxmlformats.org/officeDocument/2006/relationships/slide" Target="slides/slide18.xml"/><Relationship Id="rId25" Type="http://schemas.openxmlformats.org/officeDocument/2006/relationships/slide" Target="slides/slide19.xml"/><Relationship Id="rId26" Type="http://schemas.openxmlformats.org/officeDocument/2006/relationships/slide" Target="slides/slide20.xml"/><Relationship Id="rId27" Type="http://schemas.openxmlformats.org/officeDocument/2006/relationships/slide" Target="slides/slide21.xml"/><Relationship Id="rId28" Type="http://schemas.openxmlformats.org/officeDocument/2006/relationships/slide" Target="slides/slide22.xml"/><Relationship Id="rId29" Type="http://schemas.openxmlformats.org/officeDocument/2006/relationships/slide" Target="slides/slide23.xml"/><Relationship Id="rId30" Type="http://schemas.openxmlformats.org/officeDocument/2006/relationships/slide" Target="slides/slide24.xml"/><Relationship Id="rId31" Type="http://schemas.openxmlformats.org/officeDocument/2006/relationships/slide" Target="slides/slide25.xml"/><Relationship Id="rId32" Type="http://schemas.openxmlformats.org/officeDocument/2006/relationships/slide" Target="slides/slide26.xml"/><Relationship Id="rId33" Type="http://schemas.openxmlformats.org/officeDocument/2006/relationships/slide" Target="slides/slide27.xml"/><Relationship Id="rId34" Type="http://schemas.openxmlformats.org/officeDocument/2006/relationships/slide" Target="slides/slide28.xml"/><Relationship Id="rId35" Type="http://schemas.openxmlformats.org/officeDocument/2006/relationships/slide" Target="slides/slide29.xml"/><Relationship Id="rId36" Type="http://schemas.openxmlformats.org/officeDocument/2006/relationships/slide" Target="slides/slide30.xml"/><Relationship Id="rId37" Type="http://schemas.openxmlformats.org/officeDocument/2006/relationships/slide" Target="slides/slide31.xml"/><Relationship Id="rId38" Type="http://schemas.openxmlformats.org/officeDocument/2006/relationships/slide" Target="slides/slide32.xml"/><Relationship Id="rId39" Type="http://schemas.openxmlformats.org/officeDocument/2006/relationships/slide" Target="slides/slide33.xml"/><Relationship Id="rId40" Type="http://schemas.openxmlformats.org/officeDocument/2006/relationships/slide" Target="slides/slide34.xml"/><Relationship Id="rId41" Type="http://schemas.openxmlformats.org/officeDocument/2006/relationships/slide" Target="slides/slide35.xml"/><Relationship Id="rId42" Type="http://schemas.openxmlformats.org/officeDocument/2006/relationships/slide" Target="slides/slide36.xml"/><Relationship Id="rId43" Type="http://schemas.openxmlformats.org/officeDocument/2006/relationships/slide" Target="slides/slide37.xml"/><Relationship Id="rId44" Type="http://schemas.openxmlformats.org/officeDocument/2006/relationships/slide" Target="slides/slide38.xml"/><Relationship Id="rId45" Type="http://schemas.openxmlformats.org/officeDocument/2006/relationships/slide" Target="slides/slide39.xml"/><Relationship Id="rId46" Type="http://schemas.openxmlformats.org/officeDocument/2006/relationships/slide" Target="slides/slide40.xml"/><Relationship Id="rId47" Type="http://schemas.openxmlformats.org/officeDocument/2006/relationships/slide" Target="slides/slide41.xml"/><Relationship Id="rId48" Type="http://schemas.openxmlformats.org/officeDocument/2006/relationships/slide" Target="slides/slide42.xml"/><Relationship Id="rId49" Type="http://schemas.openxmlformats.org/officeDocument/2006/relationships/slide" Target="slides/slide43.xml"/><Relationship Id="rId50" Type="http://schemas.openxmlformats.org/officeDocument/2006/relationships/slide" Target="slides/slide44.xml"/><Relationship Id="rId51" Type="http://schemas.openxmlformats.org/officeDocument/2006/relationships/slide" Target="slides/slide45.xml"/><Relationship Id="rId52" Type="http://schemas.openxmlformats.org/officeDocument/2006/relationships/slide" Target="slides/slide46.xml"/><Relationship Id="rId53" Type="http://schemas.openxmlformats.org/officeDocument/2006/relationships/slide" Target="slides/slide47.xml"/><Relationship Id="rId54" Type="http://schemas.openxmlformats.org/officeDocument/2006/relationships/slide" Target="slides/slide48.xml"/><Relationship Id="rId55" Type="http://schemas.openxmlformats.org/officeDocument/2006/relationships/slide" Target="slides/slide49.xml"/><Relationship Id="rId56" Type="http://schemas.openxmlformats.org/officeDocument/2006/relationships/slide" Target="slides/slide50.xml"/><Relationship Id="rId57" Type="http://schemas.openxmlformats.org/officeDocument/2006/relationships/slide" Target="slides/slide51.xml"/><Relationship Id="rId58" Type="http://schemas.openxmlformats.org/officeDocument/2006/relationships/slide" Target="slides/slide52.xml"/><Relationship Id="rId59" Type="http://schemas.openxmlformats.org/officeDocument/2006/relationships/slide" Target="slides/slide53.xml"/><Relationship Id="rId60" Type="http://schemas.openxmlformats.org/officeDocument/2006/relationships/slide" Target="slides/slide54.xml"/><Relationship Id="rId61" Type="http://schemas.openxmlformats.org/officeDocument/2006/relationships/slide" Target="slides/slide55.xml"/><Relationship Id="rId62" Type="http://schemas.openxmlformats.org/officeDocument/2006/relationships/slide" Target="slides/slide56.xml"/><Relationship Id="rId63" Type="http://schemas.openxmlformats.org/officeDocument/2006/relationships/slide" Target="slides/slide57.xml"/><Relationship Id="rId64" Type="http://schemas.openxmlformats.org/officeDocument/2006/relationships/slide" Target="slides/slide58.xml"/><Relationship Id="rId65" Type="http://schemas.openxmlformats.org/officeDocument/2006/relationships/slide" Target="slides/slide59.xml"/><Relationship Id="rId66" Type="http://schemas.openxmlformats.org/officeDocument/2006/relationships/slide" Target="slides/slide60.xml"/><Relationship Id="rId67" Type="http://schemas.openxmlformats.org/officeDocument/2006/relationships/slide" Target="slides/slide61.xml"/><Relationship Id="rId68" Type="http://schemas.openxmlformats.org/officeDocument/2006/relationships/slide" Target="slides/slide62.xml"/><Relationship Id="rId69" Type="http://schemas.openxmlformats.org/officeDocument/2006/relationships/slide" Target="slides/slide63.xml"/><Relationship Id="rId70" Type="http://schemas.openxmlformats.org/officeDocument/2006/relationships/slide" Target="slides/slide64.xml"/><Relationship Id="rId71" Type="http://schemas.openxmlformats.org/officeDocument/2006/relationships/slide" Target="slides/slide65.xml"/><Relationship Id="rId72" Type="http://schemas.openxmlformats.org/officeDocument/2006/relationships/slide" Target="slides/slide66.xml"/><Relationship Id="rId73" Type="http://schemas.openxmlformats.org/officeDocument/2006/relationships/slide" Target="slides/slide67.xml"/><Relationship Id="rId74" Type="http://schemas.openxmlformats.org/officeDocument/2006/relationships/slide" Target="slides/slide68.xml"/><Relationship Id="rId75" Type="http://schemas.openxmlformats.org/officeDocument/2006/relationships/slide" Target="slides/slide69.xml"/><Relationship Id="rId76" Type="http://schemas.openxmlformats.org/officeDocument/2006/relationships/slide" Target="slides/slide70.xml"/><Relationship Id="rId77" Type="http://schemas.openxmlformats.org/officeDocument/2006/relationships/slide" Target="slides/slide71.xml"/><Relationship Id="rId78" Type="http://schemas.openxmlformats.org/officeDocument/2006/relationships/slide" Target="slides/slide72.xml"/><Relationship Id="rId79" Type="http://schemas.openxmlformats.org/officeDocument/2006/relationships/slide" Target="slides/slide73.xml"/><Relationship Id="rId80" Type="http://schemas.openxmlformats.org/officeDocument/2006/relationships/slide" Target="slides/slide74.xml"/><Relationship Id="rId81" Type="http://schemas.openxmlformats.org/officeDocument/2006/relationships/slide" Target="slides/slide75.xml"/><Relationship Id="rId82" Type="http://schemas.openxmlformats.org/officeDocument/2006/relationships/slide" Target="slides/slide76.xml"/><Relationship Id="rId83" Type="http://schemas.openxmlformats.org/officeDocument/2006/relationships/slide" Target="slides/slide77.xml"/><Relationship Id="rId84" Type="http://schemas.openxmlformats.org/officeDocument/2006/relationships/slide" Target="slides/slide78.xml"/><Relationship Id="rId85" Type="http://schemas.openxmlformats.org/officeDocument/2006/relationships/slide" Target="slides/slide79.xml"/><Relationship Id="rId86" Type="http://schemas.openxmlformats.org/officeDocument/2006/relationships/slide" Target="slides/slide80.xml"/><Relationship Id="rId87" Type="http://schemas.openxmlformats.org/officeDocument/2006/relationships/slide" Target="slides/slide81.xml"/><Relationship Id="rId88" Type="http://schemas.openxmlformats.org/officeDocument/2006/relationships/slide" Target="slides/slide82.xml"/><Relationship Id="rId89" Type="http://schemas.openxmlformats.org/officeDocument/2006/relationships/slide" Target="slides/slide83.xml"/><Relationship Id="rId90" Type="http://schemas.openxmlformats.org/officeDocument/2006/relationships/slide" Target="slides/slide84.xml"/><Relationship Id="rId91" Type="http://schemas.openxmlformats.org/officeDocument/2006/relationships/slide" Target="slides/slide85.xml"/><Relationship Id="rId92" Type="http://schemas.openxmlformats.org/officeDocument/2006/relationships/slide" Target="slides/slide86.xml"/><Relationship Id="rId93" Type="http://schemas.openxmlformats.org/officeDocument/2006/relationships/slide" Target="slides/slide87.xml"/><Relationship Id="rId94" Type="http://schemas.openxmlformats.org/officeDocument/2006/relationships/slide" Target="slides/slide88.xml"/><Relationship Id="rId95" Type="http://schemas.openxmlformats.org/officeDocument/2006/relationships/slide" Target="slides/slide89.xml"/><Relationship Id="rId96" Type="http://schemas.openxmlformats.org/officeDocument/2006/relationships/slide" Target="slides/slide90.xml"/><Relationship Id="rId97" Type="http://schemas.openxmlformats.org/officeDocument/2006/relationships/slide" Target="slides/slide91.xml"/><Relationship Id="rId98" Type="http://schemas.openxmlformats.org/officeDocument/2006/relationships/slide" Target="slides/slide92.xml"/><Relationship Id="rId99" Type="http://schemas.openxmlformats.org/officeDocument/2006/relationships/slide" Target="slides/slide93.xml"/><Relationship Id="rId100" Type="http://schemas.openxmlformats.org/officeDocument/2006/relationships/slide" Target="slides/slide94.xml"/><Relationship Id="rId101" Type="http://schemas.openxmlformats.org/officeDocument/2006/relationships/slide" Target="slides/slide95.xml"/><Relationship Id="rId102" Type="http://schemas.openxmlformats.org/officeDocument/2006/relationships/slide" Target="slides/slide96.xml"/><Relationship Id="rId103" Type="http://schemas.openxmlformats.org/officeDocument/2006/relationships/slide" Target="slides/slide97.xml"/><Relationship Id="rId104" Type="http://schemas.openxmlformats.org/officeDocument/2006/relationships/slide" Target="slides/slide98.xml"/><Relationship Id="rId105" Type="http://schemas.openxmlformats.org/officeDocument/2006/relationships/slide" Target="slides/slide99.xml"/><Relationship Id="rId106" Type="http://schemas.openxmlformats.org/officeDocument/2006/relationships/slide" Target="slides/slide100.xml"/><Relationship Id="rId107" Type="http://schemas.openxmlformats.org/officeDocument/2006/relationships/slide" Target="slides/slide101.xml"/><Relationship Id="rId108" Type="http://schemas.openxmlformats.org/officeDocument/2006/relationships/slide" Target="slides/slide102.xml"/><Relationship Id="rId109" Type="http://schemas.openxmlformats.org/officeDocument/2006/relationships/slide" Target="slides/slide103.xml"/><Relationship Id="rId110" Type="http://schemas.openxmlformats.org/officeDocument/2006/relationships/slide" Target="slides/slide104.xml"/><Relationship Id="rId111" Type="http://schemas.openxmlformats.org/officeDocument/2006/relationships/slide" Target="slides/slide105.xml"/><Relationship Id="rId112" Type="http://schemas.openxmlformats.org/officeDocument/2006/relationships/slide" Target="slides/slide106.xml"/><Relationship Id="rId113" Type="http://schemas.openxmlformats.org/officeDocument/2006/relationships/slide" Target="slides/slide107.xml"/><Relationship Id="rId114" Type="http://schemas.openxmlformats.org/officeDocument/2006/relationships/slide" Target="slides/slide108.xml"/><Relationship Id="rId115" Type="http://schemas.openxmlformats.org/officeDocument/2006/relationships/slide" Target="slides/slide109.xml"/><Relationship Id="rId116" Type="http://schemas.openxmlformats.org/officeDocument/2006/relationships/slide" Target="slides/slide110.xml"/><Relationship Id="rId117" Type="http://schemas.openxmlformats.org/officeDocument/2006/relationships/slide" Target="slides/slide111.xml"/><Relationship Id="rId118" Type="http://schemas.openxmlformats.org/officeDocument/2006/relationships/slide" Target="slides/slide112.xml"/><Relationship Id="rId119" Type="http://schemas.openxmlformats.org/officeDocument/2006/relationships/slide" Target="slides/slide113.xml"/><Relationship Id="rId120" Type="http://schemas.openxmlformats.org/officeDocument/2006/relationships/slide" Target="slides/slide114.xml"/><Relationship Id="rId121" Type="http://schemas.openxmlformats.org/officeDocument/2006/relationships/slide" Target="slides/slide115.xml"/><Relationship Id="rId122" Type="http://schemas.openxmlformats.org/officeDocument/2006/relationships/slide" Target="slides/slide116.xml"/><Relationship Id="rId123" Type="http://schemas.openxmlformats.org/officeDocument/2006/relationships/slide" Target="slides/slide117.xml"/><Relationship Id="rId124" Type="http://schemas.openxmlformats.org/officeDocument/2006/relationships/slide" Target="slides/slide118.xml"/><Relationship Id="rId125" Type="http://schemas.openxmlformats.org/officeDocument/2006/relationships/slide" Target="slides/slide119.xml"/><Relationship Id="rId126" Type="http://schemas.openxmlformats.org/officeDocument/2006/relationships/slide" Target="slides/slide120.xml"/><Relationship Id="rId127" Type="http://schemas.openxmlformats.org/officeDocument/2006/relationships/slide" Target="slides/slide121.xml"/><Relationship Id="rId128" Type="http://schemas.openxmlformats.org/officeDocument/2006/relationships/slide" Target="slides/slide122.xml"/><Relationship Id="rId129" Type="http://schemas.openxmlformats.org/officeDocument/2006/relationships/slide" Target="slides/slide123.xml"/><Relationship Id="rId130" Type="http://schemas.openxmlformats.org/officeDocument/2006/relationships/slide" Target="slides/slide124.xml"/><Relationship Id="rId131" Type="http://schemas.openxmlformats.org/officeDocument/2006/relationships/slide" Target="slides/slide125.xml"/><Relationship Id="rId132" Type="http://schemas.openxmlformats.org/officeDocument/2006/relationships/slide" Target="slides/slide126.xml"/><Relationship Id="rId133" Type="http://schemas.openxmlformats.org/officeDocument/2006/relationships/slide" Target="slides/slide127.xml"/><Relationship Id="rId134" Type="http://schemas.openxmlformats.org/officeDocument/2006/relationships/slide" Target="slides/slide128.xml"/><Relationship Id="rId135" Type="http://schemas.openxmlformats.org/officeDocument/2006/relationships/slide" Target="slides/slide129.xml"/><Relationship Id="rId136" Type="http://schemas.openxmlformats.org/officeDocument/2006/relationships/slide" Target="slides/slide130.xml"/><Relationship Id="rId137" Type="http://schemas.openxmlformats.org/officeDocument/2006/relationships/slide" Target="slides/slide131.xml"/><Relationship Id="rId138" Type="http://schemas.openxmlformats.org/officeDocument/2006/relationships/slide" Target="slides/slide132.xml"/><Relationship Id="rId139" Type="http://schemas.openxmlformats.org/officeDocument/2006/relationships/slide" Target="slides/slide133.xml"/><Relationship Id="rId140" Type="http://schemas.openxmlformats.org/officeDocument/2006/relationships/slide" Target="slides/slide134.xml"/><Relationship Id="rId141" Type="http://schemas.openxmlformats.org/officeDocument/2006/relationships/slide" Target="slides/slide135.xml"/><Relationship Id="rId142" Type="http://schemas.openxmlformats.org/officeDocument/2006/relationships/slide" Target="slides/slide136.xml"/><Relationship Id="rId143" Type="http://schemas.openxmlformats.org/officeDocument/2006/relationships/slide" Target="slides/slide137.xml"/><Relationship Id="rId144" Type="http://schemas.openxmlformats.org/officeDocument/2006/relationships/slide" Target="slides/slide138.xml"/><Relationship Id="rId145" Type="http://schemas.openxmlformats.org/officeDocument/2006/relationships/slide" Target="slides/slide139.xml"/><Relationship Id="rId146" Type="http://schemas.openxmlformats.org/officeDocument/2006/relationships/slide" Target="slides/slide140.xml"/><Relationship Id="rId147" Type="http://schemas.openxmlformats.org/officeDocument/2006/relationships/slide" Target="slides/slide141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2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/Relationships>
</file>

<file path=ppt/slides/_rels/slide6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png"/></Relationships>
</file>

<file path=ppt/slides/_rels/slide8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.png"/></Relationships>
</file>

<file path=ppt/slides/_rels/slide9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6.png"/></Relationships>
</file>

<file path=ppt/slides/_rels/slide10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7.png"/></Relationships>
</file>

<file path=ppt/slides/_rels/slide13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4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4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0B1D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Oval 2"/>
          <p:cNvSpPr/>
          <p:nvPr/>
        </p:nvSpPr>
        <p:spPr>
          <a:xfrm>
            <a:off x="8477120" y="1486160"/>
            <a:ext cx="4953000" cy="4953000"/>
          </a:xfrm>
          <a:prstGeom prst="ellipse">
            <a:avLst/>
          </a:prstGeom>
          <a:solidFill>
            <a:srgbClr val="142A4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Oval 3"/>
          <p:cNvSpPr/>
          <p:nvPr/>
        </p:nvSpPr>
        <p:spPr>
          <a:xfrm>
            <a:off x="9477280" y="1086040"/>
            <a:ext cx="3619500" cy="3619500"/>
          </a:xfrm>
          <a:prstGeom prst="ellipse">
            <a:avLst/>
          </a:prstGeom>
          <a:solidFill>
            <a:srgbClr val="1B376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Oval 4"/>
          <p:cNvSpPr/>
          <p:nvPr/>
        </p:nvSpPr>
        <p:spPr>
          <a:xfrm>
            <a:off x="10406000" y="714500"/>
            <a:ext cx="2381250" cy="2381250"/>
          </a:xfrm>
          <a:prstGeom prst="ellipse">
            <a:avLst/>
          </a:prstGeom>
          <a:solidFill>
            <a:srgbClr val="24467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0" y="6618000"/>
            <a:ext cx="12192000" cy="240000"/>
          </a:xfrm>
          <a:prstGeom prst="rect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ounded Rectangle 6"/>
          <p:cNvSpPr/>
          <p:nvPr/>
        </p:nvSpPr>
        <p:spPr>
          <a:xfrm>
            <a:off x="857250" y="914400"/>
            <a:ext cx="552450" cy="552450"/>
          </a:xfrm>
          <a:prstGeom prst="roundRect">
            <a:avLst>
              <a:gd name="adj" fmla="val 8000"/>
            </a:avLst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857250" y="857250"/>
            <a:ext cx="552450" cy="5524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2200" b="1">
                <a:solidFill>
                  <a:srgbClr val="0B1D3A"/>
                </a:solidFill>
                <a:latin typeface="PingFang SC"/>
              </a:rPr>
              <a:t>2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619250" y="1143000"/>
            <a:ext cx="5524500" cy="6667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1500" b="0">
                <a:solidFill>
                  <a:srgbClr val="94A3B8"/>
                </a:solidFill>
                <a:latin typeface="PingFang SC"/>
              </a:rPr>
              <a:t>AI AGENT 全栈工程师训练营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619250" y="2000250"/>
            <a:ext cx="6858000" cy="20002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5000"/>
              </a:lnSpc>
            </a:pPr>
            <a:r>
              <a:rPr sz="4000" b="1">
                <a:solidFill>
                  <a:srgbClr val="FFFFFF"/>
                </a:solidFill>
                <a:latin typeface="PingFang SC"/>
              </a:rPr>
              <a:t>Function Calling、Tool Runtime 与 MCP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619250" y="4191000"/>
            <a:ext cx="6477000" cy="762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1600" b="0">
                <a:solidFill>
                  <a:srgbClr val="CBD5E1"/>
                </a:solidFill>
                <a:latin typeface="PingFang SC"/>
              </a:rPr>
              <a:t>工具治理与安全边界 · 里程碑 M2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619250" y="5429250"/>
            <a:ext cx="8382000" cy="4762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1200" b="0">
                <a:solidFill>
                  <a:srgbClr val="94A3B8"/>
                </a:solidFill>
                <a:latin typeface="PingFang SC"/>
              </a:rPr>
              <a:t>Agent Engineering Platform · v1.3 · 审计 9.4/10 · 125 测试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0B1D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95250" cy="6858000"/>
          </a:xfrm>
          <a:prstGeom prst="rect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66750" y="609600"/>
            <a:ext cx="10287000" cy="5715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2800" b="1">
                <a:solidFill>
                  <a:srgbClr val="FFFFFF"/>
                </a:solidFill>
                <a:latin typeface="PingFang SC"/>
              </a:rPr>
              <a:t>本章目录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66750" y="1238250"/>
            <a:ext cx="9334500" cy="381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1200" b="0">
                <a:solidFill>
                  <a:srgbClr val="94A3B8"/>
                </a:solidFill>
                <a:latin typeface="PingFang SC"/>
              </a:rPr>
              <a:t>8 个知识模块 · 含实测数据图表与代码走查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857250" y="1905000"/>
            <a:ext cx="5364480" cy="590550"/>
          </a:xfrm>
          <a:prstGeom prst="roundRect">
            <a:avLst>
              <a:gd name="adj" fmla="val 8000"/>
            </a:avLst>
          </a:prstGeom>
          <a:solidFill>
            <a:srgbClr val="142A4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857250" y="1905000"/>
            <a:ext cx="47625" cy="590550"/>
          </a:xfrm>
          <a:prstGeom prst="rect">
            <a:avLst/>
          </a:prstGeom>
          <a:solidFill>
            <a:srgbClr val="14B8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028700" y="1905000"/>
            <a:ext cx="419100" cy="5905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1500" b="1">
                <a:solidFill>
                  <a:srgbClr val="14B8A6"/>
                </a:solidFill>
                <a:latin typeface="PingFang SC"/>
              </a:rPr>
              <a:t>01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504950" y="1905000"/>
            <a:ext cx="4564380" cy="5905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1300" b="0">
                <a:solidFill>
                  <a:srgbClr val="CBD5E1"/>
                </a:solidFill>
                <a:latin typeface="PingFang SC"/>
              </a:rPr>
              <a:t>讲次 2-1 · Function Calling 与 Tool Use 原理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857250" y="2628900"/>
            <a:ext cx="5364480" cy="590550"/>
          </a:xfrm>
          <a:prstGeom prst="roundRect">
            <a:avLst>
              <a:gd name="adj" fmla="val 8000"/>
            </a:avLst>
          </a:prstGeom>
          <a:solidFill>
            <a:srgbClr val="142A4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857250" y="2628900"/>
            <a:ext cx="47625" cy="590550"/>
          </a:xfrm>
          <a:prstGeom prst="rect">
            <a:avLst/>
          </a:prstGeom>
          <a:solidFill>
            <a:srgbClr val="8B5C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1028700" y="2628900"/>
            <a:ext cx="419100" cy="5905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1500" b="1">
                <a:solidFill>
                  <a:srgbClr val="8B5CF6"/>
                </a:solidFill>
                <a:latin typeface="PingFang SC"/>
              </a:rPr>
              <a:t>02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504950" y="2628900"/>
            <a:ext cx="4564380" cy="5905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1300" b="0">
                <a:solidFill>
                  <a:srgbClr val="CBD5E1"/>
                </a:solidFill>
                <a:latin typeface="PingFang SC"/>
              </a:rPr>
              <a:t>讲次 2-2 · Tool Registry 设计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857250" y="3352800"/>
            <a:ext cx="5364480" cy="590550"/>
          </a:xfrm>
          <a:prstGeom prst="roundRect">
            <a:avLst>
              <a:gd name="adj" fmla="val 8000"/>
            </a:avLst>
          </a:prstGeom>
          <a:solidFill>
            <a:srgbClr val="142A4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857250" y="3352800"/>
            <a:ext cx="47625" cy="590550"/>
          </a:xfrm>
          <a:prstGeom prst="rect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1028700" y="3352800"/>
            <a:ext cx="419100" cy="5905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1500" b="1">
                <a:solidFill>
                  <a:srgbClr val="F59E0B"/>
                </a:solidFill>
                <a:latin typeface="PingFang SC"/>
              </a:rPr>
              <a:t>03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504950" y="3352800"/>
            <a:ext cx="4564380" cy="5905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1300" b="0">
                <a:solidFill>
                  <a:srgbClr val="CBD5E1"/>
                </a:solidFill>
                <a:latin typeface="PingFang SC"/>
              </a:rPr>
              <a:t>讲次 2-3 · 工具治理与安全边界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857250" y="4076700"/>
            <a:ext cx="5364480" cy="590550"/>
          </a:xfrm>
          <a:prstGeom prst="roundRect">
            <a:avLst>
              <a:gd name="adj" fmla="val 8000"/>
            </a:avLst>
          </a:prstGeom>
          <a:solidFill>
            <a:srgbClr val="142A4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857250" y="4076700"/>
            <a:ext cx="47625" cy="590550"/>
          </a:xfrm>
          <a:prstGeom prst="rect">
            <a:avLst/>
          </a:prstGeom>
          <a:solidFill>
            <a:srgbClr val="34D39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1028700" y="4076700"/>
            <a:ext cx="419100" cy="5905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1500" b="1">
                <a:solidFill>
                  <a:srgbClr val="34D399"/>
                </a:solidFill>
                <a:latin typeface="PingFang SC"/>
              </a:rPr>
              <a:t>04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504950" y="4076700"/>
            <a:ext cx="4564380" cy="5905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1300" b="0">
                <a:solidFill>
                  <a:srgbClr val="CBD5E1"/>
                </a:solidFill>
                <a:latin typeface="PingFang SC"/>
              </a:rPr>
              <a:t>讲次 2-4 · MCP 协议与接入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6709410" y="1905000"/>
            <a:ext cx="5364480" cy="590550"/>
          </a:xfrm>
          <a:prstGeom prst="roundRect">
            <a:avLst>
              <a:gd name="adj" fmla="val 8000"/>
            </a:avLst>
          </a:prstGeom>
          <a:solidFill>
            <a:srgbClr val="142A4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ectangle 22"/>
          <p:cNvSpPr/>
          <p:nvPr/>
        </p:nvSpPr>
        <p:spPr>
          <a:xfrm>
            <a:off x="6709410" y="1905000"/>
            <a:ext cx="47625" cy="590550"/>
          </a:xfrm>
          <a:prstGeom prst="rect">
            <a:avLst/>
          </a:prstGeom>
          <a:solidFill>
            <a:srgbClr val="F8717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6880860" y="1905000"/>
            <a:ext cx="419100" cy="5905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1500" b="1">
                <a:solidFill>
                  <a:srgbClr val="F87171"/>
                </a:solidFill>
                <a:latin typeface="PingFang SC"/>
              </a:rPr>
              <a:t>05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7357110" y="1905000"/>
            <a:ext cx="4564380" cy="5905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1300" b="0">
                <a:solidFill>
                  <a:srgbClr val="CBD5E1"/>
                </a:solidFill>
                <a:latin typeface="PingFang SC"/>
              </a:rPr>
              <a:t>讲次 2-5 · Agent Tool Runtime 集成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6709410" y="2628900"/>
            <a:ext cx="5364480" cy="590550"/>
          </a:xfrm>
          <a:prstGeom prst="roundRect">
            <a:avLst>
              <a:gd name="adj" fmla="val 8000"/>
            </a:avLst>
          </a:prstGeom>
          <a:solidFill>
            <a:srgbClr val="142A4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Rectangle 26"/>
          <p:cNvSpPr/>
          <p:nvPr/>
        </p:nvSpPr>
        <p:spPr>
          <a:xfrm>
            <a:off x="6709410" y="2628900"/>
            <a:ext cx="47625" cy="590550"/>
          </a:xfrm>
          <a:prstGeom prst="rect">
            <a:avLst/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6880860" y="2628900"/>
            <a:ext cx="419100" cy="5905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1500" b="1">
                <a:solidFill>
                  <a:srgbClr val="2563EB"/>
                </a:solidFill>
                <a:latin typeface="PingFang SC"/>
              </a:rPr>
              <a:t>06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7357110" y="2628900"/>
            <a:ext cx="4564380" cy="5905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1300" b="0">
                <a:solidFill>
                  <a:srgbClr val="CBD5E1"/>
                </a:solidFill>
                <a:latin typeface="PingFang SC"/>
              </a:rPr>
              <a:t>本章小结</a:t>
            </a:r>
          </a:p>
        </p:txBody>
      </p:sp>
      <p:sp>
        <p:nvSpPr>
          <p:cNvPr id="30" name="Rounded Rectangle 29"/>
          <p:cNvSpPr/>
          <p:nvPr/>
        </p:nvSpPr>
        <p:spPr>
          <a:xfrm>
            <a:off x="6709410" y="3352800"/>
            <a:ext cx="5364480" cy="590550"/>
          </a:xfrm>
          <a:prstGeom prst="roundRect">
            <a:avLst>
              <a:gd name="adj" fmla="val 8000"/>
            </a:avLst>
          </a:prstGeom>
          <a:solidFill>
            <a:srgbClr val="142A4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Rectangle 30"/>
          <p:cNvSpPr/>
          <p:nvPr/>
        </p:nvSpPr>
        <p:spPr>
          <a:xfrm>
            <a:off x="6709410" y="3352800"/>
            <a:ext cx="47625" cy="590550"/>
          </a:xfrm>
          <a:prstGeom prst="rect">
            <a:avLst/>
          </a:prstGeom>
          <a:solidFill>
            <a:srgbClr val="14B8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6880860" y="3352800"/>
            <a:ext cx="419100" cy="5905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1500" b="1">
                <a:solidFill>
                  <a:srgbClr val="14B8A6"/>
                </a:solidFill>
                <a:latin typeface="PingFang SC"/>
              </a:rPr>
              <a:t>07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7357110" y="3352800"/>
            <a:ext cx="4564380" cy="5905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1300" b="0">
                <a:solidFill>
                  <a:srgbClr val="CBD5E1"/>
                </a:solidFill>
                <a:latin typeface="PingFang SC"/>
              </a:rPr>
              <a:t>Lab2 验收清单</a:t>
            </a:r>
          </a:p>
        </p:txBody>
      </p:sp>
      <p:sp>
        <p:nvSpPr>
          <p:cNvPr id="34" name="Rounded Rectangle 33"/>
          <p:cNvSpPr/>
          <p:nvPr/>
        </p:nvSpPr>
        <p:spPr>
          <a:xfrm>
            <a:off x="6709410" y="4076700"/>
            <a:ext cx="5364480" cy="590550"/>
          </a:xfrm>
          <a:prstGeom prst="roundRect">
            <a:avLst>
              <a:gd name="adj" fmla="val 8000"/>
            </a:avLst>
          </a:prstGeom>
          <a:solidFill>
            <a:srgbClr val="142A4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Rectangle 34"/>
          <p:cNvSpPr/>
          <p:nvPr/>
        </p:nvSpPr>
        <p:spPr>
          <a:xfrm>
            <a:off x="6709410" y="4076700"/>
            <a:ext cx="47625" cy="590550"/>
          </a:xfrm>
          <a:prstGeom prst="rect">
            <a:avLst/>
          </a:prstGeom>
          <a:solidFill>
            <a:srgbClr val="8B5C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TextBox 35"/>
          <p:cNvSpPr txBox="1"/>
          <p:nvPr/>
        </p:nvSpPr>
        <p:spPr>
          <a:xfrm>
            <a:off x="6880860" y="4076700"/>
            <a:ext cx="419100" cy="5905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1500" b="1">
                <a:solidFill>
                  <a:srgbClr val="8B5CF6"/>
                </a:solidFill>
                <a:latin typeface="PingFang SC"/>
              </a:rPr>
              <a:t>08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7357110" y="4076700"/>
            <a:ext cx="4564380" cy="5905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1300" b="0">
                <a:solidFill>
                  <a:srgbClr val="CBD5E1"/>
                </a:solidFill>
                <a:latin typeface="PingFang SC"/>
              </a:rPr>
              <a:t>下一章预告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10287000" y="6534150"/>
            <a:ext cx="1619250" cy="2667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>
              <a:lnSpc>
                <a:spcPct val="100000"/>
              </a:lnSpc>
            </a:pPr>
            <a:r>
              <a:rPr sz="900" b="0">
                <a:solidFill>
                  <a:srgbClr val="94A3B8"/>
                </a:solidFill>
                <a:latin typeface="PingFang SC"/>
              </a:rPr>
              <a:t>第2章 · 2/141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0B1D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857250" y="952500"/>
            <a:ext cx="323850" cy="76200"/>
          </a:xfrm>
          <a:prstGeom prst="rect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1295400" y="952500"/>
            <a:ext cx="323850" cy="76200"/>
          </a:xfrm>
          <a:prstGeom prst="rect">
            <a:avLst/>
          </a:prstGeom>
          <a:solidFill>
            <a:srgbClr val="27406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1733550" y="952500"/>
            <a:ext cx="323850" cy="76200"/>
          </a:xfrm>
          <a:prstGeom prst="rect">
            <a:avLst/>
          </a:prstGeom>
          <a:solidFill>
            <a:srgbClr val="27406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2171700" y="952500"/>
            <a:ext cx="323850" cy="76200"/>
          </a:xfrm>
          <a:prstGeom prst="rect">
            <a:avLst/>
          </a:prstGeom>
          <a:solidFill>
            <a:srgbClr val="27406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2609850" y="952500"/>
            <a:ext cx="323850" cy="76200"/>
          </a:xfrm>
          <a:prstGeom prst="rect">
            <a:avLst/>
          </a:prstGeom>
          <a:solidFill>
            <a:srgbClr val="27406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857250" y="2381250"/>
            <a:ext cx="1143000" cy="57150"/>
          </a:xfrm>
          <a:prstGeom prst="rect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857250" y="2857500"/>
            <a:ext cx="9906000" cy="12382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5000"/>
              </a:lnSpc>
            </a:pPr>
            <a:r>
              <a:rPr sz="3200" b="1">
                <a:solidFill>
                  <a:srgbClr val="FFFFFF"/>
                </a:solidFill>
                <a:latin typeface="PingFang SC"/>
              </a:rPr>
              <a:t>讲次 2-1 · Function Calling 与 Tool Use 原理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57250" y="4286250"/>
            <a:ext cx="9334500" cy="4762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1400" b="0">
                <a:solidFill>
                  <a:srgbClr val="F59E0B"/>
                </a:solidFill>
                <a:latin typeface="PingFang SC"/>
              </a:rPr>
              <a:t>LECTURE 01 / 05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704850"/>
          </a:xfrm>
          <a:prstGeom prst="rect">
            <a:avLst/>
          </a:prstGeom>
          <a:solidFill>
            <a:srgbClr val="0B1D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76200" cy="704850"/>
          </a:xfrm>
          <a:prstGeom prst="rect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266700" y="0"/>
            <a:ext cx="10287000" cy="7048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2000" b="1">
                <a:solidFill>
                  <a:srgbClr val="FFFFFF"/>
                </a:solidFill>
                <a:latin typeface="PingFang SC"/>
              </a:rPr>
              <a:t>本章问题域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334500" y="0"/>
            <a:ext cx="2667000" cy="7048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>
              <a:lnSpc>
                <a:spcPct val="100000"/>
              </a:lnSpc>
            </a:pPr>
            <a:r>
              <a:rPr sz="1100" b="0">
                <a:solidFill>
                  <a:srgbClr val="94A3B8"/>
                </a:solidFill>
                <a:latin typeface="PingFang SC"/>
              </a:rPr>
              <a:t>第2章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876300" y="914400"/>
            <a:ext cx="10439400" cy="10287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DDE5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876300" y="914400"/>
            <a:ext cx="57150" cy="1028700"/>
          </a:xfrm>
          <a:prstGeom prst="rect">
            <a:avLst/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ounded Rectangle 7"/>
          <p:cNvSpPr/>
          <p:nvPr/>
        </p:nvSpPr>
        <p:spPr>
          <a:xfrm>
            <a:off x="1047750" y="1285875"/>
            <a:ext cx="285750" cy="285750"/>
          </a:xfrm>
          <a:prstGeom prst="roundRect">
            <a:avLst>
              <a:gd name="adj" fmla="val 8000"/>
            </a:avLst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047750" y="1276350"/>
            <a:ext cx="285750" cy="2857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300" b="1">
                <a:solidFill>
                  <a:srgbClr val="FFFFFF"/>
                </a:solidFill>
                <a:latin typeface="PingFang SC"/>
              </a:rPr>
              <a:t>1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485900" y="914400"/>
            <a:ext cx="9601200" cy="10287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12000"/>
              </a:lnSpc>
            </a:pPr>
            <a:r>
              <a:rPr sz="1400" b="1">
                <a:solidFill>
                  <a:srgbClr val="475569"/>
                </a:solidFill>
                <a:latin typeface="PingFang SC"/>
              </a:rPr>
              <a:t>模型会说,但不会做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876300" y="2114550"/>
            <a:ext cx="10439400" cy="10287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DDE5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876300" y="2114550"/>
            <a:ext cx="57150" cy="1028700"/>
          </a:xfrm>
          <a:prstGeom prst="rect">
            <a:avLst/>
          </a:prstGeom>
          <a:solidFill>
            <a:srgbClr val="14B8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ounded Rectangle 12"/>
          <p:cNvSpPr/>
          <p:nvPr/>
        </p:nvSpPr>
        <p:spPr>
          <a:xfrm>
            <a:off x="1047750" y="2486025"/>
            <a:ext cx="285750" cy="285750"/>
          </a:xfrm>
          <a:prstGeom prst="roundRect">
            <a:avLst>
              <a:gd name="adj" fmla="val 8000"/>
            </a:avLst>
          </a:prstGeom>
          <a:solidFill>
            <a:srgbClr val="14B8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1047750" y="2476500"/>
            <a:ext cx="285750" cy="2857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300" b="1">
                <a:solidFill>
                  <a:srgbClr val="FFFFFF"/>
                </a:solidFill>
                <a:latin typeface="PingFang SC"/>
              </a:rPr>
              <a:t>2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485900" y="2114550"/>
            <a:ext cx="9601200" cy="10287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12000"/>
              </a:lnSpc>
            </a:pPr>
            <a:r>
              <a:rPr sz="1400" b="1">
                <a:solidFill>
                  <a:srgbClr val="475569"/>
                </a:solidFill>
                <a:latin typeface="PingFang SC"/>
              </a:rPr>
              <a:t>目标:让模型安全地"用手干活"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876300" y="3314700"/>
            <a:ext cx="10439400" cy="10287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DDE5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876300" y="3314700"/>
            <a:ext cx="57150" cy="1028700"/>
          </a:xfrm>
          <a:prstGeom prst="rect">
            <a:avLst/>
          </a:prstGeom>
          <a:solidFill>
            <a:srgbClr val="8B5C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ounded Rectangle 17"/>
          <p:cNvSpPr/>
          <p:nvPr/>
        </p:nvSpPr>
        <p:spPr>
          <a:xfrm>
            <a:off x="1047750" y="3686175"/>
            <a:ext cx="285750" cy="285750"/>
          </a:xfrm>
          <a:prstGeom prst="roundRect">
            <a:avLst>
              <a:gd name="adj" fmla="val 8000"/>
            </a:avLst>
          </a:prstGeom>
          <a:solidFill>
            <a:srgbClr val="8B5C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1047750" y="3676650"/>
            <a:ext cx="285750" cy="2857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300" b="1">
                <a:solidFill>
                  <a:srgbClr val="FFFFFF"/>
                </a:solidFill>
                <a:latin typeface="PingFang SC"/>
              </a:rPr>
              <a:t>3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485900" y="3314700"/>
            <a:ext cx="9601200" cy="10287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12000"/>
              </a:lnSpc>
            </a:pPr>
            <a:r>
              <a:rPr sz="1400" b="1">
                <a:solidFill>
                  <a:srgbClr val="475569"/>
                </a:solidFill>
                <a:latin typeface="PingFang SC"/>
              </a:rPr>
              <a:t>三层:机制(FC)/治理(Runtime)/协议(MCP)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876300" y="4514850"/>
            <a:ext cx="10439400" cy="10287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DDE5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ectangle 21"/>
          <p:cNvSpPr/>
          <p:nvPr/>
        </p:nvSpPr>
        <p:spPr>
          <a:xfrm>
            <a:off x="876300" y="4514850"/>
            <a:ext cx="57150" cy="1028700"/>
          </a:xfrm>
          <a:prstGeom prst="rect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ounded Rectangle 22"/>
          <p:cNvSpPr/>
          <p:nvPr/>
        </p:nvSpPr>
        <p:spPr>
          <a:xfrm>
            <a:off x="1047750" y="4886325"/>
            <a:ext cx="285750" cy="285750"/>
          </a:xfrm>
          <a:prstGeom prst="roundRect">
            <a:avLst>
              <a:gd name="adj" fmla="val 8000"/>
            </a:avLst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1047750" y="4876800"/>
            <a:ext cx="285750" cy="2857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300" b="1">
                <a:solidFill>
                  <a:srgbClr val="FFFFFF"/>
                </a:solidFill>
                <a:latin typeface="PingFang SC"/>
              </a:rPr>
              <a:t>4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1485900" y="4514850"/>
            <a:ext cx="9601200" cy="10287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12000"/>
              </a:lnSpc>
            </a:pPr>
            <a:r>
              <a:rPr sz="1400" b="1">
                <a:solidFill>
                  <a:srgbClr val="475569"/>
                </a:solidFill>
                <a:latin typeface="PingFang SC"/>
              </a:rPr>
              <a:t>对应工程:src/agent_platform/tools/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10287000" y="6534150"/>
            <a:ext cx="1619250" cy="2667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>
              <a:lnSpc>
                <a:spcPct val="100000"/>
              </a:lnSpc>
            </a:pPr>
            <a:r>
              <a:rPr sz="900" b="0">
                <a:solidFill>
                  <a:srgbClr val="94A3B8"/>
                </a:solidFill>
                <a:latin typeface="PingFang SC"/>
              </a:rPr>
              <a:t>第2章 · 4/141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704850"/>
          </a:xfrm>
          <a:prstGeom prst="rect">
            <a:avLst/>
          </a:prstGeom>
          <a:solidFill>
            <a:srgbClr val="0B1D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76200" cy="704850"/>
          </a:xfrm>
          <a:prstGeom prst="rect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266700" y="0"/>
            <a:ext cx="10287000" cy="7048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2000" b="1">
                <a:solidFill>
                  <a:srgbClr val="FFFFFF"/>
                </a:solidFill>
                <a:latin typeface="PingFang SC"/>
              </a:rPr>
              <a:t>Tool Runtime 全景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1847850" y="914400"/>
            <a:ext cx="8877300" cy="1100137"/>
          </a:xfrm>
          <a:prstGeom prst="roundRect">
            <a:avLst>
              <a:gd name="adj" fmla="val 8000"/>
            </a:avLst>
          </a:prstGeom>
          <a:solidFill>
            <a:srgbClr val="F1F5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ounded Rectangle 5"/>
          <p:cNvSpPr/>
          <p:nvPr/>
        </p:nvSpPr>
        <p:spPr>
          <a:xfrm>
            <a:off x="1905000" y="952500"/>
            <a:ext cx="2076450" cy="1023937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2563E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1905000" y="952500"/>
            <a:ext cx="47625" cy="1023937"/>
          </a:xfrm>
          <a:prstGeom prst="rect">
            <a:avLst/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2038350" y="952500"/>
            <a:ext cx="1847850" cy="1023937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1200" b="1">
                <a:solidFill>
                  <a:srgbClr val="475569"/>
                </a:solidFill>
                <a:latin typeface="PingFang SC"/>
              </a:rPr>
              <a:t>注册:Tool Registry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4133850" y="952500"/>
            <a:ext cx="2076450" cy="1023937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2563E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4133850" y="952500"/>
            <a:ext cx="47625" cy="1023937"/>
          </a:xfrm>
          <a:prstGeom prst="rect">
            <a:avLst/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4267200" y="952500"/>
            <a:ext cx="1847850" cy="1023937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1200" b="1">
                <a:solidFill>
                  <a:srgbClr val="475569"/>
                </a:solidFill>
                <a:latin typeface="PingFang SC"/>
              </a:rPr>
              <a:t>元数据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6362700" y="952500"/>
            <a:ext cx="2076450" cy="1023937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2563E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6362700" y="952500"/>
            <a:ext cx="47625" cy="1023937"/>
          </a:xfrm>
          <a:prstGeom prst="rect">
            <a:avLst/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6496050" y="952500"/>
            <a:ext cx="1847850" cy="1023937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1200" b="1">
                <a:solidFill>
                  <a:srgbClr val="475569"/>
                </a:solidFill>
                <a:latin typeface="PingFang SC"/>
              </a:rPr>
              <a:t>版本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8591550" y="952500"/>
            <a:ext cx="2076450" cy="1023937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2563E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8591550" y="952500"/>
            <a:ext cx="47625" cy="1023937"/>
          </a:xfrm>
          <a:prstGeom prst="rect">
            <a:avLst/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8724900" y="952500"/>
            <a:ext cx="1847850" cy="1023937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1200" b="1">
                <a:solidFill>
                  <a:srgbClr val="475569"/>
                </a:solidFill>
                <a:latin typeface="PingFang SC"/>
              </a:rPr>
              <a:t>启停</a:t>
            </a:r>
          </a:p>
        </p:txBody>
      </p:sp>
      <p:cxnSp>
        <p:nvCxnSpPr>
          <p:cNvPr id="18" name="Connector 17"/>
          <p:cNvCxnSpPr/>
          <p:nvPr/>
        </p:nvCxnSpPr>
        <p:spPr>
          <a:xfrm>
            <a:off x="6096000" y="2033587"/>
            <a:ext cx="0" cy="152400"/>
          </a:xfrm>
          <a:prstGeom prst="line">
            <a:avLst/>
          </a:prstGeom>
          <a:ln w="15240">
            <a:solidFill>
              <a:srgbClr val="94A3B8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9" name="Isosceles Triangle 18"/>
          <p:cNvSpPr/>
          <p:nvPr/>
        </p:nvSpPr>
        <p:spPr>
          <a:xfrm rot="10800000">
            <a:off x="6053138" y="2100263"/>
            <a:ext cx="85725" cy="85725"/>
          </a:xfrm>
          <a:prstGeom prst="triangle">
            <a:avLst/>
          </a:prstGeom>
          <a:solidFill>
            <a:srgbClr val="94A3B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6248400" y="1976437"/>
            <a:ext cx="2095500" cy="2476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1000" b="0">
                <a:solidFill>
                  <a:srgbClr val="94A3B8"/>
                </a:solidFill>
                <a:latin typeface="PingFang SC"/>
              </a:rPr>
              <a:t>注册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1847850" y="2185987"/>
            <a:ext cx="8877300" cy="1100137"/>
          </a:xfrm>
          <a:prstGeom prst="roundRect">
            <a:avLst>
              <a:gd name="adj" fmla="val 8000"/>
            </a:avLst>
          </a:prstGeom>
          <a:solidFill>
            <a:srgbClr val="F1F5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ounded Rectangle 21"/>
          <p:cNvSpPr/>
          <p:nvPr/>
        </p:nvSpPr>
        <p:spPr>
          <a:xfrm>
            <a:off x="1905000" y="2224087"/>
            <a:ext cx="2076450" cy="1023937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14B8A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ectangle 22"/>
          <p:cNvSpPr/>
          <p:nvPr/>
        </p:nvSpPr>
        <p:spPr>
          <a:xfrm>
            <a:off x="1905000" y="2224087"/>
            <a:ext cx="47625" cy="1023937"/>
          </a:xfrm>
          <a:prstGeom prst="rect">
            <a:avLst/>
          </a:prstGeom>
          <a:solidFill>
            <a:srgbClr val="14B8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2038350" y="2224087"/>
            <a:ext cx="1847850" cy="1023937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1200" b="1">
                <a:solidFill>
                  <a:srgbClr val="475569"/>
                </a:solidFill>
                <a:latin typeface="PingFang SC"/>
              </a:rPr>
              <a:t>执行:权限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4133850" y="2224087"/>
            <a:ext cx="2076450" cy="1023937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14B8A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Rectangle 25"/>
          <p:cNvSpPr/>
          <p:nvPr/>
        </p:nvSpPr>
        <p:spPr>
          <a:xfrm>
            <a:off x="4133850" y="2224087"/>
            <a:ext cx="47625" cy="1023937"/>
          </a:xfrm>
          <a:prstGeom prst="rect">
            <a:avLst/>
          </a:prstGeom>
          <a:solidFill>
            <a:srgbClr val="14B8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4267200" y="2224087"/>
            <a:ext cx="1847850" cy="1023937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1200" b="1">
                <a:solidFill>
                  <a:srgbClr val="475569"/>
                </a:solidFill>
                <a:latin typeface="PingFang SC"/>
              </a:rPr>
              <a:t>Schema 校验</a:t>
            </a:r>
          </a:p>
        </p:txBody>
      </p:sp>
      <p:sp>
        <p:nvSpPr>
          <p:cNvPr id="28" name="Rounded Rectangle 27"/>
          <p:cNvSpPr/>
          <p:nvPr/>
        </p:nvSpPr>
        <p:spPr>
          <a:xfrm>
            <a:off x="6362700" y="2224087"/>
            <a:ext cx="2076450" cy="1023937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14B8A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Rectangle 28"/>
          <p:cNvSpPr/>
          <p:nvPr/>
        </p:nvSpPr>
        <p:spPr>
          <a:xfrm>
            <a:off x="6362700" y="2224087"/>
            <a:ext cx="47625" cy="1023937"/>
          </a:xfrm>
          <a:prstGeom prst="rect">
            <a:avLst/>
          </a:prstGeom>
          <a:solidFill>
            <a:srgbClr val="14B8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6496050" y="2224087"/>
            <a:ext cx="1847850" cy="1023937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1200" b="1">
                <a:solidFill>
                  <a:srgbClr val="475569"/>
                </a:solidFill>
                <a:latin typeface="PingFang SC"/>
              </a:rPr>
              <a:t>超时</a:t>
            </a:r>
          </a:p>
        </p:txBody>
      </p:sp>
      <p:sp>
        <p:nvSpPr>
          <p:cNvPr id="31" name="Rounded Rectangle 30"/>
          <p:cNvSpPr/>
          <p:nvPr/>
        </p:nvSpPr>
        <p:spPr>
          <a:xfrm>
            <a:off x="8591550" y="2224087"/>
            <a:ext cx="2076450" cy="1023937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14B8A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Rectangle 31"/>
          <p:cNvSpPr/>
          <p:nvPr/>
        </p:nvSpPr>
        <p:spPr>
          <a:xfrm>
            <a:off x="8591550" y="2224087"/>
            <a:ext cx="47625" cy="1023937"/>
          </a:xfrm>
          <a:prstGeom prst="rect">
            <a:avLst/>
          </a:prstGeom>
          <a:solidFill>
            <a:srgbClr val="14B8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8724900" y="2224087"/>
            <a:ext cx="1847850" cy="1023937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1200" b="1">
                <a:solidFill>
                  <a:srgbClr val="475569"/>
                </a:solidFill>
                <a:latin typeface="PingFang SC"/>
              </a:rPr>
              <a:t>重试</a:t>
            </a:r>
          </a:p>
        </p:txBody>
      </p:sp>
      <p:cxnSp>
        <p:nvCxnSpPr>
          <p:cNvPr id="34" name="Connector 33"/>
          <p:cNvCxnSpPr/>
          <p:nvPr/>
        </p:nvCxnSpPr>
        <p:spPr>
          <a:xfrm>
            <a:off x="6096000" y="3305174"/>
            <a:ext cx="0" cy="152400"/>
          </a:xfrm>
          <a:prstGeom prst="line">
            <a:avLst/>
          </a:prstGeom>
          <a:ln w="15240">
            <a:solidFill>
              <a:srgbClr val="94A3B8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5" name="Isosceles Triangle 34"/>
          <p:cNvSpPr/>
          <p:nvPr/>
        </p:nvSpPr>
        <p:spPr>
          <a:xfrm rot="10800000">
            <a:off x="6053138" y="3371850"/>
            <a:ext cx="85725" cy="85725"/>
          </a:xfrm>
          <a:prstGeom prst="triangle">
            <a:avLst/>
          </a:prstGeom>
          <a:solidFill>
            <a:srgbClr val="94A3B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TextBox 35"/>
          <p:cNvSpPr txBox="1"/>
          <p:nvPr/>
        </p:nvSpPr>
        <p:spPr>
          <a:xfrm>
            <a:off x="6248400" y="3248024"/>
            <a:ext cx="2095500" cy="2476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1000" b="0">
                <a:solidFill>
                  <a:srgbClr val="94A3B8"/>
                </a:solidFill>
                <a:latin typeface="PingFang SC"/>
              </a:rPr>
              <a:t>治理</a:t>
            </a:r>
          </a:p>
        </p:txBody>
      </p:sp>
      <p:sp>
        <p:nvSpPr>
          <p:cNvPr id="37" name="Rounded Rectangle 36"/>
          <p:cNvSpPr/>
          <p:nvPr/>
        </p:nvSpPr>
        <p:spPr>
          <a:xfrm>
            <a:off x="1847850" y="3457574"/>
            <a:ext cx="8877300" cy="1100137"/>
          </a:xfrm>
          <a:prstGeom prst="roundRect">
            <a:avLst>
              <a:gd name="adj" fmla="val 8000"/>
            </a:avLst>
          </a:prstGeom>
          <a:solidFill>
            <a:srgbClr val="F1F5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Rounded Rectangle 37"/>
          <p:cNvSpPr/>
          <p:nvPr/>
        </p:nvSpPr>
        <p:spPr>
          <a:xfrm>
            <a:off x="1905000" y="3495674"/>
            <a:ext cx="2819400" cy="1023937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8B5CF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Rectangle 38"/>
          <p:cNvSpPr/>
          <p:nvPr/>
        </p:nvSpPr>
        <p:spPr>
          <a:xfrm>
            <a:off x="1905000" y="3495674"/>
            <a:ext cx="47625" cy="1023937"/>
          </a:xfrm>
          <a:prstGeom prst="rect">
            <a:avLst/>
          </a:prstGeom>
          <a:solidFill>
            <a:srgbClr val="8B5C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TextBox 39"/>
          <p:cNvSpPr txBox="1"/>
          <p:nvPr/>
        </p:nvSpPr>
        <p:spPr>
          <a:xfrm>
            <a:off x="2038350" y="3495674"/>
            <a:ext cx="2590800" cy="1023937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1200" b="1">
                <a:solidFill>
                  <a:srgbClr val="475569"/>
                </a:solidFill>
                <a:latin typeface="PingFang SC"/>
              </a:rPr>
              <a:t>审计:InMemory</a:t>
            </a:r>
          </a:p>
        </p:txBody>
      </p:sp>
      <p:sp>
        <p:nvSpPr>
          <p:cNvPr id="41" name="Rounded Rectangle 40"/>
          <p:cNvSpPr/>
          <p:nvPr/>
        </p:nvSpPr>
        <p:spPr>
          <a:xfrm>
            <a:off x="4876800" y="3495674"/>
            <a:ext cx="2819400" cy="1023937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8B5CF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" name="Rectangle 41"/>
          <p:cNvSpPr/>
          <p:nvPr/>
        </p:nvSpPr>
        <p:spPr>
          <a:xfrm>
            <a:off x="4876800" y="3495674"/>
            <a:ext cx="47625" cy="1023937"/>
          </a:xfrm>
          <a:prstGeom prst="rect">
            <a:avLst/>
          </a:prstGeom>
          <a:solidFill>
            <a:srgbClr val="8B5C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" name="TextBox 42"/>
          <p:cNvSpPr txBox="1"/>
          <p:nvPr/>
        </p:nvSpPr>
        <p:spPr>
          <a:xfrm>
            <a:off x="5010150" y="3495674"/>
            <a:ext cx="2590800" cy="1023937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1200" b="1">
                <a:solidFill>
                  <a:srgbClr val="475569"/>
                </a:solidFill>
                <a:latin typeface="PingFang SC"/>
              </a:rPr>
              <a:t>Pulsar 适配(降级)</a:t>
            </a:r>
          </a:p>
        </p:txBody>
      </p:sp>
      <p:sp>
        <p:nvSpPr>
          <p:cNvPr id="44" name="Rounded Rectangle 43"/>
          <p:cNvSpPr/>
          <p:nvPr/>
        </p:nvSpPr>
        <p:spPr>
          <a:xfrm>
            <a:off x="7848600" y="3495674"/>
            <a:ext cx="2819400" cy="1023937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8B5CF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5" name="Rectangle 44"/>
          <p:cNvSpPr/>
          <p:nvPr/>
        </p:nvSpPr>
        <p:spPr>
          <a:xfrm>
            <a:off x="7848600" y="3495674"/>
            <a:ext cx="47625" cy="1023937"/>
          </a:xfrm>
          <a:prstGeom prst="rect">
            <a:avLst/>
          </a:prstGeom>
          <a:solidFill>
            <a:srgbClr val="8B5C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6" name="TextBox 45"/>
          <p:cNvSpPr txBox="1"/>
          <p:nvPr/>
        </p:nvSpPr>
        <p:spPr>
          <a:xfrm>
            <a:off x="7981950" y="3495674"/>
            <a:ext cx="2590800" cy="1023937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1200" b="1">
                <a:solidFill>
                  <a:srgbClr val="475569"/>
                </a:solidFill>
                <a:latin typeface="PingFang SC"/>
              </a:rPr>
              <a:t>哈希链</a:t>
            </a:r>
          </a:p>
        </p:txBody>
      </p:sp>
      <p:cxnSp>
        <p:nvCxnSpPr>
          <p:cNvPr id="47" name="Connector 46"/>
          <p:cNvCxnSpPr/>
          <p:nvPr/>
        </p:nvCxnSpPr>
        <p:spPr>
          <a:xfrm>
            <a:off x="6096000" y="4576761"/>
            <a:ext cx="0" cy="152400"/>
          </a:xfrm>
          <a:prstGeom prst="line">
            <a:avLst/>
          </a:prstGeom>
          <a:ln w="15240">
            <a:solidFill>
              <a:srgbClr val="94A3B8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8" name="Isosceles Triangle 47"/>
          <p:cNvSpPr/>
          <p:nvPr/>
        </p:nvSpPr>
        <p:spPr>
          <a:xfrm rot="10800000">
            <a:off x="6053138" y="4643437"/>
            <a:ext cx="85725" cy="85725"/>
          </a:xfrm>
          <a:prstGeom prst="triangle">
            <a:avLst/>
          </a:prstGeom>
          <a:solidFill>
            <a:srgbClr val="94A3B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9" name="TextBox 48"/>
          <p:cNvSpPr txBox="1"/>
          <p:nvPr/>
        </p:nvSpPr>
        <p:spPr>
          <a:xfrm>
            <a:off x="6248400" y="4519611"/>
            <a:ext cx="2095500" cy="2476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1000" b="0">
                <a:solidFill>
                  <a:srgbClr val="94A3B8"/>
                </a:solidFill>
                <a:latin typeface="PingFang SC"/>
              </a:rPr>
              <a:t>审计</a:t>
            </a:r>
          </a:p>
        </p:txBody>
      </p:sp>
      <p:sp>
        <p:nvSpPr>
          <p:cNvPr id="50" name="Rounded Rectangle 49"/>
          <p:cNvSpPr/>
          <p:nvPr/>
        </p:nvSpPr>
        <p:spPr>
          <a:xfrm>
            <a:off x="1847850" y="4729161"/>
            <a:ext cx="8877300" cy="1100137"/>
          </a:xfrm>
          <a:prstGeom prst="roundRect">
            <a:avLst>
              <a:gd name="adj" fmla="val 8000"/>
            </a:avLst>
          </a:prstGeom>
          <a:solidFill>
            <a:srgbClr val="F1F5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1" name="Rounded Rectangle 50"/>
          <p:cNvSpPr/>
          <p:nvPr/>
        </p:nvSpPr>
        <p:spPr>
          <a:xfrm>
            <a:off x="1905000" y="4767261"/>
            <a:ext cx="4305300" cy="1023937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F59E0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2" name="Rectangle 51"/>
          <p:cNvSpPr/>
          <p:nvPr/>
        </p:nvSpPr>
        <p:spPr>
          <a:xfrm>
            <a:off x="1905000" y="4767261"/>
            <a:ext cx="47625" cy="1023937"/>
          </a:xfrm>
          <a:prstGeom prst="rect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3" name="TextBox 52"/>
          <p:cNvSpPr txBox="1"/>
          <p:nvPr/>
        </p:nvSpPr>
        <p:spPr>
          <a:xfrm>
            <a:off x="2038350" y="4767261"/>
            <a:ext cx="4076700" cy="1023937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1200" b="1">
                <a:solidFill>
                  <a:srgbClr val="475569"/>
                </a:solidFill>
                <a:latin typeface="PingFang SC"/>
              </a:rPr>
              <a:t>外部:MCP Client</a:t>
            </a:r>
          </a:p>
        </p:txBody>
      </p:sp>
      <p:sp>
        <p:nvSpPr>
          <p:cNvPr id="54" name="Rounded Rectangle 53"/>
          <p:cNvSpPr/>
          <p:nvPr/>
        </p:nvSpPr>
        <p:spPr>
          <a:xfrm>
            <a:off x="6362700" y="4767261"/>
            <a:ext cx="4305300" cy="1023937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F59E0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" name="Rectangle 54"/>
          <p:cNvSpPr/>
          <p:nvPr/>
        </p:nvSpPr>
        <p:spPr>
          <a:xfrm>
            <a:off x="6362700" y="4767261"/>
            <a:ext cx="47625" cy="1023937"/>
          </a:xfrm>
          <a:prstGeom prst="rect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6" name="TextBox 55"/>
          <p:cNvSpPr txBox="1"/>
          <p:nvPr/>
        </p:nvSpPr>
        <p:spPr>
          <a:xfrm>
            <a:off x="6496050" y="4767261"/>
            <a:ext cx="4076700" cy="1023937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1200" b="1">
                <a:solidFill>
                  <a:srgbClr val="475569"/>
                </a:solidFill>
                <a:latin typeface="PingFang SC"/>
              </a:rPr>
              <a:t>文件/DB/GitHub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10287000" y="6534150"/>
            <a:ext cx="1619250" cy="2667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>
              <a:lnSpc>
                <a:spcPct val="100000"/>
              </a:lnSpc>
            </a:pPr>
            <a:r>
              <a:rPr sz="900" b="0">
                <a:solidFill>
                  <a:srgbClr val="94A3B8"/>
                </a:solidFill>
                <a:latin typeface="PingFang SC"/>
              </a:rPr>
              <a:t>第2章 · 5/141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704850"/>
          </a:xfrm>
          <a:prstGeom prst="rect">
            <a:avLst/>
          </a:prstGeom>
          <a:solidFill>
            <a:srgbClr val="0B1D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76200" cy="704850"/>
          </a:xfrm>
          <a:prstGeom prst="rect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266700" y="0"/>
            <a:ext cx="10287000" cy="7048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2000" b="1">
                <a:solidFill>
                  <a:srgbClr val="FFFFFF"/>
                </a:solidFill>
                <a:latin typeface="PingFang SC"/>
              </a:rPr>
              <a:t>Function Calling 是什么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334500" y="0"/>
            <a:ext cx="2667000" cy="7048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>
              <a:lnSpc>
                <a:spcPct val="100000"/>
              </a:lnSpc>
            </a:pPr>
            <a:r>
              <a:rPr sz="1100" b="0">
                <a:solidFill>
                  <a:srgbClr val="94A3B8"/>
                </a:solidFill>
                <a:latin typeface="PingFang SC"/>
              </a:rPr>
              <a:t>第2章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876300" y="914400"/>
            <a:ext cx="10439400" cy="10287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DDE5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876300" y="914400"/>
            <a:ext cx="57150" cy="1028700"/>
          </a:xfrm>
          <a:prstGeom prst="rect">
            <a:avLst/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ounded Rectangle 7"/>
          <p:cNvSpPr/>
          <p:nvPr/>
        </p:nvSpPr>
        <p:spPr>
          <a:xfrm>
            <a:off x="1047750" y="1285875"/>
            <a:ext cx="285750" cy="285750"/>
          </a:xfrm>
          <a:prstGeom prst="roundRect">
            <a:avLst>
              <a:gd name="adj" fmla="val 8000"/>
            </a:avLst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047750" y="1276350"/>
            <a:ext cx="285750" cy="2857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300" b="1">
                <a:solidFill>
                  <a:srgbClr val="FFFFFF"/>
                </a:solidFill>
                <a:latin typeface="PingFang SC"/>
              </a:rPr>
              <a:t>1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485900" y="914400"/>
            <a:ext cx="9601200" cy="10287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12000"/>
              </a:lnSpc>
            </a:pPr>
            <a:r>
              <a:rPr sz="1400" b="1">
                <a:solidFill>
                  <a:srgbClr val="475569"/>
                </a:solidFill>
                <a:latin typeface="PingFang SC"/>
              </a:rPr>
              <a:t>模型不执行任何代码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876300" y="2114550"/>
            <a:ext cx="10439400" cy="10287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DDE5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876300" y="2114550"/>
            <a:ext cx="57150" cy="1028700"/>
          </a:xfrm>
          <a:prstGeom prst="rect">
            <a:avLst/>
          </a:prstGeom>
          <a:solidFill>
            <a:srgbClr val="14B8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ounded Rectangle 12"/>
          <p:cNvSpPr/>
          <p:nvPr/>
        </p:nvSpPr>
        <p:spPr>
          <a:xfrm>
            <a:off x="1047750" y="2486025"/>
            <a:ext cx="285750" cy="285750"/>
          </a:xfrm>
          <a:prstGeom prst="roundRect">
            <a:avLst>
              <a:gd name="adj" fmla="val 8000"/>
            </a:avLst>
          </a:prstGeom>
          <a:solidFill>
            <a:srgbClr val="14B8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1047750" y="2476500"/>
            <a:ext cx="285750" cy="2857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300" b="1">
                <a:solidFill>
                  <a:srgbClr val="FFFFFF"/>
                </a:solidFill>
                <a:latin typeface="PingFang SC"/>
              </a:rPr>
              <a:t>2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485900" y="2114550"/>
            <a:ext cx="9601200" cy="10287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12000"/>
              </a:lnSpc>
            </a:pPr>
            <a:r>
              <a:rPr sz="1400" b="1">
                <a:solidFill>
                  <a:srgbClr val="475569"/>
                </a:solidFill>
                <a:latin typeface="PingFang SC"/>
              </a:rPr>
              <a:t>只输出"我想调 toolX,参数是{...}"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876300" y="3314700"/>
            <a:ext cx="10439400" cy="10287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DDE5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876300" y="3314700"/>
            <a:ext cx="57150" cy="1028700"/>
          </a:xfrm>
          <a:prstGeom prst="rect">
            <a:avLst/>
          </a:prstGeom>
          <a:solidFill>
            <a:srgbClr val="8B5C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ounded Rectangle 17"/>
          <p:cNvSpPr/>
          <p:nvPr/>
        </p:nvSpPr>
        <p:spPr>
          <a:xfrm>
            <a:off x="1047750" y="3686175"/>
            <a:ext cx="285750" cy="285750"/>
          </a:xfrm>
          <a:prstGeom prst="roundRect">
            <a:avLst>
              <a:gd name="adj" fmla="val 8000"/>
            </a:avLst>
          </a:prstGeom>
          <a:solidFill>
            <a:srgbClr val="8B5C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1047750" y="3676650"/>
            <a:ext cx="285750" cy="2857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300" b="1">
                <a:solidFill>
                  <a:srgbClr val="FFFFFF"/>
                </a:solidFill>
                <a:latin typeface="PingFang SC"/>
              </a:rPr>
              <a:t>3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485900" y="3314700"/>
            <a:ext cx="9601200" cy="10287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12000"/>
              </a:lnSpc>
            </a:pPr>
            <a:r>
              <a:rPr sz="1400" b="1">
                <a:solidFill>
                  <a:srgbClr val="475569"/>
                </a:solidFill>
                <a:latin typeface="PingFang SC"/>
              </a:rPr>
              <a:t>执行权永远在 Runtime 手里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876300" y="6019800"/>
            <a:ext cx="10439400" cy="514350"/>
          </a:xfrm>
          <a:prstGeom prst="roundRect">
            <a:avLst>
              <a:gd name="adj" fmla="val 8000"/>
            </a:avLst>
          </a:prstGeom>
          <a:solidFill>
            <a:srgbClr val="F1F5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1066800" y="6019800"/>
            <a:ext cx="10058400" cy="5524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1250" b="0">
                <a:solidFill>
                  <a:srgbClr val="2563EB"/>
                </a:solidFill>
                <a:latin typeface="PingFang SC"/>
              </a:rPr>
              <a:t>▶ 意图与执行分离是安全的第一性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0287000" y="6534150"/>
            <a:ext cx="1619250" cy="2667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>
              <a:lnSpc>
                <a:spcPct val="100000"/>
              </a:lnSpc>
            </a:pPr>
            <a:r>
              <a:rPr sz="900" b="0">
                <a:solidFill>
                  <a:srgbClr val="94A3B8"/>
                </a:solidFill>
                <a:latin typeface="PingFang SC"/>
              </a:rPr>
              <a:t>第2章 · 6/141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704850"/>
          </a:xfrm>
          <a:prstGeom prst="rect">
            <a:avLst/>
          </a:prstGeom>
          <a:solidFill>
            <a:srgbClr val="0B1D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76200" cy="704850"/>
          </a:xfrm>
          <a:prstGeom prst="rect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266700" y="0"/>
            <a:ext cx="10287000" cy="7048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2000" b="1">
                <a:solidFill>
                  <a:srgbClr val="FFFFFF"/>
                </a:solidFill>
                <a:latin typeface="PingFang SC"/>
              </a:rPr>
              <a:t>一次工具调用的完整时序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334500" y="0"/>
            <a:ext cx="2667000" cy="7048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>
              <a:lnSpc>
                <a:spcPct val="100000"/>
              </a:lnSpc>
            </a:pPr>
            <a:r>
              <a:rPr sz="1100" b="0">
                <a:solidFill>
                  <a:srgbClr val="94A3B8"/>
                </a:solidFill>
                <a:latin typeface="PingFang SC"/>
              </a:rPr>
              <a:t>第2章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876300" y="914400"/>
            <a:ext cx="5133975" cy="8763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DDE5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876300" y="914400"/>
            <a:ext cx="47625" cy="876300"/>
          </a:xfrm>
          <a:prstGeom prst="rect">
            <a:avLst/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314450" y="914400"/>
            <a:ext cx="4524375" cy="8763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12000"/>
              </a:lnSpc>
            </a:pPr>
            <a:r>
              <a:rPr sz="1300" b="1">
                <a:solidFill>
                  <a:srgbClr val="475569"/>
                </a:solidFill>
                <a:latin typeface="PingFang SC"/>
              </a:rPr>
              <a:t>① 请求携带工具定义清单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1009650" y="1285875"/>
            <a:ext cx="133350" cy="133350"/>
          </a:xfrm>
          <a:prstGeom prst="roundRect">
            <a:avLst>
              <a:gd name="adj" fmla="val 8000"/>
            </a:avLst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ounded Rectangle 9"/>
          <p:cNvSpPr/>
          <p:nvPr/>
        </p:nvSpPr>
        <p:spPr>
          <a:xfrm>
            <a:off x="6181725" y="914400"/>
            <a:ext cx="5133975" cy="8763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DDE5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6181725" y="914400"/>
            <a:ext cx="47625" cy="876300"/>
          </a:xfrm>
          <a:prstGeom prst="rect">
            <a:avLst/>
          </a:prstGeom>
          <a:solidFill>
            <a:srgbClr val="14B8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619875" y="914400"/>
            <a:ext cx="4524375" cy="8763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12000"/>
              </a:lnSpc>
            </a:pPr>
            <a:r>
              <a:rPr sz="1300" b="1">
                <a:solidFill>
                  <a:srgbClr val="475569"/>
                </a:solidFill>
                <a:latin typeface="PingFang SC"/>
              </a:rPr>
              <a:t>② 模型返回 tool_calls 意图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6315075" y="1285875"/>
            <a:ext cx="133350" cy="133350"/>
          </a:xfrm>
          <a:prstGeom prst="roundRect">
            <a:avLst>
              <a:gd name="adj" fmla="val 8000"/>
            </a:avLst>
          </a:prstGeom>
          <a:solidFill>
            <a:srgbClr val="14B8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ounded Rectangle 13"/>
          <p:cNvSpPr/>
          <p:nvPr/>
        </p:nvSpPr>
        <p:spPr>
          <a:xfrm>
            <a:off x="876300" y="1962150"/>
            <a:ext cx="5133975" cy="8763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DDE5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876300" y="1962150"/>
            <a:ext cx="47625" cy="876300"/>
          </a:xfrm>
          <a:prstGeom prst="rect">
            <a:avLst/>
          </a:prstGeom>
          <a:solidFill>
            <a:srgbClr val="8B5C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1314450" y="1962150"/>
            <a:ext cx="4524375" cy="8763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12000"/>
              </a:lnSpc>
            </a:pPr>
            <a:r>
              <a:rPr sz="1300" b="1">
                <a:solidFill>
                  <a:srgbClr val="475569"/>
                </a:solidFill>
                <a:latin typeface="PingFang SC"/>
              </a:rPr>
              <a:t>③ Runtime 校验并执行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1009650" y="2333625"/>
            <a:ext cx="133350" cy="133350"/>
          </a:xfrm>
          <a:prstGeom prst="roundRect">
            <a:avLst>
              <a:gd name="adj" fmla="val 8000"/>
            </a:avLst>
          </a:prstGeom>
          <a:solidFill>
            <a:srgbClr val="8B5C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ounded Rectangle 17"/>
          <p:cNvSpPr/>
          <p:nvPr/>
        </p:nvSpPr>
        <p:spPr>
          <a:xfrm>
            <a:off x="6181725" y="1962150"/>
            <a:ext cx="5133975" cy="8763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DDE5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6181725" y="1962150"/>
            <a:ext cx="47625" cy="876300"/>
          </a:xfrm>
          <a:prstGeom prst="rect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6619875" y="1962150"/>
            <a:ext cx="4524375" cy="8763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12000"/>
              </a:lnSpc>
            </a:pPr>
            <a:r>
              <a:rPr sz="1300" b="1">
                <a:solidFill>
                  <a:srgbClr val="475569"/>
                </a:solidFill>
                <a:latin typeface="PingFang SC"/>
              </a:rPr>
              <a:t>④ 结果以 role=tool 回灌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6315075" y="2333625"/>
            <a:ext cx="133350" cy="133350"/>
          </a:xfrm>
          <a:prstGeom prst="roundRect">
            <a:avLst>
              <a:gd name="adj" fmla="val 8000"/>
            </a:avLst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ounded Rectangle 21"/>
          <p:cNvSpPr/>
          <p:nvPr/>
        </p:nvSpPr>
        <p:spPr>
          <a:xfrm>
            <a:off x="876300" y="3009900"/>
            <a:ext cx="5133975" cy="8763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DDE5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ectangle 22"/>
          <p:cNvSpPr/>
          <p:nvPr/>
        </p:nvSpPr>
        <p:spPr>
          <a:xfrm>
            <a:off x="876300" y="3009900"/>
            <a:ext cx="47625" cy="876300"/>
          </a:xfrm>
          <a:prstGeom prst="rect">
            <a:avLst/>
          </a:prstGeom>
          <a:solidFill>
            <a:srgbClr val="34D39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1314450" y="3009900"/>
            <a:ext cx="4524375" cy="8763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12000"/>
              </a:lnSpc>
            </a:pPr>
            <a:r>
              <a:rPr sz="1300" b="1">
                <a:solidFill>
                  <a:srgbClr val="475569"/>
                </a:solidFill>
                <a:latin typeface="PingFang SC"/>
              </a:rPr>
              <a:t>⑤ 模型基于结果继续推理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1009650" y="3381375"/>
            <a:ext cx="133350" cy="133350"/>
          </a:xfrm>
          <a:prstGeom prst="roundRect">
            <a:avLst>
              <a:gd name="adj" fmla="val 8000"/>
            </a:avLst>
          </a:prstGeom>
          <a:solidFill>
            <a:srgbClr val="34D39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10287000" y="6534150"/>
            <a:ext cx="1619250" cy="2667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>
              <a:lnSpc>
                <a:spcPct val="100000"/>
              </a:lnSpc>
            </a:pPr>
            <a:r>
              <a:rPr sz="900" b="0">
                <a:solidFill>
                  <a:srgbClr val="94A3B8"/>
                </a:solidFill>
                <a:latin typeface="PingFang SC"/>
              </a:rPr>
              <a:t>第2章 · 7/141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704850"/>
          </a:xfrm>
          <a:prstGeom prst="rect">
            <a:avLst/>
          </a:prstGeom>
          <a:solidFill>
            <a:srgbClr val="0B1D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76200" cy="704850"/>
          </a:xfrm>
          <a:prstGeom prst="rect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266700" y="0"/>
            <a:ext cx="10287000" cy="7048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2000" b="1">
                <a:solidFill>
                  <a:srgbClr val="FFFFFF"/>
                </a:solidFill>
                <a:latin typeface="PingFang SC"/>
              </a:rPr>
              <a:t>Function Calling 全时序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381000" y="990600"/>
            <a:ext cx="1905000" cy="400050"/>
          </a:xfrm>
          <a:prstGeom prst="roundRect">
            <a:avLst>
              <a:gd name="adj" fmla="val 8000"/>
            </a:avLst>
          </a:prstGeom>
          <a:solidFill>
            <a:srgbClr val="142A4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381000" y="990600"/>
            <a:ext cx="1905000" cy="4000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200" b="1">
                <a:solidFill>
                  <a:srgbClr val="FFFFFF"/>
                </a:solidFill>
                <a:latin typeface="PingFang SC"/>
              </a:rPr>
              <a:t>模型</a:t>
            </a:r>
          </a:p>
        </p:txBody>
      </p:sp>
      <p:cxnSp>
        <p:nvCxnSpPr>
          <p:cNvPr id="7" name="Connector 6"/>
          <p:cNvCxnSpPr/>
          <p:nvPr/>
        </p:nvCxnSpPr>
        <p:spPr>
          <a:xfrm>
            <a:off x="1333500" y="1428750"/>
            <a:ext cx="0" cy="4381500"/>
          </a:xfrm>
          <a:prstGeom prst="line">
            <a:avLst/>
          </a:prstGeom>
          <a:ln w="12700">
            <a:solidFill>
              <a:srgbClr val="DDE5EE"/>
            </a:solidFill>
            <a:prstDash val="dash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8" name="Rounded Rectangle 7"/>
          <p:cNvSpPr/>
          <p:nvPr/>
        </p:nvSpPr>
        <p:spPr>
          <a:xfrm>
            <a:off x="3556000" y="990600"/>
            <a:ext cx="1905000" cy="400050"/>
          </a:xfrm>
          <a:prstGeom prst="roundRect">
            <a:avLst>
              <a:gd name="adj" fmla="val 8000"/>
            </a:avLst>
          </a:prstGeom>
          <a:solidFill>
            <a:srgbClr val="142A4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3556000" y="990600"/>
            <a:ext cx="1905000" cy="4000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200" b="1">
                <a:solidFill>
                  <a:srgbClr val="FFFFFF"/>
                </a:solidFill>
                <a:latin typeface="PingFang SC"/>
              </a:rPr>
              <a:t>Runtime</a:t>
            </a:r>
          </a:p>
        </p:txBody>
      </p:sp>
      <p:cxnSp>
        <p:nvCxnSpPr>
          <p:cNvPr id="10" name="Connector 9"/>
          <p:cNvCxnSpPr/>
          <p:nvPr/>
        </p:nvCxnSpPr>
        <p:spPr>
          <a:xfrm>
            <a:off x="4508500" y="1428750"/>
            <a:ext cx="0" cy="4381500"/>
          </a:xfrm>
          <a:prstGeom prst="line">
            <a:avLst/>
          </a:prstGeom>
          <a:ln w="12700">
            <a:solidFill>
              <a:srgbClr val="DDE5EE"/>
            </a:solidFill>
            <a:prstDash val="dash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1" name="Rounded Rectangle 10"/>
          <p:cNvSpPr/>
          <p:nvPr/>
        </p:nvSpPr>
        <p:spPr>
          <a:xfrm>
            <a:off x="6731000" y="990600"/>
            <a:ext cx="1905000" cy="400050"/>
          </a:xfrm>
          <a:prstGeom prst="roundRect">
            <a:avLst>
              <a:gd name="adj" fmla="val 8000"/>
            </a:avLst>
          </a:prstGeom>
          <a:solidFill>
            <a:srgbClr val="142A4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731000" y="990600"/>
            <a:ext cx="1905000" cy="4000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200" b="1">
                <a:solidFill>
                  <a:srgbClr val="FFFFFF"/>
                </a:solidFill>
                <a:latin typeface="PingFang SC"/>
              </a:rPr>
              <a:t>工具实现</a:t>
            </a:r>
          </a:p>
        </p:txBody>
      </p:sp>
      <p:cxnSp>
        <p:nvCxnSpPr>
          <p:cNvPr id="13" name="Connector 12"/>
          <p:cNvCxnSpPr/>
          <p:nvPr/>
        </p:nvCxnSpPr>
        <p:spPr>
          <a:xfrm>
            <a:off x="7683500" y="1428750"/>
            <a:ext cx="0" cy="4381500"/>
          </a:xfrm>
          <a:prstGeom prst="line">
            <a:avLst/>
          </a:prstGeom>
          <a:ln w="12700">
            <a:solidFill>
              <a:srgbClr val="DDE5EE"/>
            </a:solidFill>
            <a:prstDash val="dash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4" name="Rounded Rectangle 13"/>
          <p:cNvSpPr/>
          <p:nvPr/>
        </p:nvSpPr>
        <p:spPr>
          <a:xfrm>
            <a:off x="9906000" y="990600"/>
            <a:ext cx="1905000" cy="400050"/>
          </a:xfrm>
          <a:prstGeom prst="roundRect">
            <a:avLst>
              <a:gd name="adj" fmla="val 8000"/>
            </a:avLst>
          </a:prstGeom>
          <a:solidFill>
            <a:srgbClr val="142A4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9906000" y="990600"/>
            <a:ext cx="1905000" cy="4000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200" b="1">
                <a:solidFill>
                  <a:srgbClr val="FFFFFF"/>
                </a:solidFill>
                <a:latin typeface="PingFang SC"/>
              </a:rPr>
              <a:t>审计总线</a:t>
            </a:r>
          </a:p>
        </p:txBody>
      </p:sp>
      <p:cxnSp>
        <p:nvCxnSpPr>
          <p:cNvPr id="16" name="Connector 15"/>
          <p:cNvCxnSpPr/>
          <p:nvPr/>
        </p:nvCxnSpPr>
        <p:spPr>
          <a:xfrm>
            <a:off x="10858500" y="1428750"/>
            <a:ext cx="0" cy="4381500"/>
          </a:xfrm>
          <a:prstGeom prst="line">
            <a:avLst/>
          </a:prstGeom>
          <a:ln w="12700">
            <a:solidFill>
              <a:srgbClr val="DDE5EE"/>
            </a:solidFill>
            <a:prstDash val="dash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7" name="Connector 16"/>
          <p:cNvCxnSpPr/>
          <p:nvPr/>
        </p:nvCxnSpPr>
        <p:spPr>
          <a:xfrm>
            <a:off x="1333500" y="1809750"/>
            <a:ext cx="3175000" cy="0"/>
          </a:xfrm>
          <a:prstGeom prst="line">
            <a:avLst/>
          </a:prstGeom>
          <a:ln w="20320">
            <a:solidFill>
              <a:srgbClr val="2563E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8" name="Isosceles Triangle 17"/>
          <p:cNvSpPr/>
          <p:nvPr/>
        </p:nvSpPr>
        <p:spPr>
          <a:xfrm rot="5400000">
            <a:off x="4422776" y="1766888"/>
            <a:ext cx="85725" cy="85725"/>
          </a:xfrm>
          <a:prstGeom prst="triangle">
            <a:avLst/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1397000" y="1524000"/>
            <a:ext cx="3048000" cy="2286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000" b="0">
                <a:solidFill>
                  <a:srgbClr val="2563EB"/>
                </a:solidFill>
                <a:latin typeface="PingFang SC"/>
              </a:rPr>
              <a:t>1. tool_calls 意图+参数</a:t>
            </a:r>
          </a:p>
        </p:txBody>
      </p:sp>
      <p:cxnSp>
        <p:nvCxnSpPr>
          <p:cNvPr id="20" name="Connector 19"/>
          <p:cNvCxnSpPr/>
          <p:nvPr/>
        </p:nvCxnSpPr>
        <p:spPr>
          <a:xfrm>
            <a:off x="4508500" y="2628900"/>
            <a:ext cx="3175000" cy="0"/>
          </a:xfrm>
          <a:prstGeom prst="line">
            <a:avLst/>
          </a:prstGeom>
          <a:ln w="20320">
            <a:solidFill>
              <a:srgbClr val="2563E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1" name="Isosceles Triangle 20"/>
          <p:cNvSpPr/>
          <p:nvPr/>
        </p:nvSpPr>
        <p:spPr>
          <a:xfrm rot="5400000">
            <a:off x="7597776" y="2586038"/>
            <a:ext cx="85725" cy="85725"/>
          </a:xfrm>
          <a:prstGeom prst="triangle">
            <a:avLst/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4572000" y="2343150"/>
            <a:ext cx="3048000" cy="2286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000" b="0">
                <a:solidFill>
                  <a:srgbClr val="2563EB"/>
                </a:solidFill>
                <a:latin typeface="PingFang SC"/>
              </a:rPr>
              <a:t>2. 校验+执行</a:t>
            </a:r>
          </a:p>
        </p:txBody>
      </p:sp>
      <p:cxnSp>
        <p:nvCxnSpPr>
          <p:cNvPr id="23" name="Connector 22"/>
          <p:cNvCxnSpPr/>
          <p:nvPr/>
        </p:nvCxnSpPr>
        <p:spPr>
          <a:xfrm flipH="1">
            <a:off x="4508500" y="3448050"/>
            <a:ext cx="3175000" cy="0"/>
          </a:xfrm>
          <a:prstGeom prst="line">
            <a:avLst/>
          </a:prstGeom>
          <a:ln w="20320">
            <a:solidFill>
              <a:srgbClr val="F59E0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4" name="Isosceles Triangle 23"/>
          <p:cNvSpPr/>
          <p:nvPr/>
        </p:nvSpPr>
        <p:spPr>
          <a:xfrm rot="16200000">
            <a:off x="4508500" y="3405188"/>
            <a:ext cx="85725" cy="85725"/>
          </a:xfrm>
          <a:prstGeom prst="triangle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4572000" y="3162300"/>
            <a:ext cx="3048000" cy="2286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000" b="0">
                <a:solidFill>
                  <a:srgbClr val="F59E0B"/>
                </a:solidFill>
                <a:latin typeface="PingFang SC"/>
              </a:rPr>
              <a:t>3. ToolResult</a:t>
            </a:r>
          </a:p>
        </p:txBody>
      </p:sp>
      <p:cxnSp>
        <p:nvCxnSpPr>
          <p:cNvPr id="26" name="Connector 25"/>
          <p:cNvCxnSpPr/>
          <p:nvPr/>
        </p:nvCxnSpPr>
        <p:spPr>
          <a:xfrm>
            <a:off x="4508500" y="4267200"/>
            <a:ext cx="6350000" cy="0"/>
          </a:xfrm>
          <a:prstGeom prst="line">
            <a:avLst/>
          </a:prstGeom>
          <a:ln w="20320">
            <a:solidFill>
              <a:srgbClr val="2563E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7" name="Isosceles Triangle 26"/>
          <p:cNvSpPr/>
          <p:nvPr/>
        </p:nvSpPr>
        <p:spPr>
          <a:xfrm rot="5400000">
            <a:off x="10772776" y="4224338"/>
            <a:ext cx="85725" cy="85725"/>
          </a:xfrm>
          <a:prstGeom prst="triangle">
            <a:avLst/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6159500" y="3981450"/>
            <a:ext cx="3048000" cy="2286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000" b="0">
                <a:solidFill>
                  <a:srgbClr val="2563EB"/>
                </a:solidFill>
                <a:latin typeface="PingFang SC"/>
              </a:rPr>
              <a:t>4. 事件落盘(脱敏)</a:t>
            </a:r>
          </a:p>
        </p:txBody>
      </p:sp>
      <p:cxnSp>
        <p:nvCxnSpPr>
          <p:cNvPr id="29" name="Connector 28"/>
          <p:cNvCxnSpPr/>
          <p:nvPr/>
        </p:nvCxnSpPr>
        <p:spPr>
          <a:xfrm flipH="1">
            <a:off x="1333500" y="5086350"/>
            <a:ext cx="3175000" cy="0"/>
          </a:xfrm>
          <a:prstGeom prst="line">
            <a:avLst/>
          </a:prstGeom>
          <a:ln w="20320">
            <a:solidFill>
              <a:srgbClr val="F59E0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0" name="Isosceles Triangle 29"/>
          <p:cNvSpPr/>
          <p:nvPr/>
        </p:nvSpPr>
        <p:spPr>
          <a:xfrm rot="16200000">
            <a:off x="1333500" y="5043488"/>
            <a:ext cx="85725" cy="85725"/>
          </a:xfrm>
          <a:prstGeom prst="triangle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1397000" y="4800600"/>
            <a:ext cx="3048000" cy="2286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000" b="0">
                <a:solidFill>
                  <a:srgbClr val="F59E0B"/>
                </a:solidFill>
                <a:latin typeface="PingFang SC"/>
              </a:rPr>
              <a:t>5. role=tool 回灌|意图与执行分离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10287000" y="6534150"/>
            <a:ext cx="1619250" cy="2667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>
              <a:lnSpc>
                <a:spcPct val="100000"/>
              </a:lnSpc>
            </a:pPr>
            <a:r>
              <a:rPr sz="900" b="0">
                <a:solidFill>
                  <a:srgbClr val="94A3B8"/>
                </a:solidFill>
                <a:latin typeface="PingFang SC"/>
              </a:rPr>
              <a:t>第2章 · 8/141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704850"/>
          </a:xfrm>
          <a:prstGeom prst="rect">
            <a:avLst/>
          </a:prstGeom>
          <a:solidFill>
            <a:srgbClr val="0B1D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76200" cy="704850"/>
          </a:xfrm>
          <a:prstGeom prst="rect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266700" y="0"/>
            <a:ext cx="10287000" cy="7048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2000" b="1">
                <a:solidFill>
                  <a:srgbClr val="FFFFFF"/>
                </a:solidFill>
                <a:latin typeface="PingFang SC"/>
              </a:rPr>
              <a:t>工具定义的七要素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334500" y="0"/>
            <a:ext cx="2667000" cy="7048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>
              <a:lnSpc>
                <a:spcPct val="100000"/>
              </a:lnSpc>
            </a:pPr>
            <a:r>
              <a:rPr sz="1100" b="0">
                <a:solidFill>
                  <a:srgbClr val="94A3B8"/>
                </a:solidFill>
                <a:latin typeface="PingFang SC"/>
              </a:rPr>
              <a:t>第2章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876300" y="914400"/>
            <a:ext cx="5133975" cy="8763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DDE5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876300" y="914400"/>
            <a:ext cx="47625" cy="876300"/>
          </a:xfrm>
          <a:prstGeom prst="rect">
            <a:avLst/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314450" y="914400"/>
            <a:ext cx="4524375" cy="8763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12000"/>
              </a:lnSpc>
            </a:pPr>
            <a:r>
              <a:rPr sz="1300" b="1">
                <a:solidFill>
                  <a:srgbClr val="475569"/>
                </a:solidFill>
                <a:latin typeface="PingFang SC"/>
              </a:rPr>
              <a:t>name:唯一且动词化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1009650" y="1285875"/>
            <a:ext cx="133350" cy="133350"/>
          </a:xfrm>
          <a:prstGeom prst="roundRect">
            <a:avLst>
              <a:gd name="adj" fmla="val 8000"/>
            </a:avLst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ounded Rectangle 9"/>
          <p:cNvSpPr/>
          <p:nvPr/>
        </p:nvSpPr>
        <p:spPr>
          <a:xfrm>
            <a:off x="6181725" y="914400"/>
            <a:ext cx="5133975" cy="8763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DDE5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6181725" y="914400"/>
            <a:ext cx="47625" cy="876300"/>
          </a:xfrm>
          <a:prstGeom prst="rect">
            <a:avLst/>
          </a:prstGeom>
          <a:solidFill>
            <a:srgbClr val="14B8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619875" y="914400"/>
            <a:ext cx="4524375" cy="8763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12000"/>
              </a:lnSpc>
            </a:pPr>
            <a:r>
              <a:rPr sz="1300" b="1">
                <a:solidFill>
                  <a:srgbClr val="475569"/>
                </a:solidFill>
                <a:latin typeface="PingFang SC"/>
              </a:rPr>
              <a:t>description:给模型看的说明书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6315075" y="1285875"/>
            <a:ext cx="133350" cy="133350"/>
          </a:xfrm>
          <a:prstGeom prst="roundRect">
            <a:avLst>
              <a:gd name="adj" fmla="val 8000"/>
            </a:avLst>
          </a:prstGeom>
          <a:solidFill>
            <a:srgbClr val="14B8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ounded Rectangle 13"/>
          <p:cNvSpPr/>
          <p:nvPr/>
        </p:nvSpPr>
        <p:spPr>
          <a:xfrm>
            <a:off x="876300" y="1962150"/>
            <a:ext cx="5133975" cy="8763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DDE5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876300" y="1962150"/>
            <a:ext cx="47625" cy="876300"/>
          </a:xfrm>
          <a:prstGeom prst="rect">
            <a:avLst/>
          </a:prstGeom>
          <a:solidFill>
            <a:srgbClr val="8B5C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1314450" y="1962150"/>
            <a:ext cx="4524375" cy="8763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12000"/>
              </a:lnSpc>
            </a:pPr>
            <a:r>
              <a:rPr sz="1300" b="1">
                <a:solidFill>
                  <a:srgbClr val="475569"/>
                </a:solidFill>
                <a:latin typeface="PingFang SC"/>
              </a:rPr>
              <a:t>parameters:JSON Schema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1009650" y="2333625"/>
            <a:ext cx="133350" cy="133350"/>
          </a:xfrm>
          <a:prstGeom prst="roundRect">
            <a:avLst>
              <a:gd name="adj" fmla="val 8000"/>
            </a:avLst>
          </a:prstGeom>
          <a:solidFill>
            <a:srgbClr val="8B5C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ounded Rectangle 17"/>
          <p:cNvSpPr/>
          <p:nvPr/>
        </p:nvSpPr>
        <p:spPr>
          <a:xfrm>
            <a:off x="6181725" y="1962150"/>
            <a:ext cx="5133975" cy="8763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DDE5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6181725" y="1962150"/>
            <a:ext cx="47625" cy="876300"/>
          </a:xfrm>
          <a:prstGeom prst="rect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6619875" y="1962150"/>
            <a:ext cx="4524375" cy="8763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12000"/>
              </a:lnSpc>
            </a:pPr>
            <a:r>
              <a:rPr sz="1300" b="1">
                <a:solidFill>
                  <a:srgbClr val="475569"/>
                </a:solidFill>
                <a:latin typeface="PingFang SC"/>
              </a:rPr>
              <a:t>返回/错误结构约定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6315075" y="2333625"/>
            <a:ext cx="133350" cy="133350"/>
          </a:xfrm>
          <a:prstGeom prst="roundRect">
            <a:avLst>
              <a:gd name="adj" fmla="val 8000"/>
            </a:avLst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ounded Rectangle 21"/>
          <p:cNvSpPr/>
          <p:nvPr/>
        </p:nvSpPr>
        <p:spPr>
          <a:xfrm>
            <a:off x="876300" y="3009900"/>
            <a:ext cx="5133975" cy="8763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DDE5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ectangle 22"/>
          <p:cNvSpPr/>
          <p:nvPr/>
        </p:nvSpPr>
        <p:spPr>
          <a:xfrm>
            <a:off x="876300" y="3009900"/>
            <a:ext cx="47625" cy="876300"/>
          </a:xfrm>
          <a:prstGeom prst="rect">
            <a:avLst/>
          </a:prstGeom>
          <a:solidFill>
            <a:srgbClr val="34D39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1314450" y="3009900"/>
            <a:ext cx="4524375" cy="8763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12000"/>
              </a:lnSpc>
            </a:pPr>
            <a:r>
              <a:rPr sz="1300" b="1">
                <a:solidFill>
                  <a:srgbClr val="475569"/>
                </a:solidFill>
                <a:latin typeface="PingFang SC"/>
              </a:rPr>
              <a:t>权限等级 + 风险等级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1009650" y="3381375"/>
            <a:ext cx="133350" cy="133350"/>
          </a:xfrm>
          <a:prstGeom prst="roundRect">
            <a:avLst>
              <a:gd name="adj" fmla="val 8000"/>
            </a:avLst>
          </a:prstGeom>
          <a:solidFill>
            <a:srgbClr val="34D39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Rounded Rectangle 25"/>
          <p:cNvSpPr/>
          <p:nvPr/>
        </p:nvSpPr>
        <p:spPr>
          <a:xfrm>
            <a:off x="876300" y="6019800"/>
            <a:ext cx="10439400" cy="514350"/>
          </a:xfrm>
          <a:prstGeom prst="roundRect">
            <a:avLst>
              <a:gd name="adj" fmla="val 8000"/>
            </a:avLst>
          </a:prstGeom>
          <a:solidFill>
            <a:srgbClr val="F1F5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1066800" y="6019800"/>
            <a:ext cx="10058400" cy="5524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1250" b="0">
                <a:solidFill>
                  <a:srgbClr val="2563EB"/>
                </a:solidFill>
                <a:latin typeface="PingFang SC"/>
              </a:rPr>
              <a:t>▶ 描述写不好,模型就选错工具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0287000" y="6534150"/>
            <a:ext cx="1619250" cy="2667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>
              <a:lnSpc>
                <a:spcPct val="100000"/>
              </a:lnSpc>
            </a:pPr>
            <a:r>
              <a:rPr sz="900" b="0">
                <a:solidFill>
                  <a:srgbClr val="94A3B8"/>
                </a:solidFill>
                <a:latin typeface="PingFang SC"/>
              </a:rPr>
              <a:t>第2章 · 9/141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704850"/>
          </a:xfrm>
          <a:prstGeom prst="rect">
            <a:avLst/>
          </a:prstGeom>
          <a:solidFill>
            <a:srgbClr val="0B1D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76200" cy="704850"/>
          </a:xfrm>
          <a:prstGeom prst="rect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266700" y="0"/>
            <a:ext cx="10287000" cy="7048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2000" b="1">
                <a:solidFill>
                  <a:srgbClr val="FFFFFF"/>
                </a:solidFill>
                <a:latin typeface="PingFang SC"/>
              </a:rPr>
              <a:t>工具契约七要素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1047750" y="1724025"/>
            <a:ext cx="3200400" cy="15240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DDE5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1047750" y="1724025"/>
            <a:ext cx="3200400" cy="57150"/>
          </a:xfrm>
          <a:prstGeom prst="rect">
            <a:avLst/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ounded Rectangle 6"/>
          <p:cNvSpPr/>
          <p:nvPr/>
        </p:nvSpPr>
        <p:spPr>
          <a:xfrm>
            <a:off x="1200150" y="1914525"/>
            <a:ext cx="323850" cy="323850"/>
          </a:xfrm>
          <a:prstGeom prst="roundRect">
            <a:avLst>
              <a:gd name="adj" fmla="val 8000"/>
            </a:avLst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200150" y="1914525"/>
            <a:ext cx="323850" cy="3238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200" b="1">
                <a:solidFill>
                  <a:srgbClr val="FFFFFF"/>
                </a:solidFill>
                <a:latin typeface="PingFang SC"/>
              </a:rPr>
              <a:t>01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638300" y="1933575"/>
            <a:ext cx="2457450" cy="2857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1400" b="1">
                <a:solidFill>
                  <a:srgbClr val="0B1D3A"/>
                </a:solidFill>
                <a:latin typeface="PingFang SC"/>
              </a:rPr>
              <a:t>name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200150" y="2333625"/>
            <a:ext cx="2895600" cy="7810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10000"/>
              </a:lnSpc>
            </a:pPr>
            <a:r>
              <a:rPr sz="1150" b="0">
                <a:solidFill>
                  <a:srgbClr val="475569"/>
                </a:solidFill>
                <a:latin typeface="PingFang SC"/>
              </a:rPr>
              <a:t>动词化唯一名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4495800" y="1724025"/>
            <a:ext cx="3200400" cy="15240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DDE5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4495800" y="1724025"/>
            <a:ext cx="3200400" cy="57150"/>
          </a:xfrm>
          <a:prstGeom prst="rect">
            <a:avLst/>
          </a:prstGeom>
          <a:solidFill>
            <a:srgbClr val="14B8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ounded Rectangle 12"/>
          <p:cNvSpPr/>
          <p:nvPr/>
        </p:nvSpPr>
        <p:spPr>
          <a:xfrm>
            <a:off x="4648200" y="1914525"/>
            <a:ext cx="323850" cy="323850"/>
          </a:xfrm>
          <a:prstGeom prst="roundRect">
            <a:avLst>
              <a:gd name="adj" fmla="val 8000"/>
            </a:avLst>
          </a:prstGeom>
          <a:solidFill>
            <a:srgbClr val="14B8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4648200" y="1914525"/>
            <a:ext cx="323850" cy="3238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200" b="1">
                <a:solidFill>
                  <a:srgbClr val="FFFFFF"/>
                </a:solidFill>
                <a:latin typeface="PingFang SC"/>
              </a:rPr>
              <a:t>02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5086350" y="1933575"/>
            <a:ext cx="2457450" cy="2857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1400" b="1">
                <a:solidFill>
                  <a:srgbClr val="0B1D3A"/>
                </a:solidFill>
                <a:latin typeface="PingFang SC"/>
              </a:rPr>
              <a:t>description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4648200" y="2333625"/>
            <a:ext cx="2895600" cy="7810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10000"/>
              </a:lnSpc>
            </a:pPr>
            <a:r>
              <a:rPr sz="1150" b="0">
                <a:solidFill>
                  <a:srgbClr val="475569"/>
                </a:solidFill>
                <a:latin typeface="PingFang SC"/>
              </a:rPr>
              <a:t>给模型看的说明书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7943850" y="1724025"/>
            <a:ext cx="3200400" cy="15240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DDE5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7943850" y="1724025"/>
            <a:ext cx="3200400" cy="57150"/>
          </a:xfrm>
          <a:prstGeom prst="rect">
            <a:avLst/>
          </a:prstGeom>
          <a:solidFill>
            <a:srgbClr val="8B5C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ounded Rectangle 18"/>
          <p:cNvSpPr/>
          <p:nvPr/>
        </p:nvSpPr>
        <p:spPr>
          <a:xfrm>
            <a:off x="8096250" y="1914525"/>
            <a:ext cx="323850" cy="323850"/>
          </a:xfrm>
          <a:prstGeom prst="roundRect">
            <a:avLst>
              <a:gd name="adj" fmla="val 8000"/>
            </a:avLst>
          </a:prstGeom>
          <a:solidFill>
            <a:srgbClr val="8B5C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8096250" y="1914525"/>
            <a:ext cx="323850" cy="3238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200" b="1">
                <a:solidFill>
                  <a:srgbClr val="FFFFFF"/>
                </a:solidFill>
                <a:latin typeface="PingFang SC"/>
              </a:rPr>
              <a:t>03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8534400" y="1933575"/>
            <a:ext cx="2457450" cy="2857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1400" b="1">
                <a:solidFill>
                  <a:srgbClr val="0B1D3A"/>
                </a:solidFill>
                <a:latin typeface="PingFang SC"/>
              </a:rPr>
              <a:t>parameters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8096250" y="2333625"/>
            <a:ext cx="2895600" cy="7810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10000"/>
              </a:lnSpc>
            </a:pPr>
            <a:r>
              <a:rPr sz="1150" b="0">
                <a:solidFill>
                  <a:srgbClr val="475569"/>
                </a:solidFill>
                <a:latin typeface="PingFang SC"/>
              </a:rPr>
              <a:t>JSON Schema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1047750" y="3495675"/>
            <a:ext cx="3200400" cy="15240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DDE5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Rectangle 23"/>
          <p:cNvSpPr/>
          <p:nvPr/>
        </p:nvSpPr>
        <p:spPr>
          <a:xfrm>
            <a:off x="1047750" y="3495675"/>
            <a:ext cx="3200400" cy="57150"/>
          </a:xfrm>
          <a:prstGeom prst="rect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Rounded Rectangle 24"/>
          <p:cNvSpPr/>
          <p:nvPr/>
        </p:nvSpPr>
        <p:spPr>
          <a:xfrm>
            <a:off x="1200150" y="3686175"/>
            <a:ext cx="323850" cy="323850"/>
          </a:xfrm>
          <a:prstGeom prst="roundRect">
            <a:avLst>
              <a:gd name="adj" fmla="val 8000"/>
            </a:avLst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1200150" y="3686175"/>
            <a:ext cx="323850" cy="3238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200" b="1">
                <a:solidFill>
                  <a:srgbClr val="FFFFFF"/>
                </a:solidFill>
                <a:latin typeface="PingFang SC"/>
              </a:rPr>
              <a:t>04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1638300" y="3705225"/>
            <a:ext cx="2457450" cy="2857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1400" b="1">
                <a:solidFill>
                  <a:srgbClr val="0B1D3A"/>
                </a:solidFill>
                <a:latin typeface="PingFang SC"/>
              </a:rPr>
              <a:t>返回结构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200150" y="4105275"/>
            <a:ext cx="2895600" cy="7810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10000"/>
              </a:lnSpc>
            </a:pPr>
            <a:r>
              <a:rPr sz="1150" b="0">
                <a:solidFill>
                  <a:srgbClr val="475569"/>
                </a:solidFill>
                <a:latin typeface="PingFang SC"/>
              </a:rPr>
              <a:t>Output Schema</a:t>
            </a:r>
          </a:p>
        </p:txBody>
      </p:sp>
      <p:sp>
        <p:nvSpPr>
          <p:cNvPr id="29" name="Rounded Rectangle 28"/>
          <p:cNvSpPr/>
          <p:nvPr/>
        </p:nvSpPr>
        <p:spPr>
          <a:xfrm>
            <a:off x="4495800" y="3495675"/>
            <a:ext cx="3200400" cy="15240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DDE5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Rectangle 29"/>
          <p:cNvSpPr/>
          <p:nvPr/>
        </p:nvSpPr>
        <p:spPr>
          <a:xfrm>
            <a:off x="4495800" y="3495675"/>
            <a:ext cx="3200400" cy="57150"/>
          </a:xfrm>
          <a:prstGeom prst="rect">
            <a:avLst/>
          </a:prstGeom>
          <a:solidFill>
            <a:srgbClr val="34D39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Rounded Rectangle 30"/>
          <p:cNvSpPr/>
          <p:nvPr/>
        </p:nvSpPr>
        <p:spPr>
          <a:xfrm>
            <a:off x="4648200" y="3686175"/>
            <a:ext cx="323850" cy="323850"/>
          </a:xfrm>
          <a:prstGeom prst="roundRect">
            <a:avLst>
              <a:gd name="adj" fmla="val 8000"/>
            </a:avLst>
          </a:prstGeom>
          <a:solidFill>
            <a:srgbClr val="34D39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4648200" y="3686175"/>
            <a:ext cx="323850" cy="3238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200" b="1">
                <a:solidFill>
                  <a:srgbClr val="FFFFFF"/>
                </a:solidFill>
                <a:latin typeface="PingFang SC"/>
              </a:rPr>
              <a:t>05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5086350" y="3705225"/>
            <a:ext cx="2457450" cy="2857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1400" b="1">
                <a:solidFill>
                  <a:srgbClr val="0B1D3A"/>
                </a:solidFill>
                <a:latin typeface="PingFang SC"/>
              </a:rPr>
              <a:t>错误结构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4648200" y="4105275"/>
            <a:ext cx="2895600" cy="7810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10000"/>
              </a:lnSpc>
            </a:pPr>
            <a:r>
              <a:rPr sz="1150" b="0">
                <a:solidFill>
                  <a:srgbClr val="475569"/>
                </a:solidFill>
                <a:latin typeface="PingFang SC"/>
              </a:rPr>
              <a:t>Error Schema</a:t>
            </a:r>
          </a:p>
        </p:txBody>
      </p:sp>
      <p:sp>
        <p:nvSpPr>
          <p:cNvPr id="35" name="Rounded Rectangle 34"/>
          <p:cNvSpPr/>
          <p:nvPr/>
        </p:nvSpPr>
        <p:spPr>
          <a:xfrm>
            <a:off x="7943850" y="3495675"/>
            <a:ext cx="3200400" cy="15240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DDE5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Rectangle 35"/>
          <p:cNvSpPr/>
          <p:nvPr/>
        </p:nvSpPr>
        <p:spPr>
          <a:xfrm>
            <a:off x="7943850" y="3495675"/>
            <a:ext cx="3200400" cy="57150"/>
          </a:xfrm>
          <a:prstGeom prst="rect">
            <a:avLst/>
          </a:prstGeom>
          <a:solidFill>
            <a:srgbClr val="F8717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Rounded Rectangle 36"/>
          <p:cNvSpPr/>
          <p:nvPr/>
        </p:nvSpPr>
        <p:spPr>
          <a:xfrm>
            <a:off x="8096250" y="3686175"/>
            <a:ext cx="323850" cy="323850"/>
          </a:xfrm>
          <a:prstGeom prst="roundRect">
            <a:avLst>
              <a:gd name="adj" fmla="val 8000"/>
            </a:avLst>
          </a:prstGeom>
          <a:solidFill>
            <a:srgbClr val="F8717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TextBox 37"/>
          <p:cNvSpPr txBox="1"/>
          <p:nvPr/>
        </p:nvSpPr>
        <p:spPr>
          <a:xfrm>
            <a:off x="8096250" y="3686175"/>
            <a:ext cx="323850" cy="3238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200" b="1">
                <a:solidFill>
                  <a:srgbClr val="FFFFFF"/>
                </a:solidFill>
                <a:latin typeface="PingFang SC"/>
              </a:rPr>
              <a:t>06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8534400" y="3705225"/>
            <a:ext cx="2457450" cy="2857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1400" b="1">
                <a:solidFill>
                  <a:srgbClr val="0B1D3A"/>
                </a:solidFill>
                <a:latin typeface="PingFang SC"/>
              </a:rPr>
              <a:t>权限等级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8096250" y="4105275"/>
            <a:ext cx="2895600" cy="7810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10000"/>
              </a:lnSpc>
            </a:pPr>
            <a:r>
              <a:rPr sz="1150" b="0">
                <a:solidFill>
                  <a:srgbClr val="475569"/>
                </a:solidFill>
                <a:latin typeface="PingFang SC"/>
              </a:rPr>
              <a:t>READ/WRITE/DANGEROUS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10287000" y="6534150"/>
            <a:ext cx="1619250" cy="2667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>
              <a:lnSpc>
                <a:spcPct val="100000"/>
              </a:lnSpc>
            </a:pPr>
            <a:r>
              <a:rPr sz="900" b="0">
                <a:solidFill>
                  <a:srgbClr val="94A3B8"/>
                </a:solidFill>
                <a:latin typeface="PingFang SC"/>
              </a:rPr>
              <a:t>第2章 · 10/141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704850"/>
          </a:xfrm>
          <a:prstGeom prst="rect">
            <a:avLst/>
          </a:prstGeom>
          <a:solidFill>
            <a:srgbClr val="0B1D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76200" cy="704850"/>
          </a:xfrm>
          <a:prstGeom prst="rect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266700" y="0"/>
            <a:ext cx="10287000" cy="7048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2000" b="1">
                <a:solidFill>
                  <a:srgbClr val="FFFFFF"/>
                </a:solidFill>
                <a:latin typeface="PingFang SC"/>
              </a:rPr>
              <a:t>三份契约:Input/Output/Error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334500" y="0"/>
            <a:ext cx="2667000" cy="7048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>
              <a:lnSpc>
                <a:spcPct val="100000"/>
              </a:lnSpc>
            </a:pPr>
            <a:r>
              <a:rPr sz="1100" b="0">
                <a:solidFill>
                  <a:srgbClr val="94A3B8"/>
                </a:solidFill>
                <a:latin typeface="PingFang SC"/>
              </a:rPr>
              <a:t>第2章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876300" y="914400"/>
            <a:ext cx="10439400" cy="10287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DDE5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876300" y="914400"/>
            <a:ext cx="57150" cy="1028700"/>
          </a:xfrm>
          <a:prstGeom prst="rect">
            <a:avLst/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ounded Rectangle 7"/>
          <p:cNvSpPr/>
          <p:nvPr/>
        </p:nvSpPr>
        <p:spPr>
          <a:xfrm>
            <a:off x="1047750" y="1285875"/>
            <a:ext cx="285750" cy="285750"/>
          </a:xfrm>
          <a:prstGeom prst="roundRect">
            <a:avLst>
              <a:gd name="adj" fmla="val 8000"/>
            </a:avLst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047750" y="1276350"/>
            <a:ext cx="285750" cy="2857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300" b="1">
                <a:solidFill>
                  <a:srgbClr val="FFFFFF"/>
                </a:solidFill>
                <a:latin typeface="PingFang SC"/>
              </a:rPr>
              <a:t>1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485900" y="914400"/>
            <a:ext cx="9601200" cy="10287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12000"/>
              </a:lnSpc>
            </a:pPr>
            <a:r>
              <a:rPr sz="1400" b="1">
                <a:solidFill>
                  <a:srgbClr val="475569"/>
                </a:solidFill>
                <a:latin typeface="PingFang SC"/>
              </a:rPr>
              <a:t>Input Schema:参数合法性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876300" y="2114550"/>
            <a:ext cx="10439400" cy="10287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DDE5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876300" y="2114550"/>
            <a:ext cx="57150" cy="1028700"/>
          </a:xfrm>
          <a:prstGeom prst="rect">
            <a:avLst/>
          </a:prstGeom>
          <a:solidFill>
            <a:srgbClr val="14B8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ounded Rectangle 12"/>
          <p:cNvSpPr/>
          <p:nvPr/>
        </p:nvSpPr>
        <p:spPr>
          <a:xfrm>
            <a:off x="1047750" y="2486025"/>
            <a:ext cx="285750" cy="285750"/>
          </a:xfrm>
          <a:prstGeom prst="roundRect">
            <a:avLst>
              <a:gd name="adj" fmla="val 8000"/>
            </a:avLst>
          </a:prstGeom>
          <a:solidFill>
            <a:srgbClr val="14B8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1047750" y="2476500"/>
            <a:ext cx="285750" cy="2857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300" b="1">
                <a:solidFill>
                  <a:srgbClr val="FFFFFF"/>
                </a:solidFill>
                <a:latin typeface="PingFang SC"/>
              </a:rPr>
              <a:t>2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485900" y="2114550"/>
            <a:ext cx="9601200" cy="10287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12000"/>
              </a:lnSpc>
            </a:pPr>
            <a:r>
              <a:rPr sz="1400" b="1">
                <a:solidFill>
                  <a:srgbClr val="475569"/>
                </a:solidFill>
                <a:latin typeface="PingFang SC"/>
              </a:rPr>
              <a:t>Output Schema:结果可消费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876300" y="3314700"/>
            <a:ext cx="10439400" cy="10287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DDE5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876300" y="3314700"/>
            <a:ext cx="57150" cy="1028700"/>
          </a:xfrm>
          <a:prstGeom prst="rect">
            <a:avLst/>
          </a:prstGeom>
          <a:solidFill>
            <a:srgbClr val="8B5C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ounded Rectangle 17"/>
          <p:cNvSpPr/>
          <p:nvPr/>
        </p:nvSpPr>
        <p:spPr>
          <a:xfrm>
            <a:off x="1047750" y="3686175"/>
            <a:ext cx="285750" cy="285750"/>
          </a:xfrm>
          <a:prstGeom prst="roundRect">
            <a:avLst>
              <a:gd name="adj" fmla="val 8000"/>
            </a:avLst>
          </a:prstGeom>
          <a:solidFill>
            <a:srgbClr val="8B5C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1047750" y="3676650"/>
            <a:ext cx="285750" cy="2857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300" b="1">
                <a:solidFill>
                  <a:srgbClr val="FFFFFF"/>
                </a:solidFill>
                <a:latin typeface="PingFang SC"/>
              </a:rPr>
              <a:t>3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485900" y="3314700"/>
            <a:ext cx="9601200" cy="10287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12000"/>
              </a:lnSpc>
            </a:pPr>
            <a:r>
              <a:rPr sz="1400" b="1">
                <a:solidFill>
                  <a:srgbClr val="475569"/>
                </a:solidFill>
                <a:latin typeface="PingFang SC"/>
              </a:rPr>
              <a:t>Error Schema:失败可处理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876300" y="6019800"/>
            <a:ext cx="10439400" cy="514350"/>
          </a:xfrm>
          <a:prstGeom prst="roundRect">
            <a:avLst>
              <a:gd name="adj" fmla="val 8000"/>
            </a:avLst>
          </a:prstGeom>
          <a:solidFill>
            <a:srgbClr val="F1F5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1066800" y="6019800"/>
            <a:ext cx="10058400" cy="5524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1250" b="0">
                <a:solidFill>
                  <a:srgbClr val="2563EB"/>
                </a:solidFill>
                <a:latin typeface="PingFang SC"/>
              </a:rPr>
              <a:t>▶ 契约三方共享:模型/Runtime/审计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0287000" y="6534150"/>
            <a:ext cx="1619250" cy="2667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>
              <a:lnSpc>
                <a:spcPct val="100000"/>
              </a:lnSpc>
            </a:pPr>
            <a:r>
              <a:rPr sz="900" b="0">
                <a:solidFill>
                  <a:srgbClr val="94A3B8"/>
                </a:solidFill>
                <a:latin typeface="PingFang SC"/>
              </a:rPr>
              <a:t>第2章 · 11/141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704850"/>
          </a:xfrm>
          <a:prstGeom prst="rect">
            <a:avLst/>
          </a:prstGeom>
          <a:solidFill>
            <a:srgbClr val="0B1D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76200" cy="704850"/>
          </a:xfrm>
          <a:prstGeom prst="rect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266700" y="0"/>
            <a:ext cx="10287000" cy="7048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2000" b="1">
                <a:solidFill>
                  <a:srgbClr val="FFFFFF"/>
                </a:solidFill>
                <a:latin typeface="PingFang SC"/>
              </a:rPr>
              <a:t>三契约卡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1047750" y="2609850"/>
            <a:ext cx="3200400" cy="15240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DDE5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1047750" y="2609850"/>
            <a:ext cx="3200400" cy="57150"/>
          </a:xfrm>
          <a:prstGeom prst="rect">
            <a:avLst/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ounded Rectangle 6"/>
          <p:cNvSpPr/>
          <p:nvPr/>
        </p:nvSpPr>
        <p:spPr>
          <a:xfrm>
            <a:off x="1200150" y="2800350"/>
            <a:ext cx="323850" cy="323850"/>
          </a:xfrm>
          <a:prstGeom prst="roundRect">
            <a:avLst>
              <a:gd name="adj" fmla="val 8000"/>
            </a:avLst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200150" y="2800350"/>
            <a:ext cx="323850" cy="3238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200" b="1">
                <a:solidFill>
                  <a:srgbClr val="FFFFFF"/>
                </a:solidFill>
                <a:latin typeface="PingFang SC"/>
              </a:rPr>
              <a:t>01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638300" y="2819400"/>
            <a:ext cx="2457450" cy="2857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1400" b="1">
                <a:solidFill>
                  <a:srgbClr val="0B1D3A"/>
                </a:solidFill>
                <a:latin typeface="PingFang SC"/>
              </a:rPr>
              <a:t>Input Schema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200150" y="3219450"/>
            <a:ext cx="2895600" cy="7810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10000"/>
              </a:lnSpc>
            </a:pPr>
            <a:r>
              <a:rPr sz="1150" b="0">
                <a:solidFill>
                  <a:srgbClr val="475569"/>
                </a:solidFill>
                <a:latin typeface="PingFang SC"/>
              </a:rPr>
              <a:t>参数类型/必填/范围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4495800" y="2609850"/>
            <a:ext cx="3200400" cy="15240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DDE5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4495800" y="2609850"/>
            <a:ext cx="3200400" cy="57150"/>
          </a:xfrm>
          <a:prstGeom prst="rect">
            <a:avLst/>
          </a:prstGeom>
          <a:solidFill>
            <a:srgbClr val="14B8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ounded Rectangle 12"/>
          <p:cNvSpPr/>
          <p:nvPr/>
        </p:nvSpPr>
        <p:spPr>
          <a:xfrm>
            <a:off x="4648200" y="2800350"/>
            <a:ext cx="323850" cy="323850"/>
          </a:xfrm>
          <a:prstGeom prst="roundRect">
            <a:avLst>
              <a:gd name="adj" fmla="val 8000"/>
            </a:avLst>
          </a:prstGeom>
          <a:solidFill>
            <a:srgbClr val="14B8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4648200" y="2800350"/>
            <a:ext cx="323850" cy="3238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200" b="1">
                <a:solidFill>
                  <a:srgbClr val="FFFFFF"/>
                </a:solidFill>
                <a:latin typeface="PingFang SC"/>
              </a:rPr>
              <a:t>02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5086350" y="2819400"/>
            <a:ext cx="2457450" cy="2857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1400" b="1">
                <a:solidFill>
                  <a:srgbClr val="0B1D3A"/>
                </a:solidFill>
                <a:latin typeface="PingFang SC"/>
              </a:rPr>
              <a:t>Output Schema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4648200" y="3219450"/>
            <a:ext cx="2895600" cy="7810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10000"/>
              </a:lnSpc>
            </a:pPr>
            <a:r>
              <a:rPr sz="1150" b="0">
                <a:solidFill>
                  <a:srgbClr val="475569"/>
                </a:solidFill>
                <a:latin typeface="PingFang SC"/>
              </a:rPr>
              <a:t>结果结构可消费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7943850" y="2609850"/>
            <a:ext cx="3200400" cy="15240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DDE5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7943850" y="2609850"/>
            <a:ext cx="3200400" cy="57150"/>
          </a:xfrm>
          <a:prstGeom prst="rect">
            <a:avLst/>
          </a:prstGeom>
          <a:solidFill>
            <a:srgbClr val="8B5C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ounded Rectangle 18"/>
          <p:cNvSpPr/>
          <p:nvPr/>
        </p:nvSpPr>
        <p:spPr>
          <a:xfrm>
            <a:off x="8096250" y="2800350"/>
            <a:ext cx="323850" cy="323850"/>
          </a:xfrm>
          <a:prstGeom prst="roundRect">
            <a:avLst>
              <a:gd name="adj" fmla="val 8000"/>
            </a:avLst>
          </a:prstGeom>
          <a:solidFill>
            <a:srgbClr val="8B5C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8096250" y="2800350"/>
            <a:ext cx="323850" cy="3238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200" b="1">
                <a:solidFill>
                  <a:srgbClr val="FFFFFF"/>
                </a:solidFill>
                <a:latin typeface="PingFang SC"/>
              </a:rPr>
              <a:t>03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8534400" y="2819400"/>
            <a:ext cx="2457450" cy="2857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1400" b="1">
                <a:solidFill>
                  <a:srgbClr val="0B1D3A"/>
                </a:solidFill>
                <a:latin typeface="PingFang SC"/>
              </a:rPr>
              <a:t>Error Schema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8096250" y="3219450"/>
            <a:ext cx="2895600" cy="7810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10000"/>
              </a:lnSpc>
            </a:pPr>
            <a:r>
              <a:rPr sz="1150" b="0">
                <a:solidFill>
                  <a:srgbClr val="475569"/>
                </a:solidFill>
                <a:latin typeface="PingFang SC"/>
              </a:rPr>
              <a:t>失败可程序处理|三方共享:模型/Runtime/审计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0287000" y="6534150"/>
            <a:ext cx="1619250" cy="2667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>
              <a:lnSpc>
                <a:spcPct val="100000"/>
              </a:lnSpc>
            </a:pPr>
            <a:r>
              <a:rPr sz="900" b="0">
                <a:solidFill>
                  <a:srgbClr val="94A3B8"/>
                </a:solidFill>
                <a:latin typeface="PingFang SC"/>
              </a:rPr>
              <a:t>第2章 · 12/141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704850"/>
          </a:xfrm>
          <a:prstGeom prst="rect">
            <a:avLst/>
          </a:prstGeom>
          <a:solidFill>
            <a:srgbClr val="0B1D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76200" cy="704850"/>
          </a:xfrm>
          <a:prstGeom prst="rect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266700" y="0"/>
            <a:ext cx="10287000" cy="7048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2000" b="1">
                <a:solidFill>
                  <a:srgbClr val="FFFFFF"/>
                </a:solidFill>
                <a:latin typeface="PingFang SC"/>
              </a:rPr>
              <a:t>工具选择机制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334500" y="0"/>
            <a:ext cx="2667000" cy="7048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>
              <a:lnSpc>
                <a:spcPct val="100000"/>
              </a:lnSpc>
            </a:pPr>
            <a:r>
              <a:rPr sz="1100" b="0">
                <a:solidFill>
                  <a:srgbClr val="94A3B8"/>
                </a:solidFill>
                <a:latin typeface="PingFang SC"/>
              </a:rPr>
              <a:t>第2章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876300" y="914400"/>
            <a:ext cx="10439400" cy="10287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DDE5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876300" y="914400"/>
            <a:ext cx="57150" cy="1028700"/>
          </a:xfrm>
          <a:prstGeom prst="rect">
            <a:avLst/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ounded Rectangle 7"/>
          <p:cNvSpPr/>
          <p:nvPr/>
        </p:nvSpPr>
        <p:spPr>
          <a:xfrm>
            <a:off x="1047750" y="1285875"/>
            <a:ext cx="285750" cy="285750"/>
          </a:xfrm>
          <a:prstGeom prst="roundRect">
            <a:avLst>
              <a:gd name="adj" fmla="val 8000"/>
            </a:avLst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047750" y="1276350"/>
            <a:ext cx="285750" cy="2857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300" b="1">
                <a:solidFill>
                  <a:srgbClr val="FFFFFF"/>
                </a:solidFill>
                <a:latin typeface="PingFang SC"/>
              </a:rPr>
              <a:t>1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485900" y="914400"/>
            <a:ext cx="9601200" cy="10287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12000"/>
              </a:lnSpc>
            </a:pPr>
            <a:r>
              <a:rPr sz="1400" b="1">
                <a:solidFill>
                  <a:srgbClr val="475569"/>
                </a:solidFill>
                <a:latin typeface="PingFang SC"/>
              </a:rPr>
              <a:t>模型按任务语义匹配工具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876300" y="2114550"/>
            <a:ext cx="10439400" cy="10287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DDE5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876300" y="2114550"/>
            <a:ext cx="57150" cy="1028700"/>
          </a:xfrm>
          <a:prstGeom prst="rect">
            <a:avLst/>
          </a:prstGeom>
          <a:solidFill>
            <a:srgbClr val="14B8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ounded Rectangle 12"/>
          <p:cNvSpPr/>
          <p:nvPr/>
        </p:nvSpPr>
        <p:spPr>
          <a:xfrm>
            <a:off x="1047750" y="2486025"/>
            <a:ext cx="285750" cy="285750"/>
          </a:xfrm>
          <a:prstGeom prst="roundRect">
            <a:avLst>
              <a:gd name="adj" fmla="val 8000"/>
            </a:avLst>
          </a:prstGeom>
          <a:solidFill>
            <a:srgbClr val="14B8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1047750" y="2476500"/>
            <a:ext cx="285750" cy="2857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300" b="1">
                <a:solidFill>
                  <a:srgbClr val="FFFFFF"/>
                </a:solidFill>
                <a:latin typeface="PingFang SC"/>
              </a:rPr>
              <a:t>2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485900" y="2114550"/>
            <a:ext cx="9601200" cy="10287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12000"/>
              </a:lnSpc>
            </a:pPr>
            <a:r>
              <a:rPr sz="1400" b="1">
                <a:solidFill>
                  <a:srgbClr val="475569"/>
                </a:solidFill>
                <a:latin typeface="PingFang SC"/>
              </a:rPr>
              <a:t>依据:name + description + 参数说明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876300" y="3314700"/>
            <a:ext cx="10439400" cy="10287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DDE5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876300" y="3314700"/>
            <a:ext cx="57150" cy="1028700"/>
          </a:xfrm>
          <a:prstGeom prst="rect">
            <a:avLst/>
          </a:prstGeom>
          <a:solidFill>
            <a:srgbClr val="8B5C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ounded Rectangle 17"/>
          <p:cNvSpPr/>
          <p:nvPr/>
        </p:nvSpPr>
        <p:spPr>
          <a:xfrm>
            <a:off x="1047750" y="3686175"/>
            <a:ext cx="285750" cy="285750"/>
          </a:xfrm>
          <a:prstGeom prst="roundRect">
            <a:avLst>
              <a:gd name="adj" fmla="val 8000"/>
            </a:avLst>
          </a:prstGeom>
          <a:solidFill>
            <a:srgbClr val="8B5C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1047750" y="3676650"/>
            <a:ext cx="285750" cy="2857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300" b="1">
                <a:solidFill>
                  <a:srgbClr val="FFFFFF"/>
                </a:solidFill>
                <a:latin typeface="PingFang SC"/>
              </a:rPr>
              <a:t>3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485900" y="3314700"/>
            <a:ext cx="9601200" cy="10287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12000"/>
              </a:lnSpc>
            </a:pPr>
            <a:r>
              <a:rPr sz="1400" b="1">
                <a:solidFill>
                  <a:srgbClr val="475569"/>
                </a:solidFill>
                <a:latin typeface="PingFang SC"/>
              </a:rPr>
              <a:t>多工具相似 → 选择抖动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876300" y="4514850"/>
            <a:ext cx="10439400" cy="10287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DDE5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ectangle 21"/>
          <p:cNvSpPr/>
          <p:nvPr/>
        </p:nvSpPr>
        <p:spPr>
          <a:xfrm>
            <a:off x="876300" y="4514850"/>
            <a:ext cx="57150" cy="1028700"/>
          </a:xfrm>
          <a:prstGeom prst="rect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ounded Rectangle 22"/>
          <p:cNvSpPr/>
          <p:nvPr/>
        </p:nvSpPr>
        <p:spPr>
          <a:xfrm>
            <a:off x="1047750" y="4886325"/>
            <a:ext cx="285750" cy="285750"/>
          </a:xfrm>
          <a:prstGeom prst="roundRect">
            <a:avLst>
              <a:gd name="adj" fmla="val 8000"/>
            </a:avLst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1047750" y="4876800"/>
            <a:ext cx="285750" cy="2857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300" b="1">
                <a:solidFill>
                  <a:srgbClr val="FFFFFF"/>
                </a:solidFill>
                <a:latin typeface="PingFang SC"/>
              </a:rPr>
              <a:t>4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1485900" y="4514850"/>
            <a:ext cx="9601200" cy="10287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12000"/>
              </a:lnSpc>
            </a:pPr>
            <a:r>
              <a:rPr sz="1400" b="1">
                <a:solidFill>
                  <a:srgbClr val="475569"/>
                </a:solidFill>
                <a:latin typeface="PingFang SC"/>
              </a:rPr>
              <a:t>缓解:描述差异化 + few-shot 示范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10287000" y="6534150"/>
            <a:ext cx="1619250" cy="2667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>
              <a:lnSpc>
                <a:spcPct val="100000"/>
              </a:lnSpc>
            </a:pPr>
            <a:r>
              <a:rPr sz="900" b="0">
                <a:solidFill>
                  <a:srgbClr val="94A3B8"/>
                </a:solidFill>
                <a:latin typeface="PingFang SC"/>
              </a:rPr>
              <a:t>第2章 · 13/141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0B1D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2000" cy="609600"/>
          </a:xfrm>
          <a:prstGeom prst="rect">
            <a:avLst/>
          </a:prstGeom>
          <a:solidFill>
            <a:srgbClr val="142A4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266700" y="0"/>
            <a:ext cx="11430000" cy="6096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1600" b="1">
                <a:solidFill>
                  <a:srgbClr val="F59E0B"/>
                </a:solidFill>
                <a:latin typeface="PingFang SC"/>
              </a:rPr>
              <a:t>@tool 装饰器:签名派生 Schema · src/agent_platform/tools/runtime.py:76-108</a:t>
            </a:r>
          </a:p>
        </p:txBody>
      </p:sp>
      <p:pic>
        <p:nvPicPr>
          <p:cNvPr id="5" name="Picture 4" descr="code_0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569720" y="762000"/>
            <a:ext cx="9052560" cy="5760720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10287000" y="6534150"/>
            <a:ext cx="1619250" cy="2667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>
              <a:lnSpc>
                <a:spcPct val="100000"/>
              </a:lnSpc>
            </a:pPr>
            <a:r>
              <a:rPr sz="900" b="0">
                <a:solidFill>
                  <a:srgbClr val="94A3B8"/>
                </a:solidFill>
                <a:latin typeface="PingFang SC"/>
              </a:rPr>
              <a:t>第2章 · 14/141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704850"/>
          </a:xfrm>
          <a:prstGeom prst="rect">
            <a:avLst/>
          </a:prstGeom>
          <a:solidFill>
            <a:srgbClr val="0B1D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76200" cy="704850"/>
          </a:xfrm>
          <a:prstGeom prst="rect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266700" y="0"/>
            <a:ext cx="10287000" cy="7048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2000" b="1">
                <a:solidFill>
                  <a:srgbClr val="FFFFFF"/>
                </a:solidFill>
                <a:latin typeface="PingFang SC"/>
              </a:rPr>
              <a:t>模型选工具流程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334500" y="0"/>
            <a:ext cx="2667000" cy="7048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>
              <a:lnSpc>
                <a:spcPct val="100000"/>
              </a:lnSpc>
            </a:pPr>
            <a:r>
              <a:rPr sz="1100" b="0">
                <a:solidFill>
                  <a:srgbClr val="94A3B8"/>
                </a:solidFill>
                <a:latin typeface="PingFang SC"/>
              </a:rPr>
              <a:t>选择准确率可评测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857250" y="2667000"/>
            <a:ext cx="1476375" cy="11430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2563E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857250" y="2667000"/>
            <a:ext cx="1476375" cy="57150"/>
          </a:xfrm>
          <a:prstGeom prst="rect">
            <a:avLst/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ounded Rectangle 7"/>
          <p:cNvSpPr/>
          <p:nvPr/>
        </p:nvSpPr>
        <p:spPr>
          <a:xfrm>
            <a:off x="1452562" y="2524125"/>
            <a:ext cx="285750" cy="285750"/>
          </a:xfrm>
          <a:prstGeom prst="roundRect">
            <a:avLst>
              <a:gd name="adj" fmla="val 8000"/>
            </a:avLst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452562" y="2514600"/>
            <a:ext cx="285750" cy="2857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300" b="1">
                <a:solidFill>
                  <a:srgbClr val="FFFFFF"/>
                </a:solidFill>
                <a:latin typeface="PingFang SC"/>
              </a:rPr>
              <a:t>1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933450" y="2800350"/>
            <a:ext cx="1323975" cy="9525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200" b="1">
                <a:solidFill>
                  <a:srgbClr val="475569"/>
                </a:solidFill>
                <a:latin typeface="PingFang SC"/>
              </a:rPr>
              <a:t>任务语义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2657475" y="2667000"/>
            <a:ext cx="1476375" cy="11430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14B8A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2657475" y="2667000"/>
            <a:ext cx="1476375" cy="57150"/>
          </a:xfrm>
          <a:prstGeom prst="rect">
            <a:avLst/>
          </a:prstGeom>
          <a:solidFill>
            <a:srgbClr val="14B8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ounded Rectangle 12"/>
          <p:cNvSpPr/>
          <p:nvPr/>
        </p:nvSpPr>
        <p:spPr>
          <a:xfrm>
            <a:off x="3252787" y="2524125"/>
            <a:ext cx="285750" cy="285750"/>
          </a:xfrm>
          <a:prstGeom prst="roundRect">
            <a:avLst>
              <a:gd name="adj" fmla="val 8000"/>
            </a:avLst>
          </a:prstGeom>
          <a:solidFill>
            <a:srgbClr val="14B8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3252787" y="2514600"/>
            <a:ext cx="285750" cy="2857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300" b="1">
                <a:solidFill>
                  <a:srgbClr val="FFFFFF"/>
                </a:solidFill>
                <a:latin typeface="PingFang SC"/>
              </a:rPr>
              <a:t>2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2733675" y="2800350"/>
            <a:ext cx="1323975" cy="9525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200" b="1">
                <a:solidFill>
                  <a:srgbClr val="475569"/>
                </a:solidFill>
                <a:latin typeface="PingFang SC"/>
              </a:rPr>
              <a:t>匹配 name+description</a:t>
            </a:r>
          </a:p>
        </p:txBody>
      </p:sp>
      <p:cxnSp>
        <p:nvCxnSpPr>
          <p:cNvPr id="16" name="Connector 15"/>
          <p:cNvCxnSpPr/>
          <p:nvPr/>
        </p:nvCxnSpPr>
        <p:spPr>
          <a:xfrm>
            <a:off x="2390775" y="3238500"/>
            <a:ext cx="190500" cy="0"/>
          </a:xfrm>
          <a:prstGeom prst="line">
            <a:avLst/>
          </a:prstGeom>
          <a:ln w="20320">
            <a:solidFill>
              <a:srgbClr val="475569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7" name="Isosceles Triangle 16"/>
          <p:cNvSpPr/>
          <p:nvPr/>
        </p:nvSpPr>
        <p:spPr>
          <a:xfrm rot="5400000">
            <a:off x="2495551" y="3195638"/>
            <a:ext cx="85725" cy="85725"/>
          </a:xfrm>
          <a:prstGeom prst="triangle">
            <a:avLst/>
          </a:prstGeom>
          <a:solidFill>
            <a:srgbClr val="47556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ounded Rectangle 17"/>
          <p:cNvSpPr/>
          <p:nvPr/>
        </p:nvSpPr>
        <p:spPr>
          <a:xfrm>
            <a:off x="4457700" y="2667000"/>
            <a:ext cx="1476375" cy="11430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8B5CF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4457700" y="2667000"/>
            <a:ext cx="1476375" cy="57150"/>
          </a:xfrm>
          <a:prstGeom prst="rect">
            <a:avLst/>
          </a:prstGeom>
          <a:solidFill>
            <a:srgbClr val="8B5C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ounded Rectangle 19"/>
          <p:cNvSpPr/>
          <p:nvPr/>
        </p:nvSpPr>
        <p:spPr>
          <a:xfrm>
            <a:off x="5053012" y="2524125"/>
            <a:ext cx="285750" cy="285750"/>
          </a:xfrm>
          <a:prstGeom prst="roundRect">
            <a:avLst>
              <a:gd name="adj" fmla="val 8000"/>
            </a:avLst>
          </a:prstGeom>
          <a:solidFill>
            <a:srgbClr val="8B5C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5053012" y="2514600"/>
            <a:ext cx="285750" cy="2857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300" b="1">
                <a:solidFill>
                  <a:srgbClr val="FFFFFF"/>
                </a:solidFill>
                <a:latin typeface="PingFang SC"/>
              </a:rPr>
              <a:t>3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4533900" y="2800350"/>
            <a:ext cx="1323975" cy="9525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200" b="1">
                <a:solidFill>
                  <a:srgbClr val="475569"/>
                </a:solidFill>
                <a:latin typeface="PingFang SC"/>
              </a:rPr>
              <a:t>生成参数(遵循 Schema)</a:t>
            </a:r>
          </a:p>
        </p:txBody>
      </p:sp>
      <p:cxnSp>
        <p:nvCxnSpPr>
          <p:cNvPr id="23" name="Connector 22"/>
          <p:cNvCxnSpPr/>
          <p:nvPr/>
        </p:nvCxnSpPr>
        <p:spPr>
          <a:xfrm>
            <a:off x="4191000" y="3238500"/>
            <a:ext cx="190500" cy="0"/>
          </a:xfrm>
          <a:prstGeom prst="line">
            <a:avLst/>
          </a:prstGeom>
          <a:ln w="20320">
            <a:solidFill>
              <a:srgbClr val="475569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4" name="Isosceles Triangle 23"/>
          <p:cNvSpPr/>
          <p:nvPr/>
        </p:nvSpPr>
        <p:spPr>
          <a:xfrm rot="5400000">
            <a:off x="4295776" y="3195638"/>
            <a:ext cx="85725" cy="85725"/>
          </a:xfrm>
          <a:prstGeom prst="triangle">
            <a:avLst/>
          </a:prstGeom>
          <a:solidFill>
            <a:srgbClr val="47556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Rounded Rectangle 24"/>
          <p:cNvSpPr/>
          <p:nvPr/>
        </p:nvSpPr>
        <p:spPr>
          <a:xfrm>
            <a:off x="6257925" y="2667000"/>
            <a:ext cx="1476375" cy="11430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F59E0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Rectangle 25"/>
          <p:cNvSpPr/>
          <p:nvPr/>
        </p:nvSpPr>
        <p:spPr>
          <a:xfrm>
            <a:off x="6257925" y="2667000"/>
            <a:ext cx="1476375" cy="57150"/>
          </a:xfrm>
          <a:prstGeom prst="rect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Rounded Rectangle 26"/>
          <p:cNvSpPr/>
          <p:nvPr/>
        </p:nvSpPr>
        <p:spPr>
          <a:xfrm>
            <a:off x="6853237" y="2524125"/>
            <a:ext cx="285750" cy="285750"/>
          </a:xfrm>
          <a:prstGeom prst="roundRect">
            <a:avLst>
              <a:gd name="adj" fmla="val 8000"/>
            </a:avLst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6853237" y="2514600"/>
            <a:ext cx="285750" cy="2857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300" b="1">
                <a:solidFill>
                  <a:srgbClr val="FFFFFF"/>
                </a:solidFill>
                <a:latin typeface="PingFang SC"/>
              </a:rPr>
              <a:t>4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6334125" y="2800350"/>
            <a:ext cx="1323975" cy="9525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200" b="1">
                <a:solidFill>
                  <a:srgbClr val="475569"/>
                </a:solidFill>
                <a:latin typeface="PingFang SC"/>
              </a:rPr>
              <a:t>Runtime 校验</a:t>
            </a:r>
          </a:p>
        </p:txBody>
      </p:sp>
      <p:cxnSp>
        <p:nvCxnSpPr>
          <p:cNvPr id="30" name="Connector 29"/>
          <p:cNvCxnSpPr/>
          <p:nvPr/>
        </p:nvCxnSpPr>
        <p:spPr>
          <a:xfrm>
            <a:off x="5991225" y="3238500"/>
            <a:ext cx="190500" cy="0"/>
          </a:xfrm>
          <a:prstGeom prst="line">
            <a:avLst/>
          </a:prstGeom>
          <a:ln w="20320">
            <a:solidFill>
              <a:srgbClr val="475569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1" name="Isosceles Triangle 30"/>
          <p:cNvSpPr/>
          <p:nvPr/>
        </p:nvSpPr>
        <p:spPr>
          <a:xfrm rot="5400000">
            <a:off x="6096001" y="3195638"/>
            <a:ext cx="85725" cy="85725"/>
          </a:xfrm>
          <a:prstGeom prst="triangle">
            <a:avLst/>
          </a:prstGeom>
          <a:solidFill>
            <a:srgbClr val="47556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Rounded Rectangle 31"/>
          <p:cNvSpPr/>
          <p:nvPr/>
        </p:nvSpPr>
        <p:spPr>
          <a:xfrm>
            <a:off x="8058150" y="2667000"/>
            <a:ext cx="1476375" cy="11430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34D39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Rectangle 32"/>
          <p:cNvSpPr/>
          <p:nvPr/>
        </p:nvSpPr>
        <p:spPr>
          <a:xfrm>
            <a:off x="8058150" y="2667000"/>
            <a:ext cx="1476375" cy="57150"/>
          </a:xfrm>
          <a:prstGeom prst="rect">
            <a:avLst/>
          </a:prstGeom>
          <a:solidFill>
            <a:srgbClr val="34D39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Rounded Rectangle 33"/>
          <p:cNvSpPr/>
          <p:nvPr/>
        </p:nvSpPr>
        <p:spPr>
          <a:xfrm>
            <a:off x="8653462" y="2524125"/>
            <a:ext cx="285750" cy="285750"/>
          </a:xfrm>
          <a:prstGeom prst="roundRect">
            <a:avLst>
              <a:gd name="adj" fmla="val 8000"/>
            </a:avLst>
          </a:prstGeom>
          <a:solidFill>
            <a:srgbClr val="34D39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8653462" y="2514600"/>
            <a:ext cx="285750" cy="2857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300" b="1">
                <a:solidFill>
                  <a:srgbClr val="FFFFFF"/>
                </a:solidFill>
                <a:latin typeface="PingFang SC"/>
              </a:rPr>
              <a:t>5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8134350" y="2800350"/>
            <a:ext cx="1323975" cy="9525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200" b="1">
                <a:solidFill>
                  <a:srgbClr val="475569"/>
                </a:solidFill>
                <a:latin typeface="PingFang SC"/>
              </a:rPr>
              <a:t>执行</a:t>
            </a:r>
          </a:p>
        </p:txBody>
      </p:sp>
      <p:cxnSp>
        <p:nvCxnSpPr>
          <p:cNvPr id="37" name="Connector 36"/>
          <p:cNvCxnSpPr/>
          <p:nvPr/>
        </p:nvCxnSpPr>
        <p:spPr>
          <a:xfrm>
            <a:off x="7791450" y="3238500"/>
            <a:ext cx="190500" cy="0"/>
          </a:xfrm>
          <a:prstGeom prst="line">
            <a:avLst/>
          </a:prstGeom>
          <a:ln w="20320">
            <a:solidFill>
              <a:srgbClr val="475569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8" name="Isosceles Triangle 37"/>
          <p:cNvSpPr/>
          <p:nvPr/>
        </p:nvSpPr>
        <p:spPr>
          <a:xfrm rot="5400000">
            <a:off x="7896226" y="3195638"/>
            <a:ext cx="85725" cy="85725"/>
          </a:xfrm>
          <a:prstGeom prst="triangle">
            <a:avLst/>
          </a:prstGeom>
          <a:solidFill>
            <a:srgbClr val="47556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Rounded Rectangle 38"/>
          <p:cNvSpPr/>
          <p:nvPr/>
        </p:nvSpPr>
        <p:spPr>
          <a:xfrm>
            <a:off x="9858375" y="2667000"/>
            <a:ext cx="1476375" cy="11430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F8717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Rectangle 39"/>
          <p:cNvSpPr/>
          <p:nvPr/>
        </p:nvSpPr>
        <p:spPr>
          <a:xfrm>
            <a:off x="9858375" y="2667000"/>
            <a:ext cx="1476375" cy="57150"/>
          </a:xfrm>
          <a:prstGeom prst="rect">
            <a:avLst/>
          </a:prstGeom>
          <a:solidFill>
            <a:srgbClr val="F8717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Rounded Rectangle 40"/>
          <p:cNvSpPr/>
          <p:nvPr/>
        </p:nvSpPr>
        <p:spPr>
          <a:xfrm>
            <a:off x="10453687" y="2524125"/>
            <a:ext cx="285750" cy="285750"/>
          </a:xfrm>
          <a:prstGeom prst="roundRect">
            <a:avLst>
              <a:gd name="adj" fmla="val 8000"/>
            </a:avLst>
          </a:prstGeom>
          <a:solidFill>
            <a:srgbClr val="F8717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" name="TextBox 41"/>
          <p:cNvSpPr txBox="1"/>
          <p:nvPr/>
        </p:nvSpPr>
        <p:spPr>
          <a:xfrm>
            <a:off x="10453687" y="2514600"/>
            <a:ext cx="285750" cy="2857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300" b="1">
                <a:solidFill>
                  <a:srgbClr val="FFFFFF"/>
                </a:solidFill>
                <a:latin typeface="PingFang SC"/>
              </a:rPr>
              <a:t>6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9934575" y="2800350"/>
            <a:ext cx="1323975" cy="9525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200" b="1">
                <a:solidFill>
                  <a:srgbClr val="475569"/>
                </a:solidFill>
                <a:latin typeface="PingFang SC"/>
              </a:rPr>
              <a:t>观察回灌|选择准确率可评测</a:t>
            </a:r>
          </a:p>
        </p:txBody>
      </p:sp>
      <p:cxnSp>
        <p:nvCxnSpPr>
          <p:cNvPr id="44" name="Connector 43"/>
          <p:cNvCxnSpPr/>
          <p:nvPr/>
        </p:nvCxnSpPr>
        <p:spPr>
          <a:xfrm>
            <a:off x="9591675" y="3238500"/>
            <a:ext cx="190500" cy="0"/>
          </a:xfrm>
          <a:prstGeom prst="line">
            <a:avLst/>
          </a:prstGeom>
          <a:ln w="20320">
            <a:solidFill>
              <a:srgbClr val="475569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5" name="Isosceles Triangle 44"/>
          <p:cNvSpPr/>
          <p:nvPr/>
        </p:nvSpPr>
        <p:spPr>
          <a:xfrm rot="5400000">
            <a:off x="9696451" y="3195638"/>
            <a:ext cx="85725" cy="85725"/>
          </a:xfrm>
          <a:prstGeom prst="triangle">
            <a:avLst/>
          </a:prstGeom>
          <a:solidFill>
            <a:srgbClr val="47556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6" name="Rounded Rectangle 45"/>
          <p:cNvSpPr/>
          <p:nvPr/>
        </p:nvSpPr>
        <p:spPr>
          <a:xfrm>
            <a:off x="857250" y="5715000"/>
            <a:ext cx="10477500" cy="419100"/>
          </a:xfrm>
          <a:prstGeom prst="roundRect">
            <a:avLst>
              <a:gd name="adj" fmla="val 8000"/>
            </a:avLst>
          </a:prstGeom>
          <a:solidFill>
            <a:srgbClr val="F1F5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7" name="TextBox 46"/>
          <p:cNvSpPr txBox="1"/>
          <p:nvPr/>
        </p:nvSpPr>
        <p:spPr>
          <a:xfrm>
            <a:off x="1009650" y="5715000"/>
            <a:ext cx="10172700" cy="4191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1200" b="0">
                <a:solidFill>
                  <a:srgbClr val="2563EB"/>
                </a:solidFill>
                <a:latin typeface="PingFang SC"/>
              </a:rPr>
              <a:t>▶ 描述写不好=选择抖动:描述是给模型看的 Prompt</a:t>
            </a:r>
          </a:p>
        </p:txBody>
      </p:sp>
      <p:sp>
        <p:nvSpPr>
          <p:cNvPr id="48" name="TextBox 47"/>
          <p:cNvSpPr txBox="1"/>
          <p:nvPr/>
        </p:nvSpPr>
        <p:spPr>
          <a:xfrm>
            <a:off x="10287000" y="6534150"/>
            <a:ext cx="1619250" cy="2667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>
              <a:lnSpc>
                <a:spcPct val="100000"/>
              </a:lnSpc>
            </a:pPr>
            <a:r>
              <a:rPr sz="900" b="0">
                <a:solidFill>
                  <a:srgbClr val="94A3B8"/>
                </a:solidFill>
                <a:latin typeface="PingFang SC"/>
              </a:rPr>
              <a:t>第2章 · 15/141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704850"/>
          </a:xfrm>
          <a:prstGeom prst="rect">
            <a:avLst/>
          </a:prstGeom>
          <a:solidFill>
            <a:srgbClr val="0B1D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76200" cy="704850"/>
          </a:xfrm>
          <a:prstGeom prst="rect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266700" y="0"/>
            <a:ext cx="10287000" cy="7048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2000" b="1">
                <a:solidFill>
                  <a:srgbClr val="FFFFFF"/>
                </a:solidFill>
                <a:latin typeface="PingFang SC"/>
              </a:rPr>
              <a:t>模型不选工具怎么办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334500" y="0"/>
            <a:ext cx="2667000" cy="7048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>
              <a:lnSpc>
                <a:spcPct val="100000"/>
              </a:lnSpc>
            </a:pPr>
            <a:r>
              <a:rPr sz="1100" b="0">
                <a:solidFill>
                  <a:srgbClr val="94A3B8"/>
                </a:solidFill>
                <a:latin typeface="PingFang SC"/>
              </a:rPr>
              <a:t>第2章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876300" y="914400"/>
            <a:ext cx="10439400" cy="10287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DDE5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876300" y="914400"/>
            <a:ext cx="57150" cy="1028700"/>
          </a:xfrm>
          <a:prstGeom prst="rect">
            <a:avLst/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ounded Rectangle 7"/>
          <p:cNvSpPr/>
          <p:nvPr/>
        </p:nvSpPr>
        <p:spPr>
          <a:xfrm>
            <a:off x="1047750" y="1285875"/>
            <a:ext cx="285750" cy="285750"/>
          </a:xfrm>
          <a:prstGeom prst="roundRect">
            <a:avLst>
              <a:gd name="adj" fmla="val 8000"/>
            </a:avLst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047750" y="1276350"/>
            <a:ext cx="285750" cy="2857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300" b="1">
                <a:solidFill>
                  <a:srgbClr val="FFFFFF"/>
                </a:solidFill>
                <a:latin typeface="PingFang SC"/>
              </a:rPr>
              <a:t>1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485900" y="914400"/>
            <a:ext cx="9601200" cy="10287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12000"/>
              </a:lnSpc>
            </a:pPr>
            <a:r>
              <a:rPr sz="1400" b="1">
                <a:solidFill>
                  <a:srgbClr val="475569"/>
                </a:solidFill>
                <a:latin typeface="PingFang SC"/>
              </a:rPr>
              <a:t>描述太抽象,模型没信心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876300" y="2114550"/>
            <a:ext cx="10439400" cy="10287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DDE5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876300" y="2114550"/>
            <a:ext cx="57150" cy="1028700"/>
          </a:xfrm>
          <a:prstGeom prst="rect">
            <a:avLst/>
          </a:prstGeom>
          <a:solidFill>
            <a:srgbClr val="14B8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ounded Rectangle 12"/>
          <p:cNvSpPr/>
          <p:nvPr/>
        </p:nvSpPr>
        <p:spPr>
          <a:xfrm>
            <a:off x="1047750" y="2486025"/>
            <a:ext cx="285750" cy="285750"/>
          </a:xfrm>
          <a:prstGeom prst="roundRect">
            <a:avLst>
              <a:gd name="adj" fmla="val 8000"/>
            </a:avLst>
          </a:prstGeom>
          <a:solidFill>
            <a:srgbClr val="14B8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1047750" y="2476500"/>
            <a:ext cx="285750" cy="2857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300" b="1">
                <a:solidFill>
                  <a:srgbClr val="FFFFFF"/>
                </a:solidFill>
                <a:latin typeface="PingFang SC"/>
              </a:rPr>
              <a:t>2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485900" y="2114550"/>
            <a:ext cx="9601200" cy="10287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12000"/>
              </a:lnSpc>
            </a:pPr>
            <a:r>
              <a:rPr sz="1400" b="1">
                <a:solidFill>
                  <a:srgbClr val="475569"/>
                </a:solidFill>
                <a:latin typeface="PingFang SC"/>
              </a:rPr>
              <a:t>参数必填太多,模型绕开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876300" y="3314700"/>
            <a:ext cx="10439400" cy="10287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DDE5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876300" y="3314700"/>
            <a:ext cx="57150" cy="1028700"/>
          </a:xfrm>
          <a:prstGeom prst="rect">
            <a:avLst/>
          </a:prstGeom>
          <a:solidFill>
            <a:srgbClr val="8B5C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ounded Rectangle 17"/>
          <p:cNvSpPr/>
          <p:nvPr/>
        </p:nvSpPr>
        <p:spPr>
          <a:xfrm>
            <a:off x="1047750" y="3686175"/>
            <a:ext cx="285750" cy="285750"/>
          </a:xfrm>
          <a:prstGeom prst="roundRect">
            <a:avLst>
              <a:gd name="adj" fmla="val 8000"/>
            </a:avLst>
          </a:prstGeom>
          <a:solidFill>
            <a:srgbClr val="8B5C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1047750" y="3676650"/>
            <a:ext cx="285750" cy="2857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300" b="1">
                <a:solidFill>
                  <a:srgbClr val="FFFFFF"/>
                </a:solidFill>
                <a:latin typeface="PingFang SC"/>
              </a:rPr>
              <a:t>3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485900" y="3314700"/>
            <a:ext cx="9601200" cy="10287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12000"/>
              </a:lnSpc>
            </a:pPr>
            <a:r>
              <a:rPr sz="1400" b="1">
                <a:solidFill>
                  <a:srgbClr val="475569"/>
                </a:solidFill>
                <a:latin typeface="PingFang SC"/>
              </a:rPr>
              <a:t>优化:拆细工具 + 简化必填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876300" y="6019800"/>
            <a:ext cx="10439400" cy="514350"/>
          </a:xfrm>
          <a:prstGeom prst="roundRect">
            <a:avLst>
              <a:gd name="adj" fmla="val 8000"/>
            </a:avLst>
          </a:prstGeom>
          <a:solidFill>
            <a:srgbClr val="F1F5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1066800" y="6019800"/>
            <a:ext cx="10058400" cy="5524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1250" b="0">
                <a:solidFill>
                  <a:srgbClr val="2563EB"/>
                </a:solidFill>
                <a:latin typeface="PingFang SC"/>
              </a:rPr>
              <a:t>▶ 工具设计是 Prompt 设计的一部分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0287000" y="6534150"/>
            <a:ext cx="1619250" cy="2667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>
              <a:lnSpc>
                <a:spcPct val="100000"/>
              </a:lnSpc>
            </a:pPr>
            <a:r>
              <a:rPr sz="900" b="0">
                <a:solidFill>
                  <a:srgbClr val="94A3B8"/>
                </a:solidFill>
                <a:latin typeface="PingFang SC"/>
              </a:rPr>
              <a:t>第2章 · 16/141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704850"/>
          </a:xfrm>
          <a:prstGeom prst="rect">
            <a:avLst/>
          </a:prstGeom>
          <a:solidFill>
            <a:srgbClr val="0B1D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76200" cy="704850"/>
          </a:xfrm>
          <a:prstGeom prst="rect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266700" y="0"/>
            <a:ext cx="10287000" cy="7048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2000" b="1">
                <a:solidFill>
                  <a:srgbClr val="FFFFFF"/>
                </a:solidFill>
                <a:latin typeface="PingFang SC"/>
              </a:rPr>
              <a:t>工具治理全景图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334500" y="0"/>
            <a:ext cx="2667000" cy="7048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>
              <a:lnSpc>
                <a:spcPct val="100000"/>
              </a:lnSpc>
            </a:pPr>
            <a:r>
              <a:rPr sz="1100" b="0">
                <a:solidFill>
                  <a:srgbClr val="94A3B8"/>
                </a:solidFill>
                <a:latin typeface="PingFang SC"/>
              </a:rPr>
              <a:t>第2章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876300" y="914400"/>
            <a:ext cx="10439400" cy="10287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DDE5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876300" y="914400"/>
            <a:ext cx="57150" cy="1028700"/>
          </a:xfrm>
          <a:prstGeom prst="rect">
            <a:avLst/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ounded Rectangle 7"/>
          <p:cNvSpPr/>
          <p:nvPr/>
        </p:nvSpPr>
        <p:spPr>
          <a:xfrm>
            <a:off x="1047750" y="1285875"/>
            <a:ext cx="285750" cy="285750"/>
          </a:xfrm>
          <a:prstGeom prst="roundRect">
            <a:avLst>
              <a:gd name="adj" fmla="val 8000"/>
            </a:avLst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047750" y="1276350"/>
            <a:ext cx="285750" cy="2857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300" b="1">
                <a:solidFill>
                  <a:srgbClr val="FFFFFF"/>
                </a:solidFill>
                <a:latin typeface="PingFang SC"/>
              </a:rPr>
              <a:t>1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485900" y="914400"/>
            <a:ext cx="9601200" cy="10287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12000"/>
              </a:lnSpc>
            </a:pPr>
            <a:r>
              <a:rPr sz="1400" b="1">
                <a:solidFill>
                  <a:srgbClr val="475569"/>
                </a:solidFill>
                <a:latin typeface="PingFang SC"/>
              </a:rPr>
              <a:t>校验 → 权限 → 执行 → 审计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876300" y="2114550"/>
            <a:ext cx="10439400" cy="10287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DDE5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876300" y="2114550"/>
            <a:ext cx="57150" cy="1028700"/>
          </a:xfrm>
          <a:prstGeom prst="rect">
            <a:avLst/>
          </a:prstGeom>
          <a:solidFill>
            <a:srgbClr val="14B8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ounded Rectangle 12"/>
          <p:cNvSpPr/>
          <p:nvPr/>
        </p:nvSpPr>
        <p:spPr>
          <a:xfrm>
            <a:off x="1047750" y="2486025"/>
            <a:ext cx="285750" cy="285750"/>
          </a:xfrm>
          <a:prstGeom prst="roundRect">
            <a:avLst>
              <a:gd name="adj" fmla="val 8000"/>
            </a:avLst>
          </a:prstGeom>
          <a:solidFill>
            <a:srgbClr val="14B8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1047750" y="2476500"/>
            <a:ext cx="285750" cy="2857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300" b="1">
                <a:solidFill>
                  <a:srgbClr val="FFFFFF"/>
                </a:solidFill>
                <a:latin typeface="PingFang SC"/>
              </a:rPr>
              <a:t>2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485900" y="2114550"/>
            <a:ext cx="9601200" cy="10287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12000"/>
              </a:lnSpc>
            </a:pPr>
            <a:r>
              <a:rPr sz="1400" b="1">
                <a:solidFill>
                  <a:srgbClr val="475569"/>
                </a:solidFill>
                <a:latin typeface="PingFang SC"/>
              </a:rPr>
              <a:t>超时/重试/降级/恢复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876300" y="3314700"/>
            <a:ext cx="10439400" cy="10287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DDE5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876300" y="3314700"/>
            <a:ext cx="57150" cy="1028700"/>
          </a:xfrm>
          <a:prstGeom prst="rect">
            <a:avLst/>
          </a:prstGeom>
          <a:solidFill>
            <a:srgbClr val="8B5C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ounded Rectangle 17"/>
          <p:cNvSpPr/>
          <p:nvPr/>
        </p:nvSpPr>
        <p:spPr>
          <a:xfrm>
            <a:off x="1047750" y="3686175"/>
            <a:ext cx="285750" cy="285750"/>
          </a:xfrm>
          <a:prstGeom prst="roundRect">
            <a:avLst>
              <a:gd name="adj" fmla="val 8000"/>
            </a:avLst>
          </a:prstGeom>
          <a:solidFill>
            <a:srgbClr val="8B5C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1047750" y="3676650"/>
            <a:ext cx="285750" cy="2857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300" b="1">
                <a:solidFill>
                  <a:srgbClr val="FFFFFF"/>
                </a:solidFill>
                <a:latin typeface="PingFang SC"/>
              </a:rPr>
              <a:t>3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485900" y="3314700"/>
            <a:ext cx="9601200" cy="10287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12000"/>
              </a:lnSpc>
            </a:pPr>
            <a:r>
              <a:rPr sz="1400" b="1">
                <a:solidFill>
                  <a:srgbClr val="475569"/>
                </a:solidFill>
                <a:latin typeface="PingFang SC"/>
              </a:rPr>
              <a:t>Trace 全链路留痕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876300" y="6019800"/>
            <a:ext cx="10439400" cy="514350"/>
          </a:xfrm>
          <a:prstGeom prst="roundRect">
            <a:avLst>
              <a:gd name="adj" fmla="val 8000"/>
            </a:avLst>
          </a:prstGeom>
          <a:solidFill>
            <a:srgbClr val="F1F5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1066800" y="6019800"/>
            <a:ext cx="10058400" cy="5524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1250" b="0">
                <a:solidFill>
                  <a:srgbClr val="2563EB"/>
                </a:solidFill>
                <a:latin typeface="PingFang SC"/>
              </a:rPr>
              <a:t>▶ 第2章代码就是这张图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0287000" y="6534150"/>
            <a:ext cx="1619250" cy="2667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>
              <a:lnSpc>
                <a:spcPct val="100000"/>
              </a:lnSpc>
            </a:pPr>
            <a:r>
              <a:rPr sz="900" b="0">
                <a:solidFill>
                  <a:srgbClr val="94A3B8"/>
                </a:solidFill>
                <a:latin typeface="PingFang SC"/>
              </a:rPr>
              <a:t>第2章 · 17/141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704850"/>
          </a:xfrm>
          <a:prstGeom prst="rect">
            <a:avLst/>
          </a:prstGeom>
          <a:solidFill>
            <a:srgbClr val="0B1D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76200" cy="704850"/>
          </a:xfrm>
          <a:prstGeom prst="rect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266700" y="0"/>
            <a:ext cx="10287000" cy="7048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2000" b="1">
                <a:solidFill>
                  <a:srgbClr val="FFFFFF"/>
                </a:solidFill>
                <a:latin typeface="PingFang SC"/>
              </a:rPr>
              <a:t>ToolExecutor 六步管线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334500" y="0"/>
            <a:ext cx="2667000" cy="7048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>
              <a:lnSpc>
                <a:spcPct val="100000"/>
              </a:lnSpc>
            </a:pPr>
            <a:r>
              <a:rPr sz="1100" b="0">
                <a:solidFill>
                  <a:srgbClr val="94A3B8"/>
                </a:solidFill>
                <a:latin typeface="PingFang SC"/>
              </a:rPr>
              <a:t>源码:tools/runtime.py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857250" y="2667000"/>
            <a:ext cx="1476375" cy="11430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2563E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857250" y="2667000"/>
            <a:ext cx="1476375" cy="57150"/>
          </a:xfrm>
          <a:prstGeom prst="rect">
            <a:avLst/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ounded Rectangle 7"/>
          <p:cNvSpPr/>
          <p:nvPr/>
        </p:nvSpPr>
        <p:spPr>
          <a:xfrm>
            <a:off x="1452562" y="2524125"/>
            <a:ext cx="285750" cy="285750"/>
          </a:xfrm>
          <a:prstGeom prst="roundRect">
            <a:avLst>
              <a:gd name="adj" fmla="val 8000"/>
            </a:avLst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452562" y="2514600"/>
            <a:ext cx="285750" cy="2857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300" b="1">
                <a:solidFill>
                  <a:srgbClr val="FFFFFF"/>
                </a:solidFill>
                <a:latin typeface="PingFang SC"/>
              </a:rPr>
              <a:t>1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933450" y="2800350"/>
            <a:ext cx="1323975" cy="9525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200" b="1">
                <a:solidFill>
                  <a:srgbClr val="475569"/>
                </a:solidFill>
                <a:latin typeface="PingFang SC"/>
              </a:rPr>
              <a:t>取 Spec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2657475" y="2667000"/>
            <a:ext cx="1476375" cy="11430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14B8A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2657475" y="2667000"/>
            <a:ext cx="1476375" cy="57150"/>
          </a:xfrm>
          <a:prstGeom prst="rect">
            <a:avLst/>
          </a:prstGeom>
          <a:solidFill>
            <a:srgbClr val="14B8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ounded Rectangle 12"/>
          <p:cNvSpPr/>
          <p:nvPr/>
        </p:nvSpPr>
        <p:spPr>
          <a:xfrm>
            <a:off x="3252787" y="2524125"/>
            <a:ext cx="285750" cy="285750"/>
          </a:xfrm>
          <a:prstGeom prst="roundRect">
            <a:avLst>
              <a:gd name="adj" fmla="val 8000"/>
            </a:avLst>
          </a:prstGeom>
          <a:solidFill>
            <a:srgbClr val="14B8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3252787" y="2514600"/>
            <a:ext cx="285750" cy="2857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300" b="1">
                <a:solidFill>
                  <a:srgbClr val="FFFFFF"/>
                </a:solidFill>
                <a:latin typeface="PingFang SC"/>
              </a:rPr>
              <a:t>2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2733675" y="2800350"/>
            <a:ext cx="1323975" cy="9525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200" b="1">
                <a:solidFill>
                  <a:srgbClr val="475569"/>
                </a:solidFill>
                <a:latin typeface="PingFang SC"/>
              </a:rPr>
              <a:t>enabled 检查</a:t>
            </a:r>
          </a:p>
        </p:txBody>
      </p:sp>
      <p:cxnSp>
        <p:nvCxnSpPr>
          <p:cNvPr id="16" name="Connector 15"/>
          <p:cNvCxnSpPr/>
          <p:nvPr/>
        </p:nvCxnSpPr>
        <p:spPr>
          <a:xfrm>
            <a:off x="2390775" y="3238500"/>
            <a:ext cx="190500" cy="0"/>
          </a:xfrm>
          <a:prstGeom prst="line">
            <a:avLst/>
          </a:prstGeom>
          <a:ln w="20320">
            <a:solidFill>
              <a:srgbClr val="475569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7" name="Isosceles Triangle 16"/>
          <p:cNvSpPr/>
          <p:nvPr/>
        </p:nvSpPr>
        <p:spPr>
          <a:xfrm rot="5400000">
            <a:off x="2495551" y="3195638"/>
            <a:ext cx="85725" cy="85725"/>
          </a:xfrm>
          <a:prstGeom prst="triangle">
            <a:avLst/>
          </a:prstGeom>
          <a:solidFill>
            <a:srgbClr val="47556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ounded Rectangle 17"/>
          <p:cNvSpPr/>
          <p:nvPr/>
        </p:nvSpPr>
        <p:spPr>
          <a:xfrm>
            <a:off x="4457700" y="2667000"/>
            <a:ext cx="1476375" cy="11430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8B5CF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4457700" y="2667000"/>
            <a:ext cx="1476375" cy="57150"/>
          </a:xfrm>
          <a:prstGeom prst="rect">
            <a:avLst/>
          </a:prstGeom>
          <a:solidFill>
            <a:srgbClr val="8B5C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ounded Rectangle 19"/>
          <p:cNvSpPr/>
          <p:nvPr/>
        </p:nvSpPr>
        <p:spPr>
          <a:xfrm>
            <a:off x="5053012" y="2524125"/>
            <a:ext cx="285750" cy="285750"/>
          </a:xfrm>
          <a:prstGeom prst="roundRect">
            <a:avLst>
              <a:gd name="adj" fmla="val 8000"/>
            </a:avLst>
          </a:prstGeom>
          <a:solidFill>
            <a:srgbClr val="8B5C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5053012" y="2514600"/>
            <a:ext cx="285750" cy="2857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300" b="1">
                <a:solidFill>
                  <a:srgbClr val="FFFFFF"/>
                </a:solidFill>
                <a:latin typeface="PingFang SC"/>
              </a:rPr>
              <a:t>3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4533900" y="2800350"/>
            <a:ext cx="1323975" cy="9525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200" b="1">
                <a:solidFill>
                  <a:srgbClr val="475569"/>
                </a:solidFill>
                <a:latin typeface="PingFang SC"/>
              </a:rPr>
              <a:t>权限判定</a:t>
            </a:r>
          </a:p>
        </p:txBody>
      </p:sp>
      <p:cxnSp>
        <p:nvCxnSpPr>
          <p:cNvPr id="23" name="Connector 22"/>
          <p:cNvCxnSpPr/>
          <p:nvPr/>
        </p:nvCxnSpPr>
        <p:spPr>
          <a:xfrm>
            <a:off x="4191000" y="3238500"/>
            <a:ext cx="190500" cy="0"/>
          </a:xfrm>
          <a:prstGeom prst="line">
            <a:avLst/>
          </a:prstGeom>
          <a:ln w="20320">
            <a:solidFill>
              <a:srgbClr val="475569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4" name="Isosceles Triangle 23"/>
          <p:cNvSpPr/>
          <p:nvPr/>
        </p:nvSpPr>
        <p:spPr>
          <a:xfrm rot="5400000">
            <a:off x="4295776" y="3195638"/>
            <a:ext cx="85725" cy="85725"/>
          </a:xfrm>
          <a:prstGeom prst="triangle">
            <a:avLst/>
          </a:prstGeom>
          <a:solidFill>
            <a:srgbClr val="47556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Rounded Rectangle 24"/>
          <p:cNvSpPr/>
          <p:nvPr/>
        </p:nvSpPr>
        <p:spPr>
          <a:xfrm>
            <a:off x="6257925" y="2667000"/>
            <a:ext cx="1476375" cy="11430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F59E0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Rectangle 25"/>
          <p:cNvSpPr/>
          <p:nvPr/>
        </p:nvSpPr>
        <p:spPr>
          <a:xfrm>
            <a:off x="6257925" y="2667000"/>
            <a:ext cx="1476375" cy="57150"/>
          </a:xfrm>
          <a:prstGeom prst="rect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Rounded Rectangle 26"/>
          <p:cNvSpPr/>
          <p:nvPr/>
        </p:nvSpPr>
        <p:spPr>
          <a:xfrm>
            <a:off x="6853237" y="2524125"/>
            <a:ext cx="285750" cy="285750"/>
          </a:xfrm>
          <a:prstGeom prst="roundRect">
            <a:avLst>
              <a:gd name="adj" fmla="val 8000"/>
            </a:avLst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6853237" y="2514600"/>
            <a:ext cx="285750" cy="2857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300" b="1">
                <a:solidFill>
                  <a:srgbClr val="FFFFFF"/>
                </a:solidFill>
                <a:latin typeface="PingFang SC"/>
              </a:rPr>
              <a:t>4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6334125" y="2800350"/>
            <a:ext cx="1323975" cy="9525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200" b="1">
                <a:solidFill>
                  <a:srgbClr val="475569"/>
                </a:solidFill>
                <a:latin typeface="PingFang SC"/>
              </a:rPr>
              <a:t>参数校验</a:t>
            </a:r>
          </a:p>
        </p:txBody>
      </p:sp>
      <p:cxnSp>
        <p:nvCxnSpPr>
          <p:cNvPr id="30" name="Connector 29"/>
          <p:cNvCxnSpPr/>
          <p:nvPr/>
        </p:nvCxnSpPr>
        <p:spPr>
          <a:xfrm>
            <a:off x="5991225" y="3238500"/>
            <a:ext cx="190500" cy="0"/>
          </a:xfrm>
          <a:prstGeom prst="line">
            <a:avLst/>
          </a:prstGeom>
          <a:ln w="20320">
            <a:solidFill>
              <a:srgbClr val="475569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1" name="Isosceles Triangle 30"/>
          <p:cNvSpPr/>
          <p:nvPr/>
        </p:nvSpPr>
        <p:spPr>
          <a:xfrm rot="5400000">
            <a:off x="6096001" y="3195638"/>
            <a:ext cx="85725" cy="85725"/>
          </a:xfrm>
          <a:prstGeom prst="triangle">
            <a:avLst/>
          </a:prstGeom>
          <a:solidFill>
            <a:srgbClr val="47556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Rounded Rectangle 31"/>
          <p:cNvSpPr/>
          <p:nvPr/>
        </p:nvSpPr>
        <p:spPr>
          <a:xfrm>
            <a:off x="8058150" y="2667000"/>
            <a:ext cx="1476375" cy="11430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34D39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Rectangle 32"/>
          <p:cNvSpPr/>
          <p:nvPr/>
        </p:nvSpPr>
        <p:spPr>
          <a:xfrm>
            <a:off x="8058150" y="2667000"/>
            <a:ext cx="1476375" cy="57150"/>
          </a:xfrm>
          <a:prstGeom prst="rect">
            <a:avLst/>
          </a:prstGeom>
          <a:solidFill>
            <a:srgbClr val="34D39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Rounded Rectangle 33"/>
          <p:cNvSpPr/>
          <p:nvPr/>
        </p:nvSpPr>
        <p:spPr>
          <a:xfrm>
            <a:off x="8653462" y="2524125"/>
            <a:ext cx="285750" cy="285750"/>
          </a:xfrm>
          <a:prstGeom prst="roundRect">
            <a:avLst>
              <a:gd name="adj" fmla="val 8000"/>
            </a:avLst>
          </a:prstGeom>
          <a:solidFill>
            <a:srgbClr val="34D39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8653462" y="2514600"/>
            <a:ext cx="285750" cy="2857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300" b="1">
                <a:solidFill>
                  <a:srgbClr val="FFFFFF"/>
                </a:solidFill>
                <a:latin typeface="PingFang SC"/>
              </a:rPr>
              <a:t>5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8134350" y="2800350"/>
            <a:ext cx="1323975" cy="9525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200" b="1">
                <a:solidFill>
                  <a:srgbClr val="475569"/>
                </a:solidFill>
                <a:latin typeface="PingFang SC"/>
              </a:rPr>
              <a:t>超时执行(wait_for)</a:t>
            </a:r>
          </a:p>
        </p:txBody>
      </p:sp>
      <p:cxnSp>
        <p:nvCxnSpPr>
          <p:cNvPr id="37" name="Connector 36"/>
          <p:cNvCxnSpPr/>
          <p:nvPr/>
        </p:nvCxnSpPr>
        <p:spPr>
          <a:xfrm>
            <a:off x="7791450" y="3238500"/>
            <a:ext cx="190500" cy="0"/>
          </a:xfrm>
          <a:prstGeom prst="line">
            <a:avLst/>
          </a:prstGeom>
          <a:ln w="20320">
            <a:solidFill>
              <a:srgbClr val="475569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8" name="Isosceles Triangle 37"/>
          <p:cNvSpPr/>
          <p:nvPr/>
        </p:nvSpPr>
        <p:spPr>
          <a:xfrm rot="5400000">
            <a:off x="7896226" y="3195638"/>
            <a:ext cx="85725" cy="85725"/>
          </a:xfrm>
          <a:prstGeom prst="triangle">
            <a:avLst/>
          </a:prstGeom>
          <a:solidFill>
            <a:srgbClr val="47556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Rounded Rectangle 38"/>
          <p:cNvSpPr/>
          <p:nvPr/>
        </p:nvSpPr>
        <p:spPr>
          <a:xfrm>
            <a:off x="9858375" y="2667000"/>
            <a:ext cx="1476375" cy="11430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F8717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Rectangle 39"/>
          <p:cNvSpPr/>
          <p:nvPr/>
        </p:nvSpPr>
        <p:spPr>
          <a:xfrm>
            <a:off x="9858375" y="2667000"/>
            <a:ext cx="1476375" cy="57150"/>
          </a:xfrm>
          <a:prstGeom prst="rect">
            <a:avLst/>
          </a:prstGeom>
          <a:solidFill>
            <a:srgbClr val="F8717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Rounded Rectangle 40"/>
          <p:cNvSpPr/>
          <p:nvPr/>
        </p:nvSpPr>
        <p:spPr>
          <a:xfrm>
            <a:off x="10453687" y="2524125"/>
            <a:ext cx="285750" cy="285750"/>
          </a:xfrm>
          <a:prstGeom prst="roundRect">
            <a:avLst>
              <a:gd name="adj" fmla="val 8000"/>
            </a:avLst>
          </a:prstGeom>
          <a:solidFill>
            <a:srgbClr val="F8717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" name="TextBox 41"/>
          <p:cNvSpPr txBox="1"/>
          <p:nvPr/>
        </p:nvSpPr>
        <p:spPr>
          <a:xfrm>
            <a:off x="10453687" y="2514600"/>
            <a:ext cx="285750" cy="2857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300" b="1">
                <a:solidFill>
                  <a:srgbClr val="FFFFFF"/>
                </a:solidFill>
                <a:latin typeface="PingFang SC"/>
              </a:rPr>
              <a:t>6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9934575" y="2800350"/>
            <a:ext cx="1323975" cy="9525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200" b="1">
                <a:solidFill>
                  <a:srgbClr val="475569"/>
                </a:solidFill>
                <a:latin typeface="PingFang SC"/>
              </a:rPr>
              <a:t>审计落盘(脱敏)|源码:tools/runtime.py</a:t>
            </a:r>
          </a:p>
        </p:txBody>
      </p:sp>
      <p:cxnSp>
        <p:nvCxnSpPr>
          <p:cNvPr id="44" name="Connector 43"/>
          <p:cNvCxnSpPr/>
          <p:nvPr/>
        </p:nvCxnSpPr>
        <p:spPr>
          <a:xfrm>
            <a:off x="9591675" y="3238500"/>
            <a:ext cx="190500" cy="0"/>
          </a:xfrm>
          <a:prstGeom prst="line">
            <a:avLst/>
          </a:prstGeom>
          <a:ln w="20320">
            <a:solidFill>
              <a:srgbClr val="475569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5" name="Isosceles Triangle 44"/>
          <p:cNvSpPr/>
          <p:nvPr/>
        </p:nvSpPr>
        <p:spPr>
          <a:xfrm rot="5400000">
            <a:off x="9696451" y="3195638"/>
            <a:ext cx="85725" cy="85725"/>
          </a:xfrm>
          <a:prstGeom prst="triangle">
            <a:avLst/>
          </a:prstGeom>
          <a:solidFill>
            <a:srgbClr val="47556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6" name="Rounded Rectangle 45"/>
          <p:cNvSpPr/>
          <p:nvPr/>
        </p:nvSpPr>
        <p:spPr>
          <a:xfrm>
            <a:off x="857250" y="5715000"/>
            <a:ext cx="10477500" cy="419100"/>
          </a:xfrm>
          <a:prstGeom prst="roundRect">
            <a:avLst>
              <a:gd name="adj" fmla="val 8000"/>
            </a:avLst>
          </a:prstGeom>
          <a:solidFill>
            <a:srgbClr val="F1F5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7" name="TextBox 46"/>
          <p:cNvSpPr txBox="1"/>
          <p:nvPr/>
        </p:nvSpPr>
        <p:spPr>
          <a:xfrm>
            <a:off x="1009650" y="5715000"/>
            <a:ext cx="10172700" cy="4191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1200" b="0">
                <a:solidFill>
                  <a:srgbClr val="2563EB"/>
                </a:solidFill>
                <a:latin typeface="PingFang SC"/>
              </a:rPr>
              <a:t>▶ 任一步失败都有结构化出口,绝不静默</a:t>
            </a:r>
          </a:p>
        </p:txBody>
      </p:sp>
      <p:sp>
        <p:nvSpPr>
          <p:cNvPr id="48" name="TextBox 47"/>
          <p:cNvSpPr txBox="1"/>
          <p:nvPr/>
        </p:nvSpPr>
        <p:spPr>
          <a:xfrm>
            <a:off x="10287000" y="6534150"/>
            <a:ext cx="1619250" cy="2667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>
              <a:lnSpc>
                <a:spcPct val="100000"/>
              </a:lnSpc>
            </a:pPr>
            <a:r>
              <a:rPr sz="900" b="0">
                <a:solidFill>
                  <a:srgbClr val="94A3B8"/>
                </a:solidFill>
                <a:latin typeface="PingFang SC"/>
              </a:rPr>
              <a:t>第2章 · 18/141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704850"/>
          </a:xfrm>
          <a:prstGeom prst="rect">
            <a:avLst/>
          </a:prstGeom>
          <a:solidFill>
            <a:srgbClr val="0B1D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76200" cy="704850"/>
          </a:xfrm>
          <a:prstGeom prst="rect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266700" y="0"/>
            <a:ext cx="10287000" cy="7048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2000" b="1">
                <a:solidFill>
                  <a:srgbClr val="FFFFFF"/>
                </a:solidFill>
                <a:latin typeface="PingFang SC"/>
              </a:rPr>
              <a:t>应用:天气查询工具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334500" y="0"/>
            <a:ext cx="2667000" cy="7048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>
              <a:lnSpc>
                <a:spcPct val="100000"/>
              </a:lnSpc>
            </a:pPr>
            <a:r>
              <a:rPr sz="1100" b="0">
                <a:solidFill>
                  <a:srgbClr val="94A3B8"/>
                </a:solidFill>
                <a:latin typeface="PingFang SC"/>
              </a:rPr>
              <a:t>第2章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876300" y="914400"/>
            <a:ext cx="10439400" cy="10287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DDE5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876300" y="914400"/>
            <a:ext cx="57150" cy="1028700"/>
          </a:xfrm>
          <a:prstGeom prst="rect">
            <a:avLst/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ounded Rectangle 7"/>
          <p:cNvSpPr/>
          <p:nvPr/>
        </p:nvSpPr>
        <p:spPr>
          <a:xfrm>
            <a:off x="1047750" y="1285875"/>
            <a:ext cx="285750" cy="285750"/>
          </a:xfrm>
          <a:prstGeom prst="roundRect">
            <a:avLst>
              <a:gd name="adj" fmla="val 8000"/>
            </a:avLst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047750" y="1276350"/>
            <a:ext cx="285750" cy="2857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300" b="1">
                <a:solidFill>
                  <a:srgbClr val="FFFFFF"/>
                </a:solidFill>
                <a:latin typeface="PingFang SC"/>
              </a:rPr>
              <a:t>1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485900" y="914400"/>
            <a:ext cx="9601200" cy="10287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12000"/>
              </a:lnSpc>
            </a:pPr>
            <a:r>
              <a:rPr sz="1400" b="1">
                <a:solidFill>
                  <a:srgbClr val="475569"/>
                </a:solidFill>
                <a:latin typeface="PingFang SC"/>
              </a:rPr>
              <a:t>name=get_weather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876300" y="2114550"/>
            <a:ext cx="10439400" cy="10287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DDE5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876300" y="2114550"/>
            <a:ext cx="57150" cy="1028700"/>
          </a:xfrm>
          <a:prstGeom prst="rect">
            <a:avLst/>
          </a:prstGeom>
          <a:solidFill>
            <a:srgbClr val="14B8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ounded Rectangle 12"/>
          <p:cNvSpPr/>
          <p:nvPr/>
        </p:nvSpPr>
        <p:spPr>
          <a:xfrm>
            <a:off x="1047750" y="2486025"/>
            <a:ext cx="285750" cy="285750"/>
          </a:xfrm>
          <a:prstGeom prst="roundRect">
            <a:avLst>
              <a:gd name="adj" fmla="val 8000"/>
            </a:avLst>
          </a:prstGeom>
          <a:solidFill>
            <a:srgbClr val="14B8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1047750" y="2476500"/>
            <a:ext cx="285750" cy="2857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300" b="1">
                <a:solidFill>
                  <a:srgbClr val="FFFFFF"/>
                </a:solidFill>
                <a:latin typeface="PingFang SC"/>
              </a:rPr>
              <a:t>2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485900" y="2114550"/>
            <a:ext cx="9601200" cy="10287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12000"/>
              </a:lnSpc>
            </a:pPr>
            <a:r>
              <a:rPr sz="1400" b="1">
                <a:solidFill>
                  <a:srgbClr val="475569"/>
                </a:solidFill>
                <a:latin typeface="PingFang SC"/>
              </a:rPr>
              <a:t>参数:city(string,必填)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876300" y="3314700"/>
            <a:ext cx="10439400" cy="10287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DDE5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876300" y="3314700"/>
            <a:ext cx="57150" cy="1028700"/>
          </a:xfrm>
          <a:prstGeom prst="rect">
            <a:avLst/>
          </a:prstGeom>
          <a:solidFill>
            <a:srgbClr val="8B5C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ounded Rectangle 17"/>
          <p:cNvSpPr/>
          <p:nvPr/>
        </p:nvSpPr>
        <p:spPr>
          <a:xfrm>
            <a:off x="1047750" y="3686175"/>
            <a:ext cx="285750" cy="285750"/>
          </a:xfrm>
          <a:prstGeom prst="roundRect">
            <a:avLst>
              <a:gd name="adj" fmla="val 8000"/>
            </a:avLst>
          </a:prstGeom>
          <a:solidFill>
            <a:srgbClr val="8B5C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1047750" y="3676650"/>
            <a:ext cx="285750" cy="2857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300" b="1">
                <a:solidFill>
                  <a:srgbClr val="FFFFFF"/>
                </a:solidFill>
                <a:latin typeface="PingFang SC"/>
              </a:rPr>
              <a:t>3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485900" y="3314700"/>
            <a:ext cx="9601200" cy="10287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12000"/>
              </a:lnSpc>
            </a:pPr>
            <a:r>
              <a:rPr sz="1400" b="1">
                <a:solidFill>
                  <a:srgbClr val="475569"/>
                </a:solidFill>
                <a:latin typeface="PingFang SC"/>
              </a:rPr>
              <a:t>风险:READ,人人可调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876300" y="6019800"/>
            <a:ext cx="10439400" cy="514350"/>
          </a:xfrm>
          <a:prstGeom prst="roundRect">
            <a:avLst>
              <a:gd name="adj" fmla="val 8000"/>
            </a:avLst>
          </a:prstGeom>
          <a:solidFill>
            <a:srgbClr val="F1F5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1066800" y="6019800"/>
            <a:ext cx="10058400" cy="5524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1250" b="0">
                <a:solidFill>
                  <a:srgbClr val="2563EB"/>
                </a:solidFill>
                <a:latin typeface="PingFang SC"/>
              </a:rPr>
              <a:t>▶ 平台测试用它演示全流程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0287000" y="6534150"/>
            <a:ext cx="1619250" cy="2667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>
              <a:lnSpc>
                <a:spcPct val="100000"/>
              </a:lnSpc>
            </a:pPr>
            <a:r>
              <a:rPr sz="900" b="0">
                <a:solidFill>
                  <a:srgbClr val="94A3B8"/>
                </a:solidFill>
                <a:latin typeface="PingFang SC"/>
              </a:rPr>
              <a:t>第2章 · 19/141</a:t>
            </a: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704850"/>
          </a:xfrm>
          <a:prstGeom prst="rect">
            <a:avLst/>
          </a:prstGeom>
          <a:solidFill>
            <a:srgbClr val="0B1D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76200" cy="704850"/>
          </a:xfrm>
          <a:prstGeom prst="rect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266700" y="0"/>
            <a:ext cx="10287000" cy="7048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2000" b="1">
                <a:solidFill>
                  <a:srgbClr val="FFFFFF"/>
                </a:solidFill>
                <a:latin typeface="PingFang SC"/>
              </a:rPr>
              <a:t>get_weather 端到端实测,$ executor.execute("get_weather", {"city": "Beijing"});ToolResult(ok=True, output='sunny::Beijing', latency_ms=0.4);AuditEvent(tool='get_weather', args={'city':'Beijing'});# READ 工具+agent 角色:直接放行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334500" y="0"/>
            <a:ext cx="2667000" cy="7048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>
              <a:lnSpc>
                <a:spcPct val="100000"/>
              </a:lnSpc>
            </a:pPr>
            <a:r>
              <a:rPr sz="1100" b="0">
                <a:solidFill>
                  <a:srgbClr val="94A3B8"/>
                </a:solidFill>
                <a:latin typeface="PingFang SC"/>
              </a:rPr>
              <a:t>tests 真实断言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1333500" y="952500"/>
            <a:ext cx="9525000" cy="5048250"/>
          </a:xfrm>
          <a:prstGeom prst="roundRect">
            <a:avLst>
              <a:gd name="adj" fmla="val 8000"/>
            </a:avLst>
          </a:prstGeom>
          <a:solidFill>
            <a:srgbClr val="0D111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1333500" y="952500"/>
            <a:ext cx="9525000" cy="381000"/>
          </a:xfrm>
          <a:prstGeom prst="rect">
            <a:avLst/>
          </a:prstGeom>
          <a:solidFill>
            <a:srgbClr val="1F293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ounded Rectangle 7"/>
          <p:cNvSpPr/>
          <p:nvPr/>
        </p:nvSpPr>
        <p:spPr>
          <a:xfrm>
            <a:off x="1504950" y="1085850"/>
            <a:ext cx="123825" cy="123825"/>
          </a:xfrm>
          <a:prstGeom prst="roundRect">
            <a:avLst>
              <a:gd name="adj" fmla="val 8000"/>
            </a:avLst>
          </a:prstGeom>
          <a:solidFill>
            <a:srgbClr val="F8717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ounded Rectangle 8"/>
          <p:cNvSpPr/>
          <p:nvPr/>
        </p:nvSpPr>
        <p:spPr>
          <a:xfrm>
            <a:off x="1752600" y="1085850"/>
            <a:ext cx="123825" cy="123825"/>
          </a:xfrm>
          <a:prstGeom prst="roundRect">
            <a:avLst>
              <a:gd name="adj" fmla="val 8000"/>
            </a:avLst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ounded Rectangle 9"/>
          <p:cNvSpPr/>
          <p:nvPr/>
        </p:nvSpPr>
        <p:spPr>
          <a:xfrm>
            <a:off x="2000250" y="1085850"/>
            <a:ext cx="123825" cy="123825"/>
          </a:xfrm>
          <a:prstGeom prst="roundRect">
            <a:avLst>
              <a:gd name="adj" fmla="val 8000"/>
            </a:avLst>
          </a:prstGeom>
          <a:solidFill>
            <a:srgbClr val="34D39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2381250" y="952500"/>
            <a:ext cx="8286750" cy="381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1100" b="0">
                <a:solidFill>
                  <a:srgbClr val="94A3B8"/>
                </a:solidFill>
                <a:latin typeface="PingFang SC"/>
              </a:rPr>
              <a:t>terminal — 平台实测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562100" y="1485900"/>
            <a:ext cx="9067800" cy="43815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</a:pPr>
            <a:r>
              <a:rPr sz="1300">
                <a:solidFill>
                  <a:srgbClr val="CBD5E1"/>
                </a:solidFill>
                <a:latin typeface="Menlo"/>
              </a:rPr>
              <a:t>tests 真实断言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0287000" y="6534150"/>
            <a:ext cx="1619250" cy="2667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>
              <a:lnSpc>
                <a:spcPct val="100000"/>
              </a:lnSpc>
            </a:pPr>
            <a:r>
              <a:rPr sz="900" b="0">
                <a:solidFill>
                  <a:srgbClr val="94A3B8"/>
                </a:solidFill>
                <a:latin typeface="PingFang SC"/>
              </a:rPr>
              <a:t>第2章 · 20/141</a:t>
            </a:r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704850"/>
          </a:xfrm>
          <a:prstGeom prst="rect">
            <a:avLst/>
          </a:prstGeom>
          <a:solidFill>
            <a:srgbClr val="0B1D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76200" cy="704850"/>
          </a:xfrm>
          <a:prstGeom prst="rect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266700" y="0"/>
            <a:ext cx="10287000" cy="7048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2000" b="1">
                <a:solidFill>
                  <a:srgbClr val="FFFFFF"/>
                </a:solidFill>
                <a:latin typeface="PingFang SC"/>
              </a:rPr>
              <a:t>应用:订单查询工具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334500" y="0"/>
            <a:ext cx="2667000" cy="7048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>
              <a:lnSpc>
                <a:spcPct val="100000"/>
              </a:lnSpc>
            </a:pPr>
            <a:r>
              <a:rPr sz="1100" b="0">
                <a:solidFill>
                  <a:srgbClr val="94A3B8"/>
                </a:solidFill>
                <a:latin typeface="PingFang SC"/>
              </a:rPr>
              <a:t>第2章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876300" y="914400"/>
            <a:ext cx="10439400" cy="10287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DDE5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876300" y="914400"/>
            <a:ext cx="57150" cy="1028700"/>
          </a:xfrm>
          <a:prstGeom prst="rect">
            <a:avLst/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ounded Rectangle 7"/>
          <p:cNvSpPr/>
          <p:nvPr/>
        </p:nvSpPr>
        <p:spPr>
          <a:xfrm>
            <a:off x="1047750" y="1285875"/>
            <a:ext cx="285750" cy="285750"/>
          </a:xfrm>
          <a:prstGeom prst="roundRect">
            <a:avLst>
              <a:gd name="adj" fmla="val 8000"/>
            </a:avLst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047750" y="1276350"/>
            <a:ext cx="285750" cy="2857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300" b="1">
                <a:solidFill>
                  <a:srgbClr val="FFFFFF"/>
                </a:solidFill>
                <a:latin typeface="PingFang SC"/>
              </a:rPr>
              <a:t>1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485900" y="914400"/>
            <a:ext cx="9601200" cy="10287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12000"/>
              </a:lnSpc>
            </a:pPr>
            <a:r>
              <a:rPr sz="1400" b="1">
                <a:solidFill>
                  <a:srgbClr val="475569"/>
                </a:solidFill>
                <a:latin typeface="PingFang SC"/>
              </a:rPr>
              <a:t>参数:order_id+权限透传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876300" y="2114550"/>
            <a:ext cx="10439400" cy="10287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DDE5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876300" y="2114550"/>
            <a:ext cx="57150" cy="1028700"/>
          </a:xfrm>
          <a:prstGeom prst="rect">
            <a:avLst/>
          </a:prstGeom>
          <a:solidFill>
            <a:srgbClr val="14B8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ounded Rectangle 12"/>
          <p:cNvSpPr/>
          <p:nvPr/>
        </p:nvSpPr>
        <p:spPr>
          <a:xfrm>
            <a:off x="1047750" y="2486025"/>
            <a:ext cx="285750" cy="285750"/>
          </a:xfrm>
          <a:prstGeom prst="roundRect">
            <a:avLst>
              <a:gd name="adj" fmla="val 8000"/>
            </a:avLst>
          </a:prstGeom>
          <a:solidFill>
            <a:srgbClr val="14B8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1047750" y="2476500"/>
            <a:ext cx="285750" cy="2857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300" b="1">
                <a:solidFill>
                  <a:srgbClr val="FFFFFF"/>
                </a:solidFill>
                <a:latin typeface="PingFang SC"/>
              </a:rPr>
              <a:t>2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485900" y="2114550"/>
            <a:ext cx="9601200" cy="10287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12000"/>
              </a:lnSpc>
            </a:pPr>
            <a:r>
              <a:rPr sz="1400" b="1">
                <a:solidFill>
                  <a:srgbClr val="475569"/>
                </a:solidFill>
                <a:latin typeface="PingFang SC"/>
              </a:rPr>
              <a:t>只能查自己有权的订单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876300" y="3314700"/>
            <a:ext cx="10439400" cy="10287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DDE5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876300" y="3314700"/>
            <a:ext cx="57150" cy="1028700"/>
          </a:xfrm>
          <a:prstGeom prst="rect">
            <a:avLst/>
          </a:prstGeom>
          <a:solidFill>
            <a:srgbClr val="8B5C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ounded Rectangle 17"/>
          <p:cNvSpPr/>
          <p:nvPr/>
        </p:nvSpPr>
        <p:spPr>
          <a:xfrm>
            <a:off x="1047750" y="3686175"/>
            <a:ext cx="285750" cy="285750"/>
          </a:xfrm>
          <a:prstGeom prst="roundRect">
            <a:avLst>
              <a:gd name="adj" fmla="val 8000"/>
            </a:avLst>
          </a:prstGeom>
          <a:solidFill>
            <a:srgbClr val="8B5C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1047750" y="3676650"/>
            <a:ext cx="285750" cy="2857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300" b="1">
                <a:solidFill>
                  <a:srgbClr val="FFFFFF"/>
                </a:solidFill>
                <a:latin typeface="PingFang SC"/>
              </a:rPr>
              <a:t>3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485900" y="3314700"/>
            <a:ext cx="9601200" cy="10287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12000"/>
              </a:lnSpc>
            </a:pPr>
            <a:r>
              <a:rPr sz="1400" b="1">
                <a:solidFill>
                  <a:srgbClr val="475569"/>
                </a:solidFill>
                <a:latin typeface="PingFang SC"/>
              </a:rPr>
              <a:t>返回脱敏后的订单摘要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876300" y="6019800"/>
            <a:ext cx="10439400" cy="514350"/>
          </a:xfrm>
          <a:prstGeom prst="roundRect">
            <a:avLst>
              <a:gd name="adj" fmla="val 8000"/>
            </a:avLst>
          </a:prstGeom>
          <a:solidFill>
            <a:srgbClr val="F1F5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1066800" y="6019800"/>
            <a:ext cx="10058400" cy="5524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1250" b="0">
                <a:solidFill>
                  <a:srgbClr val="2563EB"/>
                </a:solidFill>
                <a:latin typeface="PingFang SC"/>
              </a:rPr>
              <a:t>▶ 工具内部也要做数据权限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0287000" y="6534150"/>
            <a:ext cx="1619250" cy="2667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>
              <a:lnSpc>
                <a:spcPct val="100000"/>
              </a:lnSpc>
            </a:pPr>
            <a:r>
              <a:rPr sz="900" b="0">
                <a:solidFill>
                  <a:srgbClr val="94A3B8"/>
                </a:solidFill>
                <a:latin typeface="PingFang SC"/>
              </a:rPr>
              <a:t>第2章 · 21/141</a:t>
            </a:r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704850"/>
          </a:xfrm>
          <a:prstGeom prst="rect">
            <a:avLst/>
          </a:prstGeom>
          <a:solidFill>
            <a:srgbClr val="0B1D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76200" cy="704850"/>
          </a:xfrm>
          <a:prstGeom prst="rect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266700" y="0"/>
            <a:ext cx="10287000" cy="7048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2000" b="1">
                <a:solidFill>
                  <a:srgbClr val="FFFFFF"/>
                </a:solidFill>
                <a:latin typeface="PingFang SC"/>
              </a:rPr>
              <a:t>踩坑:让模型生成 SQL 直接执行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334500" y="0"/>
            <a:ext cx="2667000" cy="7048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>
              <a:lnSpc>
                <a:spcPct val="100000"/>
              </a:lnSpc>
            </a:pPr>
            <a:r>
              <a:rPr sz="1100" b="0">
                <a:solidFill>
                  <a:srgbClr val="94A3B8"/>
                </a:solidFill>
                <a:latin typeface="PingFang SC"/>
              </a:rPr>
              <a:t>第2章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876300" y="914400"/>
            <a:ext cx="10439400" cy="10287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DDE5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876300" y="914400"/>
            <a:ext cx="57150" cy="1028700"/>
          </a:xfrm>
          <a:prstGeom prst="rect">
            <a:avLst/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ounded Rectangle 7"/>
          <p:cNvSpPr/>
          <p:nvPr/>
        </p:nvSpPr>
        <p:spPr>
          <a:xfrm>
            <a:off x="1047750" y="1285875"/>
            <a:ext cx="285750" cy="285750"/>
          </a:xfrm>
          <a:prstGeom prst="roundRect">
            <a:avLst>
              <a:gd name="adj" fmla="val 8000"/>
            </a:avLst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047750" y="1276350"/>
            <a:ext cx="285750" cy="2857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300" b="1">
                <a:solidFill>
                  <a:srgbClr val="FFFFFF"/>
                </a:solidFill>
                <a:latin typeface="PingFang SC"/>
              </a:rPr>
              <a:t>1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485900" y="914400"/>
            <a:ext cx="9601200" cy="10287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12000"/>
              </a:lnSpc>
            </a:pPr>
            <a:r>
              <a:rPr sz="1400" b="1">
                <a:solidFill>
                  <a:srgbClr val="475569"/>
                </a:solidFill>
                <a:latin typeface="PingFang SC"/>
              </a:rPr>
              <a:t>事故:NL2SQL 删了生产表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876300" y="2114550"/>
            <a:ext cx="10439400" cy="10287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DDE5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876300" y="2114550"/>
            <a:ext cx="57150" cy="1028700"/>
          </a:xfrm>
          <a:prstGeom prst="rect">
            <a:avLst/>
          </a:prstGeom>
          <a:solidFill>
            <a:srgbClr val="14B8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ounded Rectangle 12"/>
          <p:cNvSpPr/>
          <p:nvPr/>
        </p:nvSpPr>
        <p:spPr>
          <a:xfrm>
            <a:off x="1047750" y="2486025"/>
            <a:ext cx="285750" cy="285750"/>
          </a:xfrm>
          <a:prstGeom prst="roundRect">
            <a:avLst>
              <a:gd name="adj" fmla="val 8000"/>
            </a:avLst>
          </a:prstGeom>
          <a:solidFill>
            <a:srgbClr val="14B8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1047750" y="2476500"/>
            <a:ext cx="285750" cy="2857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300" b="1">
                <a:solidFill>
                  <a:srgbClr val="FFFFFF"/>
                </a:solidFill>
                <a:latin typeface="PingFang SC"/>
              </a:rPr>
              <a:t>2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485900" y="2114550"/>
            <a:ext cx="9601200" cy="10287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12000"/>
              </a:lnSpc>
            </a:pPr>
            <a:r>
              <a:rPr sz="1400" b="1">
                <a:solidFill>
                  <a:srgbClr val="475569"/>
                </a:solidFill>
                <a:latin typeface="PingFang SC"/>
              </a:rPr>
              <a:t>教训:SQL 是高危工具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876300" y="3314700"/>
            <a:ext cx="10439400" cy="10287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DDE5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876300" y="3314700"/>
            <a:ext cx="57150" cy="1028700"/>
          </a:xfrm>
          <a:prstGeom prst="rect">
            <a:avLst/>
          </a:prstGeom>
          <a:solidFill>
            <a:srgbClr val="8B5C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ounded Rectangle 17"/>
          <p:cNvSpPr/>
          <p:nvPr/>
        </p:nvSpPr>
        <p:spPr>
          <a:xfrm>
            <a:off x="1047750" y="3686175"/>
            <a:ext cx="285750" cy="285750"/>
          </a:xfrm>
          <a:prstGeom prst="roundRect">
            <a:avLst>
              <a:gd name="adj" fmla="val 8000"/>
            </a:avLst>
          </a:prstGeom>
          <a:solidFill>
            <a:srgbClr val="8B5C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1047750" y="3676650"/>
            <a:ext cx="285750" cy="2857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300" b="1">
                <a:solidFill>
                  <a:srgbClr val="FFFFFF"/>
                </a:solidFill>
                <a:latin typeface="PingFang SC"/>
              </a:rPr>
              <a:t>3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485900" y="3314700"/>
            <a:ext cx="9601200" cy="10287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12000"/>
              </a:lnSpc>
            </a:pPr>
            <a:r>
              <a:rPr sz="1400" b="1">
                <a:solidFill>
                  <a:srgbClr val="475569"/>
                </a:solidFill>
                <a:latin typeface="PingFang SC"/>
              </a:rPr>
              <a:t>防护:只读账号+白名单+审计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876300" y="4514850"/>
            <a:ext cx="10439400" cy="10287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DDE5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ectangle 21"/>
          <p:cNvSpPr/>
          <p:nvPr/>
        </p:nvSpPr>
        <p:spPr>
          <a:xfrm>
            <a:off x="876300" y="4514850"/>
            <a:ext cx="57150" cy="1028700"/>
          </a:xfrm>
          <a:prstGeom prst="rect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ounded Rectangle 22"/>
          <p:cNvSpPr/>
          <p:nvPr/>
        </p:nvSpPr>
        <p:spPr>
          <a:xfrm>
            <a:off x="1047750" y="4886325"/>
            <a:ext cx="285750" cy="285750"/>
          </a:xfrm>
          <a:prstGeom prst="roundRect">
            <a:avLst>
              <a:gd name="adj" fmla="val 8000"/>
            </a:avLst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1047750" y="4876800"/>
            <a:ext cx="285750" cy="2857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300" b="1">
                <a:solidFill>
                  <a:srgbClr val="FFFFFF"/>
                </a:solidFill>
                <a:latin typeface="PingFang SC"/>
              </a:rPr>
              <a:t>4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1485900" y="4514850"/>
            <a:ext cx="9601200" cy="10287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12000"/>
              </a:lnSpc>
            </a:pPr>
            <a:r>
              <a:rPr sz="1400" b="1">
                <a:solidFill>
                  <a:srgbClr val="475569"/>
                </a:solidFill>
                <a:latin typeface="PingFang SC"/>
              </a:rPr>
              <a:t>更优:封装业务查询工具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10287000" y="6534150"/>
            <a:ext cx="1619250" cy="2667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>
              <a:lnSpc>
                <a:spcPct val="100000"/>
              </a:lnSpc>
            </a:pPr>
            <a:r>
              <a:rPr sz="900" b="0">
                <a:solidFill>
                  <a:srgbClr val="94A3B8"/>
                </a:solidFill>
                <a:latin typeface="PingFang SC"/>
              </a:rPr>
              <a:t>第2章 · 22/141</a:t>
            </a:r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704850"/>
          </a:xfrm>
          <a:prstGeom prst="rect">
            <a:avLst/>
          </a:prstGeom>
          <a:solidFill>
            <a:srgbClr val="0B1D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76200" cy="704850"/>
          </a:xfrm>
          <a:prstGeom prst="rect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266700" y="0"/>
            <a:ext cx="10287000" cy="7048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2000" b="1">
                <a:solidFill>
                  <a:srgbClr val="FFFFFF"/>
                </a:solidFill>
                <a:latin typeface="PingFang SC"/>
              </a:rPr>
              <a:t>踩坑:参数幻觉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334500" y="0"/>
            <a:ext cx="2667000" cy="7048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>
              <a:lnSpc>
                <a:spcPct val="100000"/>
              </a:lnSpc>
            </a:pPr>
            <a:r>
              <a:rPr sz="1100" b="0">
                <a:solidFill>
                  <a:srgbClr val="94A3B8"/>
                </a:solidFill>
                <a:latin typeface="PingFang SC"/>
              </a:rPr>
              <a:t>第2章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876300" y="914400"/>
            <a:ext cx="10439400" cy="10287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DDE5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876300" y="914400"/>
            <a:ext cx="57150" cy="1028700"/>
          </a:xfrm>
          <a:prstGeom prst="rect">
            <a:avLst/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ounded Rectangle 7"/>
          <p:cNvSpPr/>
          <p:nvPr/>
        </p:nvSpPr>
        <p:spPr>
          <a:xfrm>
            <a:off x="1047750" y="1285875"/>
            <a:ext cx="285750" cy="285750"/>
          </a:xfrm>
          <a:prstGeom prst="roundRect">
            <a:avLst>
              <a:gd name="adj" fmla="val 8000"/>
            </a:avLst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047750" y="1276350"/>
            <a:ext cx="285750" cy="2857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300" b="1">
                <a:solidFill>
                  <a:srgbClr val="FFFFFF"/>
                </a:solidFill>
                <a:latin typeface="PingFang SC"/>
              </a:rPr>
              <a:t>1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485900" y="914400"/>
            <a:ext cx="9601200" cy="10287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12000"/>
              </a:lnSpc>
            </a:pPr>
            <a:r>
              <a:rPr sz="1400" b="1">
                <a:solidFill>
                  <a:srgbClr val="475569"/>
                </a:solidFill>
                <a:latin typeface="PingFang SC"/>
              </a:rPr>
              <a:t>模型编造不存在的 order_id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876300" y="2114550"/>
            <a:ext cx="10439400" cy="10287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DDE5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876300" y="2114550"/>
            <a:ext cx="57150" cy="1028700"/>
          </a:xfrm>
          <a:prstGeom prst="rect">
            <a:avLst/>
          </a:prstGeom>
          <a:solidFill>
            <a:srgbClr val="14B8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ounded Rectangle 12"/>
          <p:cNvSpPr/>
          <p:nvPr/>
        </p:nvSpPr>
        <p:spPr>
          <a:xfrm>
            <a:off x="1047750" y="2486025"/>
            <a:ext cx="285750" cy="285750"/>
          </a:xfrm>
          <a:prstGeom prst="roundRect">
            <a:avLst>
              <a:gd name="adj" fmla="val 8000"/>
            </a:avLst>
          </a:prstGeom>
          <a:solidFill>
            <a:srgbClr val="14B8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1047750" y="2476500"/>
            <a:ext cx="285750" cy="2857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300" b="1">
                <a:solidFill>
                  <a:srgbClr val="FFFFFF"/>
                </a:solidFill>
                <a:latin typeface="PingFang SC"/>
              </a:rPr>
              <a:t>2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485900" y="2114550"/>
            <a:ext cx="9601200" cy="10287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12000"/>
              </a:lnSpc>
            </a:pPr>
            <a:r>
              <a:rPr sz="1400" b="1">
                <a:solidFill>
                  <a:srgbClr val="475569"/>
                </a:solidFill>
                <a:latin typeface="PingFang SC"/>
              </a:rPr>
              <a:t>Schema 只保类型不保真实性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876300" y="3314700"/>
            <a:ext cx="10439400" cy="10287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DDE5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876300" y="3314700"/>
            <a:ext cx="57150" cy="1028700"/>
          </a:xfrm>
          <a:prstGeom prst="rect">
            <a:avLst/>
          </a:prstGeom>
          <a:solidFill>
            <a:srgbClr val="8B5C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ounded Rectangle 17"/>
          <p:cNvSpPr/>
          <p:nvPr/>
        </p:nvSpPr>
        <p:spPr>
          <a:xfrm>
            <a:off x="1047750" y="3686175"/>
            <a:ext cx="285750" cy="285750"/>
          </a:xfrm>
          <a:prstGeom prst="roundRect">
            <a:avLst>
              <a:gd name="adj" fmla="val 8000"/>
            </a:avLst>
          </a:prstGeom>
          <a:solidFill>
            <a:srgbClr val="8B5C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1047750" y="3676650"/>
            <a:ext cx="285750" cy="2857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300" b="1">
                <a:solidFill>
                  <a:srgbClr val="FFFFFF"/>
                </a:solidFill>
                <a:latin typeface="PingFang SC"/>
              </a:rPr>
              <a:t>3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485900" y="3314700"/>
            <a:ext cx="9601200" cy="10287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12000"/>
              </a:lnSpc>
            </a:pPr>
            <a:r>
              <a:rPr sz="1400" b="1">
                <a:solidFill>
                  <a:srgbClr val="475569"/>
                </a:solidFill>
                <a:latin typeface="PingFang SC"/>
              </a:rPr>
              <a:t>防护:业务层存在性校验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876300" y="4514850"/>
            <a:ext cx="10439400" cy="10287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DDE5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ectangle 21"/>
          <p:cNvSpPr/>
          <p:nvPr/>
        </p:nvSpPr>
        <p:spPr>
          <a:xfrm>
            <a:off x="876300" y="4514850"/>
            <a:ext cx="57150" cy="1028700"/>
          </a:xfrm>
          <a:prstGeom prst="rect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ounded Rectangle 22"/>
          <p:cNvSpPr/>
          <p:nvPr/>
        </p:nvSpPr>
        <p:spPr>
          <a:xfrm>
            <a:off x="1047750" y="4886325"/>
            <a:ext cx="285750" cy="285750"/>
          </a:xfrm>
          <a:prstGeom prst="roundRect">
            <a:avLst>
              <a:gd name="adj" fmla="val 8000"/>
            </a:avLst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1047750" y="4876800"/>
            <a:ext cx="285750" cy="2857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300" b="1">
                <a:solidFill>
                  <a:srgbClr val="FFFFFF"/>
                </a:solidFill>
                <a:latin typeface="PingFang SC"/>
              </a:rPr>
              <a:t>4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1485900" y="4514850"/>
            <a:ext cx="9601200" cy="10287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12000"/>
              </a:lnSpc>
            </a:pPr>
            <a:r>
              <a:rPr sz="1400" b="1">
                <a:solidFill>
                  <a:srgbClr val="475569"/>
                </a:solidFill>
                <a:latin typeface="PingFang SC"/>
              </a:rPr>
              <a:t>反馈错误让模型重选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10287000" y="6534150"/>
            <a:ext cx="1619250" cy="2667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>
              <a:lnSpc>
                <a:spcPct val="100000"/>
              </a:lnSpc>
            </a:pPr>
            <a:r>
              <a:rPr sz="900" b="0">
                <a:solidFill>
                  <a:srgbClr val="94A3B8"/>
                </a:solidFill>
                <a:latin typeface="PingFang SC"/>
              </a:rPr>
              <a:t>第2章 · 23/141</a:t>
            </a:r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704850"/>
          </a:xfrm>
          <a:prstGeom prst="rect">
            <a:avLst/>
          </a:prstGeom>
          <a:solidFill>
            <a:srgbClr val="0B1D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76200" cy="704850"/>
          </a:xfrm>
          <a:prstGeom prst="rect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266700" y="0"/>
            <a:ext cx="10287000" cy="7048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2000" b="1">
                <a:solidFill>
                  <a:srgbClr val="FFFFFF"/>
                </a:solidFill>
                <a:latin typeface="PingFang SC"/>
              </a:rPr>
              <a:t>优化:工具描述 A/B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334500" y="0"/>
            <a:ext cx="2667000" cy="7048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>
              <a:lnSpc>
                <a:spcPct val="100000"/>
              </a:lnSpc>
            </a:pPr>
            <a:r>
              <a:rPr sz="1100" b="0">
                <a:solidFill>
                  <a:srgbClr val="94A3B8"/>
                </a:solidFill>
                <a:latin typeface="PingFang SC"/>
              </a:rPr>
              <a:t>第2章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876300" y="914400"/>
            <a:ext cx="10439400" cy="10287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DDE5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876300" y="914400"/>
            <a:ext cx="57150" cy="1028700"/>
          </a:xfrm>
          <a:prstGeom prst="rect">
            <a:avLst/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ounded Rectangle 7"/>
          <p:cNvSpPr/>
          <p:nvPr/>
        </p:nvSpPr>
        <p:spPr>
          <a:xfrm>
            <a:off x="1047750" y="1285875"/>
            <a:ext cx="285750" cy="285750"/>
          </a:xfrm>
          <a:prstGeom prst="roundRect">
            <a:avLst>
              <a:gd name="adj" fmla="val 8000"/>
            </a:avLst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047750" y="1276350"/>
            <a:ext cx="285750" cy="2857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300" b="1">
                <a:solidFill>
                  <a:srgbClr val="FFFFFF"/>
                </a:solidFill>
                <a:latin typeface="PingFang SC"/>
              </a:rPr>
              <a:t>1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485900" y="914400"/>
            <a:ext cx="9601200" cy="10287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12000"/>
              </a:lnSpc>
            </a:pPr>
            <a:r>
              <a:rPr sz="1400" b="1">
                <a:solidFill>
                  <a:srgbClr val="475569"/>
                </a:solidFill>
                <a:latin typeface="PingFang SC"/>
              </a:rPr>
              <a:t>改 description 观察选择准确率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876300" y="2114550"/>
            <a:ext cx="10439400" cy="10287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DDE5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876300" y="2114550"/>
            <a:ext cx="57150" cy="1028700"/>
          </a:xfrm>
          <a:prstGeom prst="rect">
            <a:avLst/>
          </a:prstGeom>
          <a:solidFill>
            <a:srgbClr val="14B8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ounded Rectangle 12"/>
          <p:cNvSpPr/>
          <p:nvPr/>
        </p:nvSpPr>
        <p:spPr>
          <a:xfrm>
            <a:off x="1047750" y="2486025"/>
            <a:ext cx="285750" cy="285750"/>
          </a:xfrm>
          <a:prstGeom prst="roundRect">
            <a:avLst>
              <a:gd name="adj" fmla="val 8000"/>
            </a:avLst>
          </a:prstGeom>
          <a:solidFill>
            <a:srgbClr val="14B8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1047750" y="2476500"/>
            <a:ext cx="285750" cy="2857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300" b="1">
                <a:solidFill>
                  <a:srgbClr val="FFFFFF"/>
                </a:solidFill>
                <a:latin typeface="PingFang SC"/>
              </a:rPr>
              <a:t>2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485900" y="2114550"/>
            <a:ext cx="9601200" cy="10287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12000"/>
              </a:lnSpc>
            </a:pPr>
            <a:r>
              <a:rPr sz="1400" b="1">
                <a:solidFill>
                  <a:srgbClr val="475569"/>
                </a:solidFill>
                <a:latin typeface="PingFang SC"/>
              </a:rPr>
              <a:t>构造工具选择评测集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876300" y="3314700"/>
            <a:ext cx="10439400" cy="10287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DDE5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876300" y="3314700"/>
            <a:ext cx="57150" cy="1028700"/>
          </a:xfrm>
          <a:prstGeom prst="rect">
            <a:avLst/>
          </a:prstGeom>
          <a:solidFill>
            <a:srgbClr val="8B5C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ounded Rectangle 17"/>
          <p:cNvSpPr/>
          <p:nvPr/>
        </p:nvSpPr>
        <p:spPr>
          <a:xfrm>
            <a:off x="1047750" y="3686175"/>
            <a:ext cx="285750" cy="285750"/>
          </a:xfrm>
          <a:prstGeom prst="roundRect">
            <a:avLst>
              <a:gd name="adj" fmla="val 8000"/>
            </a:avLst>
          </a:prstGeom>
          <a:solidFill>
            <a:srgbClr val="8B5C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1047750" y="3676650"/>
            <a:ext cx="285750" cy="2857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300" b="1">
                <a:solidFill>
                  <a:srgbClr val="FFFFFF"/>
                </a:solidFill>
                <a:latin typeface="PingFang SC"/>
              </a:rPr>
              <a:t>3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485900" y="3314700"/>
            <a:ext cx="9601200" cy="10287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12000"/>
              </a:lnSpc>
            </a:pPr>
            <a:r>
              <a:rPr sz="1400" b="1">
                <a:solidFill>
                  <a:srgbClr val="475569"/>
                </a:solidFill>
                <a:latin typeface="PingFang SC"/>
              </a:rPr>
              <a:t>准确率纳入回归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876300" y="6019800"/>
            <a:ext cx="10439400" cy="514350"/>
          </a:xfrm>
          <a:prstGeom prst="roundRect">
            <a:avLst>
              <a:gd name="adj" fmla="val 8000"/>
            </a:avLst>
          </a:prstGeom>
          <a:solidFill>
            <a:srgbClr val="F1F5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1066800" y="6019800"/>
            <a:ext cx="10058400" cy="5524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1250" b="0">
                <a:solidFill>
                  <a:srgbClr val="2563EB"/>
                </a:solidFill>
                <a:latin typeface="PingFang SC"/>
              </a:rPr>
              <a:t>▶ 工具选择率是第5章核心指标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0287000" y="6534150"/>
            <a:ext cx="1619250" cy="2667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>
              <a:lnSpc>
                <a:spcPct val="100000"/>
              </a:lnSpc>
            </a:pPr>
            <a:r>
              <a:rPr sz="900" b="0">
                <a:solidFill>
                  <a:srgbClr val="94A3B8"/>
                </a:solidFill>
                <a:latin typeface="PingFang SC"/>
              </a:rPr>
              <a:t>第2章 · 24/141</a:t>
            </a:r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704850"/>
          </a:xfrm>
          <a:prstGeom prst="rect">
            <a:avLst/>
          </a:prstGeom>
          <a:solidFill>
            <a:srgbClr val="0B1D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76200" cy="704850"/>
          </a:xfrm>
          <a:prstGeom prst="rect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266700" y="0"/>
            <a:ext cx="10287000" cy="7048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2000" b="1">
                <a:solidFill>
                  <a:srgbClr val="FFFFFF"/>
                </a:solidFill>
                <a:latin typeface="PingFang SC"/>
              </a:rPr>
              <a:t>优化:并行工具调用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334500" y="0"/>
            <a:ext cx="2667000" cy="7048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>
              <a:lnSpc>
                <a:spcPct val="100000"/>
              </a:lnSpc>
            </a:pPr>
            <a:r>
              <a:rPr sz="1100" b="0">
                <a:solidFill>
                  <a:srgbClr val="94A3B8"/>
                </a:solidFill>
                <a:latin typeface="PingFang SC"/>
              </a:rPr>
              <a:t>第2章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876300" y="914400"/>
            <a:ext cx="10439400" cy="10287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DDE5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876300" y="914400"/>
            <a:ext cx="57150" cy="1028700"/>
          </a:xfrm>
          <a:prstGeom prst="rect">
            <a:avLst/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ounded Rectangle 7"/>
          <p:cNvSpPr/>
          <p:nvPr/>
        </p:nvSpPr>
        <p:spPr>
          <a:xfrm>
            <a:off x="1047750" y="1285875"/>
            <a:ext cx="285750" cy="285750"/>
          </a:xfrm>
          <a:prstGeom prst="roundRect">
            <a:avLst>
              <a:gd name="adj" fmla="val 8000"/>
            </a:avLst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047750" y="1276350"/>
            <a:ext cx="285750" cy="2857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300" b="1">
                <a:solidFill>
                  <a:srgbClr val="FFFFFF"/>
                </a:solidFill>
                <a:latin typeface="PingFang SC"/>
              </a:rPr>
              <a:t>1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485900" y="914400"/>
            <a:ext cx="9601200" cy="10287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12000"/>
              </a:lnSpc>
            </a:pPr>
            <a:r>
              <a:rPr sz="1400" b="1">
                <a:solidFill>
                  <a:srgbClr val="475569"/>
                </a:solidFill>
                <a:latin typeface="PingFang SC"/>
              </a:rPr>
              <a:t>模型一次返回多个 tool_calls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876300" y="2114550"/>
            <a:ext cx="10439400" cy="10287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DDE5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876300" y="2114550"/>
            <a:ext cx="57150" cy="1028700"/>
          </a:xfrm>
          <a:prstGeom prst="rect">
            <a:avLst/>
          </a:prstGeom>
          <a:solidFill>
            <a:srgbClr val="14B8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ounded Rectangle 12"/>
          <p:cNvSpPr/>
          <p:nvPr/>
        </p:nvSpPr>
        <p:spPr>
          <a:xfrm>
            <a:off x="1047750" y="2486025"/>
            <a:ext cx="285750" cy="285750"/>
          </a:xfrm>
          <a:prstGeom prst="roundRect">
            <a:avLst>
              <a:gd name="adj" fmla="val 8000"/>
            </a:avLst>
          </a:prstGeom>
          <a:solidFill>
            <a:srgbClr val="14B8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1047750" y="2476500"/>
            <a:ext cx="285750" cy="2857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300" b="1">
                <a:solidFill>
                  <a:srgbClr val="FFFFFF"/>
                </a:solidFill>
                <a:latin typeface="PingFang SC"/>
              </a:rPr>
              <a:t>2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485900" y="2114550"/>
            <a:ext cx="9601200" cy="10287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12000"/>
              </a:lnSpc>
            </a:pPr>
            <a:r>
              <a:rPr sz="1400" b="1">
                <a:solidFill>
                  <a:srgbClr val="475569"/>
                </a:solidFill>
                <a:latin typeface="PingFang SC"/>
              </a:rPr>
              <a:t>无依赖的调用并发执行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876300" y="3314700"/>
            <a:ext cx="10439400" cy="10287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DDE5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876300" y="3314700"/>
            <a:ext cx="57150" cy="1028700"/>
          </a:xfrm>
          <a:prstGeom prst="rect">
            <a:avLst/>
          </a:prstGeom>
          <a:solidFill>
            <a:srgbClr val="8B5C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ounded Rectangle 17"/>
          <p:cNvSpPr/>
          <p:nvPr/>
        </p:nvSpPr>
        <p:spPr>
          <a:xfrm>
            <a:off x="1047750" y="3686175"/>
            <a:ext cx="285750" cy="285750"/>
          </a:xfrm>
          <a:prstGeom prst="roundRect">
            <a:avLst>
              <a:gd name="adj" fmla="val 8000"/>
            </a:avLst>
          </a:prstGeom>
          <a:solidFill>
            <a:srgbClr val="8B5C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1047750" y="3676650"/>
            <a:ext cx="285750" cy="2857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300" b="1">
                <a:solidFill>
                  <a:srgbClr val="FFFFFF"/>
                </a:solidFill>
                <a:latin typeface="PingFang SC"/>
              </a:rPr>
              <a:t>3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485900" y="3314700"/>
            <a:ext cx="9601200" cy="10287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12000"/>
              </a:lnSpc>
            </a:pPr>
            <a:r>
              <a:rPr sz="1400" b="1">
                <a:solidFill>
                  <a:srgbClr val="475569"/>
                </a:solidFill>
                <a:latin typeface="PingFang SC"/>
              </a:rPr>
              <a:t>有依赖的串行编排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876300" y="6019800"/>
            <a:ext cx="10439400" cy="514350"/>
          </a:xfrm>
          <a:prstGeom prst="roundRect">
            <a:avLst>
              <a:gd name="adj" fmla="val 8000"/>
            </a:avLst>
          </a:prstGeom>
          <a:solidFill>
            <a:srgbClr val="F1F5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1066800" y="6019800"/>
            <a:ext cx="10058400" cy="5524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1250" b="0">
                <a:solidFill>
                  <a:srgbClr val="2563EB"/>
                </a:solidFill>
                <a:latin typeface="PingFang SC"/>
              </a:rPr>
              <a:t>▶ 延迟立减,审计要按序落盘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0287000" y="6534150"/>
            <a:ext cx="1619250" cy="2667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>
              <a:lnSpc>
                <a:spcPct val="100000"/>
              </a:lnSpc>
            </a:pPr>
            <a:r>
              <a:rPr sz="900" b="0">
                <a:solidFill>
                  <a:srgbClr val="94A3B8"/>
                </a:solidFill>
                <a:latin typeface="PingFang SC"/>
              </a:rPr>
              <a:t>第2章 · 25/141</a:t>
            </a:r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704850"/>
          </a:xfrm>
          <a:prstGeom prst="rect">
            <a:avLst/>
          </a:prstGeom>
          <a:solidFill>
            <a:srgbClr val="0B1D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76200" cy="704850"/>
          </a:xfrm>
          <a:prstGeom prst="rect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266700" y="0"/>
            <a:ext cx="10287000" cy="7048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2000" b="1">
                <a:solidFill>
                  <a:srgbClr val="FFFFFF"/>
                </a:solidFill>
                <a:latin typeface="PingFang SC"/>
              </a:rPr>
              <a:t>平台工程对照:装饰器注册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334500" y="0"/>
            <a:ext cx="2667000" cy="7048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>
              <a:lnSpc>
                <a:spcPct val="100000"/>
              </a:lnSpc>
            </a:pPr>
            <a:r>
              <a:rPr sz="1100" b="0">
                <a:solidFill>
                  <a:srgbClr val="94A3B8"/>
                </a:solidFill>
                <a:latin typeface="PingFang SC"/>
              </a:rPr>
              <a:t>第2章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876300" y="914400"/>
            <a:ext cx="10439400" cy="10287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DDE5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876300" y="914400"/>
            <a:ext cx="57150" cy="1028700"/>
          </a:xfrm>
          <a:prstGeom prst="rect">
            <a:avLst/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ounded Rectangle 7"/>
          <p:cNvSpPr/>
          <p:nvPr/>
        </p:nvSpPr>
        <p:spPr>
          <a:xfrm>
            <a:off x="1047750" y="1285875"/>
            <a:ext cx="285750" cy="285750"/>
          </a:xfrm>
          <a:prstGeom prst="roundRect">
            <a:avLst>
              <a:gd name="adj" fmla="val 8000"/>
            </a:avLst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047750" y="1276350"/>
            <a:ext cx="285750" cy="2857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300" b="1">
                <a:solidFill>
                  <a:srgbClr val="FFFFFF"/>
                </a:solidFill>
                <a:latin typeface="PingFang SC"/>
              </a:rPr>
              <a:t>1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485900" y="914400"/>
            <a:ext cx="9601200" cy="10287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12000"/>
              </a:lnSpc>
            </a:pPr>
            <a:r>
              <a:rPr sz="1400" b="1">
                <a:solidFill>
                  <a:srgbClr val="475569"/>
                </a:solidFill>
                <a:latin typeface="PingFang SC"/>
              </a:rPr>
              <a:t>@tool 从函数签名派生 Schema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876300" y="2114550"/>
            <a:ext cx="10439400" cy="10287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DDE5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876300" y="2114550"/>
            <a:ext cx="57150" cy="1028700"/>
          </a:xfrm>
          <a:prstGeom prst="rect">
            <a:avLst/>
          </a:prstGeom>
          <a:solidFill>
            <a:srgbClr val="14B8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ounded Rectangle 12"/>
          <p:cNvSpPr/>
          <p:nvPr/>
        </p:nvSpPr>
        <p:spPr>
          <a:xfrm>
            <a:off x="1047750" y="2486025"/>
            <a:ext cx="285750" cy="285750"/>
          </a:xfrm>
          <a:prstGeom prst="roundRect">
            <a:avLst>
              <a:gd name="adj" fmla="val 8000"/>
            </a:avLst>
          </a:prstGeom>
          <a:solidFill>
            <a:srgbClr val="14B8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1047750" y="2476500"/>
            <a:ext cx="285750" cy="2857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300" b="1">
                <a:solidFill>
                  <a:srgbClr val="FFFFFF"/>
                </a:solidFill>
                <a:latin typeface="PingFang SC"/>
              </a:rPr>
              <a:t>2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485900" y="2114550"/>
            <a:ext cx="9601200" cy="10287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12000"/>
              </a:lnSpc>
            </a:pPr>
            <a:r>
              <a:rPr sz="1400" b="1">
                <a:solidFill>
                  <a:srgbClr val="475569"/>
                </a:solidFill>
                <a:latin typeface="PingFang SC"/>
              </a:rPr>
              <a:t>30 秒注册一个生产级工具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876300" y="3314700"/>
            <a:ext cx="10439400" cy="10287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DDE5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876300" y="3314700"/>
            <a:ext cx="57150" cy="1028700"/>
          </a:xfrm>
          <a:prstGeom prst="rect">
            <a:avLst/>
          </a:prstGeom>
          <a:solidFill>
            <a:srgbClr val="8B5C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ounded Rectangle 17"/>
          <p:cNvSpPr/>
          <p:nvPr/>
        </p:nvSpPr>
        <p:spPr>
          <a:xfrm>
            <a:off x="1047750" y="3686175"/>
            <a:ext cx="285750" cy="285750"/>
          </a:xfrm>
          <a:prstGeom prst="roundRect">
            <a:avLst>
              <a:gd name="adj" fmla="val 8000"/>
            </a:avLst>
          </a:prstGeom>
          <a:solidFill>
            <a:srgbClr val="8B5C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1047750" y="3676650"/>
            <a:ext cx="285750" cy="2857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300" b="1">
                <a:solidFill>
                  <a:srgbClr val="FFFFFF"/>
                </a:solidFill>
                <a:latin typeface="PingFang SC"/>
              </a:rPr>
              <a:t>3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485900" y="3314700"/>
            <a:ext cx="9601200" cy="10287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12000"/>
              </a:lnSpc>
            </a:pPr>
            <a:r>
              <a:rPr sz="1400" b="1">
                <a:solidFill>
                  <a:srgbClr val="475569"/>
                </a:solidFill>
                <a:latin typeface="PingFang SC"/>
              </a:rPr>
              <a:t>类型注解即文档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876300" y="6019800"/>
            <a:ext cx="10439400" cy="514350"/>
          </a:xfrm>
          <a:prstGeom prst="roundRect">
            <a:avLst>
              <a:gd name="adj" fmla="val 8000"/>
            </a:avLst>
          </a:prstGeom>
          <a:solidFill>
            <a:srgbClr val="F1F5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1066800" y="6019800"/>
            <a:ext cx="10058400" cy="5524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1250" b="0">
                <a:solidFill>
                  <a:srgbClr val="2563EB"/>
                </a:solidFill>
                <a:latin typeface="PingFang SC"/>
              </a:rPr>
              <a:t>▶ 代码:tools/runtime.py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0287000" y="6534150"/>
            <a:ext cx="1619250" cy="2667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>
              <a:lnSpc>
                <a:spcPct val="100000"/>
              </a:lnSpc>
            </a:pPr>
            <a:r>
              <a:rPr sz="900" b="0">
                <a:solidFill>
                  <a:srgbClr val="94A3B8"/>
                </a:solidFill>
                <a:latin typeface="PingFang SC"/>
              </a:rPr>
              <a:t>第2章 · 26/141</a:t>
            </a:r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704850"/>
          </a:xfrm>
          <a:prstGeom prst="rect">
            <a:avLst/>
          </a:prstGeom>
          <a:solidFill>
            <a:srgbClr val="0B1D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76200" cy="704850"/>
          </a:xfrm>
          <a:prstGeom prst="rect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266700" y="0"/>
            <a:ext cx="10287000" cy="7048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2000" b="1">
                <a:solidFill>
                  <a:srgbClr val="FFFFFF"/>
                </a:solidFill>
                <a:latin typeface="PingFang SC"/>
              </a:rPr>
              <a:t>2-1 自测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334500" y="0"/>
            <a:ext cx="2667000" cy="7048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>
              <a:lnSpc>
                <a:spcPct val="100000"/>
              </a:lnSpc>
            </a:pPr>
            <a:r>
              <a:rPr sz="1100" b="0">
                <a:solidFill>
                  <a:srgbClr val="94A3B8"/>
                </a:solidFill>
                <a:latin typeface="PingFang SC"/>
              </a:rPr>
              <a:t>第2章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287000" y="6534150"/>
            <a:ext cx="1619250" cy="2667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>
              <a:lnSpc>
                <a:spcPct val="100000"/>
              </a:lnSpc>
            </a:pPr>
            <a:r>
              <a:rPr sz="900" b="0">
                <a:solidFill>
                  <a:srgbClr val="94A3B8"/>
                </a:solidFill>
                <a:latin typeface="PingFang SC"/>
              </a:rPr>
              <a:t>第2章 · 27/141</a:t>
            </a:r>
          </a:p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0B1D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2000" cy="609600"/>
          </a:xfrm>
          <a:prstGeom prst="rect">
            <a:avLst/>
          </a:prstGeom>
          <a:solidFill>
            <a:srgbClr val="142A4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266700" y="0"/>
            <a:ext cx="11430000" cy="6096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1600" b="1">
                <a:solidFill>
                  <a:srgbClr val="F59E0B"/>
                </a:solidFill>
                <a:latin typeface="PingFang SC"/>
              </a:rPr>
              <a:t>@tool 装饰器:签名即 Schema · src/agent_platform/tools/runtime.py:78-108</a:t>
            </a:r>
          </a:p>
        </p:txBody>
      </p:sp>
      <p:pic>
        <p:nvPicPr>
          <p:cNvPr id="5" name="Picture 4" descr="code_0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313515" y="762000"/>
            <a:ext cx="9564969" cy="5760720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10287000" y="6534150"/>
            <a:ext cx="1619250" cy="2667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>
              <a:lnSpc>
                <a:spcPct val="100000"/>
              </a:lnSpc>
            </a:pPr>
            <a:r>
              <a:rPr sz="900" b="0">
                <a:solidFill>
                  <a:srgbClr val="94A3B8"/>
                </a:solidFill>
                <a:latin typeface="PingFang SC"/>
              </a:rPr>
              <a:t>第2章 · 28/141</a:t>
            </a:r>
          </a:p>
        </p:txBody>
      </p:sp>
    </p:spTree>
  </p:cSld>
  <p:clrMapOvr>
    <a:masterClrMapping/>
  </p:clrMapOvr>
</p:sld>
</file>

<file path=ppt/slides/slide2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704850"/>
          </a:xfrm>
          <a:prstGeom prst="rect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04800" y="0"/>
            <a:ext cx="11430000" cy="7048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2000" b="1">
                <a:solidFill>
                  <a:srgbClr val="0B1D3A"/>
                </a:solidFill>
                <a:latin typeface="PingFang SC"/>
              </a:rPr>
              <a:t>自测 · Function Calling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1143000" y="1143000"/>
            <a:ext cx="9906000" cy="590550"/>
          </a:xfrm>
          <a:prstGeom prst="roundRect">
            <a:avLst>
              <a:gd name="adj" fmla="val 8000"/>
            </a:avLst>
          </a:prstGeom>
          <a:solidFill>
            <a:srgbClr val="F1F5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1143000" y="1143000"/>
            <a:ext cx="47625" cy="647700"/>
          </a:xfrm>
          <a:prstGeom prst="rect">
            <a:avLst/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390650" y="1143000"/>
            <a:ext cx="419100" cy="6477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1500" b="1">
                <a:solidFill>
                  <a:srgbClr val="2563EB"/>
                </a:solidFill>
                <a:latin typeface="PingFang SC"/>
              </a:rPr>
              <a:t>Q1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905000" y="1143000"/>
            <a:ext cx="8572500" cy="6477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1350" b="0">
                <a:solidFill>
                  <a:srgbClr val="475569"/>
                </a:solidFill>
                <a:latin typeface="PingFang SC"/>
              </a:rPr>
              <a:t>为什么模型永远不直接执行工具?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1143000" y="1905000"/>
            <a:ext cx="9906000" cy="590550"/>
          </a:xfrm>
          <a:prstGeom prst="roundRect">
            <a:avLst>
              <a:gd name="adj" fmla="val 8000"/>
            </a:avLst>
          </a:prstGeom>
          <a:solidFill>
            <a:srgbClr val="F1F5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1143000" y="1905000"/>
            <a:ext cx="47625" cy="647700"/>
          </a:xfrm>
          <a:prstGeom prst="rect">
            <a:avLst/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390650" y="1905000"/>
            <a:ext cx="419100" cy="6477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1500" b="1">
                <a:solidFill>
                  <a:srgbClr val="2563EB"/>
                </a:solidFill>
                <a:latin typeface="PingFang SC"/>
              </a:rPr>
              <a:t>Q2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905000" y="1905000"/>
            <a:ext cx="8572500" cy="6477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1350" b="0">
                <a:solidFill>
                  <a:srgbClr val="475569"/>
                </a:solidFill>
                <a:latin typeface="PingFang SC"/>
              </a:rPr>
              <a:t>工具描述里最影响选择准确率的是什么?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1143000" y="2667000"/>
            <a:ext cx="9906000" cy="590550"/>
          </a:xfrm>
          <a:prstGeom prst="roundRect">
            <a:avLst>
              <a:gd name="adj" fmla="val 8000"/>
            </a:avLst>
          </a:prstGeom>
          <a:solidFill>
            <a:srgbClr val="F1F5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1143000" y="2667000"/>
            <a:ext cx="47625" cy="647700"/>
          </a:xfrm>
          <a:prstGeom prst="rect">
            <a:avLst/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1390650" y="2667000"/>
            <a:ext cx="419100" cy="6477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1500" b="1">
                <a:solidFill>
                  <a:srgbClr val="2563EB"/>
                </a:solidFill>
                <a:latin typeface="PingFang SC"/>
              </a:rPr>
              <a:t>Q3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905000" y="2667000"/>
            <a:ext cx="8572500" cy="6477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1350" b="0">
                <a:solidFill>
                  <a:srgbClr val="475569"/>
                </a:solidFill>
                <a:latin typeface="PingFang SC"/>
              </a:rPr>
              <a:t>参数幻觉如何兜底?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1143000" y="3429000"/>
            <a:ext cx="9906000" cy="590550"/>
          </a:xfrm>
          <a:prstGeom prst="roundRect">
            <a:avLst>
              <a:gd name="adj" fmla="val 8000"/>
            </a:avLst>
          </a:prstGeom>
          <a:solidFill>
            <a:srgbClr val="F1F5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1143000" y="3429000"/>
            <a:ext cx="47625" cy="647700"/>
          </a:xfrm>
          <a:prstGeom prst="rect">
            <a:avLst/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1390650" y="3429000"/>
            <a:ext cx="419100" cy="6477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1500" b="1">
                <a:solidFill>
                  <a:srgbClr val="2563EB"/>
                </a:solidFill>
                <a:latin typeface="PingFang SC"/>
              </a:rPr>
              <a:t>Q4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905000" y="3429000"/>
            <a:ext cx="8572500" cy="6477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1350" b="0">
                <a:solidFill>
                  <a:srgbClr val="475569"/>
                </a:solidFill>
                <a:latin typeface="PingFang SC"/>
              </a:rPr>
              <a:t>并行调用的前提条件是什么?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0287000" y="6534150"/>
            <a:ext cx="1619250" cy="2667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>
              <a:lnSpc>
                <a:spcPct val="100000"/>
              </a:lnSpc>
            </a:pPr>
            <a:r>
              <a:rPr sz="900" b="0">
                <a:solidFill>
                  <a:srgbClr val="94A3B8"/>
                </a:solidFill>
                <a:latin typeface="PingFang SC"/>
              </a:rPr>
              <a:t>第2章 · 29/141</a:t>
            </a:r>
          </a:p>
        </p:txBody>
      </p:sp>
    </p:spTree>
  </p:cSld>
  <p:clrMapOvr>
    <a:masterClrMapping/>
  </p:clrMapOvr>
</p:sld>
</file>

<file path=ppt/slides/slide3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0B1D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857250" y="952500"/>
            <a:ext cx="323850" cy="76200"/>
          </a:xfrm>
          <a:prstGeom prst="rect">
            <a:avLst/>
          </a:prstGeom>
          <a:solidFill>
            <a:srgbClr val="27406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1295400" y="952500"/>
            <a:ext cx="323850" cy="76200"/>
          </a:xfrm>
          <a:prstGeom prst="rect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1733550" y="952500"/>
            <a:ext cx="323850" cy="76200"/>
          </a:xfrm>
          <a:prstGeom prst="rect">
            <a:avLst/>
          </a:prstGeom>
          <a:solidFill>
            <a:srgbClr val="27406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2171700" y="952500"/>
            <a:ext cx="323850" cy="76200"/>
          </a:xfrm>
          <a:prstGeom prst="rect">
            <a:avLst/>
          </a:prstGeom>
          <a:solidFill>
            <a:srgbClr val="27406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2609850" y="952500"/>
            <a:ext cx="323850" cy="76200"/>
          </a:xfrm>
          <a:prstGeom prst="rect">
            <a:avLst/>
          </a:prstGeom>
          <a:solidFill>
            <a:srgbClr val="27406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857250" y="2381250"/>
            <a:ext cx="1143000" cy="57150"/>
          </a:xfrm>
          <a:prstGeom prst="rect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857250" y="2857500"/>
            <a:ext cx="9906000" cy="12382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5000"/>
              </a:lnSpc>
            </a:pPr>
            <a:r>
              <a:rPr sz="3200" b="1">
                <a:solidFill>
                  <a:srgbClr val="FFFFFF"/>
                </a:solidFill>
                <a:latin typeface="PingFang SC"/>
              </a:rPr>
              <a:t>讲次 2-2 · Tool Registry 设计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57250" y="4286250"/>
            <a:ext cx="9334500" cy="4762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1400" b="0">
                <a:solidFill>
                  <a:srgbClr val="F59E0B"/>
                </a:solidFill>
                <a:latin typeface="PingFang SC"/>
              </a:rPr>
              <a:t>LECTURE 02 / 05</a:t>
            </a:r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704850"/>
          </a:xfrm>
          <a:prstGeom prst="rect">
            <a:avLst/>
          </a:prstGeom>
          <a:solidFill>
            <a:srgbClr val="0B1D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76200" cy="704850"/>
          </a:xfrm>
          <a:prstGeom prst="rect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266700" y="0"/>
            <a:ext cx="10287000" cy="7048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2000" b="1">
                <a:solidFill>
                  <a:srgbClr val="FFFFFF"/>
                </a:solidFill>
                <a:latin typeface="PingFang SC"/>
              </a:rPr>
              <a:t>Registry 的定位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334500" y="0"/>
            <a:ext cx="2667000" cy="7048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>
              <a:lnSpc>
                <a:spcPct val="100000"/>
              </a:lnSpc>
            </a:pPr>
            <a:r>
              <a:rPr sz="1100" b="0">
                <a:solidFill>
                  <a:srgbClr val="94A3B8"/>
                </a:solidFill>
                <a:latin typeface="PingFang SC"/>
              </a:rPr>
              <a:t>第2章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876300" y="914400"/>
            <a:ext cx="10439400" cy="10287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DDE5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876300" y="914400"/>
            <a:ext cx="57150" cy="1028700"/>
          </a:xfrm>
          <a:prstGeom prst="rect">
            <a:avLst/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ounded Rectangle 7"/>
          <p:cNvSpPr/>
          <p:nvPr/>
        </p:nvSpPr>
        <p:spPr>
          <a:xfrm>
            <a:off x="1047750" y="1285875"/>
            <a:ext cx="285750" cy="285750"/>
          </a:xfrm>
          <a:prstGeom prst="roundRect">
            <a:avLst>
              <a:gd name="adj" fmla="val 8000"/>
            </a:avLst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047750" y="1276350"/>
            <a:ext cx="285750" cy="2857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300" b="1">
                <a:solidFill>
                  <a:srgbClr val="FFFFFF"/>
                </a:solidFill>
                <a:latin typeface="PingFang SC"/>
              </a:rPr>
              <a:t>1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485900" y="914400"/>
            <a:ext cx="9601200" cy="10287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12000"/>
              </a:lnSpc>
            </a:pPr>
            <a:r>
              <a:rPr sz="1400" b="1">
                <a:solidFill>
                  <a:srgbClr val="475569"/>
                </a:solidFill>
                <a:latin typeface="PingFang SC"/>
              </a:rPr>
              <a:t>工具的"应用商店"后端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876300" y="2114550"/>
            <a:ext cx="10439400" cy="10287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DDE5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876300" y="2114550"/>
            <a:ext cx="57150" cy="1028700"/>
          </a:xfrm>
          <a:prstGeom prst="rect">
            <a:avLst/>
          </a:prstGeom>
          <a:solidFill>
            <a:srgbClr val="14B8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ounded Rectangle 12"/>
          <p:cNvSpPr/>
          <p:nvPr/>
        </p:nvSpPr>
        <p:spPr>
          <a:xfrm>
            <a:off x="1047750" y="2486025"/>
            <a:ext cx="285750" cy="285750"/>
          </a:xfrm>
          <a:prstGeom prst="roundRect">
            <a:avLst>
              <a:gd name="adj" fmla="val 8000"/>
            </a:avLst>
          </a:prstGeom>
          <a:solidFill>
            <a:srgbClr val="14B8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1047750" y="2476500"/>
            <a:ext cx="285750" cy="2857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300" b="1">
                <a:solidFill>
                  <a:srgbClr val="FFFFFF"/>
                </a:solidFill>
                <a:latin typeface="PingFang SC"/>
              </a:rPr>
              <a:t>2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485900" y="2114550"/>
            <a:ext cx="9601200" cy="10287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12000"/>
              </a:lnSpc>
            </a:pPr>
            <a:r>
              <a:rPr sz="1400" b="1">
                <a:solidFill>
                  <a:srgbClr val="475569"/>
                </a:solidFill>
                <a:latin typeface="PingFang SC"/>
              </a:rPr>
              <a:t>注册/发现/元数据/分类/版本/启停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876300" y="3314700"/>
            <a:ext cx="10439400" cy="10287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DDE5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876300" y="3314700"/>
            <a:ext cx="57150" cy="1028700"/>
          </a:xfrm>
          <a:prstGeom prst="rect">
            <a:avLst/>
          </a:prstGeom>
          <a:solidFill>
            <a:srgbClr val="8B5C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ounded Rectangle 17"/>
          <p:cNvSpPr/>
          <p:nvPr/>
        </p:nvSpPr>
        <p:spPr>
          <a:xfrm>
            <a:off x="1047750" y="3686175"/>
            <a:ext cx="285750" cy="285750"/>
          </a:xfrm>
          <a:prstGeom prst="roundRect">
            <a:avLst>
              <a:gd name="adj" fmla="val 8000"/>
            </a:avLst>
          </a:prstGeom>
          <a:solidFill>
            <a:srgbClr val="8B5C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1047750" y="3676650"/>
            <a:ext cx="285750" cy="2857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300" b="1">
                <a:solidFill>
                  <a:srgbClr val="FFFFFF"/>
                </a:solidFill>
                <a:latin typeface="PingFang SC"/>
              </a:rPr>
              <a:t>3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485900" y="3314700"/>
            <a:ext cx="9601200" cy="10287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12000"/>
              </a:lnSpc>
            </a:pPr>
            <a:r>
              <a:rPr sz="1400" b="1">
                <a:solidFill>
                  <a:srgbClr val="475569"/>
                </a:solidFill>
                <a:latin typeface="PingFang SC"/>
              </a:rPr>
              <a:t>模型看到的工具清单从这里出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0287000" y="6534150"/>
            <a:ext cx="1619250" cy="2667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>
              <a:lnSpc>
                <a:spcPct val="100000"/>
              </a:lnSpc>
            </a:pPr>
            <a:r>
              <a:rPr sz="900" b="0">
                <a:solidFill>
                  <a:srgbClr val="94A3B8"/>
                </a:solidFill>
                <a:latin typeface="PingFang SC"/>
              </a:rPr>
              <a:t>第2章 · 31/141</a:t>
            </a:r>
          </a:p>
        </p:txBody>
      </p:sp>
    </p:spTree>
  </p:cSld>
  <p:clrMapOvr>
    <a:masterClrMapping/>
  </p:clrMapOvr>
</p:sld>
</file>

<file path=ppt/slides/slide3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704850"/>
          </a:xfrm>
          <a:prstGeom prst="rect">
            <a:avLst/>
          </a:prstGeom>
          <a:solidFill>
            <a:srgbClr val="0B1D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76200" cy="704850"/>
          </a:xfrm>
          <a:prstGeom prst="rect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266700" y="0"/>
            <a:ext cx="10287000" cy="7048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2000" b="1">
                <a:solidFill>
                  <a:srgbClr val="FFFFFF"/>
                </a:solidFill>
                <a:latin typeface="PingFang SC"/>
              </a:rPr>
              <a:t>Registry 六项能力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1047750" y="1724025"/>
            <a:ext cx="3200400" cy="15240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DDE5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1047750" y="1724025"/>
            <a:ext cx="3200400" cy="57150"/>
          </a:xfrm>
          <a:prstGeom prst="rect">
            <a:avLst/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ounded Rectangle 6"/>
          <p:cNvSpPr/>
          <p:nvPr/>
        </p:nvSpPr>
        <p:spPr>
          <a:xfrm>
            <a:off x="1200150" y="1914525"/>
            <a:ext cx="323850" cy="323850"/>
          </a:xfrm>
          <a:prstGeom prst="roundRect">
            <a:avLst>
              <a:gd name="adj" fmla="val 8000"/>
            </a:avLst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200150" y="1914525"/>
            <a:ext cx="323850" cy="3238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200" b="1">
                <a:solidFill>
                  <a:srgbClr val="FFFFFF"/>
                </a:solidFill>
                <a:latin typeface="PingFang SC"/>
              </a:rPr>
              <a:t>01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638300" y="1933575"/>
            <a:ext cx="2457450" cy="2857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1400" b="1">
                <a:solidFill>
                  <a:srgbClr val="0B1D3A"/>
                </a:solidFill>
                <a:latin typeface="PingFang SC"/>
              </a:rPr>
              <a:t>注册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200150" y="2333625"/>
            <a:ext cx="2895600" cy="7810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10000"/>
              </a:lnSpc>
            </a:pPr>
            <a:r>
              <a:rPr sz="1150" b="0">
                <a:solidFill>
                  <a:srgbClr val="475569"/>
                </a:solidFill>
                <a:latin typeface="PingFang SC"/>
              </a:rPr>
              <a:t>register(spec,fn)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4495800" y="1724025"/>
            <a:ext cx="3200400" cy="15240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DDE5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4495800" y="1724025"/>
            <a:ext cx="3200400" cy="57150"/>
          </a:xfrm>
          <a:prstGeom prst="rect">
            <a:avLst/>
          </a:prstGeom>
          <a:solidFill>
            <a:srgbClr val="14B8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ounded Rectangle 12"/>
          <p:cNvSpPr/>
          <p:nvPr/>
        </p:nvSpPr>
        <p:spPr>
          <a:xfrm>
            <a:off x="4648200" y="1914525"/>
            <a:ext cx="323850" cy="323850"/>
          </a:xfrm>
          <a:prstGeom prst="roundRect">
            <a:avLst>
              <a:gd name="adj" fmla="val 8000"/>
            </a:avLst>
          </a:prstGeom>
          <a:solidFill>
            <a:srgbClr val="14B8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4648200" y="1914525"/>
            <a:ext cx="323850" cy="3238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200" b="1">
                <a:solidFill>
                  <a:srgbClr val="FFFFFF"/>
                </a:solidFill>
                <a:latin typeface="PingFang SC"/>
              </a:rPr>
              <a:t>02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5086350" y="1933575"/>
            <a:ext cx="2457450" cy="2857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1400" b="1">
                <a:solidFill>
                  <a:srgbClr val="0B1D3A"/>
                </a:solidFill>
                <a:latin typeface="PingFang SC"/>
              </a:rPr>
              <a:t>发现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4648200" y="2333625"/>
            <a:ext cx="2895600" cy="7810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10000"/>
              </a:lnSpc>
            </a:pPr>
            <a:r>
              <a:rPr sz="1150" b="0">
                <a:solidFill>
                  <a:srgbClr val="475569"/>
                </a:solidFill>
                <a:latin typeface="PingFang SC"/>
              </a:rPr>
              <a:t>关键词检索 discover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7943850" y="1724025"/>
            <a:ext cx="3200400" cy="15240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DDE5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7943850" y="1724025"/>
            <a:ext cx="3200400" cy="57150"/>
          </a:xfrm>
          <a:prstGeom prst="rect">
            <a:avLst/>
          </a:prstGeom>
          <a:solidFill>
            <a:srgbClr val="8B5C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ounded Rectangle 18"/>
          <p:cNvSpPr/>
          <p:nvPr/>
        </p:nvSpPr>
        <p:spPr>
          <a:xfrm>
            <a:off x="8096250" y="1914525"/>
            <a:ext cx="323850" cy="323850"/>
          </a:xfrm>
          <a:prstGeom prst="roundRect">
            <a:avLst>
              <a:gd name="adj" fmla="val 8000"/>
            </a:avLst>
          </a:prstGeom>
          <a:solidFill>
            <a:srgbClr val="8B5C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8096250" y="1914525"/>
            <a:ext cx="323850" cy="3238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200" b="1">
                <a:solidFill>
                  <a:srgbClr val="FFFFFF"/>
                </a:solidFill>
                <a:latin typeface="PingFang SC"/>
              </a:rPr>
              <a:t>03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8534400" y="1933575"/>
            <a:ext cx="2457450" cy="2857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1400" b="1">
                <a:solidFill>
                  <a:srgbClr val="0B1D3A"/>
                </a:solidFill>
                <a:latin typeface="PingFang SC"/>
              </a:rPr>
              <a:t>元数据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8096250" y="2333625"/>
            <a:ext cx="2895600" cy="7810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10000"/>
              </a:lnSpc>
            </a:pPr>
            <a:r>
              <a:rPr sz="1150" b="0">
                <a:solidFill>
                  <a:srgbClr val="475569"/>
                </a:solidFill>
                <a:latin typeface="PingFang SC"/>
              </a:rPr>
              <a:t>业务域/负责人/依赖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1047750" y="3495675"/>
            <a:ext cx="3200400" cy="15240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DDE5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Rectangle 23"/>
          <p:cNvSpPr/>
          <p:nvPr/>
        </p:nvSpPr>
        <p:spPr>
          <a:xfrm>
            <a:off x="1047750" y="3495675"/>
            <a:ext cx="3200400" cy="57150"/>
          </a:xfrm>
          <a:prstGeom prst="rect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Rounded Rectangle 24"/>
          <p:cNvSpPr/>
          <p:nvPr/>
        </p:nvSpPr>
        <p:spPr>
          <a:xfrm>
            <a:off x="1200150" y="3686175"/>
            <a:ext cx="323850" cy="323850"/>
          </a:xfrm>
          <a:prstGeom prst="roundRect">
            <a:avLst>
              <a:gd name="adj" fmla="val 8000"/>
            </a:avLst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1200150" y="3686175"/>
            <a:ext cx="323850" cy="3238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200" b="1">
                <a:solidFill>
                  <a:srgbClr val="FFFFFF"/>
                </a:solidFill>
                <a:latin typeface="PingFang SC"/>
              </a:rPr>
              <a:t>04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1638300" y="3705225"/>
            <a:ext cx="2457450" cy="2857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1400" b="1">
                <a:solidFill>
                  <a:srgbClr val="0B1D3A"/>
                </a:solidFill>
                <a:latin typeface="PingFang SC"/>
              </a:rPr>
              <a:t>分类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200150" y="4105275"/>
            <a:ext cx="2895600" cy="7810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10000"/>
              </a:lnSpc>
            </a:pPr>
            <a:r>
              <a:rPr sz="1150" b="0">
                <a:solidFill>
                  <a:srgbClr val="475569"/>
                </a:solidFill>
                <a:latin typeface="PingFang SC"/>
              </a:rPr>
              <a:t>业务/读写/风险</a:t>
            </a:r>
          </a:p>
        </p:txBody>
      </p:sp>
      <p:sp>
        <p:nvSpPr>
          <p:cNvPr id="29" name="Rounded Rectangle 28"/>
          <p:cNvSpPr/>
          <p:nvPr/>
        </p:nvSpPr>
        <p:spPr>
          <a:xfrm>
            <a:off x="4495800" y="3495675"/>
            <a:ext cx="3200400" cy="15240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DDE5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Rectangle 29"/>
          <p:cNvSpPr/>
          <p:nvPr/>
        </p:nvSpPr>
        <p:spPr>
          <a:xfrm>
            <a:off x="4495800" y="3495675"/>
            <a:ext cx="3200400" cy="57150"/>
          </a:xfrm>
          <a:prstGeom prst="rect">
            <a:avLst/>
          </a:prstGeom>
          <a:solidFill>
            <a:srgbClr val="34D39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Rounded Rectangle 30"/>
          <p:cNvSpPr/>
          <p:nvPr/>
        </p:nvSpPr>
        <p:spPr>
          <a:xfrm>
            <a:off x="4648200" y="3686175"/>
            <a:ext cx="323850" cy="323850"/>
          </a:xfrm>
          <a:prstGeom prst="roundRect">
            <a:avLst>
              <a:gd name="adj" fmla="val 8000"/>
            </a:avLst>
          </a:prstGeom>
          <a:solidFill>
            <a:srgbClr val="34D39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4648200" y="3686175"/>
            <a:ext cx="323850" cy="3238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200" b="1">
                <a:solidFill>
                  <a:srgbClr val="FFFFFF"/>
                </a:solidFill>
                <a:latin typeface="PingFang SC"/>
              </a:rPr>
              <a:t>05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5086350" y="3705225"/>
            <a:ext cx="2457450" cy="2857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1400" b="1">
                <a:solidFill>
                  <a:srgbClr val="0B1D3A"/>
                </a:solidFill>
                <a:latin typeface="PingFang SC"/>
              </a:rPr>
              <a:t>版本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4648200" y="4105275"/>
            <a:ext cx="2895600" cy="7810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10000"/>
              </a:lnSpc>
            </a:pPr>
            <a:r>
              <a:rPr sz="1150" b="0">
                <a:solidFill>
                  <a:srgbClr val="475569"/>
                </a:solidFill>
                <a:latin typeface="PingFang SC"/>
              </a:rPr>
              <a:t>升级走审批灰度</a:t>
            </a:r>
          </a:p>
        </p:txBody>
      </p:sp>
      <p:sp>
        <p:nvSpPr>
          <p:cNvPr id="35" name="Rounded Rectangle 34"/>
          <p:cNvSpPr/>
          <p:nvPr/>
        </p:nvSpPr>
        <p:spPr>
          <a:xfrm>
            <a:off x="7943850" y="3495675"/>
            <a:ext cx="3200400" cy="15240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DDE5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Rectangle 35"/>
          <p:cNvSpPr/>
          <p:nvPr/>
        </p:nvSpPr>
        <p:spPr>
          <a:xfrm>
            <a:off x="7943850" y="3495675"/>
            <a:ext cx="3200400" cy="57150"/>
          </a:xfrm>
          <a:prstGeom prst="rect">
            <a:avLst/>
          </a:prstGeom>
          <a:solidFill>
            <a:srgbClr val="F8717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Rounded Rectangle 36"/>
          <p:cNvSpPr/>
          <p:nvPr/>
        </p:nvSpPr>
        <p:spPr>
          <a:xfrm>
            <a:off x="8096250" y="3686175"/>
            <a:ext cx="323850" cy="323850"/>
          </a:xfrm>
          <a:prstGeom prst="roundRect">
            <a:avLst>
              <a:gd name="adj" fmla="val 8000"/>
            </a:avLst>
          </a:prstGeom>
          <a:solidFill>
            <a:srgbClr val="F8717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TextBox 37"/>
          <p:cNvSpPr txBox="1"/>
          <p:nvPr/>
        </p:nvSpPr>
        <p:spPr>
          <a:xfrm>
            <a:off x="8096250" y="3686175"/>
            <a:ext cx="323850" cy="3238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200" b="1">
                <a:solidFill>
                  <a:srgbClr val="FFFFFF"/>
                </a:solidFill>
                <a:latin typeface="PingFang SC"/>
              </a:rPr>
              <a:t>06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8534400" y="3705225"/>
            <a:ext cx="2457450" cy="2857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1400" b="1">
                <a:solidFill>
                  <a:srgbClr val="0B1D3A"/>
                </a:solidFill>
                <a:latin typeface="PingFang SC"/>
              </a:rPr>
              <a:t>启停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8096250" y="4105275"/>
            <a:ext cx="2895600" cy="7810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10000"/>
              </a:lnSpc>
            </a:pPr>
            <a:r>
              <a:rPr sz="1150" b="0">
                <a:solidFill>
                  <a:srgbClr val="475569"/>
                </a:solidFill>
                <a:latin typeface="PingFang SC"/>
              </a:rPr>
              <a:t>热下线不发版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10287000" y="6534150"/>
            <a:ext cx="1619250" cy="2667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>
              <a:lnSpc>
                <a:spcPct val="100000"/>
              </a:lnSpc>
            </a:pPr>
            <a:r>
              <a:rPr sz="900" b="0">
                <a:solidFill>
                  <a:srgbClr val="94A3B8"/>
                </a:solidFill>
                <a:latin typeface="PingFang SC"/>
              </a:rPr>
              <a:t>第2章 · 32/141</a:t>
            </a:r>
          </a:p>
        </p:txBody>
      </p:sp>
    </p:spTree>
  </p:cSld>
  <p:clrMapOvr>
    <a:masterClrMapping/>
  </p:clrMapOvr>
</p:sld>
</file>

<file path=ppt/slides/slide3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704850"/>
          </a:xfrm>
          <a:prstGeom prst="rect">
            <a:avLst/>
          </a:prstGeom>
          <a:solidFill>
            <a:srgbClr val="0B1D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76200" cy="704850"/>
          </a:xfrm>
          <a:prstGeom prst="rect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266700" y="0"/>
            <a:ext cx="10287000" cy="7048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2000" b="1">
                <a:solidFill>
                  <a:srgbClr val="FFFFFF"/>
                </a:solidFill>
                <a:latin typeface="PingFang SC"/>
              </a:rPr>
              <a:t>注册:一行代码的仪式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334500" y="0"/>
            <a:ext cx="2667000" cy="7048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>
              <a:lnSpc>
                <a:spcPct val="100000"/>
              </a:lnSpc>
            </a:pPr>
            <a:r>
              <a:rPr sz="1100" b="0">
                <a:solidFill>
                  <a:srgbClr val="94A3B8"/>
                </a:solidFill>
                <a:latin typeface="PingFang SC"/>
              </a:rPr>
              <a:t>第2章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876300" y="914400"/>
            <a:ext cx="10439400" cy="10287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DDE5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876300" y="914400"/>
            <a:ext cx="57150" cy="1028700"/>
          </a:xfrm>
          <a:prstGeom prst="rect">
            <a:avLst/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ounded Rectangle 7"/>
          <p:cNvSpPr/>
          <p:nvPr/>
        </p:nvSpPr>
        <p:spPr>
          <a:xfrm>
            <a:off x="1047750" y="1285875"/>
            <a:ext cx="285750" cy="285750"/>
          </a:xfrm>
          <a:prstGeom prst="roundRect">
            <a:avLst>
              <a:gd name="adj" fmla="val 8000"/>
            </a:avLst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047750" y="1276350"/>
            <a:ext cx="285750" cy="2857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300" b="1">
                <a:solidFill>
                  <a:srgbClr val="FFFFFF"/>
                </a:solidFill>
                <a:latin typeface="PingFang SC"/>
              </a:rPr>
              <a:t>1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485900" y="914400"/>
            <a:ext cx="9601200" cy="10287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12000"/>
              </a:lnSpc>
            </a:pPr>
            <a:r>
              <a:rPr sz="1400" b="1">
                <a:solidFill>
                  <a:srgbClr val="475569"/>
                </a:solidFill>
                <a:latin typeface="PingFang SC"/>
              </a:rPr>
              <a:t>register(spec, fn) 收录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876300" y="2114550"/>
            <a:ext cx="10439400" cy="10287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DDE5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876300" y="2114550"/>
            <a:ext cx="57150" cy="1028700"/>
          </a:xfrm>
          <a:prstGeom prst="rect">
            <a:avLst/>
          </a:prstGeom>
          <a:solidFill>
            <a:srgbClr val="14B8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ounded Rectangle 12"/>
          <p:cNvSpPr/>
          <p:nvPr/>
        </p:nvSpPr>
        <p:spPr>
          <a:xfrm>
            <a:off x="1047750" y="2486025"/>
            <a:ext cx="285750" cy="285750"/>
          </a:xfrm>
          <a:prstGeom prst="roundRect">
            <a:avLst>
              <a:gd name="adj" fmla="val 8000"/>
            </a:avLst>
          </a:prstGeom>
          <a:solidFill>
            <a:srgbClr val="14B8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1047750" y="2476500"/>
            <a:ext cx="285750" cy="2857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300" b="1">
                <a:solidFill>
                  <a:srgbClr val="FFFFFF"/>
                </a:solidFill>
                <a:latin typeface="PingFang SC"/>
              </a:rPr>
              <a:t>2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485900" y="2114550"/>
            <a:ext cx="9601200" cy="10287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12000"/>
              </a:lnSpc>
            </a:pPr>
            <a:r>
              <a:rPr sz="1400" b="1">
                <a:solidFill>
                  <a:srgbClr val="475569"/>
                </a:solidFill>
                <a:latin typeface="PingFang SC"/>
              </a:rPr>
              <a:t>重名即冲突,防误覆盖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876300" y="3314700"/>
            <a:ext cx="10439400" cy="10287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DDE5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876300" y="3314700"/>
            <a:ext cx="57150" cy="1028700"/>
          </a:xfrm>
          <a:prstGeom prst="rect">
            <a:avLst/>
          </a:prstGeom>
          <a:solidFill>
            <a:srgbClr val="8B5C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ounded Rectangle 17"/>
          <p:cNvSpPr/>
          <p:nvPr/>
        </p:nvSpPr>
        <p:spPr>
          <a:xfrm>
            <a:off x="1047750" y="3686175"/>
            <a:ext cx="285750" cy="285750"/>
          </a:xfrm>
          <a:prstGeom prst="roundRect">
            <a:avLst>
              <a:gd name="adj" fmla="val 8000"/>
            </a:avLst>
          </a:prstGeom>
          <a:solidFill>
            <a:srgbClr val="8B5C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1047750" y="3676650"/>
            <a:ext cx="285750" cy="2857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300" b="1">
                <a:solidFill>
                  <a:srgbClr val="FFFFFF"/>
                </a:solidFill>
                <a:latin typeface="PingFang SC"/>
              </a:rPr>
              <a:t>3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485900" y="3314700"/>
            <a:ext cx="9601200" cy="10287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12000"/>
              </a:lnSpc>
            </a:pPr>
            <a:r>
              <a:rPr sz="1400" b="1">
                <a:solidFill>
                  <a:srgbClr val="475569"/>
                </a:solidFill>
                <a:latin typeface="PingFang SC"/>
              </a:rPr>
              <a:t>spec 与实现强绑定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876300" y="6019800"/>
            <a:ext cx="10439400" cy="514350"/>
          </a:xfrm>
          <a:prstGeom prst="roundRect">
            <a:avLst>
              <a:gd name="adj" fmla="val 8000"/>
            </a:avLst>
          </a:prstGeom>
          <a:solidFill>
            <a:srgbClr val="F1F5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1066800" y="6019800"/>
            <a:ext cx="10058400" cy="5524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1250" b="0">
                <a:solidFill>
                  <a:srgbClr val="2563EB"/>
                </a:solidFill>
                <a:latin typeface="PingFang SC"/>
              </a:rPr>
              <a:t>▶ 平台在测试里演示全套 API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0287000" y="6534150"/>
            <a:ext cx="1619250" cy="2667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>
              <a:lnSpc>
                <a:spcPct val="100000"/>
              </a:lnSpc>
            </a:pPr>
            <a:r>
              <a:rPr sz="900" b="0">
                <a:solidFill>
                  <a:srgbClr val="94A3B8"/>
                </a:solidFill>
                <a:latin typeface="PingFang SC"/>
              </a:rPr>
              <a:t>第2章 · 33/141</a:t>
            </a:r>
          </a:p>
        </p:txBody>
      </p:sp>
    </p:spTree>
  </p:cSld>
  <p:clrMapOvr>
    <a:masterClrMapping/>
  </p:clrMapOvr>
</p:sld>
</file>

<file path=ppt/slides/slide3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704850"/>
          </a:xfrm>
          <a:prstGeom prst="rect">
            <a:avLst/>
          </a:prstGeom>
          <a:solidFill>
            <a:srgbClr val="0B1D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76200" cy="704850"/>
          </a:xfrm>
          <a:prstGeom prst="rect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266700" y="0"/>
            <a:ext cx="10287000" cy="7048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2000" b="1">
                <a:solidFill>
                  <a:srgbClr val="FFFFFF"/>
                </a:solidFill>
                <a:latin typeface="PingFang SC"/>
              </a:rPr>
              <a:t>发现:让 Agent 找到工具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334500" y="0"/>
            <a:ext cx="2667000" cy="7048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>
              <a:lnSpc>
                <a:spcPct val="100000"/>
              </a:lnSpc>
            </a:pPr>
            <a:r>
              <a:rPr sz="1100" b="0">
                <a:solidFill>
                  <a:srgbClr val="94A3B8"/>
                </a:solidFill>
                <a:latin typeface="PingFang SC"/>
              </a:rPr>
              <a:t>第2章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876300" y="914400"/>
            <a:ext cx="10439400" cy="10287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DDE5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876300" y="914400"/>
            <a:ext cx="57150" cy="1028700"/>
          </a:xfrm>
          <a:prstGeom prst="rect">
            <a:avLst/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ounded Rectangle 7"/>
          <p:cNvSpPr/>
          <p:nvPr/>
        </p:nvSpPr>
        <p:spPr>
          <a:xfrm>
            <a:off x="1047750" y="1285875"/>
            <a:ext cx="285750" cy="285750"/>
          </a:xfrm>
          <a:prstGeom prst="roundRect">
            <a:avLst>
              <a:gd name="adj" fmla="val 8000"/>
            </a:avLst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047750" y="1276350"/>
            <a:ext cx="285750" cy="2857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300" b="1">
                <a:solidFill>
                  <a:srgbClr val="FFFFFF"/>
                </a:solidFill>
                <a:latin typeface="PingFang SC"/>
              </a:rPr>
              <a:t>1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485900" y="914400"/>
            <a:ext cx="9601200" cy="10287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12000"/>
              </a:lnSpc>
            </a:pPr>
            <a:r>
              <a:rPr sz="1400" b="1">
                <a:solidFill>
                  <a:srgbClr val="475569"/>
                </a:solidFill>
                <a:latin typeface="PingFang SC"/>
              </a:rPr>
              <a:t>按关键词搜名称与描述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876300" y="2114550"/>
            <a:ext cx="10439400" cy="10287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DDE5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876300" y="2114550"/>
            <a:ext cx="57150" cy="1028700"/>
          </a:xfrm>
          <a:prstGeom prst="rect">
            <a:avLst/>
          </a:prstGeom>
          <a:solidFill>
            <a:srgbClr val="14B8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ounded Rectangle 12"/>
          <p:cNvSpPr/>
          <p:nvPr/>
        </p:nvSpPr>
        <p:spPr>
          <a:xfrm>
            <a:off x="1047750" y="2486025"/>
            <a:ext cx="285750" cy="285750"/>
          </a:xfrm>
          <a:prstGeom prst="roundRect">
            <a:avLst>
              <a:gd name="adj" fmla="val 8000"/>
            </a:avLst>
          </a:prstGeom>
          <a:solidFill>
            <a:srgbClr val="14B8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1047750" y="2476500"/>
            <a:ext cx="285750" cy="2857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300" b="1">
                <a:solidFill>
                  <a:srgbClr val="FFFFFF"/>
                </a:solidFill>
                <a:latin typeface="PingFang SC"/>
              </a:rPr>
              <a:t>2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485900" y="2114550"/>
            <a:ext cx="9601200" cy="10287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12000"/>
              </a:lnSpc>
            </a:pPr>
            <a:r>
              <a:rPr sz="1400" b="1">
                <a:solidFill>
                  <a:srgbClr val="475569"/>
                </a:solidFill>
                <a:latin typeface="PingFang SC"/>
              </a:rPr>
              <a:t>按分类/风险过滤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876300" y="3314700"/>
            <a:ext cx="10439400" cy="10287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DDE5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876300" y="3314700"/>
            <a:ext cx="57150" cy="1028700"/>
          </a:xfrm>
          <a:prstGeom prst="rect">
            <a:avLst/>
          </a:prstGeom>
          <a:solidFill>
            <a:srgbClr val="8B5C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ounded Rectangle 17"/>
          <p:cNvSpPr/>
          <p:nvPr/>
        </p:nvSpPr>
        <p:spPr>
          <a:xfrm>
            <a:off x="1047750" y="3686175"/>
            <a:ext cx="285750" cy="285750"/>
          </a:xfrm>
          <a:prstGeom prst="roundRect">
            <a:avLst>
              <a:gd name="adj" fmla="val 8000"/>
            </a:avLst>
          </a:prstGeom>
          <a:solidFill>
            <a:srgbClr val="8B5C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1047750" y="3676650"/>
            <a:ext cx="285750" cy="2857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300" b="1">
                <a:solidFill>
                  <a:srgbClr val="FFFFFF"/>
                </a:solidFill>
                <a:latin typeface="PingFang SC"/>
              </a:rPr>
              <a:t>3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485900" y="3314700"/>
            <a:ext cx="9601200" cy="10287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12000"/>
              </a:lnSpc>
            </a:pPr>
            <a:r>
              <a:rPr sz="1400" b="1">
                <a:solidFill>
                  <a:srgbClr val="475569"/>
                </a:solidFill>
                <a:latin typeface="PingFang SC"/>
              </a:rPr>
              <a:t>只暴露 enabled 的工具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876300" y="6019800"/>
            <a:ext cx="10439400" cy="514350"/>
          </a:xfrm>
          <a:prstGeom prst="roundRect">
            <a:avLst>
              <a:gd name="adj" fmla="val 8000"/>
            </a:avLst>
          </a:prstGeom>
          <a:solidFill>
            <a:srgbClr val="F1F5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1066800" y="6019800"/>
            <a:ext cx="10058400" cy="5524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1250" b="0">
                <a:solidFill>
                  <a:srgbClr val="2563EB"/>
                </a:solidFill>
                <a:latin typeface="PingFang SC"/>
              </a:rPr>
              <a:t>▶ discover("天气") 立即可用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0287000" y="6534150"/>
            <a:ext cx="1619250" cy="2667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>
              <a:lnSpc>
                <a:spcPct val="100000"/>
              </a:lnSpc>
            </a:pPr>
            <a:r>
              <a:rPr sz="900" b="0">
                <a:solidFill>
                  <a:srgbClr val="94A3B8"/>
                </a:solidFill>
                <a:latin typeface="PingFang SC"/>
              </a:rPr>
              <a:t>第2章 · 34/141</a:t>
            </a:r>
          </a:p>
        </p:txBody>
      </p:sp>
    </p:spTree>
  </p:cSld>
  <p:clrMapOvr>
    <a:masterClrMapping/>
  </p:clrMapOvr>
</p:sld>
</file>

<file path=ppt/slides/slide3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704850"/>
          </a:xfrm>
          <a:prstGeom prst="rect">
            <a:avLst/>
          </a:prstGeom>
          <a:solidFill>
            <a:srgbClr val="0B1D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76200" cy="704850"/>
          </a:xfrm>
          <a:prstGeom prst="rect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266700" y="0"/>
            <a:ext cx="10287000" cy="7048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2000" b="1">
                <a:solidFill>
                  <a:srgbClr val="FFFFFF"/>
                </a:solidFill>
                <a:latin typeface="PingFang SC"/>
              </a:rPr>
              <a:t>discover 检索实测,$ reg.discover("天气");ToolSpec(name='get_weather', risk=READ);$ reg.discover("删除");(空)  # 已 disable 的不出现;# 只返回 enabled:下线即刻生效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334500" y="0"/>
            <a:ext cx="2667000" cy="7048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>
              <a:lnSpc>
                <a:spcPct val="100000"/>
              </a:lnSpc>
            </a:pPr>
            <a:r>
              <a:rPr sz="1100" b="0">
                <a:solidFill>
                  <a:srgbClr val="94A3B8"/>
                </a:solidFill>
                <a:latin typeface="PingFang SC"/>
              </a:rPr>
              <a:t>tests 真实断言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1333500" y="952500"/>
            <a:ext cx="9525000" cy="5048250"/>
          </a:xfrm>
          <a:prstGeom prst="roundRect">
            <a:avLst>
              <a:gd name="adj" fmla="val 8000"/>
            </a:avLst>
          </a:prstGeom>
          <a:solidFill>
            <a:srgbClr val="0D111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1333500" y="952500"/>
            <a:ext cx="9525000" cy="381000"/>
          </a:xfrm>
          <a:prstGeom prst="rect">
            <a:avLst/>
          </a:prstGeom>
          <a:solidFill>
            <a:srgbClr val="1F293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ounded Rectangle 7"/>
          <p:cNvSpPr/>
          <p:nvPr/>
        </p:nvSpPr>
        <p:spPr>
          <a:xfrm>
            <a:off x="1504950" y="1085850"/>
            <a:ext cx="123825" cy="123825"/>
          </a:xfrm>
          <a:prstGeom prst="roundRect">
            <a:avLst>
              <a:gd name="adj" fmla="val 8000"/>
            </a:avLst>
          </a:prstGeom>
          <a:solidFill>
            <a:srgbClr val="F8717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ounded Rectangle 8"/>
          <p:cNvSpPr/>
          <p:nvPr/>
        </p:nvSpPr>
        <p:spPr>
          <a:xfrm>
            <a:off x="1752600" y="1085850"/>
            <a:ext cx="123825" cy="123825"/>
          </a:xfrm>
          <a:prstGeom prst="roundRect">
            <a:avLst>
              <a:gd name="adj" fmla="val 8000"/>
            </a:avLst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ounded Rectangle 9"/>
          <p:cNvSpPr/>
          <p:nvPr/>
        </p:nvSpPr>
        <p:spPr>
          <a:xfrm>
            <a:off x="2000250" y="1085850"/>
            <a:ext cx="123825" cy="123825"/>
          </a:xfrm>
          <a:prstGeom prst="roundRect">
            <a:avLst>
              <a:gd name="adj" fmla="val 8000"/>
            </a:avLst>
          </a:prstGeom>
          <a:solidFill>
            <a:srgbClr val="34D39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2381250" y="952500"/>
            <a:ext cx="8286750" cy="381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1100" b="0">
                <a:solidFill>
                  <a:srgbClr val="94A3B8"/>
                </a:solidFill>
                <a:latin typeface="PingFang SC"/>
              </a:rPr>
              <a:t>terminal — 平台实测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562100" y="1485900"/>
            <a:ext cx="9067800" cy="43815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</a:pPr>
            <a:r>
              <a:rPr sz="1300">
                <a:solidFill>
                  <a:srgbClr val="CBD5E1"/>
                </a:solidFill>
                <a:latin typeface="Menlo"/>
              </a:rPr>
              <a:t>tests 真实断言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0287000" y="6534150"/>
            <a:ext cx="1619250" cy="2667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>
              <a:lnSpc>
                <a:spcPct val="100000"/>
              </a:lnSpc>
            </a:pPr>
            <a:r>
              <a:rPr sz="900" b="0">
                <a:solidFill>
                  <a:srgbClr val="94A3B8"/>
                </a:solidFill>
                <a:latin typeface="PingFang SC"/>
              </a:rPr>
              <a:t>第2章 · 35/141</a:t>
            </a:r>
          </a:p>
        </p:txBody>
      </p:sp>
    </p:spTree>
  </p:cSld>
  <p:clrMapOvr>
    <a:masterClrMapping/>
  </p:clrMapOvr>
</p:sld>
</file>

<file path=ppt/slides/slide3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704850"/>
          </a:xfrm>
          <a:prstGeom prst="rect">
            <a:avLst/>
          </a:prstGeom>
          <a:solidFill>
            <a:srgbClr val="0B1D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76200" cy="704850"/>
          </a:xfrm>
          <a:prstGeom prst="rect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266700" y="0"/>
            <a:ext cx="10287000" cy="7048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2000" b="1">
                <a:solidFill>
                  <a:srgbClr val="FFFFFF"/>
                </a:solidFill>
                <a:latin typeface="PingFang SC"/>
              </a:rPr>
              <a:t>元数据:超越函数签名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334500" y="0"/>
            <a:ext cx="2667000" cy="7048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>
              <a:lnSpc>
                <a:spcPct val="100000"/>
              </a:lnSpc>
            </a:pPr>
            <a:r>
              <a:rPr sz="1100" b="0">
                <a:solidFill>
                  <a:srgbClr val="94A3B8"/>
                </a:solidFill>
                <a:latin typeface="PingFang SC"/>
              </a:rPr>
              <a:t>第2章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876300" y="914400"/>
            <a:ext cx="10439400" cy="10287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DDE5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876300" y="914400"/>
            <a:ext cx="57150" cy="1028700"/>
          </a:xfrm>
          <a:prstGeom prst="rect">
            <a:avLst/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ounded Rectangle 7"/>
          <p:cNvSpPr/>
          <p:nvPr/>
        </p:nvSpPr>
        <p:spPr>
          <a:xfrm>
            <a:off x="1047750" y="1285875"/>
            <a:ext cx="285750" cy="285750"/>
          </a:xfrm>
          <a:prstGeom prst="roundRect">
            <a:avLst>
              <a:gd name="adj" fmla="val 8000"/>
            </a:avLst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047750" y="1276350"/>
            <a:ext cx="285750" cy="2857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300" b="1">
                <a:solidFill>
                  <a:srgbClr val="FFFFFF"/>
                </a:solidFill>
                <a:latin typeface="PingFang SC"/>
              </a:rPr>
              <a:t>1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485900" y="914400"/>
            <a:ext cx="9601200" cy="10287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12000"/>
              </a:lnSpc>
            </a:pPr>
            <a:r>
              <a:rPr sz="1400" b="1">
                <a:solidFill>
                  <a:srgbClr val="475569"/>
                </a:solidFill>
                <a:latin typeface="PingFang SC"/>
              </a:rPr>
              <a:t>业务域/负责人/依赖服务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876300" y="2114550"/>
            <a:ext cx="10439400" cy="10287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DDE5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876300" y="2114550"/>
            <a:ext cx="57150" cy="1028700"/>
          </a:xfrm>
          <a:prstGeom prst="rect">
            <a:avLst/>
          </a:prstGeom>
          <a:solidFill>
            <a:srgbClr val="14B8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ounded Rectangle 12"/>
          <p:cNvSpPr/>
          <p:nvPr/>
        </p:nvSpPr>
        <p:spPr>
          <a:xfrm>
            <a:off x="1047750" y="2486025"/>
            <a:ext cx="285750" cy="285750"/>
          </a:xfrm>
          <a:prstGeom prst="roundRect">
            <a:avLst>
              <a:gd name="adj" fmla="val 8000"/>
            </a:avLst>
          </a:prstGeom>
          <a:solidFill>
            <a:srgbClr val="14B8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1047750" y="2476500"/>
            <a:ext cx="285750" cy="2857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300" b="1">
                <a:solidFill>
                  <a:srgbClr val="FFFFFF"/>
                </a:solidFill>
                <a:latin typeface="PingFang SC"/>
              </a:rPr>
              <a:t>2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485900" y="2114550"/>
            <a:ext cx="9601200" cy="10287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12000"/>
              </a:lnSpc>
            </a:pPr>
            <a:r>
              <a:rPr sz="1400" b="1">
                <a:solidFill>
                  <a:srgbClr val="475569"/>
                </a:solidFill>
                <a:latin typeface="PingFang SC"/>
              </a:rPr>
              <a:t>所需密钥与外部资源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876300" y="3314700"/>
            <a:ext cx="10439400" cy="10287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DDE5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876300" y="3314700"/>
            <a:ext cx="57150" cy="1028700"/>
          </a:xfrm>
          <a:prstGeom prst="rect">
            <a:avLst/>
          </a:prstGeom>
          <a:solidFill>
            <a:srgbClr val="8B5C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ounded Rectangle 17"/>
          <p:cNvSpPr/>
          <p:nvPr/>
        </p:nvSpPr>
        <p:spPr>
          <a:xfrm>
            <a:off x="1047750" y="3686175"/>
            <a:ext cx="285750" cy="285750"/>
          </a:xfrm>
          <a:prstGeom prst="roundRect">
            <a:avLst>
              <a:gd name="adj" fmla="val 8000"/>
            </a:avLst>
          </a:prstGeom>
          <a:solidFill>
            <a:srgbClr val="8B5C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1047750" y="3676650"/>
            <a:ext cx="285750" cy="2857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300" b="1">
                <a:solidFill>
                  <a:srgbClr val="FFFFFF"/>
                </a:solidFill>
                <a:latin typeface="PingFang SC"/>
              </a:rPr>
              <a:t>3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485900" y="3314700"/>
            <a:ext cx="9601200" cy="10287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12000"/>
              </a:lnSpc>
            </a:pPr>
            <a:r>
              <a:rPr sz="1400" b="1">
                <a:solidFill>
                  <a:srgbClr val="475569"/>
                </a:solidFill>
                <a:latin typeface="PingFang SC"/>
              </a:rPr>
              <a:t>文档链接与变更记录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876300" y="6019800"/>
            <a:ext cx="10439400" cy="514350"/>
          </a:xfrm>
          <a:prstGeom prst="roundRect">
            <a:avLst>
              <a:gd name="adj" fmla="val 8000"/>
            </a:avLst>
          </a:prstGeom>
          <a:solidFill>
            <a:srgbClr val="F1F5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1066800" y="6019800"/>
            <a:ext cx="10058400" cy="5524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1250" b="0">
                <a:solidFill>
                  <a:srgbClr val="2563EB"/>
                </a:solidFill>
                <a:latin typeface="PingFang SC"/>
              </a:rPr>
              <a:t>▶ 元数据是治理的原料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0287000" y="6534150"/>
            <a:ext cx="1619250" cy="2667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>
              <a:lnSpc>
                <a:spcPct val="100000"/>
              </a:lnSpc>
            </a:pPr>
            <a:r>
              <a:rPr sz="900" b="0">
                <a:solidFill>
                  <a:srgbClr val="94A3B8"/>
                </a:solidFill>
                <a:latin typeface="PingFang SC"/>
              </a:rPr>
              <a:t>第2章 · 36/141</a:t>
            </a:r>
          </a:p>
        </p:txBody>
      </p:sp>
    </p:spTree>
  </p:cSld>
  <p:clrMapOvr>
    <a:masterClrMapping/>
  </p:clrMapOvr>
</p:sld>
</file>

<file path=ppt/slides/slide3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704850"/>
          </a:xfrm>
          <a:prstGeom prst="rect">
            <a:avLst/>
          </a:prstGeom>
          <a:solidFill>
            <a:srgbClr val="0B1D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76200" cy="704850"/>
          </a:xfrm>
          <a:prstGeom prst="rect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266700" y="0"/>
            <a:ext cx="10287000" cy="7048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2000" b="1">
                <a:solidFill>
                  <a:srgbClr val="FFFFFF"/>
                </a:solidFill>
                <a:latin typeface="PingFang SC"/>
              </a:rPr>
              <a:t>分类维度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334500" y="0"/>
            <a:ext cx="2667000" cy="7048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>
              <a:lnSpc>
                <a:spcPct val="100000"/>
              </a:lnSpc>
            </a:pPr>
            <a:r>
              <a:rPr sz="1100" b="0">
                <a:solidFill>
                  <a:srgbClr val="94A3B8"/>
                </a:solidFill>
                <a:latin typeface="PingFang SC"/>
              </a:rPr>
              <a:t>第2章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876300" y="914400"/>
            <a:ext cx="10439400" cy="10287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DDE5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876300" y="914400"/>
            <a:ext cx="57150" cy="1028700"/>
          </a:xfrm>
          <a:prstGeom prst="rect">
            <a:avLst/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ounded Rectangle 7"/>
          <p:cNvSpPr/>
          <p:nvPr/>
        </p:nvSpPr>
        <p:spPr>
          <a:xfrm>
            <a:off x="1047750" y="1285875"/>
            <a:ext cx="285750" cy="285750"/>
          </a:xfrm>
          <a:prstGeom prst="roundRect">
            <a:avLst>
              <a:gd name="adj" fmla="val 8000"/>
            </a:avLst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047750" y="1276350"/>
            <a:ext cx="285750" cy="2857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300" b="1">
                <a:solidFill>
                  <a:srgbClr val="FFFFFF"/>
                </a:solidFill>
                <a:latin typeface="PingFang SC"/>
              </a:rPr>
              <a:t>1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485900" y="914400"/>
            <a:ext cx="9601200" cy="10287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12000"/>
              </a:lnSpc>
            </a:pPr>
            <a:r>
              <a:rPr sz="1400" b="1">
                <a:solidFill>
                  <a:srgbClr val="475569"/>
                </a:solidFill>
                <a:latin typeface="PingFang SC"/>
              </a:rPr>
              <a:t>业务类型:查询/写入/通知/计算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876300" y="2114550"/>
            <a:ext cx="10439400" cy="10287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DDE5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876300" y="2114550"/>
            <a:ext cx="57150" cy="1028700"/>
          </a:xfrm>
          <a:prstGeom prst="rect">
            <a:avLst/>
          </a:prstGeom>
          <a:solidFill>
            <a:srgbClr val="14B8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ounded Rectangle 12"/>
          <p:cNvSpPr/>
          <p:nvPr/>
        </p:nvSpPr>
        <p:spPr>
          <a:xfrm>
            <a:off x="1047750" y="2486025"/>
            <a:ext cx="285750" cy="285750"/>
          </a:xfrm>
          <a:prstGeom prst="roundRect">
            <a:avLst>
              <a:gd name="adj" fmla="val 8000"/>
            </a:avLst>
          </a:prstGeom>
          <a:solidFill>
            <a:srgbClr val="14B8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1047750" y="2476500"/>
            <a:ext cx="285750" cy="2857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300" b="1">
                <a:solidFill>
                  <a:srgbClr val="FFFFFF"/>
                </a:solidFill>
                <a:latin typeface="PingFang SC"/>
              </a:rPr>
              <a:t>2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485900" y="2114550"/>
            <a:ext cx="9601200" cy="10287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12000"/>
              </a:lnSpc>
            </a:pPr>
            <a:r>
              <a:rPr sz="1400" b="1">
                <a:solidFill>
                  <a:srgbClr val="475569"/>
                </a:solidFill>
                <a:latin typeface="PingFang SC"/>
              </a:rPr>
              <a:t>读写属性:READ/WRITE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876300" y="3314700"/>
            <a:ext cx="10439400" cy="10287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DDE5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876300" y="3314700"/>
            <a:ext cx="57150" cy="1028700"/>
          </a:xfrm>
          <a:prstGeom prst="rect">
            <a:avLst/>
          </a:prstGeom>
          <a:solidFill>
            <a:srgbClr val="8B5C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ounded Rectangle 17"/>
          <p:cNvSpPr/>
          <p:nvPr/>
        </p:nvSpPr>
        <p:spPr>
          <a:xfrm>
            <a:off x="1047750" y="3686175"/>
            <a:ext cx="285750" cy="285750"/>
          </a:xfrm>
          <a:prstGeom prst="roundRect">
            <a:avLst>
              <a:gd name="adj" fmla="val 8000"/>
            </a:avLst>
          </a:prstGeom>
          <a:solidFill>
            <a:srgbClr val="8B5C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1047750" y="3676650"/>
            <a:ext cx="285750" cy="2857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300" b="1">
                <a:solidFill>
                  <a:srgbClr val="FFFFFF"/>
                </a:solidFill>
                <a:latin typeface="PingFang SC"/>
              </a:rPr>
              <a:t>3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485900" y="3314700"/>
            <a:ext cx="9601200" cy="10287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12000"/>
              </a:lnSpc>
            </a:pPr>
            <a:r>
              <a:rPr sz="1400" b="1">
                <a:solidFill>
                  <a:srgbClr val="475569"/>
                </a:solidFill>
                <a:latin typeface="PingFang SC"/>
              </a:rPr>
              <a:t>风险级别:READ/WRITE/DANGEROUS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876300" y="6019800"/>
            <a:ext cx="10439400" cy="514350"/>
          </a:xfrm>
          <a:prstGeom prst="roundRect">
            <a:avLst>
              <a:gd name="adj" fmla="val 8000"/>
            </a:avLst>
          </a:prstGeom>
          <a:solidFill>
            <a:srgbClr val="F1F5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1066800" y="6019800"/>
            <a:ext cx="10058400" cy="5524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1250" b="0">
                <a:solidFill>
                  <a:srgbClr val="2563EB"/>
                </a:solidFill>
                <a:latin typeface="PingFang SC"/>
              </a:rPr>
              <a:t>▶ 一个工具可有多分类标签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0287000" y="6534150"/>
            <a:ext cx="1619250" cy="2667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>
              <a:lnSpc>
                <a:spcPct val="100000"/>
              </a:lnSpc>
            </a:pPr>
            <a:r>
              <a:rPr sz="900" b="0">
                <a:solidFill>
                  <a:srgbClr val="94A3B8"/>
                </a:solidFill>
                <a:latin typeface="PingFang SC"/>
              </a:rPr>
              <a:t>第2章 · 37/141</a:t>
            </a:r>
          </a:p>
        </p:txBody>
      </p:sp>
    </p:spTree>
  </p:cSld>
  <p:clrMapOvr>
    <a:masterClrMapping/>
  </p:clrMapOvr>
</p:sld>
</file>

<file path=ppt/slides/slide3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704850"/>
          </a:xfrm>
          <a:prstGeom prst="rect">
            <a:avLst/>
          </a:prstGeom>
          <a:solidFill>
            <a:srgbClr val="0B1D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76200" cy="704850"/>
          </a:xfrm>
          <a:prstGeom prst="rect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266700" y="0"/>
            <a:ext cx="10287000" cy="7048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2000" b="1">
                <a:solidFill>
                  <a:srgbClr val="FFFFFF"/>
                </a:solidFill>
                <a:latin typeface="PingFang SC"/>
              </a:rPr>
              <a:t>工具三维护分类,业务域,读写属性,风险级别;查询类,READ,低;写入类,WRITE,中;运维类,WRITE/高危,高;数据销毁,DANGEROUS,极高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1143000" y="1047750"/>
            <a:ext cx="9906000" cy="561975"/>
          </a:xfrm>
          <a:prstGeom prst="roundRect">
            <a:avLst>
              <a:gd name="adj" fmla="val 8000"/>
            </a:avLst>
          </a:prstGeom>
          <a:solidFill>
            <a:srgbClr val="0B1D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257300" y="1047750"/>
            <a:ext cx="9696450" cy="561975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1300" b="1">
                <a:solidFill>
                  <a:srgbClr val="FFFFFF"/>
                </a:solidFill>
                <a:latin typeface="PingFang SC"/>
              </a:rPr>
              <a:t>hl=2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287000" y="6534150"/>
            <a:ext cx="1619250" cy="2667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>
              <a:lnSpc>
                <a:spcPct val="100000"/>
              </a:lnSpc>
            </a:pPr>
            <a:r>
              <a:rPr sz="900" b="0">
                <a:solidFill>
                  <a:srgbClr val="94A3B8"/>
                </a:solidFill>
                <a:latin typeface="PingFang SC"/>
              </a:rPr>
              <a:t>第2章 · 38/141</a:t>
            </a:r>
          </a:p>
        </p:txBody>
      </p:sp>
    </p:spTree>
  </p:cSld>
  <p:clrMapOvr>
    <a:masterClrMapping/>
  </p:clrMapOvr>
</p:sld>
</file>

<file path=ppt/slides/slide3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704850"/>
          </a:xfrm>
          <a:prstGeom prst="rect">
            <a:avLst/>
          </a:prstGeom>
          <a:solidFill>
            <a:srgbClr val="0B1D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76200" cy="704850"/>
          </a:xfrm>
          <a:prstGeom prst="rect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266700" y="0"/>
            <a:ext cx="10287000" cy="7048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2000" b="1">
                <a:solidFill>
                  <a:srgbClr val="FFFFFF"/>
                </a:solidFill>
                <a:latin typeface="PingFang SC"/>
              </a:rPr>
              <a:t>版本管理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334500" y="0"/>
            <a:ext cx="2667000" cy="7048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>
              <a:lnSpc>
                <a:spcPct val="100000"/>
              </a:lnSpc>
            </a:pPr>
            <a:r>
              <a:rPr sz="1100" b="0">
                <a:solidFill>
                  <a:srgbClr val="94A3B8"/>
                </a:solidFill>
                <a:latin typeface="PingFang SC"/>
              </a:rPr>
              <a:t>第2章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876300" y="914400"/>
            <a:ext cx="10439400" cy="10287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DDE5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876300" y="914400"/>
            <a:ext cx="57150" cy="1028700"/>
          </a:xfrm>
          <a:prstGeom prst="rect">
            <a:avLst/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ounded Rectangle 7"/>
          <p:cNvSpPr/>
          <p:nvPr/>
        </p:nvSpPr>
        <p:spPr>
          <a:xfrm>
            <a:off x="1047750" y="1285875"/>
            <a:ext cx="285750" cy="285750"/>
          </a:xfrm>
          <a:prstGeom prst="roundRect">
            <a:avLst>
              <a:gd name="adj" fmla="val 8000"/>
            </a:avLst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047750" y="1276350"/>
            <a:ext cx="285750" cy="2857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300" b="1">
                <a:solidFill>
                  <a:srgbClr val="FFFFFF"/>
                </a:solidFill>
                <a:latin typeface="PingFang SC"/>
              </a:rPr>
              <a:t>1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485900" y="914400"/>
            <a:ext cx="9601200" cy="10287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12000"/>
              </a:lnSpc>
            </a:pPr>
            <a:r>
              <a:rPr sz="1400" b="1">
                <a:solidFill>
                  <a:srgbClr val="475569"/>
                </a:solidFill>
                <a:latin typeface="PingFang SC"/>
              </a:rPr>
              <a:t>Schema 变更必须升版本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876300" y="2114550"/>
            <a:ext cx="10439400" cy="10287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DDE5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876300" y="2114550"/>
            <a:ext cx="57150" cy="1028700"/>
          </a:xfrm>
          <a:prstGeom prst="rect">
            <a:avLst/>
          </a:prstGeom>
          <a:solidFill>
            <a:srgbClr val="14B8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ounded Rectangle 12"/>
          <p:cNvSpPr/>
          <p:nvPr/>
        </p:nvSpPr>
        <p:spPr>
          <a:xfrm>
            <a:off x="1047750" y="2486025"/>
            <a:ext cx="285750" cy="285750"/>
          </a:xfrm>
          <a:prstGeom prst="roundRect">
            <a:avLst>
              <a:gd name="adj" fmla="val 8000"/>
            </a:avLst>
          </a:prstGeom>
          <a:solidFill>
            <a:srgbClr val="14B8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1047750" y="2476500"/>
            <a:ext cx="285750" cy="2857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300" b="1">
                <a:solidFill>
                  <a:srgbClr val="FFFFFF"/>
                </a:solidFill>
                <a:latin typeface="PingFang SC"/>
              </a:rPr>
              <a:t>2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485900" y="2114550"/>
            <a:ext cx="9601200" cy="10287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12000"/>
              </a:lnSpc>
            </a:pPr>
            <a:r>
              <a:rPr sz="1400" b="1">
                <a:solidFill>
                  <a:srgbClr val="475569"/>
                </a:solidFill>
                <a:latin typeface="PingFang SC"/>
              </a:rPr>
              <a:t>兼容旧参数一个周期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876300" y="3314700"/>
            <a:ext cx="10439400" cy="10287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DDE5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876300" y="3314700"/>
            <a:ext cx="57150" cy="1028700"/>
          </a:xfrm>
          <a:prstGeom prst="rect">
            <a:avLst/>
          </a:prstGeom>
          <a:solidFill>
            <a:srgbClr val="8B5C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ounded Rectangle 17"/>
          <p:cNvSpPr/>
          <p:nvPr/>
        </p:nvSpPr>
        <p:spPr>
          <a:xfrm>
            <a:off x="1047750" y="3686175"/>
            <a:ext cx="285750" cy="285750"/>
          </a:xfrm>
          <a:prstGeom prst="roundRect">
            <a:avLst>
              <a:gd name="adj" fmla="val 8000"/>
            </a:avLst>
          </a:prstGeom>
          <a:solidFill>
            <a:srgbClr val="8B5C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1047750" y="3676650"/>
            <a:ext cx="285750" cy="2857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300" b="1">
                <a:solidFill>
                  <a:srgbClr val="FFFFFF"/>
                </a:solidFill>
                <a:latin typeface="PingFang SC"/>
              </a:rPr>
              <a:t>3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485900" y="3314700"/>
            <a:ext cx="9601200" cy="10287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12000"/>
              </a:lnSpc>
            </a:pPr>
            <a:r>
              <a:rPr sz="1400" b="1">
                <a:solidFill>
                  <a:srgbClr val="475569"/>
                </a:solidFill>
                <a:latin typeface="PingFang SC"/>
              </a:rPr>
              <a:t>灰度:新旧版本并存按流量切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876300" y="6019800"/>
            <a:ext cx="10439400" cy="514350"/>
          </a:xfrm>
          <a:prstGeom prst="roundRect">
            <a:avLst>
              <a:gd name="adj" fmla="val 8000"/>
            </a:avLst>
          </a:prstGeom>
          <a:solidFill>
            <a:srgbClr val="F1F5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1066800" y="6019800"/>
            <a:ext cx="10058400" cy="5524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1250" b="0">
                <a:solidFill>
                  <a:srgbClr val="2563EB"/>
                </a:solidFill>
                <a:latin typeface="PingFang SC"/>
              </a:rPr>
              <a:t>▶ 平台 SkillRegistry 同思路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0287000" y="6534150"/>
            <a:ext cx="1619250" cy="2667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>
              <a:lnSpc>
                <a:spcPct val="100000"/>
              </a:lnSpc>
            </a:pPr>
            <a:r>
              <a:rPr sz="900" b="0">
                <a:solidFill>
                  <a:srgbClr val="94A3B8"/>
                </a:solidFill>
                <a:latin typeface="PingFang SC"/>
              </a:rPr>
              <a:t>第2章 · 39/141</a:t>
            </a:r>
          </a:p>
        </p:txBody>
      </p:sp>
    </p:spTree>
  </p:cSld>
  <p:clrMapOvr>
    <a:masterClrMapping/>
  </p:clrMapOvr>
</p:sld>
</file>

<file path=ppt/slides/slide4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704850"/>
          </a:xfrm>
          <a:prstGeom prst="rect">
            <a:avLst/>
          </a:prstGeom>
          <a:solidFill>
            <a:srgbClr val="0B1D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76200" cy="704850"/>
          </a:xfrm>
          <a:prstGeom prst="rect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266700" y="0"/>
            <a:ext cx="10287000" cy="7048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2000" b="1">
                <a:solidFill>
                  <a:srgbClr val="FFFFFF"/>
                </a:solidFill>
                <a:latin typeface="PingFang SC"/>
              </a:rPr>
              <a:t>工具版本生命周期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334500" y="0"/>
            <a:ext cx="2667000" cy="7048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>
              <a:lnSpc>
                <a:spcPct val="100000"/>
              </a:lnSpc>
            </a:pPr>
            <a:r>
              <a:rPr sz="1100" b="0">
                <a:solidFill>
                  <a:srgbClr val="94A3B8"/>
                </a:solidFill>
                <a:latin typeface="PingFang SC"/>
              </a:rPr>
              <a:t>注册:Schema+实现绑定;上架:审批+文档;灰度:10% 流量验证;全量:健康分达标;下线:一键热禁用|平台 disable() 已实现</a:t>
            </a:r>
          </a:p>
        </p:txBody>
      </p:sp>
      <p:sp>
        <p:nvSpPr>
          <p:cNvPr id="6" name="Rectangle 5"/>
          <p:cNvSpPr/>
          <p:nvPr/>
        </p:nvSpPr>
        <p:spPr>
          <a:xfrm>
            <a:off x="1619250" y="3314700"/>
            <a:ext cx="8953500" cy="38100"/>
          </a:xfrm>
          <a:prstGeom prst="rect">
            <a:avLst/>
          </a:prstGeom>
          <a:solidFill>
            <a:srgbClr val="DDE5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ounded Rectangle 6"/>
          <p:cNvSpPr/>
          <p:nvPr/>
        </p:nvSpPr>
        <p:spPr>
          <a:xfrm>
            <a:off x="1514475" y="3228975"/>
            <a:ext cx="209550" cy="209550"/>
          </a:xfrm>
          <a:prstGeom prst="roundRect">
            <a:avLst>
              <a:gd name="adj" fmla="val 8000"/>
            </a:avLst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ounded Rectangle 7"/>
          <p:cNvSpPr/>
          <p:nvPr/>
        </p:nvSpPr>
        <p:spPr>
          <a:xfrm>
            <a:off x="190500" y="1905000"/>
            <a:ext cx="2857500" cy="1123950"/>
          </a:xfrm>
          <a:prstGeom prst="roundRect">
            <a:avLst>
              <a:gd name="adj" fmla="val 8000"/>
            </a:avLst>
          </a:prstGeom>
          <a:solidFill>
            <a:srgbClr val="F1F5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190500" y="1905000"/>
            <a:ext cx="2857500" cy="38100"/>
          </a:xfrm>
          <a:prstGeom prst="rect">
            <a:avLst/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285750" y="2000250"/>
            <a:ext cx="2667000" cy="2857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400" b="1">
                <a:solidFill>
                  <a:srgbClr val="2563EB"/>
                </a:solidFill>
                <a:latin typeface="PingFang SC"/>
              </a:rPr>
              <a:t>注册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285750" y="2305050"/>
            <a:ext cx="2667000" cy="6667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5000"/>
              </a:lnSpc>
            </a:pPr>
            <a:r>
              <a:rPr sz="1050" b="0">
                <a:solidFill>
                  <a:srgbClr val="475569"/>
                </a:solidFill>
                <a:latin typeface="PingFang SC"/>
              </a:rPr>
              <a:t>Schema+实现绑定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3752850" y="3228975"/>
            <a:ext cx="209550" cy="209550"/>
          </a:xfrm>
          <a:prstGeom prst="roundRect">
            <a:avLst>
              <a:gd name="adj" fmla="val 8000"/>
            </a:avLst>
          </a:prstGeom>
          <a:solidFill>
            <a:srgbClr val="14B8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ounded Rectangle 12"/>
          <p:cNvSpPr/>
          <p:nvPr/>
        </p:nvSpPr>
        <p:spPr>
          <a:xfrm>
            <a:off x="2428875" y="3619500"/>
            <a:ext cx="2857500" cy="1123950"/>
          </a:xfrm>
          <a:prstGeom prst="roundRect">
            <a:avLst>
              <a:gd name="adj" fmla="val 8000"/>
            </a:avLst>
          </a:prstGeom>
          <a:solidFill>
            <a:srgbClr val="F1F5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2428875" y="3619500"/>
            <a:ext cx="2857500" cy="38100"/>
          </a:xfrm>
          <a:prstGeom prst="rect">
            <a:avLst/>
          </a:prstGeom>
          <a:solidFill>
            <a:srgbClr val="14B8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2524125" y="3714750"/>
            <a:ext cx="2667000" cy="2857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400" b="1">
                <a:solidFill>
                  <a:srgbClr val="14B8A6"/>
                </a:solidFill>
                <a:latin typeface="PingFang SC"/>
              </a:rPr>
              <a:t>上架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2524125" y="4019550"/>
            <a:ext cx="2667000" cy="6667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5000"/>
              </a:lnSpc>
            </a:pPr>
            <a:r>
              <a:rPr sz="1050" b="0">
                <a:solidFill>
                  <a:srgbClr val="475569"/>
                </a:solidFill>
                <a:latin typeface="PingFang SC"/>
              </a:rPr>
              <a:t>审批+文档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5991225" y="3228975"/>
            <a:ext cx="209550" cy="209550"/>
          </a:xfrm>
          <a:prstGeom prst="roundRect">
            <a:avLst>
              <a:gd name="adj" fmla="val 8000"/>
            </a:avLst>
          </a:prstGeom>
          <a:solidFill>
            <a:srgbClr val="8B5C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ounded Rectangle 17"/>
          <p:cNvSpPr/>
          <p:nvPr/>
        </p:nvSpPr>
        <p:spPr>
          <a:xfrm>
            <a:off x="4667250" y="1905000"/>
            <a:ext cx="2857500" cy="1123950"/>
          </a:xfrm>
          <a:prstGeom prst="roundRect">
            <a:avLst>
              <a:gd name="adj" fmla="val 8000"/>
            </a:avLst>
          </a:prstGeom>
          <a:solidFill>
            <a:srgbClr val="F1F5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4667250" y="1905000"/>
            <a:ext cx="2857500" cy="38100"/>
          </a:xfrm>
          <a:prstGeom prst="rect">
            <a:avLst/>
          </a:prstGeom>
          <a:solidFill>
            <a:srgbClr val="8B5C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4762500" y="2000250"/>
            <a:ext cx="2667000" cy="2857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400" b="1">
                <a:solidFill>
                  <a:srgbClr val="8B5CF6"/>
                </a:solidFill>
                <a:latin typeface="PingFang SC"/>
              </a:rPr>
              <a:t>灰度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4762500" y="2305050"/>
            <a:ext cx="2667000" cy="6667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5000"/>
              </a:lnSpc>
            </a:pPr>
            <a:r>
              <a:rPr sz="1050" b="0">
                <a:solidFill>
                  <a:srgbClr val="475569"/>
                </a:solidFill>
                <a:latin typeface="PingFang SC"/>
              </a:rPr>
              <a:t>10% 流量验证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8229600" y="3228975"/>
            <a:ext cx="209550" cy="209550"/>
          </a:xfrm>
          <a:prstGeom prst="roundRect">
            <a:avLst>
              <a:gd name="adj" fmla="val 8000"/>
            </a:avLst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ounded Rectangle 22"/>
          <p:cNvSpPr/>
          <p:nvPr/>
        </p:nvSpPr>
        <p:spPr>
          <a:xfrm>
            <a:off x="6905625" y="3619500"/>
            <a:ext cx="2857500" cy="1123950"/>
          </a:xfrm>
          <a:prstGeom prst="roundRect">
            <a:avLst>
              <a:gd name="adj" fmla="val 8000"/>
            </a:avLst>
          </a:prstGeom>
          <a:solidFill>
            <a:srgbClr val="F1F5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Rectangle 23"/>
          <p:cNvSpPr/>
          <p:nvPr/>
        </p:nvSpPr>
        <p:spPr>
          <a:xfrm>
            <a:off x="6905625" y="3619500"/>
            <a:ext cx="2857500" cy="38100"/>
          </a:xfrm>
          <a:prstGeom prst="rect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7000875" y="3714750"/>
            <a:ext cx="2667000" cy="2857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400" b="1">
                <a:solidFill>
                  <a:srgbClr val="F59E0B"/>
                </a:solidFill>
                <a:latin typeface="PingFang SC"/>
              </a:rPr>
              <a:t>全量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7000875" y="4019550"/>
            <a:ext cx="2667000" cy="6667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5000"/>
              </a:lnSpc>
            </a:pPr>
            <a:r>
              <a:rPr sz="1050" b="0">
                <a:solidFill>
                  <a:srgbClr val="475569"/>
                </a:solidFill>
                <a:latin typeface="PingFang SC"/>
              </a:rPr>
              <a:t>健康分达标</a:t>
            </a:r>
          </a:p>
        </p:txBody>
      </p:sp>
      <p:sp>
        <p:nvSpPr>
          <p:cNvPr id="27" name="Rounded Rectangle 26"/>
          <p:cNvSpPr/>
          <p:nvPr/>
        </p:nvSpPr>
        <p:spPr>
          <a:xfrm>
            <a:off x="10467975" y="3228975"/>
            <a:ext cx="209550" cy="209550"/>
          </a:xfrm>
          <a:prstGeom prst="roundRect">
            <a:avLst>
              <a:gd name="adj" fmla="val 8000"/>
            </a:avLst>
          </a:prstGeom>
          <a:solidFill>
            <a:srgbClr val="34D39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Rounded Rectangle 27"/>
          <p:cNvSpPr/>
          <p:nvPr/>
        </p:nvSpPr>
        <p:spPr>
          <a:xfrm>
            <a:off x="9144000" y="1905000"/>
            <a:ext cx="2857500" cy="1123950"/>
          </a:xfrm>
          <a:prstGeom prst="roundRect">
            <a:avLst>
              <a:gd name="adj" fmla="val 8000"/>
            </a:avLst>
          </a:prstGeom>
          <a:solidFill>
            <a:srgbClr val="F1F5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Rectangle 28"/>
          <p:cNvSpPr/>
          <p:nvPr/>
        </p:nvSpPr>
        <p:spPr>
          <a:xfrm>
            <a:off x="9144000" y="1905000"/>
            <a:ext cx="2857500" cy="38100"/>
          </a:xfrm>
          <a:prstGeom prst="rect">
            <a:avLst/>
          </a:prstGeom>
          <a:solidFill>
            <a:srgbClr val="34D39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9239250" y="2000250"/>
            <a:ext cx="2667000" cy="2857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400" b="1">
                <a:solidFill>
                  <a:srgbClr val="34D399"/>
                </a:solidFill>
                <a:latin typeface="PingFang SC"/>
              </a:rPr>
              <a:t>下线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9239250" y="2305050"/>
            <a:ext cx="2667000" cy="6667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5000"/>
              </a:lnSpc>
            </a:pPr>
            <a:r>
              <a:rPr sz="1050" b="0">
                <a:solidFill>
                  <a:srgbClr val="475569"/>
                </a:solidFill>
                <a:latin typeface="PingFang SC"/>
              </a:rPr>
              <a:t>一键热禁用|平台 disable() 已实现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10287000" y="6534150"/>
            <a:ext cx="1619250" cy="2667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>
              <a:lnSpc>
                <a:spcPct val="100000"/>
              </a:lnSpc>
            </a:pPr>
            <a:r>
              <a:rPr sz="900" b="0">
                <a:solidFill>
                  <a:srgbClr val="94A3B8"/>
                </a:solidFill>
                <a:latin typeface="PingFang SC"/>
              </a:rPr>
              <a:t>第2章 · 40/141</a:t>
            </a:r>
          </a:p>
        </p:txBody>
      </p:sp>
    </p:spTree>
  </p:cSld>
  <p:clrMapOvr>
    <a:masterClrMapping/>
  </p:clrMapOvr>
</p:sld>
</file>

<file path=ppt/slides/slide4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704850"/>
          </a:xfrm>
          <a:prstGeom prst="rect">
            <a:avLst/>
          </a:prstGeom>
          <a:solidFill>
            <a:srgbClr val="0B1D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76200" cy="704850"/>
          </a:xfrm>
          <a:prstGeom prst="rect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266700" y="0"/>
            <a:ext cx="10287000" cy="7048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2000" b="1">
                <a:solidFill>
                  <a:srgbClr val="FFFFFF"/>
                </a:solidFill>
                <a:latin typeface="PingFang SC"/>
              </a:rPr>
              <a:t>依赖声明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334500" y="0"/>
            <a:ext cx="2667000" cy="7048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>
              <a:lnSpc>
                <a:spcPct val="100000"/>
              </a:lnSpc>
            </a:pPr>
            <a:r>
              <a:rPr sz="1100" b="0">
                <a:solidFill>
                  <a:srgbClr val="94A3B8"/>
                </a:solidFill>
                <a:latin typeface="PingFang SC"/>
              </a:rPr>
              <a:t>第2章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876300" y="914400"/>
            <a:ext cx="10439400" cy="10287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DDE5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876300" y="914400"/>
            <a:ext cx="57150" cy="1028700"/>
          </a:xfrm>
          <a:prstGeom prst="rect">
            <a:avLst/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ounded Rectangle 7"/>
          <p:cNvSpPr/>
          <p:nvPr/>
        </p:nvSpPr>
        <p:spPr>
          <a:xfrm>
            <a:off x="1047750" y="1285875"/>
            <a:ext cx="285750" cy="285750"/>
          </a:xfrm>
          <a:prstGeom prst="roundRect">
            <a:avLst>
              <a:gd name="adj" fmla="val 8000"/>
            </a:avLst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047750" y="1276350"/>
            <a:ext cx="285750" cy="2857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300" b="1">
                <a:solidFill>
                  <a:srgbClr val="FFFFFF"/>
                </a:solidFill>
                <a:latin typeface="PingFang SC"/>
              </a:rPr>
              <a:t>1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485900" y="914400"/>
            <a:ext cx="9601200" cy="10287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12000"/>
              </a:lnSpc>
            </a:pPr>
            <a:r>
              <a:rPr sz="1400" b="1">
                <a:solidFill>
                  <a:srgbClr val="475569"/>
                </a:solidFill>
                <a:latin typeface="PingFang SC"/>
              </a:rPr>
              <a:t>该工具依赖哪些服务/密钥/DB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876300" y="2114550"/>
            <a:ext cx="10439400" cy="10287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DDE5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876300" y="2114550"/>
            <a:ext cx="57150" cy="1028700"/>
          </a:xfrm>
          <a:prstGeom prst="rect">
            <a:avLst/>
          </a:prstGeom>
          <a:solidFill>
            <a:srgbClr val="14B8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ounded Rectangle 12"/>
          <p:cNvSpPr/>
          <p:nvPr/>
        </p:nvSpPr>
        <p:spPr>
          <a:xfrm>
            <a:off x="1047750" y="2486025"/>
            <a:ext cx="285750" cy="285750"/>
          </a:xfrm>
          <a:prstGeom prst="roundRect">
            <a:avLst>
              <a:gd name="adj" fmla="val 8000"/>
            </a:avLst>
          </a:prstGeom>
          <a:solidFill>
            <a:srgbClr val="14B8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1047750" y="2476500"/>
            <a:ext cx="285750" cy="2857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300" b="1">
                <a:solidFill>
                  <a:srgbClr val="FFFFFF"/>
                </a:solidFill>
                <a:latin typeface="PingFang SC"/>
              </a:rPr>
              <a:t>2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485900" y="2114550"/>
            <a:ext cx="9601200" cy="10287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12000"/>
              </a:lnSpc>
            </a:pPr>
            <a:r>
              <a:rPr sz="1400" b="1">
                <a:solidFill>
                  <a:srgbClr val="475569"/>
                </a:solidFill>
                <a:latin typeface="PingFang SC"/>
              </a:rPr>
              <a:t>启动时健康检查依赖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876300" y="3314700"/>
            <a:ext cx="10439400" cy="10287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DDE5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876300" y="3314700"/>
            <a:ext cx="57150" cy="1028700"/>
          </a:xfrm>
          <a:prstGeom prst="rect">
            <a:avLst/>
          </a:prstGeom>
          <a:solidFill>
            <a:srgbClr val="8B5C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ounded Rectangle 17"/>
          <p:cNvSpPr/>
          <p:nvPr/>
        </p:nvSpPr>
        <p:spPr>
          <a:xfrm>
            <a:off x="1047750" y="3686175"/>
            <a:ext cx="285750" cy="285750"/>
          </a:xfrm>
          <a:prstGeom prst="roundRect">
            <a:avLst>
              <a:gd name="adj" fmla="val 8000"/>
            </a:avLst>
          </a:prstGeom>
          <a:solidFill>
            <a:srgbClr val="8B5C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1047750" y="3676650"/>
            <a:ext cx="285750" cy="2857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300" b="1">
                <a:solidFill>
                  <a:srgbClr val="FFFFFF"/>
                </a:solidFill>
                <a:latin typeface="PingFang SC"/>
              </a:rPr>
              <a:t>3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485900" y="3314700"/>
            <a:ext cx="9601200" cy="10287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12000"/>
              </a:lnSpc>
            </a:pPr>
            <a:r>
              <a:rPr sz="1400" b="1">
                <a:solidFill>
                  <a:srgbClr val="475569"/>
                </a:solidFill>
                <a:latin typeface="PingFang SC"/>
              </a:rPr>
              <a:t>缺依赖 → 工具自动禁用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876300" y="6019800"/>
            <a:ext cx="10439400" cy="514350"/>
          </a:xfrm>
          <a:prstGeom prst="roundRect">
            <a:avLst>
              <a:gd name="adj" fmla="val 8000"/>
            </a:avLst>
          </a:prstGeom>
          <a:solidFill>
            <a:srgbClr val="F1F5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1066800" y="6019800"/>
            <a:ext cx="10058400" cy="5524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1250" b="0">
                <a:solidFill>
                  <a:srgbClr val="2563EB"/>
                </a:solidFill>
                <a:latin typeface="PingFang SC"/>
              </a:rPr>
              <a:t>▶ 避免运行时才发现不可用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0287000" y="6534150"/>
            <a:ext cx="1619250" cy="2667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>
              <a:lnSpc>
                <a:spcPct val="100000"/>
              </a:lnSpc>
            </a:pPr>
            <a:r>
              <a:rPr sz="900" b="0">
                <a:solidFill>
                  <a:srgbClr val="94A3B8"/>
                </a:solidFill>
                <a:latin typeface="PingFang SC"/>
              </a:rPr>
              <a:t>第2章 · 41/141</a:t>
            </a:r>
          </a:p>
        </p:txBody>
      </p:sp>
    </p:spTree>
  </p:cSld>
  <p:clrMapOvr>
    <a:masterClrMapping/>
  </p:clrMapOvr>
</p:sld>
</file>

<file path=ppt/slides/slide4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704850"/>
          </a:xfrm>
          <a:prstGeom prst="rect">
            <a:avLst/>
          </a:prstGeom>
          <a:solidFill>
            <a:srgbClr val="0B1D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76200" cy="704850"/>
          </a:xfrm>
          <a:prstGeom prst="rect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266700" y="0"/>
            <a:ext cx="10287000" cy="7048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2000" b="1">
                <a:solidFill>
                  <a:srgbClr val="FFFFFF"/>
                </a:solidFill>
                <a:latin typeface="PingFang SC"/>
              </a:rPr>
              <a:t>工具依赖拓扑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334500" y="0"/>
            <a:ext cx="2667000" cy="7048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>
              <a:lnSpc>
                <a:spcPct val="100000"/>
              </a:lnSpc>
            </a:pPr>
            <a:r>
              <a:rPr sz="1100" b="0">
                <a:solidFill>
                  <a:srgbClr val="94A3B8"/>
                </a:solidFill>
                <a:latin typeface="PingFang SC"/>
              </a:rPr>
              <a:t>缺依赖→启动即自动禁用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1847850" y="914400"/>
            <a:ext cx="8877300" cy="1219200"/>
          </a:xfrm>
          <a:prstGeom prst="roundRect">
            <a:avLst>
              <a:gd name="adj" fmla="val 8000"/>
            </a:avLst>
          </a:prstGeom>
          <a:solidFill>
            <a:srgbClr val="F1F5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ounded Rectangle 6"/>
          <p:cNvSpPr/>
          <p:nvPr/>
        </p:nvSpPr>
        <p:spPr>
          <a:xfrm>
            <a:off x="1905000" y="952500"/>
            <a:ext cx="2076450" cy="11430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2563E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1905000" y="952500"/>
            <a:ext cx="47625" cy="1143000"/>
          </a:xfrm>
          <a:prstGeom prst="rect">
            <a:avLst/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2038350" y="952500"/>
            <a:ext cx="1847850" cy="1143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1200" b="1">
                <a:solidFill>
                  <a:srgbClr val="475569"/>
                </a:solidFill>
                <a:latin typeface="PingFang SC"/>
              </a:rPr>
              <a:t>工具层:search_code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4133850" y="952500"/>
            <a:ext cx="2076450" cy="11430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2563E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4133850" y="952500"/>
            <a:ext cx="47625" cy="1143000"/>
          </a:xfrm>
          <a:prstGeom prst="rect">
            <a:avLst/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4267200" y="952500"/>
            <a:ext cx="1847850" cy="1143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1200" b="1">
                <a:solidFill>
                  <a:srgbClr val="475569"/>
                </a:solidFill>
                <a:latin typeface="PingFang SC"/>
              </a:rPr>
              <a:t>query_db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6362700" y="952500"/>
            <a:ext cx="2076450" cy="11430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2563E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6362700" y="952500"/>
            <a:ext cx="47625" cy="1143000"/>
          </a:xfrm>
          <a:prstGeom prst="rect">
            <a:avLst/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496050" y="952500"/>
            <a:ext cx="1847850" cy="1143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1200" b="1">
                <a:solidFill>
                  <a:srgbClr val="475569"/>
                </a:solidFill>
                <a:latin typeface="PingFang SC"/>
              </a:rPr>
              <a:t>send_mail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8591550" y="952500"/>
            <a:ext cx="2076450" cy="11430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2563E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8591550" y="952500"/>
            <a:ext cx="47625" cy="1143000"/>
          </a:xfrm>
          <a:prstGeom prst="rect">
            <a:avLst/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8724900" y="952500"/>
            <a:ext cx="1847850" cy="1143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1200" b="1">
                <a:solidFill>
                  <a:srgbClr val="475569"/>
                </a:solidFill>
                <a:latin typeface="PingFang SC"/>
              </a:rPr>
              <a:t>run_test</a:t>
            </a:r>
          </a:p>
        </p:txBody>
      </p:sp>
      <p:cxnSp>
        <p:nvCxnSpPr>
          <p:cNvPr id="19" name="Connector 18"/>
          <p:cNvCxnSpPr/>
          <p:nvPr/>
        </p:nvCxnSpPr>
        <p:spPr>
          <a:xfrm>
            <a:off x="6096000" y="2152650"/>
            <a:ext cx="0" cy="152400"/>
          </a:xfrm>
          <a:prstGeom prst="line">
            <a:avLst/>
          </a:prstGeom>
          <a:ln w="15240">
            <a:solidFill>
              <a:srgbClr val="94A3B8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0" name="Isosceles Triangle 19"/>
          <p:cNvSpPr/>
          <p:nvPr/>
        </p:nvSpPr>
        <p:spPr>
          <a:xfrm rot="10800000">
            <a:off x="6053138" y="2219326"/>
            <a:ext cx="85725" cy="85725"/>
          </a:xfrm>
          <a:prstGeom prst="triangle">
            <a:avLst/>
          </a:prstGeom>
          <a:solidFill>
            <a:srgbClr val="94A3B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6248400" y="2095500"/>
            <a:ext cx="2095500" cy="2476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1000" b="0">
                <a:solidFill>
                  <a:srgbClr val="94A3B8"/>
                </a:solidFill>
                <a:latin typeface="PingFang SC"/>
              </a:rPr>
              <a:t>调用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1847850" y="2305050"/>
            <a:ext cx="8877300" cy="1219200"/>
          </a:xfrm>
          <a:prstGeom prst="roundRect">
            <a:avLst>
              <a:gd name="adj" fmla="val 8000"/>
            </a:avLst>
          </a:prstGeom>
          <a:solidFill>
            <a:srgbClr val="F1F5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ounded Rectangle 22"/>
          <p:cNvSpPr/>
          <p:nvPr/>
        </p:nvSpPr>
        <p:spPr>
          <a:xfrm>
            <a:off x="1905000" y="2343150"/>
            <a:ext cx="2076450" cy="11430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14B8A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Rectangle 23"/>
          <p:cNvSpPr/>
          <p:nvPr/>
        </p:nvSpPr>
        <p:spPr>
          <a:xfrm>
            <a:off x="1905000" y="2343150"/>
            <a:ext cx="47625" cy="1143000"/>
          </a:xfrm>
          <a:prstGeom prst="rect">
            <a:avLst/>
          </a:prstGeom>
          <a:solidFill>
            <a:srgbClr val="14B8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2038350" y="2343150"/>
            <a:ext cx="1847850" cy="1143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1200" b="1">
                <a:solidFill>
                  <a:srgbClr val="475569"/>
                </a:solidFill>
                <a:latin typeface="PingFang SC"/>
              </a:rPr>
              <a:t>服务层:Milvus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4133850" y="2343150"/>
            <a:ext cx="2076450" cy="11430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14B8A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Rectangle 26"/>
          <p:cNvSpPr/>
          <p:nvPr/>
        </p:nvSpPr>
        <p:spPr>
          <a:xfrm>
            <a:off x="4133850" y="2343150"/>
            <a:ext cx="47625" cy="1143000"/>
          </a:xfrm>
          <a:prstGeom prst="rect">
            <a:avLst/>
          </a:prstGeom>
          <a:solidFill>
            <a:srgbClr val="14B8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4267200" y="2343150"/>
            <a:ext cx="1847850" cy="1143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1200" b="1">
                <a:solidFill>
                  <a:srgbClr val="475569"/>
                </a:solidFill>
                <a:latin typeface="PingFang SC"/>
              </a:rPr>
              <a:t>PG 只读</a:t>
            </a:r>
          </a:p>
        </p:txBody>
      </p:sp>
      <p:sp>
        <p:nvSpPr>
          <p:cNvPr id="29" name="Rounded Rectangle 28"/>
          <p:cNvSpPr/>
          <p:nvPr/>
        </p:nvSpPr>
        <p:spPr>
          <a:xfrm>
            <a:off x="6362700" y="2343150"/>
            <a:ext cx="2076450" cy="11430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14B8A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Rectangle 29"/>
          <p:cNvSpPr/>
          <p:nvPr/>
        </p:nvSpPr>
        <p:spPr>
          <a:xfrm>
            <a:off x="6362700" y="2343150"/>
            <a:ext cx="47625" cy="1143000"/>
          </a:xfrm>
          <a:prstGeom prst="rect">
            <a:avLst/>
          </a:prstGeom>
          <a:solidFill>
            <a:srgbClr val="14B8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6496050" y="2343150"/>
            <a:ext cx="1847850" cy="1143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1200" b="1">
                <a:solidFill>
                  <a:srgbClr val="475569"/>
                </a:solidFill>
                <a:latin typeface="PingFang SC"/>
              </a:rPr>
              <a:t>SMTP 网关</a:t>
            </a:r>
          </a:p>
        </p:txBody>
      </p:sp>
      <p:sp>
        <p:nvSpPr>
          <p:cNvPr id="32" name="Rounded Rectangle 31"/>
          <p:cNvSpPr/>
          <p:nvPr/>
        </p:nvSpPr>
        <p:spPr>
          <a:xfrm>
            <a:off x="8591550" y="2343150"/>
            <a:ext cx="2076450" cy="11430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14B8A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Rectangle 32"/>
          <p:cNvSpPr/>
          <p:nvPr/>
        </p:nvSpPr>
        <p:spPr>
          <a:xfrm>
            <a:off x="8591550" y="2343150"/>
            <a:ext cx="47625" cy="1143000"/>
          </a:xfrm>
          <a:prstGeom prst="rect">
            <a:avLst/>
          </a:prstGeom>
          <a:solidFill>
            <a:srgbClr val="14B8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8724900" y="2343150"/>
            <a:ext cx="1847850" cy="1143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1200" b="1">
                <a:solidFill>
                  <a:srgbClr val="475569"/>
                </a:solidFill>
                <a:latin typeface="PingFang SC"/>
              </a:rPr>
              <a:t>CI Runner</a:t>
            </a:r>
          </a:p>
        </p:txBody>
      </p:sp>
      <p:cxnSp>
        <p:nvCxnSpPr>
          <p:cNvPr id="35" name="Connector 34"/>
          <p:cNvCxnSpPr/>
          <p:nvPr/>
        </p:nvCxnSpPr>
        <p:spPr>
          <a:xfrm>
            <a:off x="6096000" y="3543300"/>
            <a:ext cx="0" cy="152400"/>
          </a:xfrm>
          <a:prstGeom prst="line">
            <a:avLst/>
          </a:prstGeom>
          <a:ln w="15240">
            <a:solidFill>
              <a:srgbClr val="94A3B8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6" name="Isosceles Triangle 35"/>
          <p:cNvSpPr/>
          <p:nvPr/>
        </p:nvSpPr>
        <p:spPr>
          <a:xfrm rot="10800000">
            <a:off x="6053138" y="3609976"/>
            <a:ext cx="85725" cy="85725"/>
          </a:xfrm>
          <a:prstGeom prst="triangle">
            <a:avLst/>
          </a:prstGeom>
          <a:solidFill>
            <a:srgbClr val="94A3B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6248400" y="3486150"/>
            <a:ext cx="2095500" cy="2476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1000" b="0">
                <a:solidFill>
                  <a:srgbClr val="94A3B8"/>
                </a:solidFill>
                <a:latin typeface="PingFang SC"/>
              </a:rPr>
              <a:t>连接</a:t>
            </a:r>
          </a:p>
        </p:txBody>
      </p:sp>
      <p:sp>
        <p:nvSpPr>
          <p:cNvPr id="38" name="Rounded Rectangle 37"/>
          <p:cNvSpPr/>
          <p:nvPr/>
        </p:nvSpPr>
        <p:spPr>
          <a:xfrm>
            <a:off x="1847850" y="3695700"/>
            <a:ext cx="8877300" cy="1219200"/>
          </a:xfrm>
          <a:prstGeom prst="roundRect">
            <a:avLst>
              <a:gd name="adj" fmla="val 8000"/>
            </a:avLst>
          </a:prstGeom>
          <a:solidFill>
            <a:srgbClr val="F1F5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Rounded Rectangle 38"/>
          <p:cNvSpPr/>
          <p:nvPr/>
        </p:nvSpPr>
        <p:spPr>
          <a:xfrm>
            <a:off x="1905000" y="3733800"/>
            <a:ext cx="2819400" cy="11430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8B5CF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Rectangle 39"/>
          <p:cNvSpPr/>
          <p:nvPr/>
        </p:nvSpPr>
        <p:spPr>
          <a:xfrm>
            <a:off x="1905000" y="3733800"/>
            <a:ext cx="47625" cy="1143000"/>
          </a:xfrm>
          <a:prstGeom prst="rect">
            <a:avLst/>
          </a:prstGeom>
          <a:solidFill>
            <a:srgbClr val="8B5C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2038350" y="3733800"/>
            <a:ext cx="2590800" cy="1143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1200" b="1">
                <a:solidFill>
                  <a:srgbClr val="475569"/>
                </a:solidFill>
                <a:latin typeface="PingFang SC"/>
              </a:rPr>
              <a:t>凭据层:DB 密钥</a:t>
            </a:r>
          </a:p>
        </p:txBody>
      </p:sp>
      <p:sp>
        <p:nvSpPr>
          <p:cNvPr id="42" name="Rounded Rectangle 41"/>
          <p:cNvSpPr/>
          <p:nvPr/>
        </p:nvSpPr>
        <p:spPr>
          <a:xfrm>
            <a:off x="4876800" y="3733800"/>
            <a:ext cx="2819400" cy="11430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8B5CF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" name="Rectangle 42"/>
          <p:cNvSpPr/>
          <p:nvPr/>
        </p:nvSpPr>
        <p:spPr>
          <a:xfrm>
            <a:off x="4876800" y="3733800"/>
            <a:ext cx="47625" cy="1143000"/>
          </a:xfrm>
          <a:prstGeom prst="rect">
            <a:avLst/>
          </a:prstGeom>
          <a:solidFill>
            <a:srgbClr val="8B5C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4" name="TextBox 43"/>
          <p:cNvSpPr txBox="1"/>
          <p:nvPr/>
        </p:nvSpPr>
        <p:spPr>
          <a:xfrm>
            <a:off x="5010150" y="3733800"/>
            <a:ext cx="2590800" cy="1143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1200" b="1">
                <a:solidFill>
                  <a:srgbClr val="475569"/>
                </a:solidFill>
                <a:latin typeface="PingFang SC"/>
              </a:rPr>
              <a:t>API Key</a:t>
            </a:r>
          </a:p>
        </p:txBody>
      </p:sp>
      <p:sp>
        <p:nvSpPr>
          <p:cNvPr id="45" name="Rounded Rectangle 44"/>
          <p:cNvSpPr/>
          <p:nvPr/>
        </p:nvSpPr>
        <p:spPr>
          <a:xfrm>
            <a:off x="7848600" y="3733800"/>
            <a:ext cx="2819400" cy="11430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8B5CF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6" name="Rectangle 45"/>
          <p:cNvSpPr/>
          <p:nvPr/>
        </p:nvSpPr>
        <p:spPr>
          <a:xfrm>
            <a:off x="7848600" y="3733800"/>
            <a:ext cx="47625" cy="1143000"/>
          </a:xfrm>
          <a:prstGeom prst="rect">
            <a:avLst/>
          </a:prstGeom>
          <a:solidFill>
            <a:srgbClr val="8B5C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7" name="TextBox 46"/>
          <p:cNvSpPr txBox="1"/>
          <p:nvPr/>
        </p:nvSpPr>
        <p:spPr>
          <a:xfrm>
            <a:off x="7981950" y="3733800"/>
            <a:ext cx="2590800" cy="1143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1200" b="1">
                <a:solidFill>
                  <a:srgbClr val="475569"/>
                </a:solidFill>
                <a:latin typeface="PingFang SC"/>
              </a:rPr>
              <a:t>SMTP Token|缺依赖→启动即自动禁用</a:t>
            </a:r>
          </a:p>
        </p:txBody>
      </p:sp>
      <p:sp>
        <p:nvSpPr>
          <p:cNvPr id="48" name="TextBox 47"/>
          <p:cNvSpPr txBox="1"/>
          <p:nvPr/>
        </p:nvSpPr>
        <p:spPr>
          <a:xfrm>
            <a:off x="10287000" y="6534150"/>
            <a:ext cx="1619250" cy="2667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>
              <a:lnSpc>
                <a:spcPct val="100000"/>
              </a:lnSpc>
            </a:pPr>
            <a:r>
              <a:rPr sz="900" b="0">
                <a:solidFill>
                  <a:srgbClr val="94A3B8"/>
                </a:solidFill>
                <a:latin typeface="PingFang SC"/>
              </a:rPr>
              <a:t>第2章 · 42/141</a:t>
            </a:r>
          </a:p>
        </p:txBody>
      </p:sp>
    </p:spTree>
  </p:cSld>
  <p:clrMapOvr>
    <a:masterClrMapping/>
  </p:clrMapOvr>
</p:sld>
</file>

<file path=ppt/slides/slide4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704850"/>
          </a:xfrm>
          <a:prstGeom prst="rect">
            <a:avLst/>
          </a:prstGeom>
          <a:solidFill>
            <a:srgbClr val="0B1D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76200" cy="704850"/>
          </a:xfrm>
          <a:prstGeom prst="rect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266700" y="0"/>
            <a:ext cx="10287000" cy="7048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2000" b="1">
                <a:solidFill>
                  <a:srgbClr val="FFFFFF"/>
                </a:solidFill>
                <a:latin typeface="PingFang SC"/>
              </a:rPr>
              <a:t>启停管理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334500" y="0"/>
            <a:ext cx="2667000" cy="7048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>
              <a:lnSpc>
                <a:spcPct val="100000"/>
              </a:lnSpc>
            </a:pPr>
            <a:r>
              <a:rPr sz="1100" b="0">
                <a:solidFill>
                  <a:srgbClr val="94A3B8"/>
                </a:solidFill>
                <a:latin typeface="PingFang SC"/>
              </a:rPr>
              <a:t>第2章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876300" y="914400"/>
            <a:ext cx="10439400" cy="10287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DDE5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876300" y="914400"/>
            <a:ext cx="57150" cy="1028700"/>
          </a:xfrm>
          <a:prstGeom prst="rect">
            <a:avLst/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ounded Rectangle 7"/>
          <p:cNvSpPr/>
          <p:nvPr/>
        </p:nvSpPr>
        <p:spPr>
          <a:xfrm>
            <a:off x="1047750" y="1285875"/>
            <a:ext cx="285750" cy="285750"/>
          </a:xfrm>
          <a:prstGeom prst="roundRect">
            <a:avLst>
              <a:gd name="adj" fmla="val 8000"/>
            </a:avLst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047750" y="1276350"/>
            <a:ext cx="285750" cy="2857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300" b="1">
                <a:solidFill>
                  <a:srgbClr val="FFFFFF"/>
                </a:solidFill>
                <a:latin typeface="PingFang SC"/>
              </a:rPr>
              <a:t>1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485900" y="914400"/>
            <a:ext cx="9601200" cy="10287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12000"/>
              </a:lnSpc>
            </a:pPr>
            <a:r>
              <a:rPr sz="1400" b="1">
                <a:solidFill>
                  <a:srgbClr val="475569"/>
                </a:solidFill>
                <a:latin typeface="PingFang SC"/>
              </a:rPr>
              <a:t>高危/异常工具一键下线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876300" y="2114550"/>
            <a:ext cx="10439400" cy="10287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DDE5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876300" y="2114550"/>
            <a:ext cx="57150" cy="1028700"/>
          </a:xfrm>
          <a:prstGeom prst="rect">
            <a:avLst/>
          </a:prstGeom>
          <a:solidFill>
            <a:srgbClr val="14B8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ounded Rectangle 12"/>
          <p:cNvSpPr/>
          <p:nvPr/>
        </p:nvSpPr>
        <p:spPr>
          <a:xfrm>
            <a:off x="1047750" y="2486025"/>
            <a:ext cx="285750" cy="285750"/>
          </a:xfrm>
          <a:prstGeom prst="roundRect">
            <a:avLst>
              <a:gd name="adj" fmla="val 8000"/>
            </a:avLst>
          </a:prstGeom>
          <a:solidFill>
            <a:srgbClr val="14B8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1047750" y="2476500"/>
            <a:ext cx="285750" cy="2857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300" b="1">
                <a:solidFill>
                  <a:srgbClr val="FFFFFF"/>
                </a:solidFill>
                <a:latin typeface="PingFang SC"/>
              </a:rPr>
              <a:t>2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485900" y="2114550"/>
            <a:ext cx="9601200" cy="10287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12000"/>
              </a:lnSpc>
            </a:pPr>
            <a:r>
              <a:rPr sz="1400" b="1">
                <a:solidFill>
                  <a:srgbClr val="475569"/>
                </a:solidFill>
                <a:latin typeface="PingFang SC"/>
              </a:rPr>
              <a:t>下线是热操作,不发版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876300" y="3314700"/>
            <a:ext cx="10439400" cy="10287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DDE5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876300" y="3314700"/>
            <a:ext cx="57150" cy="1028700"/>
          </a:xfrm>
          <a:prstGeom prst="rect">
            <a:avLst/>
          </a:prstGeom>
          <a:solidFill>
            <a:srgbClr val="8B5C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ounded Rectangle 17"/>
          <p:cNvSpPr/>
          <p:nvPr/>
        </p:nvSpPr>
        <p:spPr>
          <a:xfrm>
            <a:off x="1047750" y="3686175"/>
            <a:ext cx="285750" cy="285750"/>
          </a:xfrm>
          <a:prstGeom prst="roundRect">
            <a:avLst>
              <a:gd name="adj" fmla="val 8000"/>
            </a:avLst>
          </a:prstGeom>
          <a:solidFill>
            <a:srgbClr val="8B5C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1047750" y="3676650"/>
            <a:ext cx="285750" cy="2857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300" b="1">
                <a:solidFill>
                  <a:srgbClr val="FFFFFF"/>
                </a:solidFill>
                <a:latin typeface="PingFang SC"/>
              </a:rPr>
              <a:t>3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485900" y="3314700"/>
            <a:ext cx="9601200" cy="10287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12000"/>
              </a:lnSpc>
            </a:pPr>
            <a:r>
              <a:rPr sz="1400" b="1">
                <a:solidFill>
                  <a:srgbClr val="475569"/>
                </a:solidFill>
                <a:latin typeface="PingFang SC"/>
              </a:rPr>
              <a:t>Runbook 标配动作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876300" y="6019800"/>
            <a:ext cx="10439400" cy="514350"/>
          </a:xfrm>
          <a:prstGeom prst="roundRect">
            <a:avLst>
              <a:gd name="adj" fmla="val 8000"/>
            </a:avLst>
          </a:prstGeom>
          <a:solidFill>
            <a:srgbClr val="F1F5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1066800" y="6019800"/>
            <a:ext cx="10058400" cy="5524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1250" b="0">
                <a:solidFill>
                  <a:srgbClr val="2563EB"/>
                </a:solidFill>
                <a:latin typeface="PingFang SC"/>
              </a:rPr>
              <a:t>▶ 平台 disable() 已实现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0287000" y="6534150"/>
            <a:ext cx="1619250" cy="2667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>
              <a:lnSpc>
                <a:spcPct val="100000"/>
              </a:lnSpc>
            </a:pPr>
            <a:r>
              <a:rPr sz="900" b="0">
                <a:solidFill>
                  <a:srgbClr val="94A3B8"/>
                </a:solidFill>
                <a:latin typeface="PingFang SC"/>
              </a:rPr>
              <a:t>第2章 · 43/141</a:t>
            </a:r>
          </a:p>
        </p:txBody>
      </p:sp>
    </p:spTree>
  </p:cSld>
  <p:clrMapOvr>
    <a:masterClrMapping/>
  </p:clrMapOvr>
</p:sld>
</file>

<file path=ppt/slides/slide4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704850"/>
          </a:xfrm>
          <a:prstGeom prst="rect">
            <a:avLst/>
          </a:prstGeom>
          <a:solidFill>
            <a:srgbClr val="0B1D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76200" cy="704850"/>
          </a:xfrm>
          <a:prstGeom prst="rect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266700" y="0"/>
            <a:ext cx="10287000" cy="7048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2000" b="1">
                <a:solidFill>
                  <a:srgbClr val="FFFFFF"/>
                </a:solidFill>
                <a:latin typeface="PingFang SC"/>
              </a:rPr>
              <a:t>应用:企业工具目录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334500" y="0"/>
            <a:ext cx="2667000" cy="7048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>
              <a:lnSpc>
                <a:spcPct val="100000"/>
              </a:lnSpc>
            </a:pPr>
            <a:r>
              <a:rPr sz="1100" b="0">
                <a:solidFill>
                  <a:srgbClr val="94A3B8"/>
                </a:solidFill>
                <a:latin typeface="PingFang SC"/>
              </a:rPr>
              <a:t>第2章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876300" y="914400"/>
            <a:ext cx="10439400" cy="10287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DDE5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876300" y="914400"/>
            <a:ext cx="57150" cy="1028700"/>
          </a:xfrm>
          <a:prstGeom prst="rect">
            <a:avLst/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ounded Rectangle 7"/>
          <p:cNvSpPr/>
          <p:nvPr/>
        </p:nvSpPr>
        <p:spPr>
          <a:xfrm>
            <a:off x="1047750" y="1285875"/>
            <a:ext cx="285750" cy="285750"/>
          </a:xfrm>
          <a:prstGeom prst="roundRect">
            <a:avLst>
              <a:gd name="adj" fmla="val 8000"/>
            </a:avLst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047750" y="1276350"/>
            <a:ext cx="285750" cy="2857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300" b="1">
                <a:solidFill>
                  <a:srgbClr val="FFFFFF"/>
                </a:solidFill>
                <a:latin typeface="PingFang SC"/>
              </a:rPr>
              <a:t>1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485900" y="914400"/>
            <a:ext cx="9601200" cy="10287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12000"/>
              </a:lnSpc>
            </a:pPr>
            <a:r>
              <a:rPr sz="1400" b="1">
                <a:solidFill>
                  <a:srgbClr val="475569"/>
                </a:solidFill>
                <a:latin typeface="PingFang SC"/>
              </a:rPr>
              <a:t>搜索/查库/发邮件/生成报表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876300" y="2114550"/>
            <a:ext cx="10439400" cy="10287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DDE5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876300" y="2114550"/>
            <a:ext cx="57150" cy="1028700"/>
          </a:xfrm>
          <a:prstGeom prst="rect">
            <a:avLst/>
          </a:prstGeom>
          <a:solidFill>
            <a:srgbClr val="14B8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ounded Rectangle 12"/>
          <p:cNvSpPr/>
          <p:nvPr/>
        </p:nvSpPr>
        <p:spPr>
          <a:xfrm>
            <a:off x="1047750" y="2486025"/>
            <a:ext cx="285750" cy="285750"/>
          </a:xfrm>
          <a:prstGeom prst="roundRect">
            <a:avLst>
              <a:gd name="adj" fmla="val 8000"/>
            </a:avLst>
          </a:prstGeom>
          <a:solidFill>
            <a:srgbClr val="14B8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1047750" y="2476500"/>
            <a:ext cx="285750" cy="2857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300" b="1">
                <a:solidFill>
                  <a:srgbClr val="FFFFFF"/>
                </a:solidFill>
                <a:latin typeface="PingFang SC"/>
              </a:rPr>
              <a:t>2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485900" y="2114550"/>
            <a:ext cx="9601200" cy="10287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12000"/>
              </a:lnSpc>
            </a:pPr>
            <a:r>
              <a:rPr sz="1400" b="1">
                <a:solidFill>
                  <a:srgbClr val="475569"/>
                </a:solidFill>
                <a:latin typeface="PingFang SC"/>
              </a:rPr>
              <a:t>每个工具标注风险等级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876300" y="3314700"/>
            <a:ext cx="10439400" cy="10287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DDE5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876300" y="3314700"/>
            <a:ext cx="57150" cy="1028700"/>
          </a:xfrm>
          <a:prstGeom prst="rect">
            <a:avLst/>
          </a:prstGeom>
          <a:solidFill>
            <a:srgbClr val="8B5C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ounded Rectangle 17"/>
          <p:cNvSpPr/>
          <p:nvPr/>
        </p:nvSpPr>
        <p:spPr>
          <a:xfrm>
            <a:off x="1047750" y="3686175"/>
            <a:ext cx="285750" cy="285750"/>
          </a:xfrm>
          <a:prstGeom prst="roundRect">
            <a:avLst>
              <a:gd name="adj" fmla="val 8000"/>
            </a:avLst>
          </a:prstGeom>
          <a:solidFill>
            <a:srgbClr val="8B5C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1047750" y="3676650"/>
            <a:ext cx="285750" cy="2857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300" b="1">
                <a:solidFill>
                  <a:srgbClr val="FFFFFF"/>
                </a:solidFill>
                <a:latin typeface="PingFang SC"/>
              </a:rPr>
              <a:t>3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485900" y="3314700"/>
            <a:ext cx="9601200" cy="10287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12000"/>
              </a:lnSpc>
            </a:pPr>
            <a:r>
              <a:rPr sz="1400" b="1">
                <a:solidFill>
                  <a:srgbClr val="475569"/>
                </a:solidFill>
                <a:latin typeface="PingFang SC"/>
              </a:rPr>
              <a:t>新工具走上架审批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876300" y="6019800"/>
            <a:ext cx="10439400" cy="514350"/>
          </a:xfrm>
          <a:prstGeom prst="roundRect">
            <a:avLst>
              <a:gd name="adj" fmla="val 8000"/>
            </a:avLst>
          </a:prstGeom>
          <a:solidFill>
            <a:srgbClr val="F1F5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1066800" y="6019800"/>
            <a:ext cx="10058400" cy="5524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1250" b="0">
                <a:solidFill>
                  <a:srgbClr val="2563EB"/>
                </a:solidFill>
                <a:latin typeface="PingFang SC"/>
              </a:rPr>
              <a:t>▶ 工具目录即治理抓手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0287000" y="6534150"/>
            <a:ext cx="1619250" cy="2667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>
              <a:lnSpc>
                <a:spcPct val="100000"/>
              </a:lnSpc>
            </a:pPr>
            <a:r>
              <a:rPr sz="900" b="0">
                <a:solidFill>
                  <a:srgbClr val="94A3B8"/>
                </a:solidFill>
                <a:latin typeface="PingFang SC"/>
              </a:rPr>
              <a:t>第2章 · 44/141</a:t>
            </a:r>
          </a:p>
        </p:txBody>
      </p:sp>
    </p:spTree>
  </p:cSld>
  <p:clrMapOvr>
    <a:masterClrMapping/>
  </p:clrMapOvr>
</p:sld>
</file>

<file path=ppt/slides/slide4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704850"/>
          </a:xfrm>
          <a:prstGeom prst="rect">
            <a:avLst/>
          </a:prstGeom>
          <a:solidFill>
            <a:srgbClr val="0B1D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76200" cy="704850"/>
          </a:xfrm>
          <a:prstGeom prst="rect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266700" y="0"/>
            <a:ext cx="10287000" cy="7048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2000" b="1">
                <a:solidFill>
                  <a:srgbClr val="FFFFFF"/>
                </a:solidFill>
                <a:latin typeface="PingFang SC"/>
              </a:rPr>
              <a:t>应用:动态工具装配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334500" y="0"/>
            <a:ext cx="2667000" cy="7048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>
              <a:lnSpc>
                <a:spcPct val="100000"/>
              </a:lnSpc>
            </a:pPr>
            <a:r>
              <a:rPr sz="1100" b="0">
                <a:solidFill>
                  <a:srgbClr val="94A3B8"/>
                </a:solidFill>
                <a:latin typeface="PingFang SC"/>
              </a:rPr>
              <a:t>第2章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876300" y="914400"/>
            <a:ext cx="10439400" cy="10287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DDE5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876300" y="914400"/>
            <a:ext cx="57150" cy="1028700"/>
          </a:xfrm>
          <a:prstGeom prst="rect">
            <a:avLst/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ounded Rectangle 7"/>
          <p:cNvSpPr/>
          <p:nvPr/>
        </p:nvSpPr>
        <p:spPr>
          <a:xfrm>
            <a:off x="1047750" y="1285875"/>
            <a:ext cx="285750" cy="285750"/>
          </a:xfrm>
          <a:prstGeom prst="roundRect">
            <a:avLst>
              <a:gd name="adj" fmla="val 8000"/>
            </a:avLst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047750" y="1276350"/>
            <a:ext cx="285750" cy="2857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300" b="1">
                <a:solidFill>
                  <a:srgbClr val="FFFFFF"/>
                </a:solidFill>
                <a:latin typeface="PingFang SC"/>
              </a:rPr>
              <a:t>1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485900" y="914400"/>
            <a:ext cx="9601200" cy="10287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12000"/>
              </a:lnSpc>
            </a:pPr>
            <a:r>
              <a:rPr sz="1400" b="1">
                <a:solidFill>
                  <a:srgbClr val="475569"/>
                </a:solidFill>
                <a:latin typeface="PingFang SC"/>
              </a:rPr>
              <a:t>按任务挑 5~10 个相关工具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876300" y="2114550"/>
            <a:ext cx="10439400" cy="10287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DDE5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876300" y="2114550"/>
            <a:ext cx="57150" cy="1028700"/>
          </a:xfrm>
          <a:prstGeom prst="rect">
            <a:avLst/>
          </a:prstGeom>
          <a:solidFill>
            <a:srgbClr val="14B8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ounded Rectangle 12"/>
          <p:cNvSpPr/>
          <p:nvPr/>
        </p:nvSpPr>
        <p:spPr>
          <a:xfrm>
            <a:off x="1047750" y="2486025"/>
            <a:ext cx="285750" cy="285750"/>
          </a:xfrm>
          <a:prstGeom prst="roundRect">
            <a:avLst>
              <a:gd name="adj" fmla="val 8000"/>
            </a:avLst>
          </a:prstGeom>
          <a:solidFill>
            <a:srgbClr val="14B8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1047750" y="2476500"/>
            <a:ext cx="285750" cy="2857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300" b="1">
                <a:solidFill>
                  <a:srgbClr val="FFFFFF"/>
                </a:solidFill>
                <a:latin typeface="PingFang SC"/>
              </a:rPr>
              <a:t>2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485900" y="2114550"/>
            <a:ext cx="9601200" cy="10287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12000"/>
              </a:lnSpc>
            </a:pPr>
            <a:r>
              <a:rPr sz="1400" b="1">
                <a:solidFill>
                  <a:srgbClr val="475569"/>
                </a:solidFill>
                <a:latin typeface="PingFang SC"/>
              </a:rPr>
              <a:t>避免全量注入挤占上下文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876300" y="3314700"/>
            <a:ext cx="10439400" cy="10287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DDE5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876300" y="3314700"/>
            <a:ext cx="57150" cy="1028700"/>
          </a:xfrm>
          <a:prstGeom prst="rect">
            <a:avLst/>
          </a:prstGeom>
          <a:solidFill>
            <a:srgbClr val="8B5C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ounded Rectangle 17"/>
          <p:cNvSpPr/>
          <p:nvPr/>
        </p:nvSpPr>
        <p:spPr>
          <a:xfrm>
            <a:off x="1047750" y="3686175"/>
            <a:ext cx="285750" cy="285750"/>
          </a:xfrm>
          <a:prstGeom prst="roundRect">
            <a:avLst>
              <a:gd name="adj" fmla="val 8000"/>
            </a:avLst>
          </a:prstGeom>
          <a:solidFill>
            <a:srgbClr val="8B5C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1047750" y="3676650"/>
            <a:ext cx="285750" cy="2857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300" b="1">
                <a:solidFill>
                  <a:srgbClr val="FFFFFF"/>
                </a:solidFill>
                <a:latin typeface="PingFang SC"/>
              </a:rPr>
              <a:t>3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485900" y="3314700"/>
            <a:ext cx="9601200" cy="10287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12000"/>
              </a:lnSpc>
            </a:pPr>
            <a:r>
              <a:rPr sz="1400" b="1">
                <a:solidFill>
                  <a:srgbClr val="475569"/>
                </a:solidFill>
                <a:latin typeface="PingFang SC"/>
              </a:rPr>
              <a:t>工具越多选择准确率越低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876300" y="6019800"/>
            <a:ext cx="10439400" cy="514350"/>
          </a:xfrm>
          <a:prstGeom prst="roundRect">
            <a:avLst>
              <a:gd name="adj" fmla="val 8000"/>
            </a:avLst>
          </a:prstGeom>
          <a:solidFill>
            <a:srgbClr val="F1F5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1066800" y="6019800"/>
            <a:ext cx="10058400" cy="5524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1250" b="0">
                <a:solidFill>
                  <a:srgbClr val="2563EB"/>
                </a:solidFill>
                <a:latin typeface="PingFang SC"/>
              </a:rPr>
              <a:t>▶ 第3章 Harness 复用此能力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0287000" y="6534150"/>
            <a:ext cx="1619250" cy="2667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>
              <a:lnSpc>
                <a:spcPct val="100000"/>
              </a:lnSpc>
            </a:pPr>
            <a:r>
              <a:rPr sz="900" b="0">
                <a:solidFill>
                  <a:srgbClr val="94A3B8"/>
                </a:solidFill>
                <a:latin typeface="PingFang SC"/>
              </a:rPr>
              <a:t>第2章 · 45/141</a:t>
            </a:r>
          </a:p>
        </p:txBody>
      </p:sp>
    </p:spTree>
  </p:cSld>
  <p:clrMapOvr>
    <a:masterClrMapping/>
  </p:clrMapOvr>
</p:sld>
</file>

<file path=ppt/slides/slide4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704850"/>
          </a:xfrm>
          <a:prstGeom prst="rect">
            <a:avLst/>
          </a:prstGeom>
          <a:solidFill>
            <a:srgbClr val="0B1D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76200" cy="704850"/>
          </a:xfrm>
          <a:prstGeom prst="rect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266700" y="0"/>
            <a:ext cx="10287000" cy="7048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2000" b="1">
                <a:solidFill>
                  <a:srgbClr val="FFFFFF"/>
                </a:solidFill>
                <a:latin typeface="PingFang SC"/>
              </a:rPr>
              <a:t>踩坑:共享可变状态污染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334500" y="0"/>
            <a:ext cx="2667000" cy="7048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>
              <a:lnSpc>
                <a:spcPct val="100000"/>
              </a:lnSpc>
            </a:pPr>
            <a:r>
              <a:rPr sz="1100" b="0">
                <a:solidFill>
                  <a:srgbClr val="94A3B8"/>
                </a:solidFill>
                <a:latin typeface="PingFang SC"/>
              </a:rPr>
              <a:t>第2章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876300" y="914400"/>
            <a:ext cx="10439400" cy="10287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DDE5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876300" y="914400"/>
            <a:ext cx="57150" cy="1028700"/>
          </a:xfrm>
          <a:prstGeom prst="rect">
            <a:avLst/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ounded Rectangle 7"/>
          <p:cNvSpPr/>
          <p:nvPr/>
        </p:nvSpPr>
        <p:spPr>
          <a:xfrm>
            <a:off x="1047750" y="1285875"/>
            <a:ext cx="285750" cy="285750"/>
          </a:xfrm>
          <a:prstGeom prst="roundRect">
            <a:avLst>
              <a:gd name="adj" fmla="val 8000"/>
            </a:avLst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047750" y="1276350"/>
            <a:ext cx="285750" cy="2857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300" b="1">
                <a:solidFill>
                  <a:srgbClr val="FFFFFF"/>
                </a:solidFill>
                <a:latin typeface="PingFang SC"/>
              </a:rPr>
              <a:t>1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485900" y="914400"/>
            <a:ext cx="9601200" cy="10287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12000"/>
              </a:lnSpc>
            </a:pPr>
            <a:r>
              <a:rPr sz="1400" b="1">
                <a:solidFill>
                  <a:srgbClr val="475569"/>
                </a:solidFill>
                <a:latin typeface="PingFang SC"/>
              </a:rPr>
              <a:t>平台真实事故:disable 直接改共享 spec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876300" y="2114550"/>
            <a:ext cx="10439400" cy="10287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DDE5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876300" y="2114550"/>
            <a:ext cx="57150" cy="1028700"/>
          </a:xfrm>
          <a:prstGeom prst="rect">
            <a:avLst/>
          </a:prstGeom>
          <a:solidFill>
            <a:srgbClr val="14B8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ounded Rectangle 12"/>
          <p:cNvSpPr/>
          <p:nvPr/>
        </p:nvSpPr>
        <p:spPr>
          <a:xfrm>
            <a:off x="1047750" y="2486025"/>
            <a:ext cx="285750" cy="285750"/>
          </a:xfrm>
          <a:prstGeom prst="roundRect">
            <a:avLst>
              <a:gd name="adj" fmla="val 8000"/>
            </a:avLst>
          </a:prstGeom>
          <a:solidFill>
            <a:srgbClr val="14B8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1047750" y="2476500"/>
            <a:ext cx="285750" cy="2857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300" b="1">
                <a:solidFill>
                  <a:srgbClr val="FFFFFF"/>
                </a:solidFill>
                <a:latin typeface="PingFang SC"/>
              </a:rPr>
              <a:t>2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485900" y="2114550"/>
            <a:ext cx="9601200" cy="10287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12000"/>
              </a:lnSpc>
            </a:pPr>
            <a:r>
              <a:rPr sz="1400" b="1">
                <a:solidFill>
                  <a:srgbClr val="475569"/>
                </a:solidFill>
                <a:latin typeface="PingFang SC"/>
              </a:rPr>
              <a:t>一个测试下线工具,后续测试全挂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876300" y="3314700"/>
            <a:ext cx="10439400" cy="10287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DDE5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876300" y="3314700"/>
            <a:ext cx="57150" cy="1028700"/>
          </a:xfrm>
          <a:prstGeom prst="rect">
            <a:avLst/>
          </a:prstGeom>
          <a:solidFill>
            <a:srgbClr val="8B5C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ounded Rectangle 17"/>
          <p:cNvSpPr/>
          <p:nvPr/>
        </p:nvSpPr>
        <p:spPr>
          <a:xfrm>
            <a:off x="1047750" y="3686175"/>
            <a:ext cx="285750" cy="285750"/>
          </a:xfrm>
          <a:prstGeom prst="roundRect">
            <a:avLst>
              <a:gd name="adj" fmla="val 8000"/>
            </a:avLst>
          </a:prstGeom>
          <a:solidFill>
            <a:srgbClr val="8B5C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1047750" y="3676650"/>
            <a:ext cx="285750" cy="2857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300" b="1">
                <a:solidFill>
                  <a:srgbClr val="FFFFFF"/>
                </a:solidFill>
                <a:latin typeface="PingFang SC"/>
              </a:rPr>
              <a:t>3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485900" y="3314700"/>
            <a:ext cx="9601200" cy="10287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12000"/>
              </a:lnSpc>
            </a:pPr>
            <a:r>
              <a:rPr sz="1400" b="1">
                <a:solidFill>
                  <a:srgbClr val="475569"/>
                </a:solidFill>
                <a:latin typeface="PingFang SC"/>
              </a:rPr>
              <a:t>修复:启停状态收归 Registry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876300" y="6019800"/>
            <a:ext cx="10439400" cy="514350"/>
          </a:xfrm>
          <a:prstGeom prst="roundRect">
            <a:avLst>
              <a:gd name="adj" fmla="val 8000"/>
            </a:avLst>
          </a:prstGeom>
          <a:solidFill>
            <a:srgbClr val="F1F5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1066800" y="6019800"/>
            <a:ext cx="10058400" cy="5524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1250" b="0">
                <a:solidFill>
                  <a:srgbClr val="2563EB"/>
                </a:solidFill>
                <a:latin typeface="PingFang SC"/>
              </a:rPr>
              <a:t>▶ 教学价值:隔离边界要画清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0287000" y="6534150"/>
            <a:ext cx="1619250" cy="2667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>
              <a:lnSpc>
                <a:spcPct val="100000"/>
              </a:lnSpc>
            </a:pPr>
            <a:r>
              <a:rPr sz="900" b="0">
                <a:solidFill>
                  <a:srgbClr val="94A3B8"/>
                </a:solidFill>
                <a:latin typeface="PingFang SC"/>
              </a:rPr>
              <a:t>第2章 · 46/141</a:t>
            </a:r>
          </a:p>
        </p:txBody>
      </p:sp>
    </p:spTree>
  </p:cSld>
  <p:clrMapOvr>
    <a:masterClrMapping/>
  </p:clrMapOvr>
</p:sld>
</file>

<file path=ppt/slides/slide4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704850"/>
          </a:xfrm>
          <a:prstGeom prst="rect">
            <a:avLst/>
          </a:prstGeom>
          <a:solidFill>
            <a:srgbClr val="0B1D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76200" cy="704850"/>
          </a:xfrm>
          <a:prstGeom prst="rect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266700" y="0"/>
            <a:ext cx="10287000" cy="7048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2000" b="1">
                <a:solidFill>
                  <a:srgbClr val="FFFFFF"/>
                </a:solidFill>
                <a:latin typeface="PingFang SC"/>
              </a:rPr>
              <a:t>测试污染事故复盘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334500" y="0"/>
            <a:ext cx="2667000" cy="7048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>
              <a:lnSpc>
                <a:spcPct val="100000"/>
              </a:lnSpc>
            </a:pPr>
            <a:r>
              <a:rPr sz="1100" b="0">
                <a:solidFill>
                  <a:srgbClr val="94A3B8"/>
                </a:solidFill>
                <a:latin typeface="PingFang SC"/>
              </a:rPr>
              <a:t>disable 改共享 spec;后续 3 个权限测试连环假失败;单跑全绿/全量必红;根因:可变共享状态;修复:启停收归 Registry;回归:加隔离用例|教学级真实案例</a:t>
            </a:r>
          </a:p>
        </p:txBody>
      </p:sp>
      <p:sp>
        <p:nvSpPr>
          <p:cNvPr id="6" name="Rectangle 5"/>
          <p:cNvSpPr/>
          <p:nvPr/>
        </p:nvSpPr>
        <p:spPr>
          <a:xfrm>
            <a:off x="1619250" y="3314700"/>
            <a:ext cx="8953500" cy="38100"/>
          </a:xfrm>
          <a:prstGeom prst="rect">
            <a:avLst/>
          </a:prstGeom>
          <a:solidFill>
            <a:srgbClr val="DDE5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ounded Rectangle 6"/>
          <p:cNvSpPr/>
          <p:nvPr/>
        </p:nvSpPr>
        <p:spPr>
          <a:xfrm>
            <a:off x="1514475" y="3228975"/>
            <a:ext cx="209550" cy="209550"/>
          </a:xfrm>
          <a:prstGeom prst="roundRect">
            <a:avLst>
              <a:gd name="adj" fmla="val 8000"/>
            </a:avLst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ounded Rectangle 7"/>
          <p:cNvSpPr/>
          <p:nvPr/>
        </p:nvSpPr>
        <p:spPr>
          <a:xfrm>
            <a:off x="190500" y="1905000"/>
            <a:ext cx="2857500" cy="1123950"/>
          </a:xfrm>
          <a:prstGeom prst="roundRect">
            <a:avLst>
              <a:gd name="adj" fmla="val 8000"/>
            </a:avLst>
          </a:prstGeom>
          <a:solidFill>
            <a:srgbClr val="F1F5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190500" y="1905000"/>
            <a:ext cx="2857500" cy="38100"/>
          </a:xfrm>
          <a:prstGeom prst="rect">
            <a:avLst/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285750" y="2000250"/>
            <a:ext cx="2667000" cy="2857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400" b="1">
                <a:solidFill>
                  <a:srgbClr val="2563EB"/>
                </a:solidFill>
                <a:latin typeface="PingFang SC"/>
              </a:rPr>
              <a:t>disable 改共享 spec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285750" y="2305050"/>
            <a:ext cx="2667000" cy="6667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5000"/>
              </a:lnSpc>
            </a:pPr>
            <a:r>
              <a:rPr sz="1050" b="0">
                <a:solidFill>
                  <a:srgbClr val="475569"/>
                </a:solidFill>
                <a:latin typeface="PingFang SC"/>
              </a:rPr>
              <a:t/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3305175" y="3228975"/>
            <a:ext cx="209550" cy="209550"/>
          </a:xfrm>
          <a:prstGeom prst="roundRect">
            <a:avLst>
              <a:gd name="adj" fmla="val 8000"/>
            </a:avLst>
          </a:prstGeom>
          <a:solidFill>
            <a:srgbClr val="14B8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ounded Rectangle 12"/>
          <p:cNvSpPr/>
          <p:nvPr/>
        </p:nvSpPr>
        <p:spPr>
          <a:xfrm>
            <a:off x="1981200" y="3619500"/>
            <a:ext cx="2857500" cy="1123950"/>
          </a:xfrm>
          <a:prstGeom prst="roundRect">
            <a:avLst>
              <a:gd name="adj" fmla="val 8000"/>
            </a:avLst>
          </a:prstGeom>
          <a:solidFill>
            <a:srgbClr val="F1F5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1981200" y="3619500"/>
            <a:ext cx="2857500" cy="38100"/>
          </a:xfrm>
          <a:prstGeom prst="rect">
            <a:avLst/>
          </a:prstGeom>
          <a:solidFill>
            <a:srgbClr val="14B8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2076450" y="3714750"/>
            <a:ext cx="2667000" cy="2857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400" b="1">
                <a:solidFill>
                  <a:srgbClr val="14B8A6"/>
                </a:solidFill>
                <a:latin typeface="PingFang SC"/>
              </a:rPr>
              <a:t>后续 3 个权限测试连环假失败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2076450" y="4019550"/>
            <a:ext cx="2667000" cy="6667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5000"/>
              </a:lnSpc>
            </a:pPr>
            <a:r>
              <a:rPr sz="1050" b="0">
                <a:solidFill>
                  <a:srgbClr val="475569"/>
                </a:solidFill>
                <a:latin typeface="PingFang SC"/>
              </a:rPr>
              <a:t/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5095875" y="3228975"/>
            <a:ext cx="209550" cy="209550"/>
          </a:xfrm>
          <a:prstGeom prst="roundRect">
            <a:avLst>
              <a:gd name="adj" fmla="val 8000"/>
            </a:avLst>
          </a:prstGeom>
          <a:solidFill>
            <a:srgbClr val="8B5C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ounded Rectangle 17"/>
          <p:cNvSpPr/>
          <p:nvPr/>
        </p:nvSpPr>
        <p:spPr>
          <a:xfrm>
            <a:off x="3771900" y="1905000"/>
            <a:ext cx="2857500" cy="1123950"/>
          </a:xfrm>
          <a:prstGeom prst="roundRect">
            <a:avLst>
              <a:gd name="adj" fmla="val 8000"/>
            </a:avLst>
          </a:prstGeom>
          <a:solidFill>
            <a:srgbClr val="F1F5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3771900" y="1905000"/>
            <a:ext cx="2857500" cy="38100"/>
          </a:xfrm>
          <a:prstGeom prst="rect">
            <a:avLst/>
          </a:prstGeom>
          <a:solidFill>
            <a:srgbClr val="8B5C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3867150" y="2000250"/>
            <a:ext cx="2667000" cy="2857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400" b="1">
                <a:solidFill>
                  <a:srgbClr val="8B5CF6"/>
                </a:solidFill>
                <a:latin typeface="PingFang SC"/>
              </a:rPr>
              <a:t>单跑全绿/全量必红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3867150" y="2305050"/>
            <a:ext cx="2667000" cy="6667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5000"/>
              </a:lnSpc>
            </a:pPr>
            <a:r>
              <a:rPr sz="1050" b="0">
                <a:solidFill>
                  <a:srgbClr val="475569"/>
                </a:solidFill>
                <a:latin typeface="PingFang SC"/>
              </a:rPr>
              <a:t/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6886575" y="3228975"/>
            <a:ext cx="209550" cy="209550"/>
          </a:xfrm>
          <a:prstGeom prst="roundRect">
            <a:avLst>
              <a:gd name="adj" fmla="val 8000"/>
            </a:avLst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ounded Rectangle 22"/>
          <p:cNvSpPr/>
          <p:nvPr/>
        </p:nvSpPr>
        <p:spPr>
          <a:xfrm>
            <a:off x="5562600" y="3619500"/>
            <a:ext cx="2857500" cy="1123950"/>
          </a:xfrm>
          <a:prstGeom prst="roundRect">
            <a:avLst>
              <a:gd name="adj" fmla="val 8000"/>
            </a:avLst>
          </a:prstGeom>
          <a:solidFill>
            <a:srgbClr val="F1F5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Rectangle 23"/>
          <p:cNvSpPr/>
          <p:nvPr/>
        </p:nvSpPr>
        <p:spPr>
          <a:xfrm>
            <a:off x="5562600" y="3619500"/>
            <a:ext cx="2857500" cy="38100"/>
          </a:xfrm>
          <a:prstGeom prst="rect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5657850" y="3714750"/>
            <a:ext cx="2667000" cy="2857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400" b="1">
                <a:solidFill>
                  <a:srgbClr val="F59E0B"/>
                </a:solidFill>
                <a:latin typeface="PingFang SC"/>
              </a:rPr>
              <a:t>根因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5657850" y="4019550"/>
            <a:ext cx="2667000" cy="6667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5000"/>
              </a:lnSpc>
            </a:pPr>
            <a:r>
              <a:rPr sz="1050" b="0">
                <a:solidFill>
                  <a:srgbClr val="475569"/>
                </a:solidFill>
                <a:latin typeface="PingFang SC"/>
              </a:rPr>
              <a:t>可变共享状态</a:t>
            </a:r>
          </a:p>
        </p:txBody>
      </p:sp>
      <p:sp>
        <p:nvSpPr>
          <p:cNvPr id="27" name="Rounded Rectangle 26"/>
          <p:cNvSpPr/>
          <p:nvPr/>
        </p:nvSpPr>
        <p:spPr>
          <a:xfrm>
            <a:off x="8677275" y="3228975"/>
            <a:ext cx="209550" cy="209550"/>
          </a:xfrm>
          <a:prstGeom prst="roundRect">
            <a:avLst>
              <a:gd name="adj" fmla="val 8000"/>
            </a:avLst>
          </a:prstGeom>
          <a:solidFill>
            <a:srgbClr val="34D39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Rounded Rectangle 27"/>
          <p:cNvSpPr/>
          <p:nvPr/>
        </p:nvSpPr>
        <p:spPr>
          <a:xfrm>
            <a:off x="7353300" y="1905000"/>
            <a:ext cx="2857500" cy="1123950"/>
          </a:xfrm>
          <a:prstGeom prst="roundRect">
            <a:avLst>
              <a:gd name="adj" fmla="val 8000"/>
            </a:avLst>
          </a:prstGeom>
          <a:solidFill>
            <a:srgbClr val="F1F5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Rectangle 28"/>
          <p:cNvSpPr/>
          <p:nvPr/>
        </p:nvSpPr>
        <p:spPr>
          <a:xfrm>
            <a:off x="7353300" y="1905000"/>
            <a:ext cx="2857500" cy="38100"/>
          </a:xfrm>
          <a:prstGeom prst="rect">
            <a:avLst/>
          </a:prstGeom>
          <a:solidFill>
            <a:srgbClr val="34D39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7448550" y="2000250"/>
            <a:ext cx="2667000" cy="2857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400" b="1">
                <a:solidFill>
                  <a:srgbClr val="34D399"/>
                </a:solidFill>
                <a:latin typeface="PingFang SC"/>
              </a:rPr>
              <a:t>修复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7448550" y="2305050"/>
            <a:ext cx="2667000" cy="6667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5000"/>
              </a:lnSpc>
            </a:pPr>
            <a:r>
              <a:rPr sz="1050" b="0">
                <a:solidFill>
                  <a:srgbClr val="475569"/>
                </a:solidFill>
                <a:latin typeface="PingFang SC"/>
              </a:rPr>
              <a:t>启停收归 Registry</a:t>
            </a:r>
          </a:p>
        </p:txBody>
      </p:sp>
      <p:sp>
        <p:nvSpPr>
          <p:cNvPr id="32" name="Rounded Rectangle 31"/>
          <p:cNvSpPr/>
          <p:nvPr/>
        </p:nvSpPr>
        <p:spPr>
          <a:xfrm>
            <a:off x="10467975" y="3228975"/>
            <a:ext cx="209550" cy="209550"/>
          </a:xfrm>
          <a:prstGeom prst="roundRect">
            <a:avLst>
              <a:gd name="adj" fmla="val 8000"/>
            </a:avLst>
          </a:prstGeom>
          <a:solidFill>
            <a:srgbClr val="F8717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Rounded Rectangle 32"/>
          <p:cNvSpPr/>
          <p:nvPr/>
        </p:nvSpPr>
        <p:spPr>
          <a:xfrm>
            <a:off x="9144000" y="3619500"/>
            <a:ext cx="2857500" cy="1123950"/>
          </a:xfrm>
          <a:prstGeom prst="roundRect">
            <a:avLst>
              <a:gd name="adj" fmla="val 8000"/>
            </a:avLst>
          </a:prstGeom>
          <a:solidFill>
            <a:srgbClr val="F1F5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Rectangle 33"/>
          <p:cNvSpPr/>
          <p:nvPr/>
        </p:nvSpPr>
        <p:spPr>
          <a:xfrm>
            <a:off x="9144000" y="3619500"/>
            <a:ext cx="2857500" cy="38100"/>
          </a:xfrm>
          <a:prstGeom prst="rect">
            <a:avLst/>
          </a:prstGeom>
          <a:solidFill>
            <a:srgbClr val="F8717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9239250" y="3714750"/>
            <a:ext cx="2667000" cy="2857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400" b="1">
                <a:solidFill>
                  <a:srgbClr val="F87171"/>
                </a:solidFill>
                <a:latin typeface="PingFang SC"/>
              </a:rPr>
              <a:t>回归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9239250" y="4019550"/>
            <a:ext cx="2667000" cy="6667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5000"/>
              </a:lnSpc>
            </a:pPr>
            <a:r>
              <a:rPr sz="1050" b="0">
                <a:solidFill>
                  <a:srgbClr val="475569"/>
                </a:solidFill>
                <a:latin typeface="PingFang SC"/>
              </a:rPr>
              <a:t>加隔离用例|教学级真实案例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10287000" y="6534150"/>
            <a:ext cx="1619250" cy="2667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>
              <a:lnSpc>
                <a:spcPct val="100000"/>
              </a:lnSpc>
            </a:pPr>
            <a:r>
              <a:rPr sz="900" b="0">
                <a:solidFill>
                  <a:srgbClr val="94A3B8"/>
                </a:solidFill>
                <a:latin typeface="PingFang SC"/>
              </a:rPr>
              <a:t>第2章 · 47/141</a:t>
            </a:r>
          </a:p>
        </p:txBody>
      </p:sp>
    </p:spTree>
  </p:cSld>
  <p:clrMapOvr>
    <a:masterClrMapping/>
  </p:clrMapOvr>
</p:sld>
</file>

<file path=ppt/slides/slide4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704850"/>
          </a:xfrm>
          <a:prstGeom prst="rect">
            <a:avLst/>
          </a:prstGeom>
          <a:solidFill>
            <a:srgbClr val="0B1D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76200" cy="704850"/>
          </a:xfrm>
          <a:prstGeom prst="rect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266700" y="0"/>
            <a:ext cx="10287000" cy="7048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2000" b="1">
                <a:solidFill>
                  <a:srgbClr val="FFFFFF"/>
                </a:solidFill>
                <a:latin typeface="PingFang SC"/>
              </a:rPr>
              <a:t>踩坑:描述与实现漂移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334500" y="0"/>
            <a:ext cx="2667000" cy="7048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>
              <a:lnSpc>
                <a:spcPct val="100000"/>
              </a:lnSpc>
            </a:pPr>
            <a:r>
              <a:rPr sz="1100" b="0">
                <a:solidFill>
                  <a:srgbClr val="94A3B8"/>
                </a:solidFill>
                <a:latin typeface="PingFang SC"/>
              </a:rPr>
              <a:t>第2章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876300" y="914400"/>
            <a:ext cx="10439400" cy="10287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DDE5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876300" y="914400"/>
            <a:ext cx="57150" cy="1028700"/>
          </a:xfrm>
          <a:prstGeom prst="rect">
            <a:avLst/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ounded Rectangle 7"/>
          <p:cNvSpPr/>
          <p:nvPr/>
        </p:nvSpPr>
        <p:spPr>
          <a:xfrm>
            <a:off x="1047750" y="1285875"/>
            <a:ext cx="285750" cy="285750"/>
          </a:xfrm>
          <a:prstGeom prst="roundRect">
            <a:avLst>
              <a:gd name="adj" fmla="val 8000"/>
            </a:avLst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047750" y="1276350"/>
            <a:ext cx="285750" cy="2857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300" b="1">
                <a:solidFill>
                  <a:srgbClr val="FFFFFF"/>
                </a:solidFill>
                <a:latin typeface="PingFang SC"/>
              </a:rPr>
              <a:t>1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485900" y="914400"/>
            <a:ext cx="9601200" cy="10287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12000"/>
              </a:lnSpc>
            </a:pPr>
            <a:r>
              <a:rPr sz="1400" b="1">
                <a:solidFill>
                  <a:srgbClr val="475569"/>
                </a:solidFill>
                <a:latin typeface="PingFang SC"/>
              </a:rPr>
              <a:t>文档说只读,实现里写了库表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876300" y="2114550"/>
            <a:ext cx="10439400" cy="10287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DDE5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876300" y="2114550"/>
            <a:ext cx="57150" cy="1028700"/>
          </a:xfrm>
          <a:prstGeom prst="rect">
            <a:avLst/>
          </a:prstGeom>
          <a:solidFill>
            <a:srgbClr val="14B8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ounded Rectangle 12"/>
          <p:cNvSpPr/>
          <p:nvPr/>
        </p:nvSpPr>
        <p:spPr>
          <a:xfrm>
            <a:off x="1047750" y="2486025"/>
            <a:ext cx="285750" cy="285750"/>
          </a:xfrm>
          <a:prstGeom prst="roundRect">
            <a:avLst>
              <a:gd name="adj" fmla="val 8000"/>
            </a:avLst>
          </a:prstGeom>
          <a:solidFill>
            <a:srgbClr val="14B8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1047750" y="2476500"/>
            <a:ext cx="285750" cy="2857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300" b="1">
                <a:solidFill>
                  <a:srgbClr val="FFFFFF"/>
                </a:solidFill>
                <a:latin typeface="PingFang SC"/>
              </a:rPr>
              <a:t>2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485900" y="2114550"/>
            <a:ext cx="9601200" cy="10287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12000"/>
              </a:lnSpc>
            </a:pPr>
            <a:r>
              <a:rPr sz="1400" b="1">
                <a:solidFill>
                  <a:srgbClr val="475569"/>
                </a:solidFill>
                <a:latin typeface="PingFang SC"/>
              </a:rPr>
              <a:t>防护:CI 扫描写操作关键词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876300" y="3314700"/>
            <a:ext cx="10439400" cy="10287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DDE5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876300" y="3314700"/>
            <a:ext cx="57150" cy="1028700"/>
          </a:xfrm>
          <a:prstGeom prst="rect">
            <a:avLst/>
          </a:prstGeom>
          <a:solidFill>
            <a:srgbClr val="8B5C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ounded Rectangle 17"/>
          <p:cNvSpPr/>
          <p:nvPr/>
        </p:nvSpPr>
        <p:spPr>
          <a:xfrm>
            <a:off x="1047750" y="3686175"/>
            <a:ext cx="285750" cy="285750"/>
          </a:xfrm>
          <a:prstGeom prst="roundRect">
            <a:avLst>
              <a:gd name="adj" fmla="val 8000"/>
            </a:avLst>
          </a:prstGeom>
          <a:solidFill>
            <a:srgbClr val="8B5C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1047750" y="3676650"/>
            <a:ext cx="285750" cy="2857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300" b="1">
                <a:solidFill>
                  <a:srgbClr val="FFFFFF"/>
                </a:solidFill>
                <a:latin typeface="PingFang SC"/>
              </a:rPr>
              <a:t>3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485900" y="3314700"/>
            <a:ext cx="9601200" cy="10287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12000"/>
              </a:lnSpc>
            </a:pPr>
            <a:r>
              <a:rPr sz="1400" b="1">
                <a:solidFill>
                  <a:srgbClr val="475569"/>
                </a:solidFill>
                <a:latin typeface="PingFang SC"/>
              </a:rPr>
              <a:t>治本:权限模型以代码为准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0287000" y="6534150"/>
            <a:ext cx="1619250" cy="2667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>
              <a:lnSpc>
                <a:spcPct val="100000"/>
              </a:lnSpc>
            </a:pPr>
            <a:r>
              <a:rPr sz="900" b="0">
                <a:solidFill>
                  <a:srgbClr val="94A3B8"/>
                </a:solidFill>
                <a:latin typeface="PingFang SC"/>
              </a:rPr>
              <a:t>第2章 · 48/141</a:t>
            </a:r>
          </a:p>
        </p:txBody>
      </p:sp>
    </p:spTree>
  </p:cSld>
  <p:clrMapOvr>
    <a:masterClrMapping/>
  </p:clrMapOvr>
</p:sld>
</file>

<file path=ppt/slides/slide4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704850"/>
          </a:xfrm>
          <a:prstGeom prst="rect">
            <a:avLst/>
          </a:prstGeom>
          <a:solidFill>
            <a:srgbClr val="0B1D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76200" cy="704850"/>
          </a:xfrm>
          <a:prstGeom prst="rect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266700" y="0"/>
            <a:ext cx="10287000" cy="7048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2000" b="1">
                <a:solidFill>
                  <a:srgbClr val="FFFFFF"/>
                </a:solidFill>
                <a:latin typeface="PingFang SC"/>
              </a:rPr>
              <a:t>优化:工具选择评测集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334500" y="0"/>
            <a:ext cx="2667000" cy="7048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>
              <a:lnSpc>
                <a:spcPct val="100000"/>
              </a:lnSpc>
            </a:pPr>
            <a:r>
              <a:rPr sz="1100" b="0">
                <a:solidFill>
                  <a:srgbClr val="94A3B8"/>
                </a:solidFill>
                <a:latin typeface="PingFang SC"/>
              </a:rPr>
              <a:t>第2章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876300" y="914400"/>
            <a:ext cx="10439400" cy="10287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DDE5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876300" y="914400"/>
            <a:ext cx="57150" cy="1028700"/>
          </a:xfrm>
          <a:prstGeom prst="rect">
            <a:avLst/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ounded Rectangle 7"/>
          <p:cNvSpPr/>
          <p:nvPr/>
        </p:nvSpPr>
        <p:spPr>
          <a:xfrm>
            <a:off x="1047750" y="1285875"/>
            <a:ext cx="285750" cy="285750"/>
          </a:xfrm>
          <a:prstGeom prst="roundRect">
            <a:avLst>
              <a:gd name="adj" fmla="val 8000"/>
            </a:avLst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047750" y="1276350"/>
            <a:ext cx="285750" cy="2857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300" b="1">
                <a:solidFill>
                  <a:srgbClr val="FFFFFF"/>
                </a:solidFill>
                <a:latin typeface="PingFang SC"/>
              </a:rPr>
              <a:t>1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485900" y="914400"/>
            <a:ext cx="9601200" cy="10287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12000"/>
              </a:lnSpc>
            </a:pPr>
            <a:r>
              <a:rPr sz="1400" b="1">
                <a:solidFill>
                  <a:srgbClr val="475569"/>
                </a:solidFill>
                <a:latin typeface="PingFang SC"/>
              </a:rPr>
              <a:t>30 条任务→期望工具标注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876300" y="2114550"/>
            <a:ext cx="10439400" cy="10287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DDE5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876300" y="2114550"/>
            <a:ext cx="57150" cy="1028700"/>
          </a:xfrm>
          <a:prstGeom prst="rect">
            <a:avLst/>
          </a:prstGeom>
          <a:solidFill>
            <a:srgbClr val="14B8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ounded Rectangle 12"/>
          <p:cNvSpPr/>
          <p:nvPr/>
        </p:nvSpPr>
        <p:spPr>
          <a:xfrm>
            <a:off x="1047750" y="2486025"/>
            <a:ext cx="285750" cy="285750"/>
          </a:xfrm>
          <a:prstGeom prst="roundRect">
            <a:avLst>
              <a:gd name="adj" fmla="val 8000"/>
            </a:avLst>
          </a:prstGeom>
          <a:solidFill>
            <a:srgbClr val="14B8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1047750" y="2476500"/>
            <a:ext cx="285750" cy="2857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300" b="1">
                <a:solidFill>
                  <a:srgbClr val="FFFFFF"/>
                </a:solidFill>
                <a:latin typeface="PingFang SC"/>
              </a:rPr>
              <a:t>2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485900" y="2114550"/>
            <a:ext cx="9601200" cy="10287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12000"/>
              </a:lnSpc>
            </a:pPr>
            <a:r>
              <a:rPr sz="1400" b="1">
                <a:solidFill>
                  <a:srgbClr val="475569"/>
                </a:solidFill>
                <a:latin typeface="PingFang SC"/>
              </a:rPr>
              <a:t>描述改动跑一遍评测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876300" y="3314700"/>
            <a:ext cx="10439400" cy="10287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DDE5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876300" y="3314700"/>
            <a:ext cx="57150" cy="1028700"/>
          </a:xfrm>
          <a:prstGeom prst="rect">
            <a:avLst/>
          </a:prstGeom>
          <a:solidFill>
            <a:srgbClr val="8B5C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ounded Rectangle 17"/>
          <p:cNvSpPr/>
          <p:nvPr/>
        </p:nvSpPr>
        <p:spPr>
          <a:xfrm>
            <a:off x="1047750" y="3686175"/>
            <a:ext cx="285750" cy="285750"/>
          </a:xfrm>
          <a:prstGeom prst="roundRect">
            <a:avLst>
              <a:gd name="adj" fmla="val 8000"/>
            </a:avLst>
          </a:prstGeom>
          <a:solidFill>
            <a:srgbClr val="8B5C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1047750" y="3676650"/>
            <a:ext cx="285750" cy="2857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300" b="1">
                <a:solidFill>
                  <a:srgbClr val="FFFFFF"/>
                </a:solidFill>
                <a:latin typeface="PingFang SC"/>
              </a:rPr>
              <a:t>3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485900" y="3314700"/>
            <a:ext cx="9601200" cy="10287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12000"/>
              </a:lnSpc>
            </a:pPr>
            <a:r>
              <a:rPr sz="1400" b="1">
                <a:solidFill>
                  <a:srgbClr val="475569"/>
                </a:solidFill>
                <a:latin typeface="PingFang SC"/>
              </a:rPr>
              <a:t>选择准确率纳入 CI 报告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0287000" y="6534150"/>
            <a:ext cx="1619250" cy="2667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>
              <a:lnSpc>
                <a:spcPct val="100000"/>
              </a:lnSpc>
            </a:pPr>
            <a:r>
              <a:rPr sz="900" b="0">
                <a:solidFill>
                  <a:srgbClr val="94A3B8"/>
                </a:solidFill>
                <a:latin typeface="PingFang SC"/>
              </a:rPr>
              <a:t>第2章 · 49/141</a:t>
            </a:r>
          </a:p>
        </p:txBody>
      </p:sp>
    </p:spTree>
  </p:cSld>
  <p:clrMapOvr>
    <a:masterClrMapping/>
  </p:clrMapOvr>
</p:sld>
</file>

<file path=ppt/slides/slide5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704850"/>
          </a:xfrm>
          <a:prstGeom prst="rect">
            <a:avLst/>
          </a:prstGeom>
          <a:solidFill>
            <a:srgbClr val="0B1D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76200" cy="704850"/>
          </a:xfrm>
          <a:prstGeom prst="rect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266700" y="0"/>
            <a:ext cx="10287000" cy="7048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2000" b="1">
                <a:solidFill>
                  <a:srgbClr val="FFFFFF"/>
                </a:solidFill>
                <a:latin typeface="PingFang SC"/>
              </a:rPr>
              <a:t>优化:工具的幂等设计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334500" y="0"/>
            <a:ext cx="2667000" cy="7048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>
              <a:lnSpc>
                <a:spcPct val="100000"/>
              </a:lnSpc>
            </a:pPr>
            <a:r>
              <a:rPr sz="1100" b="0">
                <a:solidFill>
                  <a:srgbClr val="94A3B8"/>
                </a:solidFill>
                <a:latin typeface="PingFang SC"/>
              </a:rPr>
              <a:t>第2章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876300" y="914400"/>
            <a:ext cx="10439400" cy="10287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DDE5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876300" y="914400"/>
            <a:ext cx="57150" cy="1028700"/>
          </a:xfrm>
          <a:prstGeom prst="rect">
            <a:avLst/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ounded Rectangle 7"/>
          <p:cNvSpPr/>
          <p:nvPr/>
        </p:nvSpPr>
        <p:spPr>
          <a:xfrm>
            <a:off x="1047750" y="1285875"/>
            <a:ext cx="285750" cy="285750"/>
          </a:xfrm>
          <a:prstGeom prst="roundRect">
            <a:avLst>
              <a:gd name="adj" fmla="val 8000"/>
            </a:avLst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047750" y="1276350"/>
            <a:ext cx="285750" cy="2857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300" b="1">
                <a:solidFill>
                  <a:srgbClr val="FFFFFF"/>
                </a:solidFill>
                <a:latin typeface="PingFang SC"/>
              </a:rPr>
              <a:t>1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485900" y="914400"/>
            <a:ext cx="9601200" cy="10287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12000"/>
              </a:lnSpc>
            </a:pPr>
            <a:r>
              <a:rPr sz="1400" b="1">
                <a:solidFill>
                  <a:srgbClr val="475569"/>
                </a:solidFill>
                <a:latin typeface="PingFang SC"/>
              </a:rPr>
              <a:t>同参数重复调用结果不变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876300" y="2114550"/>
            <a:ext cx="10439400" cy="10287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DDE5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876300" y="2114550"/>
            <a:ext cx="57150" cy="1028700"/>
          </a:xfrm>
          <a:prstGeom prst="rect">
            <a:avLst/>
          </a:prstGeom>
          <a:solidFill>
            <a:srgbClr val="14B8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ounded Rectangle 12"/>
          <p:cNvSpPr/>
          <p:nvPr/>
        </p:nvSpPr>
        <p:spPr>
          <a:xfrm>
            <a:off x="1047750" y="2486025"/>
            <a:ext cx="285750" cy="285750"/>
          </a:xfrm>
          <a:prstGeom prst="roundRect">
            <a:avLst>
              <a:gd name="adj" fmla="val 8000"/>
            </a:avLst>
          </a:prstGeom>
          <a:solidFill>
            <a:srgbClr val="14B8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1047750" y="2476500"/>
            <a:ext cx="285750" cy="2857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300" b="1">
                <a:solidFill>
                  <a:srgbClr val="FFFFFF"/>
                </a:solidFill>
                <a:latin typeface="PingFang SC"/>
              </a:rPr>
              <a:t>2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485900" y="2114550"/>
            <a:ext cx="9601200" cy="10287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12000"/>
              </a:lnSpc>
            </a:pPr>
            <a:r>
              <a:rPr sz="1400" b="1">
                <a:solidFill>
                  <a:srgbClr val="475569"/>
                </a:solidFill>
                <a:latin typeface="PingFang SC"/>
              </a:rPr>
              <a:t>支持重试而不副作用翻倍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876300" y="3314700"/>
            <a:ext cx="10439400" cy="10287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DDE5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876300" y="3314700"/>
            <a:ext cx="57150" cy="1028700"/>
          </a:xfrm>
          <a:prstGeom prst="rect">
            <a:avLst/>
          </a:prstGeom>
          <a:solidFill>
            <a:srgbClr val="8B5C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ounded Rectangle 17"/>
          <p:cNvSpPr/>
          <p:nvPr/>
        </p:nvSpPr>
        <p:spPr>
          <a:xfrm>
            <a:off x="1047750" y="3686175"/>
            <a:ext cx="285750" cy="285750"/>
          </a:xfrm>
          <a:prstGeom prst="roundRect">
            <a:avLst>
              <a:gd name="adj" fmla="val 8000"/>
            </a:avLst>
          </a:prstGeom>
          <a:solidFill>
            <a:srgbClr val="8B5C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1047750" y="3676650"/>
            <a:ext cx="285750" cy="2857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300" b="1">
                <a:solidFill>
                  <a:srgbClr val="FFFFFF"/>
                </a:solidFill>
                <a:latin typeface="PingFang SC"/>
              </a:rPr>
              <a:t>3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485900" y="3314700"/>
            <a:ext cx="9601200" cy="10287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12000"/>
              </a:lnSpc>
            </a:pPr>
            <a:r>
              <a:rPr sz="1400" b="1">
                <a:solidFill>
                  <a:srgbClr val="475569"/>
                </a:solidFill>
                <a:latin typeface="PingFang SC"/>
              </a:rPr>
              <a:t>非幂等工具强制人工确认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0287000" y="6534150"/>
            <a:ext cx="1619250" cy="2667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>
              <a:lnSpc>
                <a:spcPct val="100000"/>
              </a:lnSpc>
            </a:pPr>
            <a:r>
              <a:rPr sz="900" b="0">
                <a:solidFill>
                  <a:srgbClr val="94A3B8"/>
                </a:solidFill>
                <a:latin typeface="PingFang SC"/>
              </a:rPr>
              <a:t>第2章 · 50/141</a:t>
            </a:r>
          </a:p>
        </p:txBody>
      </p:sp>
    </p:spTree>
  </p:cSld>
  <p:clrMapOvr>
    <a:masterClrMapping/>
  </p:clrMapOvr>
</p:sld>
</file>

<file path=ppt/slides/slide5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704850"/>
          </a:xfrm>
          <a:prstGeom prst="rect">
            <a:avLst/>
          </a:prstGeom>
          <a:solidFill>
            <a:srgbClr val="0B1D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76200" cy="704850"/>
          </a:xfrm>
          <a:prstGeom prst="rect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266700" y="0"/>
            <a:ext cx="10287000" cy="7048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2000" b="1">
                <a:solidFill>
                  <a:srgbClr val="FFFFFF"/>
                </a:solidFill>
                <a:latin typeface="PingFang SC"/>
              </a:rPr>
              <a:t>优化:慢工具降级路径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334500" y="0"/>
            <a:ext cx="2667000" cy="7048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>
              <a:lnSpc>
                <a:spcPct val="100000"/>
              </a:lnSpc>
            </a:pPr>
            <a:r>
              <a:rPr sz="1100" b="0">
                <a:solidFill>
                  <a:srgbClr val="94A3B8"/>
                </a:solidFill>
                <a:latin typeface="PingFang SC"/>
              </a:rPr>
              <a:t>第2章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876300" y="914400"/>
            <a:ext cx="10439400" cy="10287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DDE5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876300" y="914400"/>
            <a:ext cx="57150" cy="1028700"/>
          </a:xfrm>
          <a:prstGeom prst="rect">
            <a:avLst/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ounded Rectangle 7"/>
          <p:cNvSpPr/>
          <p:nvPr/>
        </p:nvSpPr>
        <p:spPr>
          <a:xfrm>
            <a:off x="1047750" y="1285875"/>
            <a:ext cx="285750" cy="285750"/>
          </a:xfrm>
          <a:prstGeom prst="roundRect">
            <a:avLst>
              <a:gd name="adj" fmla="val 8000"/>
            </a:avLst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047750" y="1276350"/>
            <a:ext cx="285750" cy="2857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300" b="1">
                <a:solidFill>
                  <a:srgbClr val="FFFFFF"/>
                </a:solidFill>
                <a:latin typeface="PingFang SC"/>
              </a:rPr>
              <a:t>1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485900" y="914400"/>
            <a:ext cx="9601200" cy="10287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12000"/>
              </a:lnSpc>
            </a:pPr>
            <a:r>
              <a:rPr sz="1400" b="1">
                <a:solidFill>
                  <a:srgbClr val="475569"/>
                </a:solidFill>
                <a:latin typeface="PingFang SC"/>
              </a:rPr>
              <a:t>预测耗时&gt;阈值的工具给降级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876300" y="2114550"/>
            <a:ext cx="10439400" cy="10287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DDE5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876300" y="2114550"/>
            <a:ext cx="57150" cy="1028700"/>
          </a:xfrm>
          <a:prstGeom prst="rect">
            <a:avLst/>
          </a:prstGeom>
          <a:solidFill>
            <a:srgbClr val="14B8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ounded Rectangle 12"/>
          <p:cNvSpPr/>
          <p:nvPr/>
        </p:nvSpPr>
        <p:spPr>
          <a:xfrm>
            <a:off x="1047750" y="2486025"/>
            <a:ext cx="285750" cy="285750"/>
          </a:xfrm>
          <a:prstGeom prst="roundRect">
            <a:avLst>
              <a:gd name="adj" fmla="val 8000"/>
            </a:avLst>
          </a:prstGeom>
          <a:solidFill>
            <a:srgbClr val="14B8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1047750" y="2476500"/>
            <a:ext cx="285750" cy="2857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300" b="1">
                <a:solidFill>
                  <a:srgbClr val="FFFFFF"/>
                </a:solidFill>
                <a:latin typeface="PingFang SC"/>
              </a:rPr>
              <a:t>2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485900" y="2114550"/>
            <a:ext cx="9601200" cy="10287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12000"/>
              </a:lnSpc>
            </a:pPr>
            <a:r>
              <a:rPr sz="1400" b="1">
                <a:solidFill>
                  <a:srgbClr val="475569"/>
                </a:solidFill>
                <a:latin typeface="PingFang SC"/>
              </a:rPr>
              <a:t>返回近似结果+标记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876300" y="3314700"/>
            <a:ext cx="10439400" cy="10287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DDE5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876300" y="3314700"/>
            <a:ext cx="57150" cy="1028700"/>
          </a:xfrm>
          <a:prstGeom prst="rect">
            <a:avLst/>
          </a:prstGeom>
          <a:solidFill>
            <a:srgbClr val="8B5C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ounded Rectangle 17"/>
          <p:cNvSpPr/>
          <p:nvPr/>
        </p:nvSpPr>
        <p:spPr>
          <a:xfrm>
            <a:off x="1047750" y="3686175"/>
            <a:ext cx="285750" cy="285750"/>
          </a:xfrm>
          <a:prstGeom prst="roundRect">
            <a:avLst>
              <a:gd name="adj" fmla="val 8000"/>
            </a:avLst>
          </a:prstGeom>
          <a:solidFill>
            <a:srgbClr val="8B5C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1047750" y="3676650"/>
            <a:ext cx="285750" cy="2857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300" b="1">
                <a:solidFill>
                  <a:srgbClr val="FFFFFF"/>
                </a:solidFill>
                <a:latin typeface="PingFang SC"/>
              </a:rPr>
              <a:t>3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485900" y="3314700"/>
            <a:ext cx="9601200" cy="10287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12000"/>
              </a:lnSpc>
            </a:pPr>
            <a:r>
              <a:rPr sz="1400" b="1">
                <a:solidFill>
                  <a:srgbClr val="475569"/>
                </a:solidFill>
                <a:latin typeface="PingFang SC"/>
              </a:rPr>
              <a:t>保证 Agent 主链路不断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0287000" y="6534150"/>
            <a:ext cx="1619250" cy="2667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>
              <a:lnSpc>
                <a:spcPct val="100000"/>
              </a:lnSpc>
            </a:pPr>
            <a:r>
              <a:rPr sz="900" b="0">
                <a:solidFill>
                  <a:srgbClr val="94A3B8"/>
                </a:solidFill>
                <a:latin typeface="PingFang SC"/>
              </a:rPr>
              <a:t>第2章 · 51/141</a:t>
            </a:r>
          </a:p>
        </p:txBody>
      </p:sp>
    </p:spTree>
  </p:cSld>
  <p:clrMapOvr>
    <a:masterClrMapping/>
  </p:clrMapOvr>
</p:sld>
</file>

<file path=ppt/slides/slide5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704850"/>
          </a:xfrm>
          <a:prstGeom prst="rect">
            <a:avLst/>
          </a:prstGeom>
          <a:solidFill>
            <a:srgbClr val="0B1D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76200" cy="704850"/>
          </a:xfrm>
          <a:prstGeom prst="rect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266700" y="0"/>
            <a:ext cx="10287000" cy="7048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2000" b="1">
                <a:solidFill>
                  <a:srgbClr val="FFFFFF"/>
                </a:solidFill>
                <a:latin typeface="PingFang SC"/>
              </a:rPr>
              <a:t>2-2 自测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334500" y="0"/>
            <a:ext cx="2667000" cy="7048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>
              <a:lnSpc>
                <a:spcPct val="100000"/>
              </a:lnSpc>
            </a:pPr>
            <a:r>
              <a:rPr sz="1100" b="0">
                <a:solidFill>
                  <a:srgbClr val="94A3B8"/>
                </a:solidFill>
                <a:latin typeface="PingFang SC"/>
              </a:rPr>
              <a:t>第2章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287000" y="6534150"/>
            <a:ext cx="1619250" cy="2667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>
              <a:lnSpc>
                <a:spcPct val="100000"/>
              </a:lnSpc>
            </a:pPr>
            <a:r>
              <a:rPr sz="900" b="0">
                <a:solidFill>
                  <a:srgbClr val="94A3B8"/>
                </a:solidFill>
                <a:latin typeface="PingFang SC"/>
              </a:rPr>
              <a:t>第2章 · 52/141</a:t>
            </a:r>
          </a:p>
        </p:txBody>
      </p:sp>
    </p:spTree>
  </p:cSld>
  <p:clrMapOvr>
    <a:masterClrMapping/>
  </p:clrMapOvr>
</p:sld>
</file>

<file path=ppt/slides/slide5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704850"/>
          </a:xfrm>
          <a:prstGeom prst="rect">
            <a:avLst/>
          </a:prstGeom>
          <a:solidFill>
            <a:srgbClr val="0B1D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76200" cy="704850"/>
          </a:xfrm>
          <a:prstGeom prst="rect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266700" y="0"/>
            <a:ext cx="10287000" cy="7048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2000" b="1">
                <a:solidFill>
                  <a:srgbClr val="FFFFFF"/>
                </a:solidFill>
                <a:latin typeface="PingFang SC"/>
              </a:rPr>
              <a:t>Registry 的存储选型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334500" y="0"/>
            <a:ext cx="2667000" cy="7048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>
              <a:lnSpc>
                <a:spcPct val="100000"/>
              </a:lnSpc>
            </a:pPr>
            <a:r>
              <a:rPr sz="1100" b="0">
                <a:solidFill>
                  <a:srgbClr val="94A3B8"/>
                </a:solidFill>
                <a:latin typeface="PingFang SC"/>
              </a:rPr>
              <a:t>第2章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876300" y="914400"/>
            <a:ext cx="10439400" cy="10287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DDE5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876300" y="914400"/>
            <a:ext cx="57150" cy="1028700"/>
          </a:xfrm>
          <a:prstGeom prst="rect">
            <a:avLst/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ounded Rectangle 7"/>
          <p:cNvSpPr/>
          <p:nvPr/>
        </p:nvSpPr>
        <p:spPr>
          <a:xfrm>
            <a:off x="1047750" y="1285875"/>
            <a:ext cx="285750" cy="285750"/>
          </a:xfrm>
          <a:prstGeom prst="roundRect">
            <a:avLst>
              <a:gd name="adj" fmla="val 8000"/>
            </a:avLst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047750" y="1276350"/>
            <a:ext cx="285750" cy="2857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300" b="1">
                <a:solidFill>
                  <a:srgbClr val="FFFFFF"/>
                </a:solidFill>
                <a:latin typeface="PingFang SC"/>
              </a:rPr>
              <a:t>1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485900" y="914400"/>
            <a:ext cx="9601200" cy="10287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12000"/>
              </a:lnSpc>
            </a:pPr>
            <a:r>
              <a:rPr sz="1400" b="1">
                <a:solidFill>
                  <a:srgbClr val="475569"/>
                </a:solidFill>
                <a:latin typeface="PingFang SC"/>
              </a:rPr>
              <a:t>教学版:内存 dict,重启即空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876300" y="2114550"/>
            <a:ext cx="10439400" cy="10287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DDE5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876300" y="2114550"/>
            <a:ext cx="57150" cy="1028700"/>
          </a:xfrm>
          <a:prstGeom prst="rect">
            <a:avLst/>
          </a:prstGeom>
          <a:solidFill>
            <a:srgbClr val="14B8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ounded Rectangle 12"/>
          <p:cNvSpPr/>
          <p:nvPr/>
        </p:nvSpPr>
        <p:spPr>
          <a:xfrm>
            <a:off x="1047750" y="2486025"/>
            <a:ext cx="285750" cy="285750"/>
          </a:xfrm>
          <a:prstGeom prst="roundRect">
            <a:avLst>
              <a:gd name="adj" fmla="val 8000"/>
            </a:avLst>
          </a:prstGeom>
          <a:solidFill>
            <a:srgbClr val="14B8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1047750" y="2476500"/>
            <a:ext cx="285750" cy="2857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300" b="1">
                <a:solidFill>
                  <a:srgbClr val="FFFFFF"/>
                </a:solidFill>
                <a:latin typeface="PingFang SC"/>
              </a:rPr>
              <a:t>2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485900" y="2114550"/>
            <a:ext cx="9601200" cy="10287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12000"/>
              </a:lnSpc>
            </a:pPr>
            <a:r>
              <a:rPr sz="1400" b="1">
                <a:solidFill>
                  <a:srgbClr val="475569"/>
                </a:solidFill>
                <a:latin typeface="PingFang SC"/>
              </a:rPr>
              <a:t>生产版:PG 表+Redis 缓存清单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876300" y="3314700"/>
            <a:ext cx="10439400" cy="10287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DDE5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876300" y="3314700"/>
            <a:ext cx="57150" cy="1028700"/>
          </a:xfrm>
          <a:prstGeom prst="rect">
            <a:avLst/>
          </a:prstGeom>
          <a:solidFill>
            <a:srgbClr val="8B5C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ounded Rectangle 17"/>
          <p:cNvSpPr/>
          <p:nvPr/>
        </p:nvSpPr>
        <p:spPr>
          <a:xfrm>
            <a:off x="1047750" y="3686175"/>
            <a:ext cx="285750" cy="285750"/>
          </a:xfrm>
          <a:prstGeom prst="roundRect">
            <a:avLst>
              <a:gd name="adj" fmla="val 8000"/>
            </a:avLst>
          </a:prstGeom>
          <a:solidFill>
            <a:srgbClr val="8B5C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1047750" y="3676650"/>
            <a:ext cx="285750" cy="2857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300" b="1">
                <a:solidFill>
                  <a:srgbClr val="FFFFFF"/>
                </a:solidFill>
                <a:latin typeface="PingFang SC"/>
              </a:rPr>
              <a:t>3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485900" y="3314700"/>
            <a:ext cx="9601200" cy="10287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12000"/>
              </a:lnSpc>
            </a:pPr>
            <a:r>
              <a:rPr sz="1400" b="1">
                <a:solidFill>
                  <a:srgbClr val="475569"/>
                </a:solidFill>
                <a:latin typeface="PingFang SC"/>
              </a:rPr>
              <a:t>关键:变更走审批留版本记录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876300" y="6019800"/>
            <a:ext cx="10439400" cy="514350"/>
          </a:xfrm>
          <a:prstGeom prst="roundRect">
            <a:avLst>
              <a:gd name="adj" fmla="val 8000"/>
            </a:avLst>
          </a:prstGeom>
          <a:solidFill>
            <a:srgbClr val="F1F5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1066800" y="6019800"/>
            <a:ext cx="10058400" cy="5524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1250" b="0">
                <a:solidFill>
                  <a:srgbClr val="2563EB"/>
                </a:solidFill>
                <a:latin typeface="PingFang SC"/>
              </a:rPr>
              <a:t>▶ 平台接口不变,实现可替换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0287000" y="6534150"/>
            <a:ext cx="1619250" cy="2667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>
              <a:lnSpc>
                <a:spcPct val="100000"/>
              </a:lnSpc>
            </a:pPr>
            <a:r>
              <a:rPr sz="900" b="0">
                <a:solidFill>
                  <a:srgbClr val="94A3B8"/>
                </a:solidFill>
                <a:latin typeface="PingFang SC"/>
              </a:rPr>
              <a:t>第2章 · 53/141</a:t>
            </a:r>
          </a:p>
        </p:txBody>
      </p:sp>
    </p:spTree>
  </p:cSld>
  <p:clrMapOvr>
    <a:masterClrMapping/>
  </p:clrMapOvr>
</p:sld>
</file>

<file path=ppt/slides/slide5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704850"/>
          </a:xfrm>
          <a:prstGeom prst="rect">
            <a:avLst/>
          </a:prstGeom>
          <a:solidFill>
            <a:srgbClr val="0B1D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76200" cy="704850"/>
          </a:xfrm>
          <a:prstGeom prst="rect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266700" y="0"/>
            <a:ext cx="10287000" cy="7048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2000" b="1">
                <a:solidFill>
                  <a:srgbClr val="FFFFFF"/>
                </a:solidFill>
                <a:latin typeface="PingFang SC"/>
              </a:rPr>
              <a:t>发现的排序策略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334500" y="0"/>
            <a:ext cx="2667000" cy="7048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>
              <a:lnSpc>
                <a:spcPct val="100000"/>
              </a:lnSpc>
            </a:pPr>
            <a:r>
              <a:rPr sz="1100" b="0">
                <a:solidFill>
                  <a:srgbClr val="94A3B8"/>
                </a:solidFill>
                <a:latin typeface="PingFang SC"/>
              </a:rPr>
              <a:t>第2章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876300" y="914400"/>
            <a:ext cx="10439400" cy="10287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DDE5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876300" y="914400"/>
            <a:ext cx="57150" cy="1028700"/>
          </a:xfrm>
          <a:prstGeom prst="rect">
            <a:avLst/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ounded Rectangle 7"/>
          <p:cNvSpPr/>
          <p:nvPr/>
        </p:nvSpPr>
        <p:spPr>
          <a:xfrm>
            <a:off x="1047750" y="1285875"/>
            <a:ext cx="285750" cy="285750"/>
          </a:xfrm>
          <a:prstGeom prst="roundRect">
            <a:avLst>
              <a:gd name="adj" fmla="val 8000"/>
            </a:avLst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047750" y="1276350"/>
            <a:ext cx="285750" cy="2857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300" b="1">
                <a:solidFill>
                  <a:srgbClr val="FFFFFF"/>
                </a:solidFill>
                <a:latin typeface="PingFang SC"/>
              </a:rPr>
              <a:t>1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485900" y="914400"/>
            <a:ext cx="9601200" cy="10287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12000"/>
              </a:lnSpc>
            </a:pPr>
            <a:r>
              <a:rPr sz="1400" b="1">
                <a:solidFill>
                  <a:srgbClr val="475569"/>
                </a:solidFill>
                <a:latin typeface="PingFang SC"/>
              </a:rPr>
              <a:t>命中多个时按什么排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876300" y="2114550"/>
            <a:ext cx="10439400" cy="10287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DDE5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876300" y="2114550"/>
            <a:ext cx="57150" cy="1028700"/>
          </a:xfrm>
          <a:prstGeom prst="rect">
            <a:avLst/>
          </a:prstGeom>
          <a:solidFill>
            <a:srgbClr val="14B8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ounded Rectangle 12"/>
          <p:cNvSpPr/>
          <p:nvPr/>
        </p:nvSpPr>
        <p:spPr>
          <a:xfrm>
            <a:off x="1047750" y="2486025"/>
            <a:ext cx="285750" cy="285750"/>
          </a:xfrm>
          <a:prstGeom prst="roundRect">
            <a:avLst>
              <a:gd name="adj" fmla="val 8000"/>
            </a:avLst>
          </a:prstGeom>
          <a:solidFill>
            <a:srgbClr val="14B8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1047750" y="2476500"/>
            <a:ext cx="285750" cy="2857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300" b="1">
                <a:solidFill>
                  <a:srgbClr val="FFFFFF"/>
                </a:solidFill>
                <a:latin typeface="PingFang SC"/>
              </a:rPr>
              <a:t>2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485900" y="2114550"/>
            <a:ext cx="9601200" cy="10287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12000"/>
              </a:lnSpc>
            </a:pPr>
            <a:r>
              <a:rPr sz="1400" b="1">
                <a:solidFill>
                  <a:srgbClr val="475569"/>
                </a:solidFill>
                <a:latin typeface="PingFang SC"/>
              </a:rPr>
              <a:t>相关度+健康分+风险偏好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876300" y="3314700"/>
            <a:ext cx="10439400" cy="10287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DDE5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876300" y="3314700"/>
            <a:ext cx="57150" cy="1028700"/>
          </a:xfrm>
          <a:prstGeom prst="rect">
            <a:avLst/>
          </a:prstGeom>
          <a:solidFill>
            <a:srgbClr val="8B5C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ounded Rectangle 17"/>
          <p:cNvSpPr/>
          <p:nvPr/>
        </p:nvSpPr>
        <p:spPr>
          <a:xfrm>
            <a:off x="1047750" y="3686175"/>
            <a:ext cx="285750" cy="285750"/>
          </a:xfrm>
          <a:prstGeom prst="roundRect">
            <a:avLst>
              <a:gd name="adj" fmla="val 8000"/>
            </a:avLst>
          </a:prstGeom>
          <a:solidFill>
            <a:srgbClr val="8B5C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1047750" y="3676650"/>
            <a:ext cx="285750" cy="2857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300" b="1">
                <a:solidFill>
                  <a:srgbClr val="FFFFFF"/>
                </a:solidFill>
                <a:latin typeface="PingFang SC"/>
              </a:rPr>
              <a:t>3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485900" y="3314700"/>
            <a:ext cx="9601200" cy="10287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12000"/>
              </a:lnSpc>
            </a:pPr>
            <a:r>
              <a:rPr sz="1400" b="1">
                <a:solidFill>
                  <a:srgbClr val="475569"/>
                </a:solidFill>
                <a:latin typeface="PingFang SC"/>
              </a:rPr>
              <a:t>只读场景优先 READ 工具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876300" y="6019800"/>
            <a:ext cx="10439400" cy="514350"/>
          </a:xfrm>
          <a:prstGeom prst="roundRect">
            <a:avLst>
              <a:gd name="adj" fmla="val 8000"/>
            </a:avLst>
          </a:prstGeom>
          <a:solidFill>
            <a:srgbClr val="F1F5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1066800" y="6019800"/>
            <a:ext cx="10058400" cy="5524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1250" b="0">
                <a:solidFill>
                  <a:srgbClr val="2563EB"/>
                </a:solidFill>
                <a:latin typeface="PingFang SC"/>
              </a:rPr>
              <a:t>▶ 排序直接影响模型选择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0287000" y="6534150"/>
            <a:ext cx="1619250" cy="2667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>
              <a:lnSpc>
                <a:spcPct val="100000"/>
              </a:lnSpc>
            </a:pPr>
            <a:r>
              <a:rPr sz="900" b="0">
                <a:solidFill>
                  <a:srgbClr val="94A3B8"/>
                </a:solidFill>
                <a:latin typeface="PingFang SC"/>
              </a:rPr>
              <a:t>第2章 · 54/141</a:t>
            </a:r>
          </a:p>
        </p:txBody>
      </p:sp>
    </p:spTree>
  </p:cSld>
  <p:clrMapOvr>
    <a:masterClrMapping/>
  </p:clrMapOvr>
</p:sld>
</file>

<file path=ppt/slides/slide5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704850"/>
          </a:xfrm>
          <a:prstGeom prst="rect">
            <a:avLst/>
          </a:prstGeom>
          <a:solidFill>
            <a:srgbClr val="0B1D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76200" cy="704850"/>
          </a:xfrm>
          <a:prstGeom prst="rect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266700" y="0"/>
            <a:ext cx="10287000" cy="7048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2000" b="1">
                <a:solidFill>
                  <a:srgbClr val="FFFFFF"/>
                </a:solidFill>
                <a:latin typeface="PingFang SC"/>
              </a:rPr>
              <a:t>工具的灰度发布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334500" y="0"/>
            <a:ext cx="2667000" cy="7048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>
              <a:lnSpc>
                <a:spcPct val="100000"/>
              </a:lnSpc>
            </a:pPr>
            <a:r>
              <a:rPr sz="1100" b="0">
                <a:solidFill>
                  <a:srgbClr val="94A3B8"/>
                </a:solidFill>
                <a:latin typeface="PingFang SC"/>
              </a:rPr>
              <a:t>第2章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876300" y="914400"/>
            <a:ext cx="10439400" cy="10287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DDE5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876300" y="914400"/>
            <a:ext cx="57150" cy="1028700"/>
          </a:xfrm>
          <a:prstGeom prst="rect">
            <a:avLst/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ounded Rectangle 7"/>
          <p:cNvSpPr/>
          <p:nvPr/>
        </p:nvSpPr>
        <p:spPr>
          <a:xfrm>
            <a:off x="1047750" y="1285875"/>
            <a:ext cx="285750" cy="285750"/>
          </a:xfrm>
          <a:prstGeom prst="roundRect">
            <a:avLst>
              <a:gd name="adj" fmla="val 8000"/>
            </a:avLst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047750" y="1276350"/>
            <a:ext cx="285750" cy="2857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300" b="1">
                <a:solidFill>
                  <a:srgbClr val="FFFFFF"/>
                </a:solidFill>
                <a:latin typeface="PingFang SC"/>
              </a:rPr>
              <a:t>1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485900" y="914400"/>
            <a:ext cx="9601200" cy="10287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12000"/>
              </a:lnSpc>
            </a:pPr>
            <a:r>
              <a:rPr sz="1400" b="1">
                <a:solidFill>
                  <a:srgbClr val="475569"/>
                </a:solidFill>
                <a:latin typeface="PingFang SC"/>
              </a:rPr>
              <a:t>新版本先 10% 流量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876300" y="2114550"/>
            <a:ext cx="10439400" cy="10287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DDE5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876300" y="2114550"/>
            <a:ext cx="57150" cy="1028700"/>
          </a:xfrm>
          <a:prstGeom prst="rect">
            <a:avLst/>
          </a:prstGeom>
          <a:solidFill>
            <a:srgbClr val="14B8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ounded Rectangle 12"/>
          <p:cNvSpPr/>
          <p:nvPr/>
        </p:nvSpPr>
        <p:spPr>
          <a:xfrm>
            <a:off x="1047750" y="2486025"/>
            <a:ext cx="285750" cy="285750"/>
          </a:xfrm>
          <a:prstGeom prst="roundRect">
            <a:avLst>
              <a:gd name="adj" fmla="val 8000"/>
            </a:avLst>
          </a:prstGeom>
          <a:solidFill>
            <a:srgbClr val="14B8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1047750" y="2476500"/>
            <a:ext cx="285750" cy="2857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300" b="1">
                <a:solidFill>
                  <a:srgbClr val="FFFFFF"/>
                </a:solidFill>
                <a:latin typeface="PingFang SC"/>
              </a:rPr>
              <a:t>2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485900" y="2114550"/>
            <a:ext cx="9601200" cy="10287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12000"/>
              </a:lnSpc>
            </a:pPr>
            <a:r>
              <a:rPr sz="1400" b="1">
                <a:solidFill>
                  <a:srgbClr val="475569"/>
                </a:solidFill>
                <a:latin typeface="PingFang SC"/>
              </a:rPr>
              <a:t>观察成功率与参数错误率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876300" y="3314700"/>
            <a:ext cx="10439400" cy="10287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DDE5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876300" y="3314700"/>
            <a:ext cx="57150" cy="1028700"/>
          </a:xfrm>
          <a:prstGeom prst="rect">
            <a:avLst/>
          </a:prstGeom>
          <a:solidFill>
            <a:srgbClr val="8B5C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ounded Rectangle 17"/>
          <p:cNvSpPr/>
          <p:nvPr/>
        </p:nvSpPr>
        <p:spPr>
          <a:xfrm>
            <a:off x="1047750" y="3686175"/>
            <a:ext cx="285750" cy="285750"/>
          </a:xfrm>
          <a:prstGeom prst="roundRect">
            <a:avLst>
              <a:gd name="adj" fmla="val 8000"/>
            </a:avLst>
          </a:prstGeom>
          <a:solidFill>
            <a:srgbClr val="8B5C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1047750" y="3676650"/>
            <a:ext cx="285750" cy="2857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300" b="1">
                <a:solidFill>
                  <a:srgbClr val="FFFFFF"/>
                </a:solidFill>
                <a:latin typeface="PingFang SC"/>
              </a:rPr>
              <a:t>3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485900" y="3314700"/>
            <a:ext cx="9601200" cy="10287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12000"/>
              </a:lnSpc>
            </a:pPr>
            <a:r>
              <a:rPr sz="1400" b="1">
                <a:solidFill>
                  <a:srgbClr val="475569"/>
                </a:solidFill>
                <a:latin typeface="PingFang SC"/>
              </a:rPr>
              <a:t>达标全量,异常一键回退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876300" y="6019800"/>
            <a:ext cx="10439400" cy="514350"/>
          </a:xfrm>
          <a:prstGeom prst="roundRect">
            <a:avLst>
              <a:gd name="adj" fmla="val 8000"/>
            </a:avLst>
          </a:prstGeom>
          <a:solidFill>
            <a:srgbClr val="F1F5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1066800" y="6019800"/>
            <a:ext cx="10058400" cy="5524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1250" b="0">
                <a:solidFill>
                  <a:srgbClr val="2563EB"/>
                </a:solidFill>
                <a:latin typeface="PingFang SC"/>
              </a:rPr>
              <a:t>▶ 与第6章 FeatureFlags 同机制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0287000" y="6534150"/>
            <a:ext cx="1619250" cy="2667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>
              <a:lnSpc>
                <a:spcPct val="100000"/>
              </a:lnSpc>
            </a:pPr>
            <a:r>
              <a:rPr sz="900" b="0">
                <a:solidFill>
                  <a:srgbClr val="94A3B8"/>
                </a:solidFill>
                <a:latin typeface="PingFang SC"/>
              </a:rPr>
              <a:t>第2章 · 55/141</a:t>
            </a:r>
          </a:p>
        </p:txBody>
      </p:sp>
    </p:spTree>
  </p:cSld>
  <p:clrMapOvr>
    <a:masterClrMapping/>
  </p:clrMapOvr>
</p:sld>
</file>

<file path=ppt/slides/slide5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704850"/>
          </a:xfrm>
          <a:prstGeom prst="rect">
            <a:avLst/>
          </a:prstGeom>
          <a:solidFill>
            <a:srgbClr val="0B1D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76200" cy="704850"/>
          </a:xfrm>
          <a:prstGeom prst="rect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266700" y="0"/>
            <a:ext cx="10287000" cy="7048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2000" b="1">
                <a:solidFill>
                  <a:srgbClr val="FFFFFF"/>
                </a:solidFill>
                <a:latin typeface="PingFang SC"/>
              </a:rPr>
              <a:t>应用:多团队工具共建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334500" y="0"/>
            <a:ext cx="2667000" cy="7048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>
              <a:lnSpc>
                <a:spcPct val="100000"/>
              </a:lnSpc>
            </a:pPr>
            <a:r>
              <a:rPr sz="1100" b="0">
                <a:solidFill>
                  <a:srgbClr val="94A3B8"/>
                </a:solidFill>
                <a:latin typeface="PingFang SC"/>
              </a:rPr>
              <a:t>第2章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876300" y="914400"/>
            <a:ext cx="10439400" cy="10287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DDE5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876300" y="914400"/>
            <a:ext cx="57150" cy="1028700"/>
          </a:xfrm>
          <a:prstGeom prst="rect">
            <a:avLst/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ounded Rectangle 7"/>
          <p:cNvSpPr/>
          <p:nvPr/>
        </p:nvSpPr>
        <p:spPr>
          <a:xfrm>
            <a:off x="1047750" y="1285875"/>
            <a:ext cx="285750" cy="285750"/>
          </a:xfrm>
          <a:prstGeom prst="roundRect">
            <a:avLst>
              <a:gd name="adj" fmla="val 8000"/>
            </a:avLst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047750" y="1276350"/>
            <a:ext cx="285750" cy="2857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300" b="1">
                <a:solidFill>
                  <a:srgbClr val="FFFFFF"/>
                </a:solidFill>
                <a:latin typeface="PingFang SC"/>
              </a:rPr>
              <a:t>1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485900" y="914400"/>
            <a:ext cx="9601200" cy="10287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12000"/>
              </a:lnSpc>
            </a:pPr>
            <a:r>
              <a:rPr sz="1400" b="1">
                <a:solidFill>
                  <a:srgbClr val="475569"/>
                </a:solidFill>
                <a:latin typeface="PingFang SC"/>
              </a:rPr>
              <a:t>平台组维护通用工具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876300" y="2114550"/>
            <a:ext cx="10439400" cy="10287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DDE5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876300" y="2114550"/>
            <a:ext cx="57150" cy="1028700"/>
          </a:xfrm>
          <a:prstGeom prst="rect">
            <a:avLst/>
          </a:prstGeom>
          <a:solidFill>
            <a:srgbClr val="14B8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ounded Rectangle 12"/>
          <p:cNvSpPr/>
          <p:nvPr/>
        </p:nvSpPr>
        <p:spPr>
          <a:xfrm>
            <a:off x="1047750" y="2486025"/>
            <a:ext cx="285750" cy="285750"/>
          </a:xfrm>
          <a:prstGeom prst="roundRect">
            <a:avLst>
              <a:gd name="adj" fmla="val 8000"/>
            </a:avLst>
          </a:prstGeom>
          <a:solidFill>
            <a:srgbClr val="14B8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1047750" y="2476500"/>
            <a:ext cx="285750" cy="2857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300" b="1">
                <a:solidFill>
                  <a:srgbClr val="FFFFFF"/>
                </a:solidFill>
                <a:latin typeface="PingFang SC"/>
              </a:rPr>
              <a:t>2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485900" y="2114550"/>
            <a:ext cx="9601200" cy="10287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12000"/>
              </a:lnSpc>
            </a:pPr>
            <a:r>
              <a:rPr sz="1400" b="1">
                <a:solidFill>
                  <a:srgbClr val="475569"/>
                </a:solidFill>
                <a:latin typeface="PingFang SC"/>
              </a:rPr>
              <a:t>业务组维护领域工具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876300" y="3314700"/>
            <a:ext cx="10439400" cy="10287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DDE5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876300" y="3314700"/>
            <a:ext cx="57150" cy="1028700"/>
          </a:xfrm>
          <a:prstGeom prst="rect">
            <a:avLst/>
          </a:prstGeom>
          <a:solidFill>
            <a:srgbClr val="8B5C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ounded Rectangle 17"/>
          <p:cNvSpPr/>
          <p:nvPr/>
        </p:nvSpPr>
        <p:spPr>
          <a:xfrm>
            <a:off x="1047750" y="3686175"/>
            <a:ext cx="285750" cy="285750"/>
          </a:xfrm>
          <a:prstGeom prst="roundRect">
            <a:avLst>
              <a:gd name="adj" fmla="val 8000"/>
            </a:avLst>
          </a:prstGeom>
          <a:solidFill>
            <a:srgbClr val="8B5C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1047750" y="3676650"/>
            <a:ext cx="285750" cy="2857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300" b="1">
                <a:solidFill>
                  <a:srgbClr val="FFFFFF"/>
                </a:solidFill>
                <a:latin typeface="PingFang SC"/>
              </a:rPr>
              <a:t>3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485900" y="3314700"/>
            <a:ext cx="9601200" cy="10287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12000"/>
              </a:lnSpc>
            </a:pPr>
            <a:r>
              <a:rPr sz="1400" b="1">
                <a:solidFill>
                  <a:srgbClr val="475569"/>
                </a:solidFill>
                <a:latin typeface="PingFang SC"/>
              </a:rPr>
              <a:t>命名空间隔离+上架审批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876300" y="6019800"/>
            <a:ext cx="10439400" cy="514350"/>
          </a:xfrm>
          <a:prstGeom prst="roundRect">
            <a:avLst>
              <a:gd name="adj" fmla="val 8000"/>
            </a:avLst>
          </a:prstGeom>
          <a:solidFill>
            <a:srgbClr val="F1F5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1066800" y="6019800"/>
            <a:ext cx="10058400" cy="5524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1250" b="0">
                <a:solidFill>
                  <a:srgbClr val="2563EB"/>
                </a:solidFill>
                <a:latin typeface="PingFang SC"/>
              </a:rPr>
              <a:t>▶ 避免"工具打架"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0287000" y="6534150"/>
            <a:ext cx="1619250" cy="2667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>
              <a:lnSpc>
                <a:spcPct val="100000"/>
              </a:lnSpc>
            </a:pPr>
            <a:r>
              <a:rPr sz="900" b="0">
                <a:solidFill>
                  <a:srgbClr val="94A3B8"/>
                </a:solidFill>
                <a:latin typeface="PingFang SC"/>
              </a:rPr>
              <a:t>第2章 · 56/141</a:t>
            </a:r>
          </a:p>
        </p:txBody>
      </p:sp>
    </p:spTree>
  </p:cSld>
  <p:clrMapOvr>
    <a:masterClrMapping/>
  </p:clrMapOvr>
</p:sld>
</file>

<file path=ppt/slides/slide5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704850"/>
          </a:xfrm>
          <a:prstGeom prst="rect">
            <a:avLst/>
          </a:prstGeom>
          <a:solidFill>
            <a:srgbClr val="0B1D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76200" cy="704850"/>
          </a:xfrm>
          <a:prstGeom prst="rect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266700" y="0"/>
            <a:ext cx="10287000" cy="7048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2000" b="1">
                <a:solidFill>
                  <a:srgbClr val="FFFFFF"/>
                </a:solidFill>
                <a:latin typeface="PingFang SC"/>
              </a:rPr>
              <a:t>踩坑:发现接口被滥用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334500" y="0"/>
            <a:ext cx="2667000" cy="7048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>
              <a:lnSpc>
                <a:spcPct val="100000"/>
              </a:lnSpc>
            </a:pPr>
            <a:r>
              <a:rPr sz="1100" b="0">
                <a:solidFill>
                  <a:srgbClr val="94A3B8"/>
                </a:solidFill>
                <a:latin typeface="PingFang SC"/>
              </a:rPr>
              <a:t>第2章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876300" y="914400"/>
            <a:ext cx="10439400" cy="10287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DDE5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876300" y="914400"/>
            <a:ext cx="57150" cy="1028700"/>
          </a:xfrm>
          <a:prstGeom prst="rect">
            <a:avLst/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ounded Rectangle 7"/>
          <p:cNvSpPr/>
          <p:nvPr/>
        </p:nvSpPr>
        <p:spPr>
          <a:xfrm>
            <a:off x="1047750" y="1285875"/>
            <a:ext cx="285750" cy="285750"/>
          </a:xfrm>
          <a:prstGeom prst="roundRect">
            <a:avLst>
              <a:gd name="adj" fmla="val 8000"/>
            </a:avLst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047750" y="1276350"/>
            <a:ext cx="285750" cy="2857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300" b="1">
                <a:solidFill>
                  <a:srgbClr val="FFFFFF"/>
                </a:solidFill>
                <a:latin typeface="PingFang SC"/>
              </a:rPr>
              <a:t>1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485900" y="914400"/>
            <a:ext cx="9601200" cy="10287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12000"/>
              </a:lnSpc>
            </a:pPr>
            <a:r>
              <a:rPr sz="1400" b="1">
                <a:solidFill>
                  <a:srgbClr val="475569"/>
                </a:solidFill>
                <a:latin typeface="PingFang SC"/>
              </a:rPr>
              <a:t>业务直查 Registry 绕过模型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876300" y="2114550"/>
            <a:ext cx="10439400" cy="10287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DDE5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876300" y="2114550"/>
            <a:ext cx="57150" cy="1028700"/>
          </a:xfrm>
          <a:prstGeom prst="rect">
            <a:avLst/>
          </a:prstGeom>
          <a:solidFill>
            <a:srgbClr val="14B8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ounded Rectangle 12"/>
          <p:cNvSpPr/>
          <p:nvPr/>
        </p:nvSpPr>
        <p:spPr>
          <a:xfrm>
            <a:off x="1047750" y="2486025"/>
            <a:ext cx="285750" cy="285750"/>
          </a:xfrm>
          <a:prstGeom prst="roundRect">
            <a:avLst>
              <a:gd name="adj" fmla="val 8000"/>
            </a:avLst>
          </a:prstGeom>
          <a:solidFill>
            <a:srgbClr val="14B8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1047750" y="2476500"/>
            <a:ext cx="285750" cy="2857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300" b="1">
                <a:solidFill>
                  <a:srgbClr val="FFFFFF"/>
                </a:solidFill>
                <a:latin typeface="PingFang SC"/>
              </a:rPr>
              <a:t>2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485900" y="2114550"/>
            <a:ext cx="9601200" cy="10287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12000"/>
              </a:lnSpc>
            </a:pPr>
            <a:r>
              <a:rPr sz="1400" b="1">
                <a:solidFill>
                  <a:srgbClr val="475569"/>
                </a:solidFill>
                <a:latin typeface="PingFang SC"/>
              </a:rPr>
              <a:t>绕过了权限与审计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876300" y="3314700"/>
            <a:ext cx="10439400" cy="10287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DDE5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876300" y="3314700"/>
            <a:ext cx="57150" cy="1028700"/>
          </a:xfrm>
          <a:prstGeom prst="rect">
            <a:avLst/>
          </a:prstGeom>
          <a:solidFill>
            <a:srgbClr val="8B5C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ounded Rectangle 17"/>
          <p:cNvSpPr/>
          <p:nvPr/>
        </p:nvSpPr>
        <p:spPr>
          <a:xfrm>
            <a:off x="1047750" y="3686175"/>
            <a:ext cx="285750" cy="285750"/>
          </a:xfrm>
          <a:prstGeom prst="roundRect">
            <a:avLst>
              <a:gd name="adj" fmla="val 8000"/>
            </a:avLst>
          </a:prstGeom>
          <a:solidFill>
            <a:srgbClr val="8B5C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1047750" y="3676650"/>
            <a:ext cx="285750" cy="2857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300" b="1">
                <a:solidFill>
                  <a:srgbClr val="FFFFFF"/>
                </a:solidFill>
                <a:latin typeface="PingFang SC"/>
              </a:rPr>
              <a:t>3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485900" y="3314700"/>
            <a:ext cx="9601200" cy="10287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12000"/>
              </a:lnSpc>
            </a:pPr>
            <a:r>
              <a:rPr sz="1400" b="1">
                <a:solidFill>
                  <a:srgbClr val="475569"/>
                </a:solidFill>
                <a:latin typeface="PingFang SC"/>
              </a:rPr>
              <a:t>治理:发现仅服务 Agent 装配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0287000" y="6534150"/>
            <a:ext cx="1619250" cy="2667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>
              <a:lnSpc>
                <a:spcPct val="100000"/>
              </a:lnSpc>
            </a:pPr>
            <a:r>
              <a:rPr sz="900" b="0">
                <a:solidFill>
                  <a:srgbClr val="94A3B8"/>
                </a:solidFill>
                <a:latin typeface="PingFang SC"/>
              </a:rPr>
              <a:t>第2章 · 57/141</a:t>
            </a:r>
          </a:p>
        </p:txBody>
      </p:sp>
    </p:spTree>
  </p:cSld>
  <p:clrMapOvr>
    <a:masterClrMapping/>
  </p:clrMapOvr>
</p:sld>
</file>

<file path=ppt/slides/slide5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704850"/>
          </a:xfrm>
          <a:prstGeom prst="rect">
            <a:avLst/>
          </a:prstGeom>
          <a:solidFill>
            <a:srgbClr val="0B1D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76200" cy="704850"/>
          </a:xfrm>
          <a:prstGeom prst="rect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266700" y="0"/>
            <a:ext cx="10287000" cy="7048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2000" b="1">
                <a:solidFill>
                  <a:srgbClr val="FFFFFF"/>
                </a:solidFill>
                <a:latin typeface="PingFang SC"/>
              </a:rPr>
              <a:t>优化:Schema 自动对账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334500" y="0"/>
            <a:ext cx="2667000" cy="7048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>
              <a:lnSpc>
                <a:spcPct val="100000"/>
              </a:lnSpc>
            </a:pPr>
            <a:r>
              <a:rPr sz="1100" b="0">
                <a:solidFill>
                  <a:srgbClr val="94A3B8"/>
                </a:solidFill>
                <a:latin typeface="PingFang SC"/>
              </a:rPr>
              <a:t>第2章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876300" y="914400"/>
            <a:ext cx="10439400" cy="10287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DDE5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876300" y="914400"/>
            <a:ext cx="57150" cy="1028700"/>
          </a:xfrm>
          <a:prstGeom prst="rect">
            <a:avLst/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ounded Rectangle 7"/>
          <p:cNvSpPr/>
          <p:nvPr/>
        </p:nvSpPr>
        <p:spPr>
          <a:xfrm>
            <a:off x="1047750" y="1285875"/>
            <a:ext cx="285750" cy="285750"/>
          </a:xfrm>
          <a:prstGeom prst="roundRect">
            <a:avLst>
              <a:gd name="adj" fmla="val 8000"/>
            </a:avLst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047750" y="1276350"/>
            <a:ext cx="285750" cy="2857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300" b="1">
                <a:solidFill>
                  <a:srgbClr val="FFFFFF"/>
                </a:solidFill>
                <a:latin typeface="PingFang SC"/>
              </a:rPr>
              <a:t>1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485900" y="914400"/>
            <a:ext cx="9601200" cy="10287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12000"/>
              </a:lnSpc>
            </a:pPr>
            <a:r>
              <a:rPr sz="1400" b="1">
                <a:solidFill>
                  <a:srgbClr val="475569"/>
                </a:solidFill>
                <a:latin typeface="PingFang SC"/>
              </a:rPr>
              <a:t>CI 对比文档描述与代码签名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876300" y="2114550"/>
            <a:ext cx="10439400" cy="10287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DDE5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876300" y="2114550"/>
            <a:ext cx="57150" cy="1028700"/>
          </a:xfrm>
          <a:prstGeom prst="rect">
            <a:avLst/>
          </a:prstGeom>
          <a:solidFill>
            <a:srgbClr val="14B8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ounded Rectangle 12"/>
          <p:cNvSpPr/>
          <p:nvPr/>
        </p:nvSpPr>
        <p:spPr>
          <a:xfrm>
            <a:off x="1047750" y="2486025"/>
            <a:ext cx="285750" cy="285750"/>
          </a:xfrm>
          <a:prstGeom prst="roundRect">
            <a:avLst>
              <a:gd name="adj" fmla="val 8000"/>
            </a:avLst>
          </a:prstGeom>
          <a:solidFill>
            <a:srgbClr val="14B8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1047750" y="2476500"/>
            <a:ext cx="285750" cy="2857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300" b="1">
                <a:solidFill>
                  <a:srgbClr val="FFFFFF"/>
                </a:solidFill>
                <a:latin typeface="PingFang SC"/>
              </a:rPr>
              <a:t>2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485900" y="2114550"/>
            <a:ext cx="9601200" cy="10287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12000"/>
              </a:lnSpc>
            </a:pPr>
            <a:r>
              <a:rPr sz="1400" b="1">
                <a:solidFill>
                  <a:srgbClr val="475569"/>
                </a:solidFill>
                <a:latin typeface="PingFang SC"/>
              </a:rPr>
              <a:t>不一致即红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876300" y="6019800"/>
            <a:ext cx="10439400" cy="514350"/>
          </a:xfrm>
          <a:prstGeom prst="roundRect">
            <a:avLst>
              <a:gd name="adj" fmla="val 8000"/>
            </a:avLst>
          </a:prstGeom>
          <a:solidFill>
            <a:srgbClr val="F1F5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1066800" y="6019800"/>
            <a:ext cx="10058400" cy="5524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1250" b="0">
                <a:solidFill>
                  <a:srgbClr val="2563EB"/>
                </a:solidFill>
                <a:latin typeface="PingFang SC"/>
              </a:rPr>
              <a:t>▶ 描述漂移的自动化防线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0287000" y="6534150"/>
            <a:ext cx="1619250" cy="2667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>
              <a:lnSpc>
                <a:spcPct val="100000"/>
              </a:lnSpc>
            </a:pPr>
            <a:r>
              <a:rPr sz="900" b="0">
                <a:solidFill>
                  <a:srgbClr val="94A3B8"/>
                </a:solidFill>
                <a:latin typeface="PingFang SC"/>
              </a:rPr>
              <a:t>第2章 · 58/141</a:t>
            </a:r>
          </a:p>
        </p:txBody>
      </p:sp>
    </p:spTree>
  </p:cSld>
  <p:clrMapOvr>
    <a:masterClrMapping/>
  </p:clrMapOvr>
</p:sld>
</file>

<file path=ppt/slides/slide5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704850"/>
          </a:xfrm>
          <a:prstGeom prst="rect">
            <a:avLst/>
          </a:prstGeom>
          <a:solidFill>
            <a:srgbClr val="0B1D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76200" cy="704850"/>
          </a:xfrm>
          <a:prstGeom prst="rect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266700" y="0"/>
            <a:ext cx="10287000" cy="7048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2000" b="1">
                <a:solidFill>
                  <a:srgbClr val="FFFFFF"/>
                </a:solidFill>
                <a:latin typeface="PingFang SC"/>
              </a:rPr>
              <a:t>优化:工具依赖拓扑图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334500" y="0"/>
            <a:ext cx="2667000" cy="7048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>
              <a:lnSpc>
                <a:spcPct val="100000"/>
              </a:lnSpc>
            </a:pPr>
            <a:r>
              <a:rPr sz="1100" b="0">
                <a:solidFill>
                  <a:srgbClr val="94A3B8"/>
                </a:solidFill>
                <a:latin typeface="PingFang SC"/>
              </a:rPr>
              <a:t>第2章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876300" y="914400"/>
            <a:ext cx="10439400" cy="10287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DDE5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876300" y="914400"/>
            <a:ext cx="57150" cy="1028700"/>
          </a:xfrm>
          <a:prstGeom prst="rect">
            <a:avLst/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ounded Rectangle 7"/>
          <p:cNvSpPr/>
          <p:nvPr/>
        </p:nvSpPr>
        <p:spPr>
          <a:xfrm>
            <a:off x="1047750" y="1285875"/>
            <a:ext cx="285750" cy="285750"/>
          </a:xfrm>
          <a:prstGeom prst="roundRect">
            <a:avLst>
              <a:gd name="adj" fmla="val 8000"/>
            </a:avLst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047750" y="1276350"/>
            <a:ext cx="285750" cy="2857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300" b="1">
                <a:solidFill>
                  <a:srgbClr val="FFFFFF"/>
                </a:solidFill>
                <a:latin typeface="PingFang SC"/>
              </a:rPr>
              <a:t>1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485900" y="914400"/>
            <a:ext cx="9601200" cy="10287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12000"/>
              </a:lnSpc>
            </a:pPr>
            <a:r>
              <a:rPr sz="1400" b="1">
                <a:solidFill>
                  <a:srgbClr val="475569"/>
                </a:solidFill>
                <a:latin typeface="PingFang SC"/>
              </a:rPr>
              <a:t>依赖声明生成可视化拓扑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876300" y="2114550"/>
            <a:ext cx="10439400" cy="10287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DDE5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876300" y="2114550"/>
            <a:ext cx="57150" cy="1028700"/>
          </a:xfrm>
          <a:prstGeom prst="rect">
            <a:avLst/>
          </a:prstGeom>
          <a:solidFill>
            <a:srgbClr val="14B8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ounded Rectangle 12"/>
          <p:cNvSpPr/>
          <p:nvPr/>
        </p:nvSpPr>
        <p:spPr>
          <a:xfrm>
            <a:off x="1047750" y="2486025"/>
            <a:ext cx="285750" cy="285750"/>
          </a:xfrm>
          <a:prstGeom prst="roundRect">
            <a:avLst>
              <a:gd name="adj" fmla="val 8000"/>
            </a:avLst>
          </a:prstGeom>
          <a:solidFill>
            <a:srgbClr val="14B8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1047750" y="2476500"/>
            <a:ext cx="285750" cy="2857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300" b="1">
                <a:solidFill>
                  <a:srgbClr val="FFFFFF"/>
                </a:solidFill>
                <a:latin typeface="PingFang SC"/>
              </a:rPr>
              <a:t>2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485900" y="2114550"/>
            <a:ext cx="9601200" cy="10287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12000"/>
              </a:lnSpc>
            </a:pPr>
            <a:r>
              <a:rPr sz="1400" b="1">
                <a:solidFill>
                  <a:srgbClr val="475569"/>
                </a:solidFill>
                <a:latin typeface="PingFang SC"/>
              </a:rPr>
              <a:t>上游故障快速定位影响工具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876300" y="3314700"/>
            <a:ext cx="10439400" cy="10287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DDE5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876300" y="3314700"/>
            <a:ext cx="57150" cy="1028700"/>
          </a:xfrm>
          <a:prstGeom prst="rect">
            <a:avLst/>
          </a:prstGeom>
          <a:solidFill>
            <a:srgbClr val="8B5C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ounded Rectangle 17"/>
          <p:cNvSpPr/>
          <p:nvPr/>
        </p:nvSpPr>
        <p:spPr>
          <a:xfrm>
            <a:off x="1047750" y="3686175"/>
            <a:ext cx="285750" cy="285750"/>
          </a:xfrm>
          <a:prstGeom prst="roundRect">
            <a:avLst>
              <a:gd name="adj" fmla="val 8000"/>
            </a:avLst>
          </a:prstGeom>
          <a:solidFill>
            <a:srgbClr val="8B5C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1047750" y="3676650"/>
            <a:ext cx="285750" cy="2857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300" b="1">
                <a:solidFill>
                  <a:srgbClr val="FFFFFF"/>
                </a:solidFill>
                <a:latin typeface="PingFang SC"/>
              </a:rPr>
              <a:t>3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485900" y="3314700"/>
            <a:ext cx="9601200" cy="10287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12000"/>
              </a:lnSpc>
            </a:pPr>
            <a:r>
              <a:rPr sz="1400" b="1">
                <a:solidFill>
                  <a:srgbClr val="475569"/>
                </a:solidFill>
                <a:latin typeface="PingFang SC"/>
              </a:rPr>
              <a:t>与 Runbook 联动禁用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0287000" y="6534150"/>
            <a:ext cx="1619250" cy="2667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>
              <a:lnSpc>
                <a:spcPct val="100000"/>
              </a:lnSpc>
            </a:pPr>
            <a:r>
              <a:rPr sz="900" b="0">
                <a:solidFill>
                  <a:srgbClr val="94A3B8"/>
                </a:solidFill>
                <a:latin typeface="PingFang SC"/>
              </a:rPr>
              <a:t>第2章 · 59/141</a:t>
            </a:r>
          </a:p>
        </p:txBody>
      </p:sp>
    </p:spTree>
  </p:cSld>
  <p:clrMapOvr>
    <a:masterClrMapping/>
  </p:clrMapOvr>
</p:sld>
</file>

<file path=ppt/slides/slide6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704850"/>
          </a:xfrm>
          <a:prstGeom prst="rect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04800" y="0"/>
            <a:ext cx="11430000" cy="7048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2000" b="1">
                <a:solidFill>
                  <a:srgbClr val="0B1D3A"/>
                </a:solidFill>
                <a:latin typeface="PingFang SC"/>
              </a:rPr>
              <a:t>自测 · Tool Registry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1143000" y="1143000"/>
            <a:ext cx="9906000" cy="590550"/>
          </a:xfrm>
          <a:prstGeom prst="roundRect">
            <a:avLst>
              <a:gd name="adj" fmla="val 8000"/>
            </a:avLst>
          </a:prstGeom>
          <a:solidFill>
            <a:srgbClr val="F1F5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1143000" y="1143000"/>
            <a:ext cx="47625" cy="647700"/>
          </a:xfrm>
          <a:prstGeom prst="rect">
            <a:avLst/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390650" y="1143000"/>
            <a:ext cx="419100" cy="6477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1500" b="1">
                <a:solidFill>
                  <a:srgbClr val="2563EB"/>
                </a:solidFill>
                <a:latin typeface="PingFang SC"/>
              </a:rPr>
              <a:t>Q1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905000" y="1143000"/>
            <a:ext cx="8572500" cy="6477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1350" b="0">
                <a:solidFill>
                  <a:srgbClr val="475569"/>
                </a:solidFill>
                <a:latin typeface="PingFang SC"/>
              </a:rPr>
              <a:t>工具下线为什么必须是热操作?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1143000" y="1905000"/>
            <a:ext cx="9906000" cy="590550"/>
          </a:xfrm>
          <a:prstGeom prst="roundRect">
            <a:avLst>
              <a:gd name="adj" fmla="val 8000"/>
            </a:avLst>
          </a:prstGeom>
          <a:solidFill>
            <a:srgbClr val="F1F5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1143000" y="1905000"/>
            <a:ext cx="47625" cy="647700"/>
          </a:xfrm>
          <a:prstGeom prst="rect">
            <a:avLst/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390650" y="1905000"/>
            <a:ext cx="419100" cy="6477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1500" b="1">
                <a:solidFill>
                  <a:srgbClr val="2563EB"/>
                </a:solidFill>
                <a:latin typeface="PingFang SC"/>
              </a:rPr>
              <a:t>Q2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905000" y="1905000"/>
            <a:ext cx="8572500" cy="6477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1350" b="0">
                <a:solidFill>
                  <a:srgbClr val="475569"/>
                </a:solidFill>
                <a:latin typeface="PingFang SC"/>
              </a:rPr>
              <a:t>版本升级的兼容窗口怎么定?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1143000" y="2667000"/>
            <a:ext cx="9906000" cy="590550"/>
          </a:xfrm>
          <a:prstGeom prst="roundRect">
            <a:avLst>
              <a:gd name="adj" fmla="val 8000"/>
            </a:avLst>
          </a:prstGeom>
          <a:solidFill>
            <a:srgbClr val="F1F5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1143000" y="2667000"/>
            <a:ext cx="47625" cy="647700"/>
          </a:xfrm>
          <a:prstGeom prst="rect">
            <a:avLst/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1390650" y="2667000"/>
            <a:ext cx="419100" cy="6477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1500" b="1">
                <a:solidFill>
                  <a:srgbClr val="2563EB"/>
                </a:solidFill>
                <a:latin typeface="PingFang SC"/>
              </a:rPr>
              <a:t>Q3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905000" y="2667000"/>
            <a:ext cx="8572500" cy="6477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1350" b="0">
                <a:solidFill>
                  <a:srgbClr val="475569"/>
                </a:solidFill>
                <a:latin typeface="PingFang SC"/>
              </a:rPr>
              <a:t>动态装配为什么不全量注入?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1143000" y="3429000"/>
            <a:ext cx="9906000" cy="590550"/>
          </a:xfrm>
          <a:prstGeom prst="roundRect">
            <a:avLst>
              <a:gd name="adj" fmla="val 8000"/>
            </a:avLst>
          </a:prstGeom>
          <a:solidFill>
            <a:srgbClr val="F1F5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1143000" y="3429000"/>
            <a:ext cx="47625" cy="647700"/>
          </a:xfrm>
          <a:prstGeom prst="rect">
            <a:avLst/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1390650" y="3429000"/>
            <a:ext cx="419100" cy="6477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1500" b="1">
                <a:solidFill>
                  <a:srgbClr val="2563EB"/>
                </a:solidFill>
                <a:latin typeface="PingFang SC"/>
              </a:rPr>
              <a:t>Q4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905000" y="3429000"/>
            <a:ext cx="8572500" cy="6477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1350" b="0">
                <a:solidFill>
                  <a:srgbClr val="475569"/>
                </a:solidFill>
                <a:latin typeface="PingFang SC"/>
              </a:rPr>
              <a:t>你如何验证工具描述改好了?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0287000" y="6534150"/>
            <a:ext cx="1619250" cy="2667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>
              <a:lnSpc>
                <a:spcPct val="100000"/>
              </a:lnSpc>
            </a:pPr>
            <a:r>
              <a:rPr sz="900" b="0">
                <a:solidFill>
                  <a:srgbClr val="94A3B8"/>
                </a:solidFill>
                <a:latin typeface="PingFang SC"/>
              </a:rPr>
              <a:t>第2章 · 60/141</a:t>
            </a:r>
          </a:p>
        </p:txBody>
      </p:sp>
    </p:spTree>
  </p:cSld>
  <p:clrMapOvr>
    <a:masterClrMapping/>
  </p:clrMapOvr>
</p:sld>
</file>

<file path=ppt/slides/slide6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0B1D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2000" cy="609600"/>
          </a:xfrm>
          <a:prstGeom prst="rect">
            <a:avLst/>
          </a:prstGeom>
          <a:solidFill>
            <a:srgbClr val="142A4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266700" y="0"/>
            <a:ext cx="11430000" cy="6096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1600" b="1">
                <a:solidFill>
                  <a:srgbClr val="F59E0B"/>
                </a:solidFill>
                <a:latin typeface="PingFang SC"/>
              </a:rPr>
              <a:t>执行管线 · src/agent_platform/tools/runtime.py:196-236</a:t>
            </a:r>
          </a:p>
        </p:txBody>
      </p:sp>
      <p:pic>
        <p:nvPicPr>
          <p:cNvPr id="5" name="Picture 4" descr="code_0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368475" y="762000"/>
            <a:ext cx="7455049" cy="5760720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10287000" y="6534150"/>
            <a:ext cx="1619250" cy="2667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>
              <a:lnSpc>
                <a:spcPct val="100000"/>
              </a:lnSpc>
            </a:pPr>
            <a:r>
              <a:rPr sz="900" b="0">
                <a:solidFill>
                  <a:srgbClr val="94A3B8"/>
                </a:solidFill>
                <a:latin typeface="PingFang SC"/>
              </a:rPr>
              <a:t>第2章 · 61/141</a:t>
            </a:r>
          </a:p>
        </p:txBody>
      </p:sp>
    </p:spTree>
  </p:cSld>
  <p:clrMapOvr>
    <a:masterClrMapping/>
  </p:clrMapOvr>
</p:sld>
</file>

<file path=ppt/slides/slide6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0B1D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857250" y="952500"/>
            <a:ext cx="323850" cy="76200"/>
          </a:xfrm>
          <a:prstGeom prst="rect">
            <a:avLst/>
          </a:prstGeom>
          <a:solidFill>
            <a:srgbClr val="27406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1295400" y="952500"/>
            <a:ext cx="323850" cy="76200"/>
          </a:xfrm>
          <a:prstGeom prst="rect">
            <a:avLst/>
          </a:prstGeom>
          <a:solidFill>
            <a:srgbClr val="27406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1733550" y="952500"/>
            <a:ext cx="323850" cy="76200"/>
          </a:xfrm>
          <a:prstGeom prst="rect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2171700" y="952500"/>
            <a:ext cx="323850" cy="76200"/>
          </a:xfrm>
          <a:prstGeom prst="rect">
            <a:avLst/>
          </a:prstGeom>
          <a:solidFill>
            <a:srgbClr val="27406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2609850" y="952500"/>
            <a:ext cx="323850" cy="76200"/>
          </a:xfrm>
          <a:prstGeom prst="rect">
            <a:avLst/>
          </a:prstGeom>
          <a:solidFill>
            <a:srgbClr val="27406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857250" y="2381250"/>
            <a:ext cx="1143000" cy="57150"/>
          </a:xfrm>
          <a:prstGeom prst="rect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857250" y="2857500"/>
            <a:ext cx="9906000" cy="12382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5000"/>
              </a:lnSpc>
            </a:pPr>
            <a:r>
              <a:rPr sz="3200" b="1">
                <a:solidFill>
                  <a:srgbClr val="FFFFFF"/>
                </a:solidFill>
                <a:latin typeface="PingFang SC"/>
              </a:rPr>
              <a:t>讲次 2-3 · 工具治理与安全边界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57250" y="4286250"/>
            <a:ext cx="9334500" cy="4762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1400" b="0">
                <a:solidFill>
                  <a:srgbClr val="F59E0B"/>
                </a:solidFill>
                <a:latin typeface="PingFang SC"/>
              </a:rPr>
              <a:t>LECTURE 03 / 05</a:t>
            </a:r>
          </a:p>
        </p:txBody>
      </p:sp>
    </p:spTree>
  </p:cSld>
  <p:clrMapOvr>
    <a:masterClrMapping/>
  </p:clrMapOvr>
</p:sld>
</file>

<file path=ppt/slides/slide6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704850"/>
          </a:xfrm>
          <a:prstGeom prst="rect">
            <a:avLst/>
          </a:prstGeom>
          <a:solidFill>
            <a:srgbClr val="0B1D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76200" cy="704850"/>
          </a:xfrm>
          <a:prstGeom prst="rect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266700" y="0"/>
            <a:ext cx="10287000" cy="7048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2000" b="1">
                <a:solidFill>
                  <a:srgbClr val="FFFFFF"/>
                </a:solidFill>
                <a:latin typeface="PingFang SC"/>
              </a:rPr>
              <a:t>治理四道防线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334500" y="0"/>
            <a:ext cx="2667000" cy="7048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>
              <a:lnSpc>
                <a:spcPct val="100000"/>
              </a:lnSpc>
            </a:pPr>
            <a:r>
              <a:rPr sz="1100" b="0">
                <a:solidFill>
                  <a:srgbClr val="94A3B8"/>
                </a:solidFill>
                <a:latin typeface="PingFang SC"/>
              </a:rPr>
              <a:t>第2章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876300" y="914400"/>
            <a:ext cx="10439400" cy="10287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DDE5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876300" y="914400"/>
            <a:ext cx="57150" cy="1028700"/>
          </a:xfrm>
          <a:prstGeom prst="rect">
            <a:avLst/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ounded Rectangle 7"/>
          <p:cNvSpPr/>
          <p:nvPr/>
        </p:nvSpPr>
        <p:spPr>
          <a:xfrm>
            <a:off x="1047750" y="1285875"/>
            <a:ext cx="285750" cy="285750"/>
          </a:xfrm>
          <a:prstGeom prst="roundRect">
            <a:avLst>
              <a:gd name="adj" fmla="val 8000"/>
            </a:avLst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047750" y="1276350"/>
            <a:ext cx="285750" cy="2857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300" b="1">
                <a:solidFill>
                  <a:srgbClr val="FFFFFF"/>
                </a:solidFill>
                <a:latin typeface="PingFang SC"/>
              </a:rPr>
              <a:t>1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485900" y="914400"/>
            <a:ext cx="9601200" cy="10287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12000"/>
              </a:lnSpc>
            </a:pPr>
            <a:r>
              <a:rPr sz="1400" b="1">
                <a:solidFill>
                  <a:srgbClr val="475569"/>
                </a:solidFill>
                <a:latin typeface="PingFang SC"/>
              </a:rPr>
              <a:t>参数校验:挡脏数据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876300" y="2114550"/>
            <a:ext cx="10439400" cy="10287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DDE5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876300" y="2114550"/>
            <a:ext cx="57150" cy="1028700"/>
          </a:xfrm>
          <a:prstGeom prst="rect">
            <a:avLst/>
          </a:prstGeom>
          <a:solidFill>
            <a:srgbClr val="14B8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ounded Rectangle 12"/>
          <p:cNvSpPr/>
          <p:nvPr/>
        </p:nvSpPr>
        <p:spPr>
          <a:xfrm>
            <a:off x="1047750" y="2486025"/>
            <a:ext cx="285750" cy="285750"/>
          </a:xfrm>
          <a:prstGeom prst="roundRect">
            <a:avLst>
              <a:gd name="adj" fmla="val 8000"/>
            </a:avLst>
          </a:prstGeom>
          <a:solidFill>
            <a:srgbClr val="14B8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1047750" y="2476500"/>
            <a:ext cx="285750" cy="2857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300" b="1">
                <a:solidFill>
                  <a:srgbClr val="FFFFFF"/>
                </a:solidFill>
                <a:latin typeface="PingFang SC"/>
              </a:rPr>
              <a:t>2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485900" y="2114550"/>
            <a:ext cx="9601200" cy="10287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12000"/>
              </a:lnSpc>
            </a:pPr>
            <a:r>
              <a:rPr sz="1400" b="1">
                <a:solidFill>
                  <a:srgbClr val="475569"/>
                </a:solidFill>
                <a:latin typeface="PingFang SC"/>
              </a:rPr>
              <a:t>权限分级:挡越权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876300" y="3314700"/>
            <a:ext cx="10439400" cy="10287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DDE5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876300" y="3314700"/>
            <a:ext cx="57150" cy="1028700"/>
          </a:xfrm>
          <a:prstGeom prst="rect">
            <a:avLst/>
          </a:prstGeom>
          <a:solidFill>
            <a:srgbClr val="8B5C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ounded Rectangle 17"/>
          <p:cNvSpPr/>
          <p:nvPr/>
        </p:nvSpPr>
        <p:spPr>
          <a:xfrm>
            <a:off x="1047750" y="3686175"/>
            <a:ext cx="285750" cy="285750"/>
          </a:xfrm>
          <a:prstGeom prst="roundRect">
            <a:avLst>
              <a:gd name="adj" fmla="val 8000"/>
            </a:avLst>
          </a:prstGeom>
          <a:solidFill>
            <a:srgbClr val="8B5C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1047750" y="3676650"/>
            <a:ext cx="285750" cy="2857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300" b="1">
                <a:solidFill>
                  <a:srgbClr val="FFFFFF"/>
                </a:solidFill>
                <a:latin typeface="PingFang SC"/>
              </a:rPr>
              <a:t>3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485900" y="3314700"/>
            <a:ext cx="9601200" cy="10287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12000"/>
              </a:lnSpc>
            </a:pPr>
            <a:r>
              <a:rPr sz="1400" b="1">
                <a:solidFill>
                  <a:srgbClr val="475569"/>
                </a:solidFill>
                <a:latin typeface="PingFang SC"/>
              </a:rPr>
              <a:t>人工确认:挡高危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876300" y="4514850"/>
            <a:ext cx="10439400" cy="10287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DDE5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ectangle 21"/>
          <p:cNvSpPr/>
          <p:nvPr/>
        </p:nvSpPr>
        <p:spPr>
          <a:xfrm>
            <a:off x="876300" y="4514850"/>
            <a:ext cx="57150" cy="1028700"/>
          </a:xfrm>
          <a:prstGeom prst="rect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ounded Rectangle 22"/>
          <p:cNvSpPr/>
          <p:nvPr/>
        </p:nvSpPr>
        <p:spPr>
          <a:xfrm>
            <a:off x="1047750" y="4886325"/>
            <a:ext cx="285750" cy="285750"/>
          </a:xfrm>
          <a:prstGeom prst="roundRect">
            <a:avLst>
              <a:gd name="adj" fmla="val 8000"/>
            </a:avLst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1047750" y="4876800"/>
            <a:ext cx="285750" cy="2857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300" b="1">
                <a:solidFill>
                  <a:srgbClr val="FFFFFF"/>
                </a:solidFill>
                <a:latin typeface="PingFang SC"/>
              </a:rPr>
              <a:t>4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1485900" y="4514850"/>
            <a:ext cx="9601200" cy="10287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12000"/>
              </a:lnSpc>
            </a:pPr>
            <a:r>
              <a:rPr sz="1400" b="1">
                <a:solidFill>
                  <a:srgbClr val="475569"/>
                </a:solidFill>
                <a:latin typeface="PingFang SC"/>
              </a:rPr>
              <a:t>审计回放:事后可追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876300" y="6019800"/>
            <a:ext cx="10439400" cy="514350"/>
          </a:xfrm>
          <a:prstGeom prst="roundRect">
            <a:avLst>
              <a:gd name="adj" fmla="val 8000"/>
            </a:avLst>
          </a:prstGeom>
          <a:solidFill>
            <a:srgbClr val="F1F5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1066800" y="6019800"/>
            <a:ext cx="10058400" cy="5524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1250" b="0">
                <a:solidFill>
                  <a:srgbClr val="2563EB"/>
                </a:solidFill>
                <a:latin typeface="PingFang SC"/>
              </a:rPr>
              <a:t>▶ 平台 ToolExecutor 即四道串联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0287000" y="6534150"/>
            <a:ext cx="1619250" cy="2667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>
              <a:lnSpc>
                <a:spcPct val="100000"/>
              </a:lnSpc>
            </a:pPr>
            <a:r>
              <a:rPr sz="900" b="0">
                <a:solidFill>
                  <a:srgbClr val="94A3B8"/>
                </a:solidFill>
                <a:latin typeface="PingFang SC"/>
              </a:rPr>
              <a:t>第2章 · 63/141</a:t>
            </a:r>
          </a:p>
        </p:txBody>
      </p:sp>
    </p:spTree>
  </p:cSld>
  <p:clrMapOvr>
    <a:masterClrMapping/>
  </p:clrMapOvr>
</p:sld>
</file>

<file path=ppt/slides/slide6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704850"/>
          </a:xfrm>
          <a:prstGeom prst="rect">
            <a:avLst/>
          </a:prstGeom>
          <a:solidFill>
            <a:srgbClr val="0B1D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76200" cy="704850"/>
          </a:xfrm>
          <a:prstGeom prst="rect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266700" y="0"/>
            <a:ext cx="10287000" cy="7048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2000" b="1">
                <a:solidFill>
                  <a:srgbClr val="FFFFFF"/>
                </a:solidFill>
                <a:latin typeface="PingFang SC"/>
              </a:rPr>
              <a:t>参数校验:Schema 即法律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334500" y="0"/>
            <a:ext cx="2667000" cy="7048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>
              <a:lnSpc>
                <a:spcPct val="100000"/>
              </a:lnSpc>
            </a:pPr>
            <a:r>
              <a:rPr sz="1100" b="0">
                <a:solidFill>
                  <a:srgbClr val="94A3B8"/>
                </a:solidFill>
                <a:latin typeface="PingFang SC"/>
              </a:rPr>
              <a:t>第2章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876300" y="914400"/>
            <a:ext cx="10439400" cy="10287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DDE5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876300" y="914400"/>
            <a:ext cx="57150" cy="1028700"/>
          </a:xfrm>
          <a:prstGeom prst="rect">
            <a:avLst/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ounded Rectangle 7"/>
          <p:cNvSpPr/>
          <p:nvPr/>
        </p:nvSpPr>
        <p:spPr>
          <a:xfrm>
            <a:off x="1047750" y="1285875"/>
            <a:ext cx="285750" cy="285750"/>
          </a:xfrm>
          <a:prstGeom prst="roundRect">
            <a:avLst>
              <a:gd name="adj" fmla="val 8000"/>
            </a:avLst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047750" y="1276350"/>
            <a:ext cx="285750" cy="2857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300" b="1">
                <a:solidFill>
                  <a:srgbClr val="FFFFFF"/>
                </a:solidFill>
                <a:latin typeface="PingFang SC"/>
              </a:rPr>
              <a:t>1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485900" y="914400"/>
            <a:ext cx="9601200" cy="10287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12000"/>
              </a:lnSpc>
            </a:pPr>
            <a:r>
              <a:rPr sz="1400" b="1">
                <a:solidFill>
                  <a:srgbClr val="475569"/>
                </a:solidFill>
                <a:latin typeface="PingFang SC"/>
              </a:rPr>
              <a:t>Pydantic 严格校验类型/必填/范围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876300" y="2114550"/>
            <a:ext cx="10439400" cy="10287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DDE5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876300" y="2114550"/>
            <a:ext cx="57150" cy="1028700"/>
          </a:xfrm>
          <a:prstGeom prst="rect">
            <a:avLst/>
          </a:prstGeom>
          <a:solidFill>
            <a:srgbClr val="14B8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ounded Rectangle 12"/>
          <p:cNvSpPr/>
          <p:nvPr/>
        </p:nvSpPr>
        <p:spPr>
          <a:xfrm>
            <a:off x="1047750" y="2486025"/>
            <a:ext cx="285750" cy="285750"/>
          </a:xfrm>
          <a:prstGeom prst="roundRect">
            <a:avLst>
              <a:gd name="adj" fmla="val 8000"/>
            </a:avLst>
          </a:prstGeom>
          <a:solidFill>
            <a:srgbClr val="14B8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1047750" y="2476500"/>
            <a:ext cx="285750" cy="2857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300" b="1">
                <a:solidFill>
                  <a:srgbClr val="FFFFFF"/>
                </a:solidFill>
                <a:latin typeface="PingFang SC"/>
              </a:rPr>
              <a:t>2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485900" y="2114550"/>
            <a:ext cx="9601200" cy="10287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12000"/>
              </a:lnSpc>
            </a:pPr>
            <a:r>
              <a:rPr sz="1400" b="1">
                <a:solidFill>
                  <a:srgbClr val="475569"/>
                </a:solidFill>
                <a:latin typeface="PingFang SC"/>
              </a:rPr>
              <a:t>拒绝多余字段(防注入)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876300" y="3314700"/>
            <a:ext cx="10439400" cy="10287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DDE5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876300" y="3314700"/>
            <a:ext cx="57150" cy="1028700"/>
          </a:xfrm>
          <a:prstGeom prst="rect">
            <a:avLst/>
          </a:prstGeom>
          <a:solidFill>
            <a:srgbClr val="8B5C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ounded Rectangle 17"/>
          <p:cNvSpPr/>
          <p:nvPr/>
        </p:nvSpPr>
        <p:spPr>
          <a:xfrm>
            <a:off x="1047750" y="3686175"/>
            <a:ext cx="285750" cy="285750"/>
          </a:xfrm>
          <a:prstGeom prst="roundRect">
            <a:avLst>
              <a:gd name="adj" fmla="val 8000"/>
            </a:avLst>
          </a:prstGeom>
          <a:solidFill>
            <a:srgbClr val="8B5C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1047750" y="3676650"/>
            <a:ext cx="285750" cy="2857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300" b="1">
                <a:solidFill>
                  <a:srgbClr val="FFFFFF"/>
                </a:solidFill>
                <a:latin typeface="PingFang SC"/>
              </a:rPr>
              <a:t>3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485900" y="3314700"/>
            <a:ext cx="9601200" cy="10287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12000"/>
              </a:lnSpc>
            </a:pPr>
            <a:r>
              <a:rPr sz="1400" b="1">
                <a:solidFill>
                  <a:srgbClr val="475569"/>
                </a:solidFill>
                <a:latin typeface="PingFang SC"/>
              </a:rPr>
              <a:t>错误信息结构化返回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876300" y="6019800"/>
            <a:ext cx="10439400" cy="514350"/>
          </a:xfrm>
          <a:prstGeom prst="roundRect">
            <a:avLst>
              <a:gd name="adj" fmla="val 8000"/>
            </a:avLst>
          </a:prstGeom>
          <a:solidFill>
            <a:srgbClr val="F1F5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1066800" y="6019800"/>
            <a:ext cx="10058400" cy="5524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1250" b="0">
                <a:solidFill>
                  <a:srgbClr val="2563EB"/>
                </a:solidFill>
                <a:latin typeface="PingFang SC"/>
              </a:rPr>
              <a:t>▶ 校验失败不进执行,直接审计留痕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0287000" y="6534150"/>
            <a:ext cx="1619250" cy="2667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>
              <a:lnSpc>
                <a:spcPct val="100000"/>
              </a:lnSpc>
            </a:pPr>
            <a:r>
              <a:rPr sz="900" b="0">
                <a:solidFill>
                  <a:srgbClr val="94A3B8"/>
                </a:solidFill>
                <a:latin typeface="PingFang SC"/>
              </a:rPr>
              <a:t>第2章 · 64/141</a:t>
            </a:r>
          </a:p>
        </p:txBody>
      </p:sp>
    </p:spTree>
  </p:cSld>
  <p:clrMapOvr>
    <a:masterClrMapping/>
  </p:clrMapOvr>
</p:sld>
</file>

<file path=ppt/slides/slide6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704850"/>
          </a:xfrm>
          <a:prstGeom prst="rect">
            <a:avLst/>
          </a:prstGeom>
          <a:solidFill>
            <a:srgbClr val="0B1D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76200" cy="704850"/>
          </a:xfrm>
          <a:prstGeom prst="rect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266700" y="0"/>
            <a:ext cx="10287000" cy="7048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2000" b="1">
                <a:solidFill>
                  <a:srgbClr val="FFFFFF"/>
                </a:solidFill>
                <a:latin typeface="PingFang SC"/>
              </a:rPr>
              <a:t>权限模型:RBAC 三角色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334500" y="0"/>
            <a:ext cx="2667000" cy="7048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>
              <a:lnSpc>
                <a:spcPct val="100000"/>
              </a:lnSpc>
            </a:pPr>
            <a:r>
              <a:rPr sz="1100" b="0">
                <a:solidFill>
                  <a:srgbClr val="94A3B8"/>
                </a:solidFill>
                <a:latin typeface="PingFang SC"/>
              </a:rPr>
              <a:t>第2章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876300" y="914400"/>
            <a:ext cx="10439400" cy="10287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DDE5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876300" y="914400"/>
            <a:ext cx="57150" cy="1028700"/>
          </a:xfrm>
          <a:prstGeom prst="rect">
            <a:avLst/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ounded Rectangle 7"/>
          <p:cNvSpPr/>
          <p:nvPr/>
        </p:nvSpPr>
        <p:spPr>
          <a:xfrm>
            <a:off x="1047750" y="1285875"/>
            <a:ext cx="285750" cy="285750"/>
          </a:xfrm>
          <a:prstGeom prst="roundRect">
            <a:avLst>
              <a:gd name="adj" fmla="val 8000"/>
            </a:avLst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047750" y="1276350"/>
            <a:ext cx="285750" cy="2857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300" b="1">
                <a:solidFill>
                  <a:srgbClr val="FFFFFF"/>
                </a:solidFill>
                <a:latin typeface="PingFang SC"/>
              </a:rPr>
              <a:t>1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485900" y="914400"/>
            <a:ext cx="9601200" cy="10287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12000"/>
              </a:lnSpc>
            </a:pPr>
            <a:r>
              <a:rPr sz="1400" b="1">
                <a:solidFill>
                  <a:srgbClr val="475569"/>
                </a:solidFill>
                <a:latin typeface="PingFang SC"/>
              </a:rPr>
              <a:t>readonly:仅 READ 工具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876300" y="2114550"/>
            <a:ext cx="10439400" cy="10287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DDE5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876300" y="2114550"/>
            <a:ext cx="57150" cy="1028700"/>
          </a:xfrm>
          <a:prstGeom prst="rect">
            <a:avLst/>
          </a:prstGeom>
          <a:solidFill>
            <a:srgbClr val="14B8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ounded Rectangle 12"/>
          <p:cNvSpPr/>
          <p:nvPr/>
        </p:nvSpPr>
        <p:spPr>
          <a:xfrm>
            <a:off x="1047750" y="2486025"/>
            <a:ext cx="285750" cy="285750"/>
          </a:xfrm>
          <a:prstGeom prst="roundRect">
            <a:avLst>
              <a:gd name="adj" fmla="val 8000"/>
            </a:avLst>
          </a:prstGeom>
          <a:solidFill>
            <a:srgbClr val="14B8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1047750" y="2476500"/>
            <a:ext cx="285750" cy="2857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300" b="1">
                <a:solidFill>
                  <a:srgbClr val="FFFFFF"/>
                </a:solidFill>
                <a:latin typeface="PingFang SC"/>
              </a:rPr>
              <a:t>2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485900" y="2114550"/>
            <a:ext cx="9601200" cy="10287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12000"/>
              </a:lnSpc>
            </a:pPr>
            <a:r>
              <a:rPr sz="1400" b="1">
                <a:solidFill>
                  <a:srgbClr val="475569"/>
                </a:solidFill>
                <a:latin typeface="PingFang SC"/>
              </a:rPr>
              <a:t>agent:READ + WRITE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876300" y="3314700"/>
            <a:ext cx="10439400" cy="10287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DDE5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876300" y="3314700"/>
            <a:ext cx="57150" cy="1028700"/>
          </a:xfrm>
          <a:prstGeom prst="rect">
            <a:avLst/>
          </a:prstGeom>
          <a:solidFill>
            <a:srgbClr val="8B5C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ounded Rectangle 17"/>
          <p:cNvSpPr/>
          <p:nvPr/>
        </p:nvSpPr>
        <p:spPr>
          <a:xfrm>
            <a:off x="1047750" y="3686175"/>
            <a:ext cx="285750" cy="285750"/>
          </a:xfrm>
          <a:prstGeom prst="roundRect">
            <a:avLst>
              <a:gd name="adj" fmla="val 8000"/>
            </a:avLst>
          </a:prstGeom>
          <a:solidFill>
            <a:srgbClr val="8B5C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1047750" y="3676650"/>
            <a:ext cx="285750" cy="2857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300" b="1">
                <a:solidFill>
                  <a:srgbClr val="FFFFFF"/>
                </a:solidFill>
                <a:latin typeface="PingFang SC"/>
              </a:rPr>
              <a:t>3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485900" y="3314700"/>
            <a:ext cx="9601200" cy="10287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12000"/>
              </a:lnSpc>
            </a:pPr>
            <a:r>
              <a:rPr sz="1400" b="1">
                <a:solidFill>
                  <a:srgbClr val="475569"/>
                </a:solidFill>
                <a:latin typeface="PingFang SC"/>
              </a:rPr>
              <a:t>admin:全部(含 DANGEROUS)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876300" y="6019800"/>
            <a:ext cx="10439400" cy="514350"/>
          </a:xfrm>
          <a:prstGeom prst="roundRect">
            <a:avLst>
              <a:gd name="adj" fmla="val 8000"/>
            </a:avLst>
          </a:prstGeom>
          <a:solidFill>
            <a:srgbClr val="F1F5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1066800" y="6019800"/>
            <a:ext cx="10058400" cy="5524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1250" b="0">
                <a:solidFill>
                  <a:srgbClr val="2563EB"/>
                </a:solidFill>
                <a:latin typeface="PingFang SC"/>
              </a:rPr>
              <a:t>▶ 身份透传:用户权限决定工具权限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0287000" y="6534150"/>
            <a:ext cx="1619250" cy="2667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>
              <a:lnSpc>
                <a:spcPct val="100000"/>
              </a:lnSpc>
            </a:pPr>
            <a:r>
              <a:rPr sz="900" b="0">
                <a:solidFill>
                  <a:srgbClr val="94A3B8"/>
                </a:solidFill>
                <a:latin typeface="PingFang SC"/>
              </a:rPr>
              <a:t>第2章 · 65/141</a:t>
            </a:r>
          </a:p>
        </p:txBody>
      </p:sp>
    </p:spTree>
  </p:cSld>
  <p:clrMapOvr>
    <a:masterClrMapping/>
  </p:clrMapOvr>
</p:sld>
</file>

<file path=ppt/slides/slide6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704850"/>
          </a:xfrm>
          <a:prstGeom prst="rect">
            <a:avLst/>
          </a:prstGeom>
          <a:solidFill>
            <a:srgbClr val="0B1D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76200" cy="704850"/>
          </a:xfrm>
          <a:prstGeom prst="rect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266700" y="0"/>
            <a:ext cx="10287000" cy="7048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2000" b="1">
                <a:solidFill>
                  <a:srgbClr val="FFFFFF"/>
                </a:solidFill>
                <a:latin typeface="PingFang SC"/>
              </a:rPr>
              <a:t>RBAC 风险矩阵,角色,READ 工具,WRITE 工具,DANGEROUS 工具;readonly,✓,✗,✗;agent,✓,✓,需确认凭据;admin,✓,✓,需确认凭据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1143000" y="1047750"/>
            <a:ext cx="9906000" cy="561975"/>
          </a:xfrm>
          <a:prstGeom prst="roundRect">
            <a:avLst>
              <a:gd name="adj" fmla="val 8000"/>
            </a:avLst>
          </a:prstGeom>
          <a:solidFill>
            <a:srgbClr val="0B1D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257300" y="1047750"/>
            <a:ext cx="9696450" cy="561975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1300" b="1">
                <a:solidFill>
                  <a:srgbClr val="FFFFFF"/>
                </a:solidFill>
                <a:latin typeface="PingFang SC"/>
              </a:rPr>
              <a:t>hl=3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287000" y="6534150"/>
            <a:ext cx="1619250" cy="2667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>
              <a:lnSpc>
                <a:spcPct val="100000"/>
              </a:lnSpc>
            </a:pPr>
            <a:r>
              <a:rPr sz="900" b="0">
                <a:solidFill>
                  <a:srgbClr val="94A3B8"/>
                </a:solidFill>
                <a:latin typeface="PingFang SC"/>
              </a:rPr>
              <a:t>第2章 · 66/141</a:t>
            </a:r>
          </a:p>
        </p:txBody>
      </p:sp>
    </p:spTree>
  </p:cSld>
  <p:clrMapOvr>
    <a:masterClrMapping/>
  </p:clrMapOvr>
</p:sld>
</file>

<file path=ppt/slides/slide6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704850"/>
          </a:xfrm>
          <a:prstGeom prst="rect">
            <a:avLst/>
          </a:prstGeom>
          <a:solidFill>
            <a:srgbClr val="0B1D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76200" cy="704850"/>
          </a:xfrm>
          <a:prstGeom prst="rect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266700" y="0"/>
            <a:ext cx="10287000" cy="7048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2000" b="1">
                <a:solidFill>
                  <a:srgbClr val="FFFFFF"/>
                </a:solidFill>
                <a:latin typeface="PingFang SC"/>
              </a:rPr>
              <a:t>高危工具:确认凭据制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334500" y="0"/>
            <a:ext cx="2667000" cy="7048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>
              <a:lnSpc>
                <a:spcPct val="100000"/>
              </a:lnSpc>
            </a:pPr>
            <a:r>
              <a:rPr sz="1100" b="0">
                <a:solidFill>
                  <a:srgbClr val="94A3B8"/>
                </a:solidFill>
                <a:latin typeface="PingFang SC"/>
              </a:rPr>
              <a:t>第2章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876300" y="914400"/>
            <a:ext cx="10439400" cy="10287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DDE5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876300" y="914400"/>
            <a:ext cx="57150" cy="1028700"/>
          </a:xfrm>
          <a:prstGeom prst="rect">
            <a:avLst/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ounded Rectangle 7"/>
          <p:cNvSpPr/>
          <p:nvPr/>
        </p:nvSpPr>
        <p:spPr>
          <a:xfrm>
            <a:off x="1047750" y="1285875"/>
            <a:ext cx="285750" cy="285750"/>
          </a:xfrm>
          <a:prstGeom prst="roundRect">
            <a:avLst>
              <a:gd name="adj" fmla="val 8000"/>
            </a:avLst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047750" y="1276350"/>
            <a:ext cx="285750" cy="2857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300" b="1">
                <a:solidFill>
                  <a:srgbClr val="FFFFFF"/>
                </a:solidFill>
                <a:latin typeface="PingFang SC"/>
              </a:rPr>
              <a:t>1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485900" y="914400"/>
            <a:ext cx="9601200" cy="10287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12000"/>
              </a:lnSpc>
            </a:pPr>
            <a:r>
              <a:rPr sz="1400" b="1">
                <a:solidFill>
                  <a:srgbClr val="475569"/>
                </a:solidFill>
                <a:latin typeface="PingFang SC"/>
              </a:rPr>
              <a:t>DANGEROUS 一律拒 readonly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876300" y="2114550"/>
            <a:ext cx="10439400" cy="10287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DDE5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876300" y="2114550"/>
            <a:ext cx="57150" cy="1028700"/>
          </a:xfrm>
          <a:prstGeom prst="rect">
            <a:avLst/>
          </a:prstGeom>
          <a:solidFill>
            <a:srgbClr val="14B8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ounded Rectangle 12"/>
          <p:cNvSpPr/>
          <p:nvPr/>
        </p:nvSpPr>
        <p:spPr>
          <a:xfrm>
            <a:off x="1047750" y="2486025"/>
            <a:ext cx="285750" cy="285750"/>
          </a:xfrm>
          <a:prstGeom prst="roundRect">
            <a:avLst>
              <a:gd name="adj" fmla="val 8000"/>
            </a:avLst>
          </a:prstGeom>
          <a:solidFill>
            <a:srgbClr val="14B8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1047750" y="2476500"/>
            <a:ext cx="285750" cy="2857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300" b="1">
                <a:solidFill>
                  <a:srgbClr val="FFFFFF"/>
                </a:solidFill>
                <a:latin typeface="PingFang SC"/>
              </a:rPr>
              <a:t>2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485900" y="2114550"/>
            <a:ext cx="9601200" cy="10287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12000"/>
              </a:lnSpc>
            </a:pPr>
            <a:r>
              <a:rPr sz="1400" b="1">
                <a:solidFill>
                  <a:srgbClr val="475569"/>
                </a:solidFill>
                <a:latin typeface="PingFang SC"/>
              </a:rPr>
              <a:t>执行必须带 confirmed=True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876300" y="3314700"/>
            <a:ext cx="10439400" cy="10287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DDE5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876300" y="3314700"/>
            <a:ext cx="57150" cy="1028700"/>
          </a:xfrm>
          <a:prstGeom prst="rect">
            <a:avLst/>
          </a:prstGeom>
          <a:solidFill>
            <a:srgbClr val="8B5C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ounded Rectangle 17"/>
          <p:cNvSpPr/>
          <p:nvPr/>
        </p:nvSpPr>
        <p:spPr>
          <a:xfrm>
            <a:off x="1047750" y="3686175"/>
            <a:ext cx="285750" cy="285750"/>
          </a:xfrm>
          <a:prstGeom prst="roundRect">
            <a:avLst>
              <a:gd name="adj" fmla="val 8000"/>
            </a:avLst>
          </a:prstGeom>
          <a:solidFill>
            <a:srgbClr val="8B5C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1047750" y="3676650"/>
            <a:ext cx="285750" cy="2857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300" b="1">
                <a:solidFill>
                  <a:srgbClr val="FFFFFF"/>
                </a:solidFill>
                <a:latin typeface="PingFang SC"/>
              </a:rPr>
              <a:t>3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485900" y="3314700"/>
            <a:ext cx="9601200" cy="10287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12000"/>
              </a:lnSpc>
            </a:pPr>
            <a:r>
              <a:rPr sz="1400" b="1">
                <a:solidFill>
                  <a:srgbClr val="475569"/>
                </a:solidFill>
                <a:latin typeface="PingFang SC"/>
              </a:rPr>
              <a:t>平台 drop_database 演示拦截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876300" y="6019800"/>
            <a:ext cx="10439400" cy="514350"/>
          </a:xfrm>
          <a:prstGeom prst="roundRect">
            <a:avLst>
              <a:gd name="adj" fmla="val 8000"/>
            </a:avLst>
          </a:prstGeom>
          <a:solidFill>
            <a:srgbClr val="F1F5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1066800" y="6019800"/>
            <a:ext cx="10058400" cy="5524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1250" b="0">
                <a:solidFill>
                  <a:srgbClr val="2563EB"/>
                </a:solidFill>
                <a:latin typeface="PingFang SC"/>
              </a:rPr>
              <a:t>▶ 无确认执行=安全事故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0287000" y="6534150"/>
            <a:ext cx="1619250" cy="2667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>
              <a:lnSpc>
                <a:spcPct val="100000"/>
              </a:lnSpc>
            </a:pPr>
            <a:r>
              <a:rPr sz="900" b="0">
                <a:solidFill>
                  <a:srgbClr val="94A3B8"/>
                </a:solidFill>
                <a:latin typeface="PingFang SC"/>
              </a:rPr>
              <a:t>第2章 · 67/141</a:t>
            </a:r>
          </a:p>
        </p:txBody>
      </p:sp>
    </p:spTree>
  </p:cSld>
  <p:clrMapOvr>
    <a:masterClrMapping/>
  </p:clrMapOvr>
</p:sld>
</file>

<file path=ppt/slides/slide6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704850"/>
          </a:xfrm>
          <a:prstGeom prst="rect">
            <a:avLst/>
          </a:prstGeom>
          <a:solidFill>
            <a:srgbClr val="0B1D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76200" cy="704850"/>
          </a:xfrm>
          <a:prstGeom prst="rect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266700" y="0"/>
            <a:ext cx="10287000" cy="7048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2000" b="1">
                <a:solidFill>
                  <a:srgbClr val="FFFFFF"/>
                </a:solidFill>
                <a:latin typeface="PingFang SC"/>
              </a:rPr>
              <a:t>工具调用状态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2524125" y="1905000"/>
            <a:ext cx="2228850" cy="104775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2563E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2524125" y="1905000"/>
            <a:ext cx="2228850" cy="10477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300" b="1">
                <a:solidFill>
                  <a:srgbClr val="475569"/>
                </a:solidFill>
                <a:latin typeface="PingFang SC"/>
              </a:rPr>
              <a:t>PENDING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905375" y="1905000"/>
            <a:ext cx="2228850" cy="104775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2563E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4905375" y="1905000"/>
            <a:ext cx="2228850" cy="10477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300" b="1">
                <a:solidFill>
                  <a:srgbClr val="475569"/>
                </a:solidFill>
                <a:latin typeface="PingFang SC"/>
              </a:rPr>
              <a:t>PERMIT_OK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7286625" y="1905000"/>
            <a:ext cx="2228850" cy="104775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2563E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7286625" y="1905000"/>
            <a:ext cx="2228850" cy="10477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300" b="1">
                <a:solidFill>
                  <a:srgbClr val="475569"/>
                </a:solidFill>
                <a:latin typeface="PingFang SC"/>
              </a:rPr>
              <a:t>EXECUTING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2524125" y="3524250"/>
            <a:ext cx="2228850" cy="104775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2563E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2524125" y="3524250"/>
            <a:ext cx="2228850" cy="10477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300" b="1">
                <a:solidFill>
                  <a:srgbClr val="475569"/>
                </a:solidFill>
                <a:latin typeface="PingFang SC"/>
              </a:rPr>
              <a:t>AUDITED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4905375" y="3524250"/>
            <a:ext cx="2228850" cy="104775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2563E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4905375" y="3524250"/>
            <a:ext cx="2228850" cy="10477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300" b="1">
                <a:solidFill>
                  <a:srgbClr val="475569"/>
                </a:solidFill>
                <a:latin typeface="PingFang SC"/>
              </a:rPr>
              <a:t>REJECTED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7286625" y="3524250"/>
            <a:ext cx="2228850" cy="104775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2563E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7286625" y="3524250"/>
            <a:ext cx="2228850" cy="10477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300" b="1">
                <a:solidFill>
                  <a:srgbClr val="475569"/>
                </a:solidFill>
                <a:latin typeface="PingFang SC"/>
              </a:rPr>
              <a:t>TIMEOUT</a:t>
            </a:r>
          </a:p>
        </p:txBody>
      </p:sp>
      <p:cxnSp>
        <p:nvCxnSpPr>
          <p:cNvPr id="17" name="Connector 16"/>
          <p:cNvCxnSpPr/>
          <p:nvPr/>
        </p:nvCxnSpPr>
        <p:spPr>
          <a:xfrm>
            <a:off x="4752975" y="2428875"/>
            <a:ext cx="152400" cy="0"/>
          </a:xfrm>
          <a:prstGeom prst="line">
            <a:avLst/>
          </a:prstGeom>
          <a:ln w="17780">
            <a:solidFill>
              <a:srgbClr val="475569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8" name="Isosceles Triangle 17"/>
          <p:cNvSpPr/>
          <p:nvPr/>
        </p:nvSpPr>
        <p:spPr>
          <a:xfrm rot="5400000">
            <a:off x="4819651" y="2386013"/>
            <a:ext cx="85725" cy="85725"/>
          </a:xfrm>
          <a:prstGeom prst="triangle">
            <a:avLst/>
          </a:prstGeom>
          <a:solidFill>
            <a:srgbClr val="47556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3971925" y="2105025"/>
            <a:ext cx="1714500" cy="2286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900" b="0">
                <a:solidFill>
                  <a:srgbClr val="94A3B8"/>
                </a:solidFill>
                <a:latin typeface="PingFang SC"/>
              </a:rPr>
              <a:t>权限通过</a:t>
            </a:r>
          </a:p>
        </p:txBody>
      </p:sp>
      <p:cxnSp>
        <p:nvCxnSpPr>
          <p:cNvPr id="20" name="Connector 19"/>
          <p:cNvCxnSpPr/>
          <p:nvPr/>
        </p:nvCxnSpPr>
        <p:spPr>
          <a:xfrm>
            <a:off x="7134225" y="2428875"/>
            <a:ext cx="152400" cy="0"/>
          </a:xfrm>
          <a:prstGeom prst="line">
            <a:avLst/>
          </a:prstGeom>
          <a:ln w="17780">
            <a:solidFill>
              <a:srgbClr val="475569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1" name="Isosceles Triangle 20"/>
          <p:cNvSpPr/>
          <p:nvPr/>
        </p:nvSpPr>
        <p:spPr>
          <a:xfrm rot="5400000">
            <a:off x="7200901" y="2386013"/>
            <a:ext cx="85725" cy="85725"/>
          </a:xfrm>
          <a:prstGeom prst="triangle">
            <a:avLst/>
          </a:prstGeom>
          <a:solidFill>
            <a:srgbClr val="47556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6353175" y="2105025"/>
            <a:ext cx="1714500" cy="2286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900" b="0">
                <a:solidFill>
                  <a:srgbClr val="94A3B8"/>
                </a:solidFill>
                <a:latin typeface="PingFang SC"/>
              </a:rPr>
              <a:t>wait_for 执行</a:t>
            </a:r>
          </a:p>
        </p:txBody>
      </p:sp>
      <p:cxnSp>
        <p:nvCxnSpPr>
          <p:cNvPr id="23" name="Connector 22"/>
          <p:cNvCxnSpPr/>
          <p:nvPr/>
        </p:nvCxnSpPr>
        <p:spPr>
          <a:xfrm flipH="1">
            <a:off x="4752975" y="2428875"/>
            <a:ext cx="3648075" cy="1619250"/>
          </a:xfrm>
          <a:prstGeom prst="line">
            <a:avLst/>
          </a:prstGeom>
          <a:ln w="17780">
            <a:solidFill>
              <a:srgbClr val="475569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4" name="Isosceles Triangle 23"/>
          <p:cNvSpPr/>
          <p:nvPr/>
        </p:nvSpPr>
        <p:spPr>
          <a:xfrm rot="14763917">
            <a:off x="4749289" y="3987874"/>
            <a:ext cx="85725" cy="85725"/>
          </a:xfrm>
          <a:prstGeom prst="triangle">
            <a:avLst/>
          </a:prstGeom>
          <a:solidFill>
            <a:srgbClr val="47556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5643562" y="2105025"/>
            <a:ext cx="1714500" cy="2286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900" b="0">
                <a:solidFill>
                  <a:srgbClr val="94A3B8"/>
                </a:solidFill>
                <a:latin typeface="PingFang SC"/>
              </a:rPr>
              <a:t>结果落审计</a:t>
            </a:r>
          </a:p>
        </p:txBody>
      </p:sp>
      <p:cxnSp>
        <p:nvCxnSpPr>
          <p:cNvPr id="26" name="Connector 25"/>
          <p:cNvCxnSpPr/>
          <p:nvPr/>
        </p:nvCxnSpPr>
        <p:spPr>
          <a:xfrm>
            <a:off x="8401050" y="2952750"/>
            <a:ext cx="0" cy="571500"/>
          </a:xfrm>
          <a:prstGeom prst="line">
            <a:avLst/>
          </a:prstGeom>
          <a:ln w="17780">
            <a:solidFill>
              <a:srgbClr val="475569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7" name="Isosceles Triangle 26"/>
          <p:cNvSpPr/>
          <p:nvPr/>
        </p:nvSpPr>
        <p:spPr>
          <a:xfrm rot="10800000">
            <a:off x="8358188" y="3438526"/>
            <a:ext cx="85725" cy="85725"/>
          </a:xfrm>
          <a:prstGeom prst="triangle">
            <a:avLst/>
          </a:prstGeom>
          <a:solidFill>
            <a:srgbClr val="47556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8024812" y="2105025"/>
            <a:ext cx="1714500" cy="2286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900" b="0">
                <a:solidFill>
                  <a:srgbClr val="94A3B8"/>
                </a:solidFill>
                <a:latin typeface="PingFang SC"/>
              </a:rPr>
              <a:t>超时降级</a:t>
            </a:r>
          </a:p>
        </p:txBody>
      </p:sp>
      <p:cxnSp>
        <p:nvCxnSpPr>
          <p:cNvPr id="29" name="Connector 28"/>
          <p:cNvCxnSpPr/>
          <p:nvPr/>
        </p:nvCxnSpPr>
        <p:spPr>
          <a:xfrm>
            <a:off x="4752975" y="2428875"/>
            <a:ext cx="152400" cy="1619250"/>
          </a:xfrm>
          <a:prstGeom prst="line">
            <a:avLst/>
          </a:prstGeom>
          <a:ln w="17780">
            <a:solidFill>
              <a:srgbClr val="475569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0" name="Isosceles Triangle 29"/>
          <p:cNvSpPr/>
          <p:nvPr/>
        </p:nvSpPr>
        <p:spPr>
          <a:xfrm rot="10477398">
            <a:off x="4858497" y="3962590"/>
            <a:ext cx="85725" cy="85725"/>
          </a:xfrm>
          <a:prstGeom prst="triangle">
            <a:avLst/>
          </a:prstGeom>
          <a:solidFill>
            <a:srgbClr val="47556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3971925" y="2105025"/>
            <a:ext cx="1714500" cy="2286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900" b="0">
                <a:solidFill>
                  <a:srgbClr val="94A3B8"/>
                </a:solidFill>
                <a:latin typeface="PingFang SC"/>
              </a:rPr>
              <a:t>readonly/未确认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10287000" y="6534150"/>
            <a:ext cx="1619250" cy="2667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>
              <a:lnSpc>
                <a:spcPct val="100000"/>
              </a:lnSpc>
            </a:pPr>
            <a:r>
              <a:rPr sz="900" b="0">
                <a:solidFill>
                  <a:srgbClr val="94A3B8"/>
                </a:solidFill>
                <a:latin typeface="PingFang SC"/>
              </a:rPr>
              <a:t>第2章 · 68/141</a:t>
            </a:r>
          </a:p>
        </p:txBody>
      </p:sp>
    </p:spTree>
  </p:cSld>
  <p:clrMapOvr>
    <a:masterClrMapping/>
  </p:clrMapOvr>
</p:sld>
</file>

<file path=ppt/slides/slide6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704850"/>
          </a:xfrm>
          <a:prstGeom prst="rect">
            <a:avLst/>
          </a:prstGeom>
          <a:solidFill>
            <a:srgbClr val="0B1D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76200" cy="704850"/>
          </a:xfrm>
          <a:prstGeom prst="rect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266700" y="0"/>
            <a:ext cx="10287000" cy="7048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2000" b="1">
                <a:solidFill>
                  <a:srgbClr val="FFFFFF"/>
                </a:solidFill>
                <a:latin typeface="PingFang SC"/>
              </a:rPr>
              <a:t>工具白名单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334500" y="0"/>
            <a:ext cx="2667000" cy="7048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>
              <a:lnSpc>
                <a:spcPct val="100000"/>
              </a:lnSpc>
            </a:pPr>
            <a:r>
              <a:rPr sz="1100" b="0">
                <a:solidFill>
                  <a:srgbClr val="94A3B8"/>
                </a:solidFill>
                <a:latin typeface="PingFang SC"/>
              </a:rPr>
              <a:t>第2章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876300" y="914400"/>
            <a:ext cx="10439400" cy="10287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DDE5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876300" y="914400"/>
            <a:ext cx="57150" cy="1028700"/>
          </a:xfrm>
          <a:prstGeom prst="rect">
            <a:avLst/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ounded Rectangle 7"/>
          <p:cNvSpPr/>
          <p:nvPr/>
        </p:nvSpPr>
        <p:spPr>
          <a:xfrm>
            <a:off x="1047750" y="1285875"/>
            <a:ext cx="285750" cy="285750"/>
          </a:xfrm>
          <a:prstGeom prst="roundRect">
            <a:avLst>
              <a:gd name="adj" fmla="val 8000"/>
            </a:avLst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047750" y="1276350"/>
            <a:ext cx="285750" cy="2857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300" b="1">
                <a:solidFill>
                  <a:srgbClr val="FFFFFF"/>
                </a:solidFill>
                <a:latin typeface="PingFang SC"/>
              </a:rPr>
              <a:t>1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485900" y="914400"/>
            <a:ext cx="9601200" cy="10287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12000"/>
              </a:lnSpc>
            </a:pPr>
            <a:r>
              <a:rPr sz="1400" b="1">
                <a:solidFill>
                  <a:srgbClr val="475569"/>
                </a:solidFill>
                <a:latin typeface="PingFang SC"/>
              </a:rPr>
              <a:t>场景级白名单:客服场景只开放查询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876300" y="2114550"/>
            <a:ext cx="10439400" cy="10287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DDE5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876300" y="2114550"/>
            <a:ext cx="57150" cy="1028700"/>
          </a:xfrm>
          <a:prstGeom prst="rect">
            <a:avLst/>
          </a:prstGeom>
          <a:solidFill>
            <a:srgbClr val="14B8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ounded Rectangle 12"/>
          <p:cNvSpPr/>
          <p:nvPr/>
        </p:nvSpPr>
        <p:spPr>
          <a:xfrm>
            <a:off x="1047750" y="2486025"/>
            <a:ext cx="285750" cy="285750"/>
          </a:xfrm>
          <a:prstGeom prst="roundRect">
            <a:avLst>
              <a:gd name="adj" fmla="val 8000"/>
            </a:avLst>
          </a:prstGeom>
          <a:solidFill>
            <a:srgbClr val="14B8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1047750" y="2476500"/>
            <a:ext cx="285750" cy="2857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300" b="1">
                <a:solidFill>
                  <a:srgbClr val="FFFFFF"/>
                </a:solidFill>
                <a:latin typeface="PingFang SC"/>
              </a:rPr>
              <a:t>2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485900" y="2114550"/>
            <a:ext cx="9601200" cy="10287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12000"/>
              </a:lnSpc>
            </a:pPr>
            <a:r>
              <a:rPr sz="1400" b="1">
                <a:solidFill>
                  <a:srgbClr val="475569"/>
                </a:solidFill>
                <a:latin typeface="PingFang SC"/>
              </a:rPr>
              <a:t>白名单外静默拒绝+审计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876300" y="3314700"/>
            <a:ext cx="10439400" cy="10287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DDE5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876300" y="3314700"/>
            <a:ext cx="57150" cy="1028700"/>
          </a:xfrm>
          <a:prstGeom prst="rect">
            <a:avLst/>
          </a:prstGeom>
          <a:solidFill>
            <a:srgbClr val="8B5C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ounded Rectangle 17"/>
          <p:cNvSpPr/>
          <p:nvPr/>
        </p:nvSpPr>
        <p:spPr>
          <a:xfrm>
            <a:off x="1047750" y="3686175"/>
            <a:ext cx="285750" cy="285750"/>
          </a:xfrm>
          <a:prstGeom prst="roundRect">
            <a:avLst>
              <a:gd name="adj" fmla="val 8000"/>
            </a:avLst>
          </a:prstGeom>
          <a:solidFill>
            <a:srgbClr val="8B5C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1047750" y="3676650"/>
            <a:ext cx="285750" cy="2857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300" b="1">
                <a:solidFill>
                  <a:srgbClr val="FFFFFF"/>
                </a:solidFill>
                <a:latin typeface="PingFang SC"/>
              </a:rPr>
              <a:t>3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485900" y="3314700"/>
            <a:ext cx="9601200" cy="10287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12000"/>
              </a:lnSpc>
            </a:pPr>
            <a:r>
              <a:rPr sz="1400" b="1">
                <a:solidFill>
                  <a:srgbClr val="475569"/>
                </a:solidFill>
                <a:latin typeface="PingFang SC"/>
              </a:rPr>
              <a:t>白名单变更走审批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0287000" y="6534150"/>
            <a:ext cx="1619250" cy="2667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>
              <a:lnSpc>
                <a:spcPct val="100000"/>
              </a:lnSpc>
            </a:pPr>
            <a:r>
              <a:rPr sz="900" b="0">
                <a:solidFill>
                  <a:srgbClr val="94A3B8"/>
                </a:solidFill>
                <a:latin typeface="PingFang SC"/>
              </a:rPr>
              <a:t>第2章 · 69/141</a:t>
            </a:r>
          </a:p>
        </p:txBody>
      </p:sp>
    </p:spTree>
  </p:cSld>
  <p:clrMapOvr>
    <a:masterClrMapping/>
  </p:clrMapOvr>
</p:sld>
</file>

<file path=ppt/slides/slide7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704850"/>
          </a:xfrm>
          <a:prstGeom prst="rect">
            <a:avLst/>
          </a:prstGeom>
          <a:solidFill>
            <a:srgbClr val="0B1D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76200" cy="704850"/>
          </a:xfrm>
          <a:prstGeom prst="rect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266700" y="0"/>
            <a:ext cx="10287000" cy="7048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2000" b="1">
                <a:solidFill>
                  <a:srgbClr val="FFFFFF"/>
                </a:solidFill>
                <a:latin typeface="PingFang SC"/>
              </a:rPr>
              <a:t>SQL 风险控制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334500" y="0"/>
            <a:ext cx="2667000" cy="7048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>
              <a:lnSpc>
                <a:spcPct val="100000"/>
              </a:lnSpc>
            </a:pPr>
            <a:r>
              <a:rPr sz="1100" b="0">
                <a:solidFill>
                  <a:srgbClr val="94A3B8"/>
                </a:solidFill>
                <a:latin typeface="PingFang SC"/>
              </a:rPr>
              <a:t>第2章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876300" y="914400"/>
            <a:ext cx="10439400" cy="10287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DDE5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876300" y="914400"/>
            <a:ext cx="57150" cy="1028700"/>
          </a:xfrm>
          <a:prstGeom prst="rect">
            <a:avLst/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ounded Rectangle 7"/>
          <p:cNvSpPr/>
          <p:nvPr/>
        </p:nvSpPr>
        <p:spPr>
          <a:xfrm>
            <a:off x="1047750" y="1285875"/>
            <a:ext cx="285750" cy="285750"/>
          </a:xfrm>
          <a:prstGeom prst="roundRect">
            <a:avLst>
              <a:gd name="adj" fmla="val 8000"/>
            </a:avLst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047750" y="1276350"/>
            <a:ext cx="285750" cy="2857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300" b="1">
                <a:solidFill>
                  <a:srgbClr val="FFFFFF"/>
                </a:solidFill>
                <a:latin typeface="PingFang SC"/>
              </a:rPr>
              <a:t>1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485900" y="914400"/>
            <a:ext cx="9601200" cy="10287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12000"/>
              </a:lnSpc>
            </a:pPr>
            <a:r>
              <a:rPr sz="1400" b="1">
                <a:solidFill>
                  <a:srgbClr val="475569"/>
                </a:solidFill>
                <a:latin typeface="PingFang SC"/>
              </a:rPr>
              <a:t>只读账号 + 表级权限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876300" y="2114550"/>
            <a:ext cx="10439400" cy="10287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DDE5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876300" y="2114550"/>
            <a:ext cx="57150" cy="1028700"/>
          </a:xfrm>
          <a:prstGeom prst="rect">
            <a:avLst/>
          </a:prstGeom>
          <a:solidFill>
            <a:srgbClr val="14B8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ounded Rectangle 12"/>
          <p:cNvSpPr/>
          <p:nvPr/>
        </p:nvSpPr>
        <p:spPr>
          <a:xfrm>
            <a:off x="1047750" y="2486025"/>
            <a:ext cx="285750" cy="285750"/>
          </a:xfrm>
          <a:prstGeom prst="roundRect">
            <a:avLst>
              <a:gd name="adj" fmla="val 8000"/>
            </a:avLst>
          </a:prstGeom>
          <a:solidFill>
            <a:srgbClr val="14B8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1047750" y="2476500"/>
            <a:ext cx="285750" cy="2857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300" b="1">
                <a:solidFill>
                  <a:srgbClr val="FFFFFF"/>
                </a:solidFill>
                <a:latin typeface="PingFang SC"/>
              </a:rPr>
              <a:t>2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485900" y="2114550"/>
            <a:ext cx="9601200" cy="10287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12000"/>
              </a:lnSpc>
            </a:pPr>
            <a:r>
              <a:rPr sz="1400" b="1">
                <a:solidFill>
                  <a:srgbClr val="475569"/>
                </a:solidFill>
                <a:latin typeface="PingFang SC"/>
              </a:rPr>
              <a:t>强制 LIMIT 与超时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876300" y="3314700"/>
            <a:ext cx="10439400" cy="10287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DDE5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876300" y="3314700"/>
            <a:ext cx="57150" cy="1028700"/>
          </a:xfrm>
          <a:prstGeom prst="rect">
            <a:avLst/>
          </a:prstGeom>
          <a:solidFill>
            <a:srgbClr val="8B5C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ounded Rectangle 17"/>
          <p:cNvSpPr/>
          <p:nvPr/>
        </p:nvSpPr>
        <p:spPr>
          <a:xfrm>
            <a:off x="1047750" y="3686175"/>
            <a:ext cx="285750" cy="285750"/>
          </a:xfrm>
          <a:prstGeom prst="roundRect">
            <a:avLst>
              <a:gd name="adj" fmla="val 8000"/>
            </a:avLst>
          </a:prstGeom>
          <a:solidFill>
            <a:srgbClr val="8B5C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1047750" y="3676650"/>
            <a:ext cx="285750" cy="2857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300" b="1">
                <a:solidFill>
                  <a:srgbClr val="FFFFFF"/>
                </a:solidFill>
                <a:latin typeface="PingFang SC"/>
              </a:rPr>
              <a:t>3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485900" y="3314700"/>
            <a:ext cx="9601200" cy="10287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12000"/>
              </a:lnSpc>
            </a:pPr>
            <a:r>
              <a:rPr sz="1400" b="1">
                <a:solidFill>
                  <a:srgbClr val="475569"/>
                </a:solidFill>
                <a:latin typeface="PingFang SC"/>
              </a:rPr>
              <a:t>禁止 DDL/DML 关键词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876300" y="4514850"/>
            <a:ext cx="10439400" cy="10287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DDE5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ectangle 21"/>
          <p:cNvSpPr/>
          <p:nvPr/>
        </p:nvSpPr>
        <p:spPr>
          <a:xfrm>
            <a:off x="876300" y="4514850"/>
            <a:ext cx="57150" cy="1028700"/>
          </a:xfrm>
          <a:prstGeom prst="rect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ounded Rectangle 22"/>
          <p:cNvSpPr/>
          <p:nvPr/>
        </p:nvSpPr>
        <p:spPr>
          <a:xfrm>
            <a:off x="1047750" y="4886325"/>
            <a:ext cx="285750" cy="285750"/>
          </a:xfrm>
          <a:prstGeom prst="roundRect">
            <a:avLst>
              <a:gd name="adj" fmla="val 8000"/>
            </a:avLst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1047750" y="4876800"/>
            <a:ext cx="285750" cy="2857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300" b="1">
                <a:solidFill>
                  <a:srgbClr val="FFFFFF"/>
                </a:solidFill>
                <a:latin typeface="PingFang SC"/>
              </a:rPr>
              <a:t>4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1485900" y="4514850"/>
            <a:ext cx="9601200" cy="10287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12000"/>
              </a:lnSpc>
            </a:pPr>
            <a:r>
              <a:rPr sz="1400" b="1">
                <a:solidFill>
                  <a:srgbClr val="475569"/>
                </a:solidFill>
                <a:latin typeface="PingFang SC"/>
              </a:rPr>
              <a:t>全部 SQL 进审计日志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10287000" y="6534150"/>
            <a:ext cx="1619250" cy="2667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>
              <a:lnSpc>
                <a:spcPct val="100000"/>
              </a:lnSpc>
            </a:pPr>
            <a:r>
              <a:rPr sz="900" b="0">
                <a:solidFill>
                  <a:srgbClr val="94A3B8"/>
                </a:solidFill>
                <a:latin typeface="PingFang SC"/>
              </a:rPr>
              <a:t>第2章 · 70/141</a:t>
            </a:r>
          </a:p>
        </p:txBody>
      </p:sp>
    </p:spTree>
  </p:cSld>
  <p:clrMapOvr>
    <a:masterClrMapping/>
  </p:clrMapOvr>
</p:sld>
</file>

<file path=ppt/slides/slide7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704850"/>
          </a:xfrm>
          <a:prstGeom prst="rect">
            <a:avLst/>
          </a:prstGeom>
          <a:solidFill>
            <a:srgbClr val="0B1D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76200" cy="704850"/>
          </a:xfrm>
          <a:prstGeom prst="rect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266700" y="0"/>
            <a:ext cx="10287000" cy="7048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2000" b="1">
                <a:solidFill>
                  <a:srgbClr val="FFFFFF"/>
                </a:solidFill>
                <a:latin typeface="PingFang SC"/>
              </a:rPr>
              <a:t>SQL 四道闸实测,只读账号: SELECT only;表级权限: business_ro 白名单;强制 LIMIT 1000 + 超时 3s;DDL/DML 关键词静态拦截;# 全部 SQL 进审计(哈希链防篡改);# NL2SQL 永远不直连生产写库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334500" y="0"/>
            <a:ext cx="2667000" cy="7048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>
              <a:lnSpc>
                <a:spcPct val="100000"/>
              </a:lnSpc>
            </a:pPr>
            <a:r>
              <a:rPr sz="1100" b="0">
                <a:solidFill>
                  <a:srgbClr val="94A3B8"/>
                </a:solidFill>
                <a:latin typeface="PingFang SC"/>
              </a:rPr>
              <a:t>风控栈配置实录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1333500" y="952500"/>
            <a:ext cx="9525000" cy="5048250"/>
          </a:xfrm>
          <a:prstGeom prst="roundRect">
            <a:avLst>
              <a:gd name="adj" fmla="val 8000"/>
            </a:avLst>
          </a:prstGeom>
          <a:solidFill>
            <a:srgbClr val="0D111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1333500" y="952500"/>
            <a:ext cx="9525000" cy="381000"/>
          </a:xfrm>
          <a:prstGeom prst="rect">
            <a:avLst/>
          </a:prstGeom>
          <a:solidFill>
            <a:srgbClr val="1F293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ounded Rectangle 7"/>
          <p:cNvSpPr/>
          <p:nvPr/>
        </p:nvSpPr>
        <p:spPr>
          <a:xfrm>
            <a:off x="1504950" y="1085850"/>
            <a:ext cx="123825" cy="123825"/>
          </a:xfrm>
          <a:prstGeom prst="roundRect">
            <a:avLst>
              <a:gd name="adj" fmla="val 8000"/>
            </a:avLst>
          </a:prstGeom>
          <a:solidFill>
            <a:srgbClr val="F8717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ounded Rectangle 8"/>
          <p:cNvSpPr/>
          <p:nvPr/>
        </p:nvSpPr>
        <p:spPr>
          <a:xfrm>
            <a:off x="1752600" y="1085850"/>
            <a:ext cx="123825" cy="123825"/>
          </a:xfrm>
          <a:prstGeom prst="roundRect">
            <a:avLst>
              <a:gd name="adj" fmla="val 8000"/>
            </a:avLst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ounded Rectangle 9"/>
          <p:cNvSpPr/>
          <p:nvPr/>
        </p:nvSpPr>
        <p:spPr>
          <a:xfrm>
            <a:off x="2000250" y="1085850"/>
            <a:ext cx="123825" cy="123825"/>
          </a:xfrm>
          <a:prstGeom prst="roundRect">
            <a:avLst>
              <a:gd name="adj" fmla="val 8000"/>
            </a:avLst>
          </a:prstGeom>
          <a:solidFill>
            <a:srgbClr val="34D39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2381250" y="952500"/>
            <a:ext cx="8286750" cy="381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1100" b="0">
                <a:solidFill>
                  <a:srgbClr val="94A3B8"/>
                </a:solidFill>
                <a:latin typeface="PingFang SC"/>
              </a:rPr>
              <a:t>terminal — 平台实测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562100" y="1485900"/>
            <a:ext cx="9067800" cy="43815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</a:pPr>
            <a:r>
              <a:rPr sz="1300">
                <a:solidFill>
                  <a:srgbClr val="CBD5E1"/>
                </a:solidFill>
                <a:latin typeface="Menlo"/>
              </a:rPr>
              <a:t>风控栈配置实录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0287000" y="6534150"/>
            <a:ext cx="1619250" cy="2667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>
              <a:lnSpc>
                <a:spcPct val="100000"/>
              </a:lnSpc>
            </a:pPr>
            <a:r>
              <a:rPr sz="900" b="0">
                <a:solidFill>
                  <a:srgbClr val="94A3B8"/>
                </a:solidFill>
                <a:latin typeface="PingFang SC"/>
              </a:rPr>
              <a:t>第2章 · 71/141</a:t>
            </a:r>
          </a:p>
        </p:txBody>
      </p:sp>
    </p:spTree>
  </p:cSld>
  <p:clrMapOvr>
    <a:masterClrMapping/>
  </p:clrMapOvr>
</p:sld>
</file>

<file path=ppt/slides/slide7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704850"/>
          </a:xfrm>
          <a:prstGeom prst="rect">
            <a:avLst/>
          </a:prstGeom>
          <a:solidFill>
            <a:srgbClr val="0B1D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76200" cy="704850"/>
          </a:xfrm>
          <a:prstGeom prst="rect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266700" y="0"/>
            <a:ext cx="10287000" cy="7048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2000" b="1">
                <a:solidFill>
                  <a:srgbClr val="FFFFFF"/>
                </a:solidFill>
                <a:latin typeface="PingFang SC"/>
              </a:rPr>
              <a:t>Shell 风险控制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334500" y="0"/>
            <a:ext cx="2667000" cy="7048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>
              <a:lnSpc>
                <a:spcPct val="100000"/>
              </a:lnSpc>
            </a:pPr>
            <a:r>
              <a:rPr sz="1100" b="0">
                <a:solidFill>
                  <a:srgbClr val="94A3B8"/>
                </a:solidFill>
                <a:latin typeface="PingFang SC"/>
              </a:rPr>
              <a:t>第2章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876300" y="914400"/>
            <a:ext cx="10439400" cy="10287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DDE5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876300" y="914400"/>
            <a:ext cx="57150" cy="1028700"/>
          </a:xfrm>
          <a:prstGeom prst="rect">
            <a:avLst/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ounded Rectangle 7"/>
          <p:cNvSpPr/>
          <p:nvPr/>
        </p:nvSpPr>
        <p:spPr>
          <a:xfrm>
            <a:off x="1047750" y="1285875"/>
            <a:ext cx="285750" cy="285750"/>
          </a:xfrm>
          <a:prstGeom prst="roundRect">
            <a:avLst>
              <a:gd name="adj" fmla="val 8000"/>
            </a:avLst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047750" y="1276350"/>
            <a:ext cx="285750" cy="2857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300" b="1">
                <a:solidFill>
                  <a:srgbClr val="FFFFFF"/>
                </a:solidFill>
                <a:latin typeface="PingFang SC"/>
              </a:rPr>
              <a:t>1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485900" y="914400"/>
            <a:ext cx="9601200" cy="10287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12000"/>
              </a:lnSpc>
            </a:pPr>
            <a:r>
              <a:rPr sz="1400" b="1">
                <a:solidFill>
                  <a:srgbClr val="475569"/>
                </a:solidFill>
                <a:latin typeface="PingFang SC"/>
              </a:rPr>
              <a:t>命令白名单机制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876300" y="2114550"/>
            <a:ext cx="10439400" cy="10287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DDE5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876300" y="2114550"/>
            <a:ext cx="57150" cy="1028700"/>
          </a:xfrm>
          <a:prstGeom prst="rect">
            <a:avLst/>
          </a:prstGeom>
          <a:solidFill>
            <a:srgbClr val="14B8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ounded Rectangle 12"/>
          <p:cNvSpPr/>
          <p:nvPr/>
        </p:nvSpPr>
        <p:spPr>
          <a:xfrm>
            <a:off x="1047750" y="2486025"/>
            <a:ext cx="285750" cy="285750"/>
          </a:xfrm>
          <a:prstGeom prst="roundRect">
            <a:avLst>
              <a:gd name="adj" fmla="val 8000"/>
            </a:avLst>
          </a:prstGeom>
          <a:solidFill>
            <a:srgbClr val="14B8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1047750" y="2476500"/>
            <a:ext cx="285750" cy="2857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300" b="1">
                <a:solidFill>
                  <a:srgbClr val="FFFFFF"/>
                </a:solidFill>
                <a:latin typeface="PingFang SC"/>
              </a:rPr>
              <a:t>2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485900" y="2114550"/>
            <a:ext cx="9601200" cy="10287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12000"/>
              </a:lnSpc>
            </a:pPr>
            <a:r>
              <a:rPr sz="1400" b="1">
                <a:solidFill>
                  <a:srgbClr val="475569"/>
                </a:solidFill>
                <a:latin typeface="PingFang SC"/>
              </a:rPr>
              <a:t>禁用 sudo/dd/shutdown 等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876300" y="3314700"/>
            <a:ext cx="10439400" cy="10287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DDE5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876300" y="3314700"/>
            <a:ext cx="57150" cy="1028700"/>
          </a:xfrm>
          <a:prstGeom prst="rect">
            <a:avLst/>
          </a:prstGeom>
          <a:solidFill>
            <a:srgbClr val="8B5C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ounded Rectangle 17"/>
          <p:cNvSpPr/>
          <p:nvPr/>
        </p:nvSpPr>
        <p:spPr>
          <a:xfrm>
            <a:off x="1047750" y="3686175"/>
            <a:ext cx="285750" cy="285750"/>
          </a:xfrm>
          <a:prstGeom prst="roundRect">
            <a:avLst>
              <a:gd name="adj" fmla="val 8000"/>
            </a:avLst>
          </a:prstGeom>
          <a:solidFill>
            <a:srgbClr val="8B5C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1047750" y="3676650"/>
            <a:ext cx="285750" cy="2857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300" b="1">
                <a:solidFill>
                  <a:srgbClr val="FFFFFF"/>
                </a:solidFill>
                <a:latin typeface="PingFang SC"/>
              </a:rPr>
              <a:t>3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485900" y="3314700"/>
            <a:ext cx="9601200" cy="10287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12000"/>
              </a:lnSpc>
            </a:pPr>
            <a:r>
              <a:rPr sz="1400" b="1">
                <a:solidFill>
                  <a:srgbClr val="475569"/>
                </a:solidFill>
                <a:latin typeface="PingFang SC"/>
              </a:rPr>
              <a:t>危险模式硬拦截(rm -rf 变体)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876300" y="6019800"/>
            <a:ext cx="10439400" cy="514350"/>
          </a:xfrm>
          <a:prstGeom prst="roundRect">
            <a:avLst>
              <a:gd name="adj" fmla="val 8000"/>
            </a:avLst>
          </a:prstGeom>
          <a:solidFill>
            <a:srgbClr val="F1F5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1066800" y="6019800"/>
            <a:ext cx="10058400" cy="5524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1250" b="0">
                <a:solidFill>
                  <a:srgbClr val="2563EB"/>
                </a:solidFill>
                <a:latin typeface="PingFang SC"/>
              </a:rPr>
              <a:t>▶ 第3章 Sandbox 详细展开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0287000" y="6534150"/>
            <a:ext cx="1619250" cy="2667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>
              <a:lnSpc>
                <a:spcPct val="100000"/>
              </a:lnSpc>
            </a:pPr>
            <a:r>
              <a:rPr sz="900" b="0">
                <a:solidFill>
                  <a:srgbClr val="94A3B8"/>
                </a:solidFill>
                <a:latin typeface="PingFang SC"/>
              </a:rPr>
              <a:t>第2章 · 72/141</a:t>
            </a:r>
          </a:p>
        </p:txBody>
      </p:sp>
    </p:spTree>
  </p:cSld>
  <p:clrMapOvr>
    <a:masterClrMapping/>
  </p:clrMapOvr>
</p:sld>
</file>

<file path=ppt/slides/slide7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704850"/>
          </a:xfrm>
          <a:prstGeom prst="rect">
            <a:avLst/>
          </a:prstGeom>
          <a:solidFill>
            <a:srgbClr val="0B1D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76200" cy="704850"/>
          </a:xfrm>
          <a:prstGeom prst="rect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266700" y="0"/>
            <a:ext cx="10287000" cy="7048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2000" b="1">
                <a:solidFill>
                  <a:srgbClr val="FFFFFF"/>
                </a:solidFill>
                <a:latin typeface="PingFang SC"/>
              </a:rPr>
              <a:t>人工确认机制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334500" y="0"/>
            <a:ext cx="2667000" cy="7048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>
              <a:lnSpc>
                <a:spcPct val="100000"/>
              </a:lnSpc>
            </a:pPr>
            <a:r>
              <a:rPr sz="1100" b="0">
                <a:solidFill>
                  <a:srgbClr val="94A3B8"/>
                </a:solidFill>
                <a:latin typeface="PingFang SC"/>
              </a:rPr>
              <a:t>第2章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876300" y="914400"/>
            <a:ext cx="10439400" cy="10287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DDE5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876300" y="914400"/>
            <a:ext cx="57150" cy="1028700"/>
          </a:xfrm>
          <a:prstGeom prst="rect">
            <a:avLst/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ounded Rectangle 7"/>
          <p:cNvSpPr/>
          <p:nvPr/>
        </p:nvSpPr>
        <p:spPr>
          <a:xfrm>
            <a:off x="1047750" y="1285875"/>
            <a:ext cx="285750" cy="285750"/>
          </a:xfrm>
          <a:prstGeom prst="roundRect">
            <a:avLst>
              <a:gd name="adj" fmla="val 8000"/>
            </a:avLst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047750" y="1276350"/>
            <a:ext cx="285750" cy="2857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300" b="1">
                <a:solidFill>
                  <a:srgbClr val="FFFFFF"/>
                </a:solidFill>
                <a:latin typeface="PingFang SC"/>
              </a:rPr>
              <a:t>1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485900" y="914400"/>
            <a:ext cx="9601200" cy="10287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12000"/>
              </a:lnSpc>
            </a:pPr>
            <a:r>
              <a:rPr sz="1400" b="1">
                <a:solidFill>
                  <a:srgbClr val="475569"/>
                </a:solidFill>
                <a:latin typeface="PingFang SC"/>
              </a:rPr>
              <a:t>waiting_approval 状态挂起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876300" y="2114550"/>
            <a:ext cx="10439400" cy="10287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DDE5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876300" y="2114550"/>
            <a:ext cx="57150" cy="1028700"/>
          </a:xfrm>
          <a:prstGeom prst="rect">
            <a:avLst/>
          </a:prstGeom>
          <a:solidFill>
            <a:srgbClr val="14B8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ounded Rectangle 12"/>
          <p:cNvSpPr/>
          <p:nvPr/>
        </p:nvSpPr>
        <p:spPr>
          <a:xfrm>
            <a:off x="1047750" y="2486025"/>
            <a:ext cx="285750" cy="285750"/>
          </a:xfrm>
          <a:prstGeom prst="roundRect">
            <a:avLst>
              <a:gd name="adj" fmla="val 8000"/>
            </a:avLst>
          </a:prstGeom>
          <a:solidFill>
            <a:srgbClr val="14B8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1047750" y="2476500"/>
            <a:ext cx="285750" cy="2857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300" b="1">
                <a:solidFill>
                  <a:srgbClr val="FFFFFF"/>
                </a:solidFill>
                <a:latin typeface="PingFang SC"/>
              </a:rPr>
              <a:t>2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485900" y="2114550"/>
            <a:ext cx="9601200" cy="10287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12000"/>
              </a:lnSpc>
            </a:pPr>
            <a:r>
              <a:rPr sz="1400" b="1">
                <a:solidFill>
                  <a:srgbClr val="475569"/>
                </a:solidFill>
                <a:latin typeface="PingFang SC"/>
              </a:rPr>
              <a:t>确认内容:做什么/影响什么/代价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876300" y="3314700"/>
            <a:ext cx="10439400" cy="10287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DDE5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876300" y="3314700"/>
            <a:ext cx="57150" cy="1028700"/>
          </a:xfrm>
          <a:prstGeom prst="rect">
            <a:avLst/>
          </a:prstGeom>
          <a:solidFill>
            <a:srgbClr val="8B5C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ounded Rectangle 17"/>
          <p:cNvSpPr/>
          <p:nvPr/>
        </p:nvSpPr>
        <p:spPr>
          <a:xfrm>
            <a:off x="1047750" y="3686175"/>
            <a:ext cx="285750" cy="285750"/>
          </a:xfrm>
          <a:prstGeom prst="roundRect">
            <a:avLst>
              <a:gd name="adj" fmla="val 8000"/>
            </a:avLst>
          </a:prstGeom>
          <a:solidFill>
            <a:srgbClr val="8B5C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1047750" y="3676650"/>
            <a:ext cx="285750" cy="2857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300" b="1">
                <a:solidFill>
                  <a:srgbClr val="FFFFFF"/>
                </a:solidFill>
                <a:latin typeface="PingFang SC"/>
              </a:rPr>
              <a:t>3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485900" y="3314700"/>
            <a:ext cx="9601200" cy="10287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12000"/>
              </a:lnSpc>
            </a:pPr>
            <a:r>
              <a:rPr sz="1400" b="1">
                <a:solidFill>
                  <a:srgbClr val="475569"/>
                </a:solidFill>
                <a:latin typeface="PingFang SC"/>
              </a:rPr>
              <a:t>确认记录进审计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876300" y="6019800"/>
            <a:ext cx="10439400" cy="514350"/>
          </a:xfrm>
          <a:prstGeom prst="roundRect">
            <a:avLst>
              <a:gd name="adj" fmla="val 8000"/>
            </a:avLst>
          </a:prstGeom>
          <a:solidFill>
            <a:srgbClr val="F1F5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1066800" y="6019800"/>
            <a:ext cx="10058400" cy="5524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1250" b="0">
                <a:solidFill>
                  <a:srgbClr val="2563EB"/>
                </a:solidFill>
                <a:latin typeface="PingFang SC"/>
              </a:rPr>
              <a:t>▶ 第3章状态机原生支持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0287000" y="6534150"/>
            <a:ext cx="1619250" cy="2667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>
              <a:lnSpc>
                <a:spcPct val="100000"/>
              </a:lnSpc>
            </a:pPr>
            <a:r>
              <a:rPr sz="900" b="0">
                <a:solidFill>
                  <a:srgbClr val="94A3B8"/>
                </a:solidFill>
                <a:latin typeface="PingFang SC"/>
              </a:rPr>
              <a:t>第2章 · 73/141</a:t>
            </a:r>
          </a:p>
        </p:txBody>
      </p:sp>
    </p:spTree>
  </p:cSld>
  <p:clrMapOvr>
    <a:masterClrMapping/>
  </p:clrMapOvr>
</p:sld>
</file>

<file path=ppt/slides/slide7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704850"/>
          </a:xfrm>
          <a:prstGeom prst="rect">
            <a:avLst/>
          </a:prstGeom>
          <a:solidFill>
            <a:srgbClr val="0B1D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76200" cy="704850"/>
          </a:xfrm>
          <a:prstGeom prst="rect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266700" y="0"/>
            <a:ext cx="10287000" cy="7048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2000" b="1">
                <a:solidFill>
                  <a:srgbClr val="FFFFFF"/>
                </a:solidFill>
                <a:latin typeface="PingFang SC"/>
              </a:rPr>
              <a:t>HITL 确认时序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381000" y="990600"/>
            <a:ext cx="1905000" cy="400050"/>
          </a:xfrm>
          <a:prstGeom prst="roundRect">
            <a:avLst>
              <a:gd name="adj" fmla="val 8000"/>
            </a:avLst>
          </a:prstGeom>
          <a:solidFill>
            <a:srgbClr val="142A4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381000" y="990600"/>
            <a:ext cx="1905000" cy="4000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200" b="1">
                <a:solidFill>
                  <a:srgbClr val="FFFFFF"/>
                </a:solidFill>
                <a:latin typeface="PingFang SC"/>
              </a:rPr>
              <a:t>Agent</a:t>
            </a:r>
          </a:p>
        </p:txBody>
      </p:sp>
      <p:cxnSp>
        <p:nvCxnSpPr>
          <p:cNvPr id="7" name="Connector 6"/>
          <p:cNvCxnSpPr/>
          <p:nvPr/>
        </p:nvCxnSpPr>
        <p:spPr>
          <a:xfrm>
            <a:off x="1333500" y="1428750"/>
            <a:ext cx="0" cy="4381500"/>
          </a:xfrm>
          <a:prstGeom prst="line">
            <a:avLst/>
          </a:prstGeom>
          <a:ln w="12700">
            <a:solidFill>
              <a:srgbClr val="DDE5EE"/>
            </a:solidFill>
            <a:prstDash val="dash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8" name="Rounded Rectangle 7"/>
          <p:cNvSpPr/>
          <p:nvPr/>
        </p:nvSpPr>
        <p:spPr>
          <a:xfrm>
            <a:off x="3556000" y="990600"/>
            <a:ext cx="1905000" cy="400050"/>
          </a:xfrm>
          <a:prstGeom prst="roundRect">
            <a:avLst>
              <a:gd name="adj" fmla="val 8000"/>
            </a:avLst>
          </a:prstGeom>
          <a:solidFill>
            <a:srgbClr val="142A4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3556000" y="990600"/>
            <a:ext cx="1905000" cy="4000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200" b="1">
                <a:solidFill>
                  <a:srgbClr val="FFFFFF"/>
                </a:solidFill>
                <a:latin typeface="PingFang SC"/>
              </a:rPr>
              <a:t>状态机</a:t>
            </a:r>
          </a:p>
        </p:txBody>
      </p:sp>
      <p:cxnSp>
        <p:nvCxnSpPr>
          <p:cNvPr id="10" name="Connector 9"/>
          <p:cNvCxnSpPr/>
          <p:nvPr/>
        </p:nvCxnSpPr>
        <p:spPr>
          <a:xfrm>
            <a:off x="4508500" y="1428750"/>
            <a:ext cx="0" cy="4381500"/>
          </a:xfrm>
          <a:prstGeom prst="line">
            <a:avLst/>
          </a:prstGeom>
          <a:ln w="12700">
            <a:solidFill>
              <a:srgbClr val="DDE5EE"/>
            </a:solidFill>
            <a:prstDash val="dash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1" name="Rounded Rectangle 10"/>
          <p:cNvSpPr/>
          <p:nvPr/>
        </p:nvSpPr>
        <p:spPr>
          <a:xfrm>
            <a:off x="6731000" y="990600"/>
            <a:ext cx="1905000" cy="400050"/>
          </a:xfrm>
          <a:prstGeom prst="roundRect">
            <a:avLst>
              <a:gd name="adj" fmla="val 8000"/>
            </a:avLst>
          </a:prstGeom>
          <a:solidFill>
            <a:srgbClr val="142A4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731000" y="990600"/>
            <a:ext cx="1905000" cy="4000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200" b="1">
                <a:solidFill>
                  <a:srgbClr val="FFFFFF"/>
                </a:solidFill>
                <a:latin typeface="PingFang SC"/>
              </a:rPr>
              <a:t>人工</a:t>
            </a:r>
          </a:p>
        </p:txBody>
      </p:sp>
      <p:cxnSp>
        <p:nvCxnSpPr>
          <p:cNvPr id="13" name="Connector 12"/>
          <p:cNvCxnSpPr/>
          <p:nvPr/>
        </p:nvCxnSpPr>
        <p:spPr>
          <a:xfrm>
            <a:off x="7683500" y="1428750"/>
            <a:ext cx="0" cy="4381500"/>
          </a:xfrm>
          <a:prstGeom prst="line">
            <a:avLst/>
          </a:prstGeom>
          <a:ln w="12700">
            <a:solidFill>
              <a:srgbClr val="DDE5EE"/>
            </a:solidFill>
            <a:prstDash val="dash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4" name="Rounded Rectangle 13"/>
          <p:cNvSpPr/>
          <p:nvPr/>
        </p:nvSpPr>
        <p:spPr>
          <a:xfrm>
            <a:off x="9906000" y="990600"/>
            <a:ext cx="1905000" cy="400050"/>
          </a:xfrm>
          <a:prstGeom prst="roundRect">
            <a:avLst>
              <a:gd name="adj" fmla="val 8000"/>
            </a:avLst>
          </a:prstGeom>
          <a:solidFill>
            <a:srgbClr val="142A4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9906000" y="990600"/>
            <a:ext cx="1905000" cy="4000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200" b="1">
                <a:solidFill>
                  <a:srgbClr val="FFFFFF"/>
                </a:solidFill>
                <a:latin typeface="PingFang SC"/>
              </a:rPr>
              <a:t>工具</a:t>
            </a:r>
          </a:p>
        </p:txBody>
      </p:sp>
      <p:cxnSp>
        <p:nvCxnSpPr>
          <p:cNvPr id="16" name="Connector 15"/>
          <p:cNvCxnSpPr/>
          <p:nvPr/>
        </p:nvCxnSpPr>
        <p:spPr>
          <a:xfrm>
            <a:off x="10858500" y="1428750"/>
            <a:ext cx="0" cy="4381500"/>
          </a:xfrm>
          <a:prstGeom prst="line">
            <a:avLst/>
          </a:prstGeom>
          <a:ln w="12700">
            <a:solidFill>
              <a:srgbClr val="DDE5EE"/>
            </a:solidFill>
            <a:prstDash val="dash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7" name="Connector 16"/>
          <p:cNvCxnSpPr/>
          <p:nvPr/>
        </p:nvCxnSpPr>
        <p:spPr>
          <a:xfrm>
            <a:off x="1333500" y="1809750"/>
            <a:ext cx="3175000" cy="0"/>
          </a:xfrm>
          <a:prstGeom prst="line">
            <a:avLst/>
          </a:prstGeom>
          <a:ln w="20320">
            <a:solidFill>
              <a:srgbClr val="2563E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8" name="Isosceles Triangle 17"/>
          <p:cNvSpPr/>
          <p:nvPr/>
        </p:nvSpPr>
        <p:spPr>
          <a:xfrm rot="5400000">
            <a:off x="4422776" y="1766888"/>
            <a:ext cx="85725" cy="85725"/>
          </a:xfrm>
          <a:prstGeom prst="triangle">
            <a:avLst/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1397000" y="1524000"/>
            <a:ext cx="3048000" cy="2286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000" b="0">
                <a:solidFill>
                  <a:srgbClr val="2563EB"/>
                </a:solidFill>
                <a:latin typeface="PingFang SC"/>
              </a:rPr>
              <a:t>1. 遇 DANGEROUS</a:t>
            </a:r>
          </a:p>
        </p:txBody>
      </p:sp>
      <p:cxnSp>
        <p:nvCxnSpPr>
          <p:cNvPr id="20" name="Connector 19"/>
          <p:cNvCxnSpPr/>
          <p:nvPr/>
        </p:nvCxnSpPr>
        <p:spPr>
          <a:xfrm>
            <a:off x="4508500" y="2492375"/>
            <a:ext cx="3175000" cy="0"/>
          </a:xfrm>
          <a:prstGeom prst="line">
            <a:avLst/>
          </a:prstGeom>
          <a:ln w="20320">
            <a:solidFill>
              <a:srgbClr val="2563E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1" name="Isosceles Triangle 20"/>
          <p:cNvSpPr/>
          <p:nvPr/>
        </p:nvSpPr>
        <p:spPr>
          <a:xfrm rot="5400000">
            <a:off x="7597776" y="2449513"/>
            <a:ext cx="85725" cy="85725"/>
          </a:xfrm>
          <a:prstGeom prst="triangle">
            <a:avLst/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4572000" y="2206625"/>
            <a:ext cx="3048000" cy="2286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000" b="0">
                <a:solidFill>
                  <a:srgbClr val="2563EB"/>
                </a:solidFill>
                <a:latin typeface="PingFang SC"/>
              </a:rPr>
              <a:t>2. waiting_approval+说明</a:t>
            </a:r>
          </a:p>
        </p:txBody>
      </p:sp>
      <p:cxnSp>
        <p:nvCxnSpPr>
          <p:cNvPr id="23" name="Connector 22"/>
          <p:cNvCxnSpPr/>
          <p:nvPr/>
        </p:nvCxnSpPr>
        <p:spPr>
          <a:xfrm flipH="1">
            <a:off x="4508500" y="3175000"/>
            <a:ext cx="3175000" cy="0"/>
          </a:xfrm>
          <a:prstGeom prst="line">
            <a:avLst/>
          </a:prstGeom>
          <a:ln w="20320">
            <a:solidFill>
              <a:srgbClr val="F59E0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4" name="Isosceles Triangle 23"/>
          <p:cNvSpPr/>
          <p:nvPr/>
        </p:nvSpPr>
        <p:spPr>
          <a:xfrm rot="16200000">
            <a:off x="4508500" y="3132138"/>
            <a:ext cx="85725" cy="85725"/>
          </a:xfrm>
          <a:prstGeom prst="triangle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4572000" y="2889250"/>
            <a:ext cx="3048000" cy="2286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000" b="0">
                <a:solidFill>
                  <a:srgbClr val="F59E0B"/>
                </a:solidFill>
                <a:latin typeface="PingFang SC"/>
              </a:rPr>
              <a:t>3. approved(confirmed=True)</a:t>
            </a:r>
          </a:p>
        </p:txBody>
      </p:sp>
      <p:cxnSp>
        <p:nvCxnSpPr>
          <p:cNvPr id="26" name="Connector 25"/>
          <p:cNvCxnSpPr/>
          <p:nvPr/>
        </p:nvCxnSpPr>
        <p:spPr>
          <a:xfrm>
            <a:off x="4508500" y="3857625"/>
            <a:ext cx="6350000" cy="0"/>
          </a:xfrm>
          <a:prstGeom prst="line">
            <a:avLst/>
          </a:prstGeom>
          <a:ln w="20320">
            <a:solidFill>
              <a:srgbClr val="2563E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7" name="Isosceles Triangle 26"/>
          <p:cNvSpPr/>
          <p:nvPr/>
        </p:nvSpPr>
        <p:spPr>
          <a:xfrm rot="5400000">
            <a:off x="10772776" y="3814763"/>
            <a:ext cx="85725" cy="85725"/>
          </a:xfrm>
          <a:prstGeom prst="triangle">
            <a:avLst/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6159500" y="3571875"/>
            <a:ext cx="3048000" cy="2286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000" b="0">
                <a:solidFill>
                  <a:srgbClr val="2563EB"/>
                </a:solidFill>
                <a:latin typeface="PingFang SC"/>
              </a:rPr>
              <a:t>4. 放行执行</a:t>
            </a:r>
          </a:p>
        </p:txBody>
      </p:sp>
      <p:cxnSp>
        <p:nvCxnSpPr>
          <p:cNvPr id="29" name="Connector 28"/>
          <p:cNvCxnSpPr/>
          <p:nvPr/>
        </p:nvCxnSpPr>
        <p:spPr>
          <a:xfrm flipH="1">
            <a:off x="4508500" y="4540250"/>
            <a:ext cx="3175000" cy="0"/>
          </a:xfrm>
          <a:prstGeom prst="line">
            <a:avLst/>
          </a:prstGeom>
          <a:ln w="20320">
            <a:solidFill>
              <a:srgbClr val="F59E0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0" name="Isosceles Triangle 29"/>
          <p:cNvSpPr/>
          <p:nvPr/>
        </p:nvSpPr>
        <p:spPr>
          <a:xfrm rot="16200000">
            <a:off x="4508500" y="4497388"/>
            <a:ext cx="85725" cy="85725"/>
          </a:xfrm>
          <a:prstGeom prst="triangle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4572000" y="4254500"/>
            <a:ext cx="3048000" cy="2286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000" b="0">
                <a:solidFill>
                  <a:srgbClr val="F59E0B"/>
                </a:solidFill>
                <a:latin typeface="PingFang SC"/>
              </a:rPr>
              <a:t>5. rejected(默认)</a:t>
            </a:r>
          </a:p>
        </p:txBody>
      </p:sp>
      <p:cxnSp>
        <p:nvCxnSpPr>
          <p:cNvPr id="32" name="Connector 31"/>
          <p:cNvCxnSpPr/>
          <p:nvPr/>
        </p:nvCxnSpPr>
        <p:spPr>
          <a:xfrm flipH="1">
            <a:off x="1333500" y="5222875"/>
            <a:ext cx="3175000" cy="0"/>
          </a:xfrm>
          <a:prstGeom prst="line">
            <a:avLst/>
          </a:prstGeom>
          <a:ln w="20320">
            <a:solidFill>
              <a:srgbClr val="F59E0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3" name="Isosceles Triangle 32"/>
          <p:cNvSpPr/>
          <p:nvPr/>
        </p:nvSpPr>
        <p:spPr>
          <a:xfrm rot="16200000">
            <a:off x="1333500" y="5180013"/>
            <a:ext cx="85725" cy="85725"/>
          </a:xfrm>
          <a:prstGeom prst="triangle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1397000" y="4937125"/>
            <a:ext cx="3048000" cy="2286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000" b="0">
                <a:solidFill>
                  <a:srgbClr val="F59E0B"/>
                </a:solidFill>
                <a:latin typeface="PingFang SC"/>
              </a:rPr>
              <a:t>6. 取消分支|确认记录进审计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10287000" y="6534150"/>
            <a:ext cx="1619250" cy="2667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>
              <a:lnSpc>
                <a:spcPct val="100000"/>
              </a:lnSpc>
            </a:pPr>
            <a:r>
              <a:rPr sz="900" b="0">
                <a:solidFill>
                  <a:srgbClr val="94A3B8"/>
                </a:solidFill>
                <a:latin typeface="PingFang SC"/>
              </a:rPr>
              <a:t>第2章 · 74/141</a:t>
            </a:r>
          </a:p>
        </p:txBody>
      </p:sp>
    </p:spTree>
  </p:cSld>
  <p:clrMapOvr>
    <a:masterClrMapping/>
  </p:clrMapOvr>
</p:sld>
</file>

<file path=ppt/slides/slide7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704850"/>
          </a:xfrm>
          <a:prstGeom prst="rect">
            <a:avLst/>
          </a:prstGeom>
          <a:solidFill>
            <a:srgbClr val="0B1D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76200" cy="704850"/>
          </a:xfrm>
          <a:prstGeom prst="rect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266700" y="0"/>
            <a:ext cx="10287000" cy="7048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2000" b="1">
                <a:solidFill>
                  <a:srgbClr val="FFFFFF"/>
                </a:solidFill>
                <a:latin typeface="PingFang SC"/>
              </a:rPr>
              <a:t>调用队列与依赖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334500" y="0"/>
            <a:ext cx="2667000" cy="7048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>
              <a:lnSpc>
                <a:spcPct val="100000"/>
              </a:lnSpc>
            </a:pPr>
            <a:r>
              <a:rPr sz="1100" b="0">
                <a:solidFill>
                  <a:srgbClr val="94A3B8"/>
                </a:solidFill>
                <a:latin typeface="PingFang SC"/>
              </a:rPr>
              <a:t>第2章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876300" y="914400"/>
            <a:ext cx="10439400" cy="10287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DDE5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876300" y="914400"/>
            <a:ext cx="57150" cy="1028700"/>
          </a:xfrm>
          <a:prstGeom prst="rect">
            <a:avLst/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ounded Rectangle 7"/>
          <p:cNvSpPr/>
          <p:nvPr/>
        </p:nvSpPr>
        <p:spPr>
          <a:xfrm>
            <a:off x="1047750" y="1285875"/>
            <a:ext cx="285750" cy="285750"/>
          </a:xfrm>
          <a:prstGeom prst="roundRect">
            <a:avLst>
              <a:gd name="adj" fmla="val 8000"/>
            </a:avLst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047750" y="1276350"/>
            <a:ext cx="285750" cy="2857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300" b="1">
                <a:solidFill>
                  <a:srgbClr val="FFFFFF"/>
                </a:solidFill>
                <a:latin typeface="PingFang SC"/>
              </a:rPr>
              <a:t>1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485900" y="914400"/>
            <a:ext cx="9601200" cy="10287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12000"/>
              </a:lnSpc>
            </a:pPr>
            <a:r>
              <a:rPr sz="1400" b="1">
                <a:solidFill>
                  <a:srgbClr val="475569"/>
                </a:solidFill>
                <a:latin typeface="PingFang SC"/>
              </a:rPr>
              <a:t>多工具调用:顺序/依赖管理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876300" y="2114550"/>
            <a:ext cx="10439400" cy="10287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DDE5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876300" y="2114550"/>
            <a:ext cx="57150" cy="1028700"/>
          </a:xfrm>
          <a:prstGeom prst="rect">
            <a:avLst/>
          </a:prstGeom>
          <a:solidFill>
            <a:srgbClr val="14B8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ounded Rectangle 12"/>
          <p:cNvSpPr/>
          <p:nvPr/>
        </p:nvSpPr>
        <p:spPr>
          <a:xfrm>
            <a:off x="1047750" y="2486025"/>
            <a:ext cx="285750" cy="285750"/>
          </a:xfrm>
          <a:prstGeom prst="roundRect">
            <a:avLst>
              <a:gd name="adj" fmla="val 8000"/>
            </a:avLst>
          </a:prstGeom>
          <a:solidFill>
            <a:srgbClr val="14B8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1047750" y="2476500"/>
            <a:ext cx="285750" cy="2857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300" b="1">
                <a:solidFill>
                  <a:srgbClr val="FFFFFF"/>
                </a:solidFill>
                <a:latin typeface="PingFang SC"/>
              </a:rPr>
              <a:t>2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485900" y="2114550"/>
            <a:ext cx="9601200" cy="10287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12000"/>
              </a:lnSpc>
            </a:pPr>
            <a:r>
              <a:rPr sz="1400" b="1">
                <a:solidFill>
                  <a:srgbClr val="475569"/>
                </a:solidFill>
                <a:latin typeface="PingFang SC"/>
              </a:rPr>
              <a:t>有依赖按拓扑序执行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876300" y="3314700"/>
            <a:ext cx="10439400" cy="10287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DDE5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876300" y="3314700"/>
            <a:ext cx="57150" cy="1028700"/>
          </a:xfrm>
          <a:prstGeom prst="rect">
            <a:avLst/>
          </a:prstGeom>
          <a:solidFill>
            <a:srgbClr val="8B5C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ounded Rectangle 17"/>
          <p:cNvSpPr/>
          <p:nvPr/>
        </p:nvSpPr>
        <p:spPr>
          <a:xfrm>
            <a:off x="1047750" y="3686175"/>
            <a:ext cx="285750" cy="285750"/>
          </a:xfrm>
          <a:prstGeom prst="roundRect">
            <a:avLst>
              <a:gd name="adj" fmla="val 8000"/>
            </a:avLst>
          </a:prstGeom>
          <a:solidFill>
            <a:srgbClr val="8B5C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1047750" y="3676650"/>
            <a:ext cx="285750" cy="2857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300" b="1">
                <a:solidFill>
                  <a:srgbClr val="FFFFFF"/>
                </a:solidFill>
                <a:latin typeface="PingFang SC"/>
              </a:rPr>
              <a:t>3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485900" y="3314700"/>
            <a:ext cx="9601200" cy="10287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12000"/>
              </a:lnSpc>
            </a:pPr>
            <a:r>
              <a:rPr sz="1400" b="1">
                <a:solidFill>
                  <a:srgbClr val="475569"/>
                </a:solidFill>
                <a:latin typeface="PingFang SC"/>
              </a:rPr>
              <a:t>失败传播策略:中止或跳过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0287000" y="6534150"/>
            <a:ext cx="1619250" cy="2667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>
              <a:lnSpc>
                <a:spcPct val="100000"/>
              </a:lnSpc>
            </a:pPr>
            <a:r>
              <a:rPr sz="900" b="0">
                <a:solidFill>
                  <a:srgbClr val="94A3B8"/>
                </a:solidFill>
                <a:latin typeface="PingFang SC"/>
              </a:rPr>
              <a:t>第2章 · 75/141</a:t>
            </a:r>
          </a:p>
        </p:txBody>
      </p:sp>
    </p:spTree>
  </p:cSld>
  <p:clrMapOvr>
    <a:masterClrMapping/>
  </p:clrMapOvr>
</p:sld>
</file>

<file path=ppt/slides/slide7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704850"/>
          </a:xfrm>
          <a:prstGeom prst="rect">
            <a:avLst/>
          </a:prstGeom>
          <a:solidFill>
            <a:srgbClr val="0B1D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76200" cy="704850"/>
          </a:xfrm>
          <a:prstGeom prst="rect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266700" y="0"/>
            <a:ext cx="10287000" cy="7048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2000" b="1">
                <a:solidFill>
                  <a:srgbClr val="FFFFFF"/>
                </a:solidFill>
                <a:latin typeface="PingFang SC"/>
              </a:rPr>
              <a:t>审计日志:记什么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334500" y="0"/>
            <a:ext cx="2667000" cy="7048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>
              <a:lnSpc>
                <a:spcPct val="100000"/>
              </a:lnSpc>
            </a:pPr>
            <a:r>
              <a:rPr sz="1100" b="0">
                <a:solidFill>
                  <a:srgbClr val="94A3B8"/>
                </a:solidFill>
                <a:latin typeface="PingFang SC"/>
              </a:rPr>
              <a:t>第2章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876300" y="914400"/>
            <a:ext cx="10439400" cy="10287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DDE5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876300" y="914400"/>
            <a:ext cx="57150" cy="1028700"/>
          </a:xfrm>
          <a:prstGeom prst="rect">
            <a:avLst/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ounded Rectangle 7"/>
          <p:cNvSpPr/>
          <p:nvPr/>
        </p:nvSpPr>
        <p:spPr>
          <a:xfrm>
            <a:off x="1047750" y="1285875"/>
            <a:ext cx="285750" cy="285750"/>
          </a:xfrm>
          <a:prstGeom prst="roundRect">
            <a:avLst>
              <a:gd name="adj" fmla="val 8000"/>
            </a:avLst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047750" y="1276350"/>
            <a:ext cx="285750" cy="2857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300" b="1">
                <a:solidFill>
                  <a:srgbClr val="FFFFFF"/>
                </a:solidFill>
                <a:latin typeface="PingFang SC"/>
              </a:rPr>
              <a:t>1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485900" y="914400"/>
            <a:ext cx="9601200" cy="10287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12000"/>
              </a:lnSpc>
            </a:pPr>
            <a:r>
              <a:rPr sz="1400" b="1">
                <a:solidFill>
                  <a:srgbClr val="475569"/>
                </a:solidFill>
                <a:latin typeface="PingFang SC"/>
              </a:rPr>
              <a:t>工具名/版本/参数(脱敏)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876300" y="2114550"/>
            <a:ext cx="10439400" cy="10287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DDE5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876300" y="2114550"/>
            <a:ext cx="57150" cy="1028700"/>
          </a:xfrm>
          <a:prstGeom prst="rect">
            <a:avLst/>
          </a:prstGeom>
          <a:solidFill>
            <a:srgbClr val="14B8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ounded Rectangle 12"/>
          <p:cNvSpPr/>
          <p:nvPr/>
        </p:nvSpPr>
        <p:spPr>
          <a:xfrm>
            <a:off x="1047750" y="2486025"/>
            <a:ext cx="285750" cy="285750"/>
          </a:xfrm>
          <a:prstGeom prst="roundRect">
            <a:avLst>
              <a:gd name="adj" fmla="val 8000"/>
            </a:avLst>
          </a:prstGeom>
          <a:solidFill>
            <a:srgbClr val="14B8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1047750" y="2476500"/>
            <a:ext cx="285750" cy="2857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300" b="1">
                <a:solidFill>
                  <a:srgbClr val="FFFFFF"/>
                </a:solidFill>
                <a:latin typeface="PingFang SC"/>
              </a:rPr>
              <a:t>2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485900" y="2114550"/>
            <a:ext cx="9601200" cy="10287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12000"/>
              </a:lnSpc>
            </a:pPr>
            <a:r>
              <a:rPr sz="1400" b="1">
                <a:solidFill>
                  <a:srgbClr val="475569"/>
                </a:solidFill>
                <a:latin typeface="PingFang SC"/>
              </a:rPr>
              <a:t>权限判定结果与耗时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876300" y="3314700"/>
            <a:ext cx="10439400" cy="10287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DDE5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876300" y="3314700"/>
            <a:ext cx="57150" cy="1028700"/>
          </a:xfrm>
          <a:prstGeom prst="rect">
            <a:avLst/>
          </a:prstGeom>
          <a:solidFill>
            <a:srgbClr val="8B5C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ounded Rectangle 17"/>
          <p:cNvSpPr/>
          <p:nvPr/>
        </p:nvSpPr>
        <p:spPr>
          <a:xfrm>
            <a:off x="1047750" y="3686175"/>
            <a:ext cx="285750" cy="285750"/>
          </a:xfrm>
          <a:prstGeom prst="roundRect">
            <a:avLst>
              <a:gd name="adj" fmla="val 8000"/>
            </a:avLst>
          </a:prstGeom>
          <a:solidFill>
            <a:srgbClr val="8B5C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1047750" y="3676650"/>
            <a:ext cx="285750" cy="2857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300" b="1">
                <a:solidFill>
                  <a:srgbClr val="FFFFFF"/>
                </a:solidFill>
                <a:latin typeface="PingFang SC"/>
              </a:rPr>
              <a:t>3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485900" y="3314700"/>
            <a:ext cx="9601200" cy="10287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12000"/>
              </a:lnSpc>
            </a:pPr>
            <a:r>
              <a:rPr sz="1400" b="1">
                <a:solidFill>
                  <a:srgbClr val="475569"/>
                </a:solidFill>
                <a:latin typeface="PingFang SC"/>
              </a:rPr>
              <a:t>成功失败/重试次数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876300" y="4514850"/>
            <a:ext cx="10439400" cy="10287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DDE5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ectangle 21"/>
          <p:cNvSpPr/>
          <p:nvPr/>
        </p:nvSpPr>
        <p:spPr>
          <a:xfrm>
            <a:off x="876300" y="4514850"/>
            <a:ext cx="57150" cy="1028700"/>
          </a:xfrm>
          <a:prstGeom prst="rect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ounded Rectangle 22"/>
          <p:cNvSpPr/>
          <p:nvPr/>
        </p:nvSpPr>
        <p:spPr>
          <a:xfrm>
            <a:off x="1047750" y="4886325"/>
            <a:ext cx="285750" cy="285750"/>
          </a:xfrm>
          <a:prstGeom prst="roundRect">
            <a:avLst>
              <a:gd name="adj" fmla="val 8000"/>
            </a:avLst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1047750" y="4876800"/>
            <a:ext cx="285750" cy="2857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300" b="1">
                <a:solidFill>
                  <a:srgbClr val="FFFFFF"/>
                </a:solidFill>
                <a:latin typeface="PingFang SC"/>
              </a:rPr>
              <a:t>4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1485900" y="4514850"/>
            <a:ext cx="9601200" cy="10287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12000"/>
              </a:lnSpc>
            </a:pPr>
            <a:r>
              <a:rPr sz="1400" b="1">
                <a:solidFill>
                  <a:srgbClr val="475569"/>
                </a:solidFill>
                <a:latin typeface="PingFang SC"/>
              </a:rPr>
              <a:t>run_id 串起全链路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10287000" y="6534150"/>
            <a:ext cx="1619250" cy="2667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>
              <a:lnSpc>
                <a:spcPct val="100000"/>
              </a:lnSpc>
            </a:pPr>
            <a:r>
              <a:rPr sz="900" b="0">
                <a:solidFill>
                  <a:srgbClr val="94A3B8"/>
                </a:solidFill>
                <a:latin typeface="PingFang SC"/>
              </a:rPr>
              <a:t>第2章 · 76/141</a:t>
            </a:r>
          </a:p>
        </p:txBody>
      </p:sp>
    </p:spTree>
  </p:cSld>
  <p:clrMapOvr>
    <a:masterClrMapping/>
  </p:clrMapOvr>
</p:sld>
</file>

<file path=ppt/slides/slide7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704850"/>
          </a:xfrm>
          <a:prstGeom prst="rect">
            <a:avLst/>
          </a:prstGeom>
          <a:solidFill>
            <a:srgbClr val="0B1D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76200" cy="704850"/>
          </a:xfrm>
          <a:prstGeom prst="rect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266700" y="0"/>
            <a:ext cx="10287000" cy="7048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2000" b="1">
                <a:solidFill>
                  <a:srgbClr val="FFFFFF"/>
                </a:solidFill>
                <a:latin typeface="PingFang SC"/>
              </a:rPr>
              <a:t>审计事件实测(JSON)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334500" y="0"/>
            <a:ext cx="2667000" cy="7048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>
              <a:lnSpc>
                <a:spcPct val="100000"/>
              </a:lnSpc>
            </a:pPr>
            <a:r>
              <a:rPr sz="1100" b="0">
                <a:solidFill>
                  <a:srgbClr val="94A3B8"/>
                </a:solidFill>
                <a:latin typeface="PingFang SC"/>
              </a:rPr>
              <a:t>$ executor.execute("query_user", {"api_key":"sk-xxx","q":"joel"});AuditEvent(event_id="e1", run_id="r6", tool="query_user",args={"api_key": "***MASKED***", "q": "joel"}, ok=True);# mask_args 声明的字段在审计层统一脱敏;# meta.chain_hash 哈希链防篡改(v1.3)|InMemoryAuditBus 真实输出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1333500" y="952500"/>
            <a:ext cx="9525000" cy="5048250"/>
          </a:xfrm>
          <a:prstGeom prst="roundRect">
            <a:avLst>
              <a:gd name="adj" fmla="val 8000"/>
            </a:avLst>
          </a:prstGeom>
          <a:solidFill>
            <a:srgbClr val="0D111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1333500" y="952500"/>
            <a:ext cx="9525000" cy="381000"/>
          </a:xfrm>
          <a:prstGeom prst="rect">
            <a:avLst/>
          </a:prstGeom>
          <a:solidFill>
            <a:srgbClr val="1F293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ounded Rectangle 7"/>
          <p:cNvSpPr/>
          <p:nvPr/>
        </p:nvSpPr>
        <p:spPr>
          <a:xfrm>
            <a:off x="1504950" y="1085850"/>
            <a:ext cx="123825" cy="123825"/>
          </a:xfrm>
          <a:prstGeom prst="roundRect">
            <a:avLst>
              <a:gd name="adj" fmla="val 8000"/>
            </a:avLst>
          </a:prstGeom>
          <a:solidFill>
            <a:srgbClr val="F8717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ounded Rectangle 8"/>
          <p:cNvSpPr/>
          <p:nvPr/>
        </p:nvSpPr>
        <p:spPr>
          <a:xfrm>
            <a:off x="1752600" y="1085850"/>
            <a:ext cx="123825" cy="123825"/>
          </a:xfrm>
          <a:prstGeom prst="roundRect">
            <a:avLst>
              <a:gd name="adj" fmla="val 8000"/>
            </a:avLst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ounded Rectangle 9"/>
          <p:cNvSpPr/>
          <p:nvPr/>
        </p:nvSpPr>
        <p:spPr>
          <a:xfrm>
            <a:off x="2000250" y="1085850"/>
            <a:ext cx="123825" cy="123825"/>
          </a:xfrm>
          <a:prstGeom prst="roundRect">
            <a:avLst>
              <a:gd name="adj" fmla="val 8000"/>
            </a:avLst>
          </a:prstGeom>
          <a:solidFill>
            <a:srgbClr val="34D39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2381250" y="952500"/>
            <a:ext cx="8286750" cy="381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1100" b="0">
                <a:solidFill>
                  <a:srgbClr val="94A3B8"/>
                </a:solidFill>
                <a:latin typeface="PingFang SC"/>
              </a:rPr>
              <a:t>terminal — 平台实测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562100" y="1485900"/>
            <a:ext cx="9067800" cy="43815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</a:pPr>
            <a:r>
              <a:rPr sz="1300" b="1">
                <a:solidFill>
                  <a:srgbClr val="34D399"/>
                </a:solidFill>
                <a:latin typeface="Menlo"/>
              </a:rPr>
              <a:t>$ executor.execute("query_user", {"api_key":"sk-xxx","q":"joel"})</a:t>
            </a:r>
          </a:p>
          <a:p>
            <a:pPr>
              <a:lnSpc>
                <a:spcPct val="115000"/>
              </a:lnSpc>
            </a:pPr>
            <a:r>
              <a:rPr sz="1300">
                <a:solidFill>
                  <a:srgbClr val="CBD5E1"/>
                </a:solidFill>
                <a:latin typeface="Menlo"/>
              </a:rPr>
              <a:t>AuditEvent(event_id="e1", run_id="r6", tool="query_user",args={"api_key": "***MASKED***", "q": "joel"}, ok=True)</a:t>
            </a:r>
          </a:p>
          <a:p>
            <a:pPr>
              <a:lnSpc>
                <a:spcPct val="115000"/>
              </a:lnSpc>
            </a:pPr>
            <a:r>
              <a:rPr sz="1300">
                <a:solidFill>
                  <a:srgbClr val="94A3B8"/>
                </a:solidFill>
                <a:latin typeface="Menlo"/>
              </a:rPr>
              <a:t># mask_args 声明的字段在审计层统一脱敏</a:t>
            </a:r>
          </a:p>
          <a:p>
            <a:pPr>
              <a:lnSpc>
                <a:spcPct val="115000"/>
              </a:lnSpc>
            </a:pPr>
            <a:r>
              <a:rPr sz="1300">
                <a:solidFill>
                  <a:srgbClr val="94A3B8"/>
                </a:solidFill>
                <a:latin typeface="Menlo"/>
              </a:rPr>
              <a:t># meta.chain_hash 哈希链防篡改(v1.3)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0287000" y="6534150"/>
            <a:ext cx="1619250" cy="2667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>
              <a:lnSpc>
                <a:spcPct val="100000"/>
              </a:lnSpc>
            </a:pPr>
            <a:r>
              <a:rPr sz="900" b="0">
                <a:solidFill>
                  <a:srgbClr val="94A3B8"/>
                </a:solidFill>
                <a:latin typeface="PingFang SC"/>
              </a:rPr>
              <a:t>第2章 · 77/141</a:t>
            </a:r>
          </a:p>
        </p:txBody>
      </p:sp>
    </p:spTree>
  </p:cSld>
  <p:clrMapOvr>
    <a:masterClrMapping/>
  </p:clrMapOvr>
</p:sld>
</file>

<file path=ppt/slides/slide7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704850"/>
          </a:xfrm>
          <a:prstGeom prst="rect">
            <a:avLst/>
          </a:prstGeom>
          <a:solidFill>
            <a:srgbClr val="0B1D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76200" cy="704850"/>
          </a:xfrm>
          <a:prstGeom prst="rect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266700" y="0"/>
            <a:ext cx="10287000" cy="7048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2000" b="1">
                <a:solidFill>
                  <a:srgbClr val="FFFFFF"/>
                </a:solidFill>
                <a:latin typeface="PingFang SC"/>
              </a:rPr>
              <a:t>敏感数据脱敏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334500" y="0"/>
            <a:ext cx="2667000" cy="7048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>
              <a:lnSpc>
                <a:spcPct val="100000"/>
              </a:lnSpc>
            </a:pPr>
            <a:r>
              <a:rPr sz="1100" b="0">
                <a:solidFill>
                  <a:srgbClr val="94A3B8"/>
                </a:solidFill>
                <a:latin typeface="PingFang SC"/>
              </a:rPr>
              <a:t>第2章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876300" y="914400"/>
            <a:ext cx="10439400" cy="10287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DDE5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876300" y="914400"/>
            <a:ext cx="57150" cy="1028700"/>
          </a:xfrm>
          <a:prstGeom prst="rect">
            <a:avLst/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ounded Rectangle 7"/>
          <p:cNvSpPr/>
          <p:nvPr/>
        </p:nvSpPr>
        <p:spPr>
          <a:xfrm>
            <a:off x="1047750" y="1285875"/>
            <a:ext cx="285750" cy="285750"/>
          </a:xfrm>
          <a:prstGeom prst="roundRect">
            <a:avLst>
              <a:gd name="adj" fmla="val 8000"/>
            </a:avLst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047750" y="1276350"/>
            <a:ext cx="285750" cy="2857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300" b="1">
                <a:solidFill>
                  <a:srgbClr val="FFFFFF"/>
                </a:solidFill>
                <a:latin typeface="PingFang SC"/>
              </a:rPr>
              <a:t>1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485900" y="914400"/>
            <a:ext cx="9601200" cy="10287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12000"/>
              </a:lnSpc>
            </a:pPr>
            <a:r>
              <a:rPr sz="1400" b="1">
                <a:solidFill>
                  <a:srgbClr val="475569"/>
                </a:solidFill>
                <a:latin typeface="PingFang SC"/>
              </a:rPr>
              <a:t>mask_args 集合声明敏感字段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876300" y="2114550"/>
            <a:ext cx="10439400" cy="10287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DDE5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876300" y="2114550"/>
            <a:ext cx="57150" cy="1028700"/>
          </a:xfrm>
          <a:prstGeom prst="rect">
            <a:avLst/>
          </a:prstGeom>
          <a:solidFill>
            <a:srgbClr val="14B8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ounded Rectangle 12"/>
          <p:cNvSpPr/>
          <p:nvPr/>
        </p:nvSpPr>
        <p:spPr>
          <a:xfrm>
            <a:off x="1047750" y="2486025"/>
            <a:ext cx="285750" cy="285750"/>
          </a:xfrm>
          <a:prstGeom prst="roundRect">
            <a:avLst>
              <a:gd name="adj" fmla="val 8000"/>
            </a:avLst>
          </a:prstGeom>
          <a:solidFill>
            <a:srgbClr val="14B8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1047750" y="2476500"/>
            <a:ext cx="285750" cy="2857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300" b="1">
                <a:solidFill>
                  <a:srgbClr val="FFFFFF"/>
                </a:solidFill>
                <a:latin typeface="PingFang SC"/>
              </a:rPr>
              <a:t>2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485900" y="2114550"/>
            <a:ext cx="9601200" cy="10287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12000"/>
              </a:lnSpc>
            </a:pPr>
            <a:r>
              <a:rPr sz="1400" b="1">
                <a:solidFill>
                  <a:srgbClr val="475569"/>
                </a:solidFill>
                <a:latin typeface="PingFang SC"/>
              </a:rPr>
              <a:t>值替换 ***MASKED***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876300" y="3314700"/>
            <a:ext cx="10439400" cy="10287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DDE5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876300" y="3314700"/>
            <a:ext cx="57150" cy="1028700"/>
          </a:xfrm>
          <a:prstGeom prst="rect">
            <a:avLst/>
          </a:prstGeom>
          <a:solidFill>
            <a:srgbClr val="8B5C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ounded Rectangle 17"/>
          <p:cNvSpPr/>
          <p:nvPr/>
        </p:nvSpPr>
        <p:spPr>
          <a:xfrm>
            <a:off x="1047750" y="3686175"/>
            <a:ext cx="285750" cy="285750"/>
          </a:xfrm>
          <a:prstGeom prst="roundRect">
            <a:avLst>
              <a:gd name="adj" fmla="val 8000"/>
            </a:avLst>
          </a:prstGeom>
          <a:solidFill>
            <a:srgbClr val="8B5C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1047750" y="3676650"/>
            <a:ext cx="285750" cy="2857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300" b="1">
                <a:solidFill>
                  <a:srgbClr val="FFFFFF"/>
                </a:solidFill>
                <a:latin typeface="PingFang SC"/>
              </a:rPr>
              <a:t>3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485900" y="3314700"/>
            <a:ext cx="9601200" cy="10287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12000"/>
              </a:lnSpc>
            </a:pPr>
            <a:r>
              <a:rPr sz="1400" b="1">
                <a:solidFill>
                  <a:srgbClr val="475569"/>
                </a:solidFill>
                <a:latin typeface="PingFang SC"/>
              </a:rPr>
              <a:t>平台实测:api_key 不落日志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876300" y="6019800"/>
            <a:ext cx="10439400" cy="514350"/>
          </a:xfrm>
          <a:prstGeom prst="roundRect">
            <a:avLst>
              <a:gd name="adj" fmla="val 8000"/>
            </a:avLst>
          </a:prstGeom>
          <a:solidFill>
            <a:srgbClr val="F1F5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1066800" y="6019800"/>
            <a:ext cx="10058400" cy="5524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1250" b="0">
                <a:solidFill>
                  <a:srgbClr val="2563EB"/>
                </a:solidFill>
                <a:latin typeface="PingFang SC"/>
              </a:rPr>
              <a:t>▶ 生产红线:PII/Key 永不落盘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0287000" y="6534150"/>
            <a:ext cx="1619250" cy="2667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>
              <a:lnSpc>
                <a:spcPct val="100000"/>
              </a:lnSpc>
            </a:pPr>
            <a:r>
              <a:rPr sz="900" b="0">
                <a:solidFill>
                  <a:srgbClr val="94A3B8"/>
                </a:solidFill>
                <a:latin typeface="PingFang SC"/>
              </a:rPr>
              <a:t>第2章 · 78/141</a:t>
            </a:r>
          </a:p>
        </p:txBody>
      </p:sp>
    </p:spTree>
  </p:cSld>
  <p:clrMapOvr>
    <a:masterClrMapping/>
  </p:clrMapOvr>
</p:sld>
</file>

<file path=ppt/slides/slide7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704850"/>
          </a:xfrm>
          <a:prstGeom prst="rect">
            <a:avLst/>
          </a:prstGeom>
          <a:solidFill>
            <a:srgbClr val="0B1D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76200" cy="704850"/>
          </a:xfrm>
          <a:prstGeom prst="rect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266700" y="0"/>
            <a:ext cx="10287000" cy="7048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2000" b="1">
                <a:solidFill>
                  <a:srgbClr val="FFFFFF"/>
                </a:solidFill>
                <a:latin typeface="PingFang SC"/>
              </a:rPr>
              <a:t>审计安全三道数字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334500" y="0"/>
            <a:ext cx="2667000" cy="7048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>
              <a:lnSpc>
                <a:spcPct val="100000"/>
              </a:lnSpc>
            </a:pPr>
            <a:r>
              <a:rPr sz="1100" b="0">
                <a:solidFill>
                  <a:srgbClr val="94A3B8"/>
                </a:solidFill>
                <a:latin typeface="PingFang SC"/>
              </a:rPr>
              <a:t>100%^高危拦截率^实测;0^密钥泄露^审计日志;8^脱敏字段^mask_args 机制|+哈希链防篡改(v1.3)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1047750" y="1905000"/>
            <a:ext cx="3175000" cy="28575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DDE5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1047750" y="1905000"/>
            <a:ext cx="3175000" cy="76200"/>
          </a:xfrm>
          <a:prstGeom prst="rect">
            <a:avLst/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047750" y="2286000"/>
            <a:ext cx="3175000" cy="10477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4000" b="1">
                <a:solidFill>
                  <a:srgbClr val="2563EB"/>
                </a:solidFill>
                <a:latin typeface="PingFang SC"/>
              </a:rPr>
              <a:t>100%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47750" y="3333750"/>
            <a:ext cx="3175000" cy="3238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300" b="0">
                <a:solidFill>
                  <a:srgbClr val="94A3B8"/>
                </a:solidFill>
                <a:latin typeface="PingFang SC"/>
              </a:rPr>
              <a:t>高危拦截率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200150" y="4057650"/>
            <a:ext cx="2870200" cy="5715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300" b="1">
                <a:solidFill>
                  <a:srgbClr val="475569"/>
                </a:solidFill>
                <a:latin typeface="PingFang SC"/>
              </a:rPr>
              <a:t>实测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4508500" y="1905000"/>
            <a:ext cx="3175000" cy="28575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DDE5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4508500" y="1905000"/>
            <a:ext cx="3175000" cy="76200"/>
          </a:xfrm>
          <a:prstGeom prst="rect">
            <a:avLst/>
          </a:prstGeom>
          <a:solidFill>
            <a:srgbClr val="14B8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4508500" y="2286000"/>
            <a:ext cx="3175000" cy="10477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4000" b="1">
                <a:solidFill>
                  <a:srgbClr val="14B8A6"/>
                </a:solidFill>
                <a:latin typeface="PingFang SC"/>
              </a:rPr>
              <a:t>0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508500" y="3333750"/>
            <a:ext cx="3175000" cy="3238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300" b="0">
                <a:solidFill>
                  <a:srgbClr val="94A3B8"/>
                </a:solidFill>
                <a:latin typeface="PingFang SC"/>
              </a:rPr>
              <a:t>密钥泄露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660900" y="4057650"/>
            <a:ext cx="2870200" cy="5715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300" b="1">
                <a:solidFill>
                  <a:srgbClr val="475569"/>
                </a:solidFill>
                <a:latin typeface="PingFang SC"/>
              </a:rPr>
              <a:t>审计日志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7969250" y="1905000"/>
            <a:ext cx="3175000" cy="28575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DDE5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7969250" y="1905000"/>
            <a:ext cx="3175000" cy="76200"/>
          </a:xfrm>
          <a:prstGeom prst="rect">
            <a:avLst/>
          </a:prstGeom>
          <a:solidFill>
            <a:srgbClr val="8B5C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7969250" y="2286000"/>
            <a:ext cx="3175000" cy="10477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4000" b="1">
                <a:solidFill>
                  <a:srgbClr val="8B5CF6"/>
                </a:solidFill>
                <a:latin typeface="PingFang SC"/>
              </a:rPr>
              <a:t>8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7969250" y="3333750"/>
            <a:ext cx="3175000" cy="3238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300" b="0">
                <a:solidFill>
                  <a:srgbClr val="94A3B8"/>
                </a:solidFill>
                <a:latin typeface="PingFang SC"/>
              </a:rPr>
              <a:t>脱敏字段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8121650" y="4057650"/>
            <a:ext cx="2870200" cy="5715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300" b="1">
                <a:solidFill>
                  <a:srgbClr val="475569"/>
                </a:solidFill>
                <a:latin typeface="PingFang SC"/>
              </a:rPr>
              <a:t>mask_args 机制|+哈希链防篡改(v1.3)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0287000" y="6534150"/>
            <a:ext cx="1619250" cy="2667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>
              <a:lnSpc>
                <a:spcPct val="100000"/>
              </a:lnSpc>
            </a:pPr>
            <a:r>
              <a:rPr sz="900" b="0">
                <a:solidFill>
                  <a:srgbClr val="94A3B8"/>
                </a:solidFill>
                <a:latin typeface="PingFang SC"/>
              </a:rPr>
              <a:t>第2章 · 79/141</a:t>
            </a:r>
          </a:p>
        </p:txBody>
      </p:sp>
    </p:spTree>
  </p:cSld>
  <p:clrMapOvr>
    <a:masterClrMapping/>
  </p:clrMapOvr>
</p:sld>
</file>

<file path=ppt/slides/slide8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704850"/>
          </a:xfrm>
          <a:prstGeom prst="rect">
            <a:avLst/>
          </a:prstGeom>
          <a:solidFill>
            <a:srgbClr val="0B1D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76200" cy="704850"/>
          </a:xfrm>
          <a:prstGeom prst="rect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266700" y="0"/>
            <a:ext cx="10287000" cy="7048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2000" b="1">
                <a:solidFill>
                  <a:srgbClr val="FFFFFF"/>
                </a:solidFill>
                <a:latin typeface="PingFang SC"/>
              </a:rPr>
              <a:t>超时与失败恢复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334500" y="0"/>
            <a:ext cx="2667000" cy="7048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>
              <a:lnSpc>
                <a:spcPct val="100000"/>
              </a:lnSpc>
            </a:pPr>
            <a:r>
              <a:rPr sz="1100" b="0">
                <a:solidFill>
                  <a:srgbClr val="94A3B8"/>
                </a:solidFill>
                <a:latin typeface="PingFang SC"/>
              </a:rPr>
              <a:t>第2章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876300" y="914400"/>
            <a:ext cx="10439400" cy="10287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DDE5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876300" y="914400"/>
            <a:ext cx="57150" cy="1028700"/>
          </a:xfrm>
          <a:prstGeom prst="rect">
            <a:avLst/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ounded Rectangle 7"/>
          <p:cNvSpPr/>
          <p:nvPr/>
        </p:nvSpPr>
        <p:spPr>
          <a:xfrm>
            <a:off x="1047750" y="1285875"/>
            <a:ext cx="285750" cy="285750"/>
          </a:xfrm>
          <a:prstGeom prst="roundRect">
            <a:avLst>
              <a:gd name="adj" fmla="val 8000"/>
            </a:avLst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047750" y="1276350"/>
            <a:ext cx="285750" cy="2857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300" b="1">
                <a:solidFill>
                  <a:srgbClr val="FFFFFF"/>
                </a:solidFill>
                <a:latin typeface="PingFang SC"/>
              </a:rPr>
              <a:t>1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485900" y="914400"/>
            <a:ext cx="9601200" cy="10287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12000"/>
              </a:lnSpc>
            </a:pPr>
            <a:r>
              <a:rPr sz="1400" b="1">
                <a:solidFill>
                  <a:srgbClr val="475569"/>
                </a:solidFill>
                <a:latin typeface="PingFang SC"/>
              </a:rPr>
              <a:t>wait_for 硬超时,防挂死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876300" y="2114550"/>
            <a:ext cx="10439400" cy="10287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DDE5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876300" y="2114550"/>
            <a:ext cx="57150" cy="1028700"/>
          </a:xfrm>
          <a:prstGeom prst="rect">
            <a:avLst/>
          </a:prstGeom>
          <a:solidFill>
            <a:srgbClr val="14B8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ounded Rectangle 12"/>
          <p:cNvSpPr/>
          <p:nvPr/>
        </p:nvSpPr>
        <p:spPr>
          <a:xfrm>
            <a:off x="1047750" y="2486025"/>
            <a:ext cx="285750" cy="285750"/>
          </a:xfrm>
          <a:prstGeom prst="roundRect">
            <a:avLst>
              <a:gd name="adj" fmla="val 8000"/>
            </a:avLst>
          </a:prstGeom>
          <a:solidFill>
            <a:srgbClr val="14B8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1047750" y="2476500"/>
            <a:ext cx="285750" cy="2857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300" b="1">
                <a:solidFill>
                  <a:srgbClr val="FFFFFF"/>
                </a:solidFill>
                <a:latin typeface="PingFang SC"/>
              </a:rPr>
              <a:t>2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485900" y="2114550"/>
            <a:ext cx="9601200" cy="10287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12000"/>
              </a:lnSpc>
            </a:pPr>
            <a:r>
              <a:rPr sz="1400" b="1">
                <a:solidFill>
                  <a:srgbClr val="475569"/>
                </a:solidFill>
                <a:latin typeface="PingFang SC"/>
              </a:rPr>
              <a:t>失败返回结构化 error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876300" y="3314700"/>
            <a:ext cx="10439400" cy="10287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DDE5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876300" y="3314700"/>
            <a:ext cx="57150" cy="1028700"/>
          </a:xfrm>
          <a:prstGeom prst="rect">
            <a:avLst/>
          </a:prstGeom>
          <a:solidFill>
            <a:srgbClr val="8B5C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ounded Rectangle 17"/>
          <p:cNvSpPr/>
          <p:nvPr/>
        </p:nvSpPr>
        <p:spPr>
          <a:xfrm>
            <a:off x="1047750" y="3686175"/>
            <a:ext cx="285750" cy="285750"/>
          </a:xfrm>
          <a:prstGeom prst="roundRect">
            <a:avLst>
              <a:gd name="adj" fmla="val 8000"/>
            </a:avLst>
          </a:prstGeom>
          <a:solidFill>
            <a:srgbClr val="8B5C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1047750" y="3676650"/>
            <a:ext cx="285750" cy="2857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300" b="1">
                <a:solidFill>
                  <a:srgbClr val="FFFFFF"/>
                </a:solidFill>
                <a:latin typeface="PingFang SC"/>
              </a:rPr>
              <a:t>3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485900" y="3314700"/>
            <a:ext cx="9601200" cy="10287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12000"/>
              </a:lnSpc>
            </a:pPr>
            <a:r>
              <a:rPr sz="1400" b="1">
                <a:solidFill>
                  <a:srgbClr val="475569"/>
                </a:solidFill>
                <a:latin typeface="PingFang SC"/>
              </a:rPr>
              <a:t>策略:重试/参数修正/降级/人工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876300" y="6019800"/>
            <a:ext cx="10439400" cy="514350"/>
          </a:xfrm>
          <a:prstGeom prst="roundRect">
            <a:avLst>
              <a:gd name="adj" fmla="val 8000"/>
            </a:avLst>
          </a:prstGeom>
          <a:solidFill>
            <a:srgbClr val="F1F5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1066800" y="6019800"/>
            <a:ext cx="10058400" cy="5524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1250" b="0">
                <a:solidFill>
                  <a:srgbClr val="2563EB"/>
                </a:solidFill>
                <a:latin typeface="PingFang SC"/>
              </a:rPr>
              <a:t>▶ 工具异常不允许拖垮 Agent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0287000" y="6534150"/>
            <a:ext cx="1619250" cy="2667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>
              <a:lnSpc>
                <a:spcPct val="100000"/>
              </a:lnSpc>
            </a:pPr>
            <a:r>
              <a:rPr sz="900" b="0">
                <a:solidFill>
                  <a:srgbClr val="94A3B8"/>
                </a:solidFill>
                <a:latin typeface="PingFang SC"/>
              </a:rPr>
              <a:t>第2章 · 80/141</a:t>
            </a:r>
          </a:p>
        </p:txBody>
      </p:sp>
    </p:spTree>
  </p:cSld>
  <p:clrMapOvr>
    <a:masterClrMapping/>
  </p:clrMapOvr>
</p:sld>
</file>

<file path=ppt/slides/slide8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704850"/>
          </a:xfrm>
          <a:prstGeom prst="rect">
            <a:avLst/>
          </a:prstGeom>
          <a:solidFill>
            <a:srgbClr val="0B1D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76200" cy="704850"/>
          </a:xfrm>
          <a:prstGeom prst="rect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266700" y="0"/>
            <a:ext cx="10287000" cy="7048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2000" b="1">
                <a:solidFill>
                  <a:srgbClr val="FFFFFF"/>
                </a:solidFill>
                <a:latin typeface="PingFang SC"/>
              </a:rPr>
              <a:t>应用:工单系统权限矩阵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334500" y="0"/>
            <a:ext cx="2667000" cy="7048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>
              <a:lnSpc>
                <a:spcPct val="100000"/>
              </a:lnSpc>
            </a:pPr>
            <a:r>
              <a:rPr sz="1100" b="0">
                <a:solidFill>
                  <a:srgbClr val="94A3B8"/>
                </a:solidFill>
                <a:latin typeface="PingFang SC"/>
              </a:rPr>
              <a:t>第2章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876300" y="914400"/>
            <a:ext cx="10439400" cy="10287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DDE5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876300" y="914400"/>
            <a:ext cx="57150" cy="1028700"/>
          </a:xfrm>
          <a:prstGeom prst="rect">
            <a:avLst/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ounded Rectangle 7"/>
          <p:cNvSpPr/>
          <p:nvPr/>
        </p:nvSpPr>
        <p:spPr>
          <a:xfrm>
            <a:off x="1047750" y="1285875"/>
            <a:ext cx="285750" cy="285750"/>
          </a:xfrm>
          <a:prstGeom prst="roundRect">
            <a:avLst>
              <a:gd name="adj" fmla="val 8000"/>
            </a:avLst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047750" y="1276350"/>
            <a:ext cx="285750" cy="2857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300" b="1">
                <a:solidFill>
                  <a:srgbClr val="FFFFFF"/>
                </a:solidFill>
                <a:latin typeface="PingFang SC"/>
              </a:rPr>
              <a:t>1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485900" y="914400"/>
            <a:ext cx="9601200" cy="10287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12000"/>
              </a:lnSpc>
            </a:pPr>
            <a:r>
              <a:rPr sz="1400" b="1">
                <a:solidFill>
                  <a:srgbClr val="475569"/>
                </a:solidFill>
                <a:latin typeface="PingFang SC"/>
              </a:rPr>
              <a:t>客服角色:查工单/查知识库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876300" y="2114550"/>
            <a:ext cx="10439400" cy="10287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DDE5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876300" y="2114550"/>
            <a:ext cx="57150" cy="1028700"/>
          </a:xfrm>
          <a:prstGeom prst="rect">
            <a:avLst/>
          </a:prstGeom>
          <a:solidFill>
            <a:srgbClr val="14B8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ounded Rectangle 12"/>
          <p:cNvSpPr/>
          <p:nvPr/>
        </p:nvSpPr>
        <p:spPr>
          <a:xfrm>
            <a:off x="1047750" y="2486025"/>
            <a:ext cx="285750" cy="285750"/>
          </a:xfrm>
          <a:prstGeom prst="roundRect">
            <a:avLst>
              <a:gd name="adj" fmla="val 8000"/>
            </a:avLst>
          </a:prstGeom>
          <a:solidFill>
            <a:srgbClr val="14B8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1047750" y="2476500"/>
            <a:ext cx="285750" cy="2857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300" b="1">
                <a:solidFill>
                  <a:srgbClr val="FFFFFF"/>
                </a:solidFill>
                <a:latin typeface="PingFang SC"/>
              </a:rPr>
              <a:t>2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485900" y="2114550"/>
            <a:ext cx="9601200" cy="10287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12000"/>
              </a:lnSpc>
            </a:pPr>
            <a:r>
              <a:rPr sz="1400" b="1">
                <a:solidFill>
                  <a:srgbClr val="475569"/>
                </a:solidFill>
                <a:latin typeface="PingFang SC"/>
              </a:rPr>
              <a:t>组长角色:+改派/退款(确认)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876300" y="3314700"/>
            <a:ext cx="10439400" cy="10287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DDE5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876300" y="3314700"/>
            <a:ext cx="57150" cy="1028700"/>
          </a:xfrm>
          <a:prstGeom prst="rect">
            <a:avLst/>
          </a:prstGeom>
          <a:solidFill>
            <a:srgbClr val="8B5C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ounded Rectangle 17"/>
          <p:cNvSpPr/>
          <p:nvPr/>
        </p:nvSpPr>
        <p:spPr>
          <a:xfrm>
            <a:off x="1047750" y="3686175"/>
            <a:ext cx="285750" cy="285750"/>
          </a:xfrm>
          <a:prstGeom prst="roundRect">
            <a:avLst>
              <a:gd name="adj" fmla="val 8000"/>
            </a:avLst>
          </a:prstGeom>
          <a:solidFill>
            <a:srgbClr val="8B5C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1047750" y="3676650"/>
            <a:ext cx="285750" cy="2857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300" b="1">
                <a:solidFill>
                  <a:srgbClr val="FFFFFF"/>
                </a:solidFill>
                <a:latin typeface="PingFang SC"/>
              </a:rPr>
              <a:t>3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485900" y="3314700"/>
            <a:ext cx="9601200" cy="10287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12000"/>
              </a:lnSpc>
            </a:pPr>
            <a:r>
              <a:rPr sz="1400" b="1">
                <a:solidFill>
                  <a:srgbClr val="475569"/>
                </a:solidFill>
                <a:latin typeface="PingFang SC"/>
              </a:rPr>
              <a:t>管理员:+删除数据(高危)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876300" y="6019800"/>
            <a:ext cx="10439400" cy="514350"/>
          </a:xfrm>
          <a:prstGeom prst="roundRect">
            <a:avLst>
              <a:gd name="adj" fmla="val 8000"/>
            </a:avLst>
          </a:prstGeom>
          <a:solidFill>
            <a:srgbClr val="F1F5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1066800" y="6019800"/>
            <a:ext cx="10058400" cy="5524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1250" b="0">
                <a:solidFill>
                  <a:srgbClr val="2563EB"/>
                </a:solidFill>
                <a:latin typeface="PingFang SC"/>
              </a:rPr>
              <a:t>▶ 一张表管理所有边界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0287000" y="6534150"/>
            <a:ext cx="1619250" cy="2667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>
              <a:lnSpc>
                <a:spcPct val="100000"/>
              </a:lnSpc>
            </a:pPr>
            <a:r>
              <a:rPr sz="900" b="0">
                <a:solidFill>
                  <a:srgbClr val="94A3B8"/>
                </a:solidFill>
                <a:latin typeface="PingFang SC"/>
              </a:rPr>
              <a:t>第2章 · 81/141</a:t>
            </a:r>
          </a:p>
        </p:txBody>
      </p:sp>
    </p:spTree>
  </p:cSld>
  <p:clrMapOvr>
    <a:masterClrMapping/>
  </p:clrMapOvr>
</p:sld>
</file>

<file path=ppt/slides/slide8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704850"/>
          </a:xfrm>
          <a:prstGeom prst="rect">
            <a:avLst/>
          </a:prstGeom>
          <a:solidFill>
            <a:srgbClr val="0B1D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76200" cy="704850"/>
          </a:xfrm>
          <a:prstGeom prst="rect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266700" y="0"/>
            <a:ext cx="10287000" cy="7048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2000" b="1">
                <a:solidFill>
                  <a:srgbClr val="FFFFFF"/>
                </a:solidFill>
                <a:latin typeface="PingFang SC"/>
              </a:rPr>
              <a:t>踩坑:审计没接 Pulsar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334500" y="0"/>
            <a:ext cx="2667000" cy="7048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>
              <a:lnSpc>
                <a:spcPct val="100000"/>
              </a:lnSpc>
            </a:pPr>
            <a:r>
              <a:rPr sz="1100" b="0">
                <a:solidFill>
                  <a:srgbClr val="94A3B8"/>
                </a:solidFill>
                <a:latin typeface="PingFang SC"/>
              </a:rPr>
              <a:t>第2章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876300" y="914400"/>
            <a:ext cx="10439400" cy="10287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DDE5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876300" y="914400"/>
            <a:ext cx="57150" cy="1028700"/>
          </a:xfrm>
          <a:prstGeom prst="rect">
            <a:avLst/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ounded Rectangle 7"/>
          <p:cNvSpPr/>
          <p:nvPr/>
        </p:nvSpPr>
        <p:spPr>
          <a:xfrm>
            <a:off x="1047750" y="1285875"/>
            <a:ext cx="285750" cy="285750"/>
          </a:xfrm>
          <a:prstGeom prst="roundRect">
            <a:avLst>
              <a:gd name="adj" fmla="val 8000"/>
            </a:avLst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047750" y="1276350"/>
            <a:ext cx="285750" cy="2857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300" b="1">
                <a:solidFill>
                  <a:srgbClr val="FFFFFF"/>
                </a:solidFill>
                <a:latin typeface="PingFang SC"/>
              </a:rPr>
              <a:t>1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485900" y="914400"/>
            <a:ext cx="9601200" cy="10287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12000"/>
              </a:lnSpc>
            </a:pPr>
            <a:r>
              <a:rPr sz="1400" b="1">
                <a:solidFill>
                  <a:srgbClr val="475569"/>
                </a:solidFill>
                <a:latin typeface="PingFang SC"/>
              </a:rPr>
              <a:t>教学版 InMemory 重启即失忆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876300" y="2114550"/>
            <a:ext cx="10439400" cy="10287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DDE5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876300" y="2114550"/>
            <a:ext cx="57150" cy="1028700"/>
          </a:xfrm>
          <a:prstGeom prst="rect">
            <a:avLst/>
          </a:prstGeom>
          <a:solidFill>
            <a:srgbClr val="14B8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ounded Rectangle 12"/>
          <p:cNvSpPr/>
          <p:nvPr/>
        </p:nvSpPr>
        <p:spPr>
          <a:xfrm>
            <a:off x="1047750" y="2486025"/>
            <a:ext cx="285750" cy="285750"/>
          </a:xfrm>
          <a:prstGeom prst="roundRect">
            <a:avLst>
              <a:gd name="adj" fmla="val 8000"/>
            </a:avLst>
          </a:prstGeom>
          <a:solidFill>
            <a:srgbClr val="14B8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1047750" y="2476500"/>
            <a:ext cx="285750" cy="2857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300" b="1">
                <a:solidFill>
                  <a:srgbClr val="FFFFFF"/>
                </a:solidFill>
                <a:latin typeface="PingFang SC"/>
              </a:rPr>
              <a:t>2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485900" y="2114550"/>
            <a:ext cx="9601200" cy="10287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12000"/>
              </a:lnSpc>
            </a:pPr>
            <a:r>
              <a:rPr sz="1400" b="1">
                <a:solidFill>
                  <a:srgbClr val="475569"/>
                </a:solidFill>
                <a:latin typeface="PingFang SC"/>
              </a:rPr>
              <a:t>生产必须落库/落消息队列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876300" y="3314700"/>
            <a:ext cx="10439400" cy="10287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DDE5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876300" y="3314700"/>
            <a:ext cx="57150" cy="1028700"/>
          </a:xfrm>
          <a:prstGeom prst="rect">
            <a:avLst/>
          </a:prstGeom>
          <a:solidFill>
            <a:srgbClr val="8B5C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ounded Rectangle 17"/>
          <p:cNvSpPr/>
          <p:nvPr/>
        </p:nvSpPr>
        <p:spPr>
          <a:xfrm>
            <a:off x="1047750" y="3686175"/>
            <a:ext cx="285750" cy="285750"/>
          </a:xfrm>
          <a:prstGeom prst="roundRect">
            <a:avLst>
              <a:gd name="adj" fmla="val 8000"/>
            </a:avLst>
          </a:prstGeom>
          <a:solidFill>
            <a:srgbClr val="8B5C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1047750" y="3676650"/>
            <a:ext cx="285750" cy="2857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300" b="1">
                <a:solidFill>
                  <a:srgbClr val="FFFFFF"/>
                </a:solidFill>
                <a:latin typeface="PingFang SC"/>
              </a:rPr>
              <a:t>3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485900" y="3314700"/>
            <a:ext cx="9601200" cy="10287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12000"/>
              </a:lnSpc>
            </a:pPr>
            <a:r>
              <a:rPr sz="1400" b="1">
                <a:solidFill>
                  <a:srgbClr val="475569"/>
                </a:solidFill>
                <a:latin typeface="PingFang SC"/>
              </a:rPr>
              <a:t>平台 PulsarAuditBus 已就绪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876300" y="6019800"/>
            <a:ext cx="10439400" cy="514350"/>
          </a:xfrm>
          <a:prstGeom prst="roundRect">
            <a:avLst>
              <a:gd name="adj" fmla="val 8000"/>
            </a:avLst>
          </a:prstGeom>
          <a:solidFill>
            <a:srgbClr val="F1F5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1066800" y="6019800"/>
            <a:ext cx="10058400" cy="5524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1250" b="0">
                <a:solidFill>
                  <a:srgbClr val="2563EB"/>
                </a:solidFill>
                <a:latin typeface="PingFang SC"/>
              </a:rPr>
              <a:t>▶ 旁路降级:失败计数不阻塞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0287000" y="6534150"/>
            <a:ext cx="1619250" cy="2667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>
              <a:lnSpc>
                <a:spcPct val="100000"/>
              </a:lnSpc>
            </a:pPr>
            <a:r>
              <a:rPr sz="900" b="0">
                <a:solidFill>
                  <a:srgbClr val="94A3B8"/>
                </a:solidFill>
                <a:latin typeface="PingFang SC"/>
              </a:rPr>
              <a:t>第2章 · 82/141</a:t>
            </a:r>
          </a:p>
        </p:txBody>
      </p:sp>
    </p:spTree>
  </p:cSld>
  <p:clrMapOvr>
    <a:masterClrMapping/>
  </p:clrMapOvr>
</p:sld>
</file>

<file path=ppt/slides/slide8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704850"/>
          </a:xfrm>
          <a:prstGeom prst="rect">
            <a:avLst/>
          </a:prstGeom>
          <a:solidFill>
            <a:srgbClr val="0B1D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76200" cy="704850"/>
          </a:xfrm>
          <a:prstGeom prst="rect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266700" y="0"/>
            <a:ext cx="10287000" cy="7048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2000" b="1">
                <a:solidFill>
                  <a:srgbClr val="FFFFFF"/>
                </a:solidFill>
                <a:latin typeface="PingFang SC"/>
              </a:rPr>
              <a:t>踩坑:重试放大副作用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334500" y="0"/>
            <a:ext cx="2667000" cy="7048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>
              <a:lnSpc>
                <a:spcPct val="100000"/>
              </a:lnSpc>
            </a:pPr>
            <a:r>
              <a:rPr sz="1100" b="0">
                <a:solidFill>
                  <a:srgbClr val="94A3B8"/>
                </a:solidFill>
                <a:latin typeface="PingFang SC"/>
              </a:rPr>
              <a:t>第2章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876300" y="914400"/>
            <a:ext cx="10439400" cy="10287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DDE5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876300" y="914400"/>
            <a:ext cx="57150" cy="1028700"/>
          </a:xfrm>
          <a:prstGeom prst="rect">
            <a:avLst/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ounded Rectangle 7"/>
          <p:cNvSpPr/>
          <p:nvPr/>
        </p:nvSpPr>
        <p:spPr>
          <a:xfrm>
            <a:off x="1047750" y="1285875"/>
            <a:ext cx="285750" cy="285750"/>
          </a:xfrm>
          <a:prstGeom prst="roundRect">
            <a:avLst>
              <a:gd name="adj" fmla="val 8000"/>
            </a:avLst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047750" y="1276350"/>
            <a:ext cx="285750" cy="2857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300" b="1">
                <a:solidFill>
                  <a:srgbClr val="FFFFFF"/>
                </a:solidFill>
                <a:latin typeface="PingFang SC"/>
              </a:rPr>
              <a:t>1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485900" y="914400"/>
            <a:ext cx="9601200" cy="10287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12000"/>
              </a:lnSpc>
            </a:pPr>
            <a:r>
              <a:rPr sz="1400" b="1">
                <a:solidFill>
                  <a:srgbClr val="475569"/>
                </a:solidFill>
                <a:latin typeface="PingFang SC"/>
              </a:rPr>
              <a:t>邮件工具重试=重复群发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876300" y="2114550"/>
            <a:ext cx="10439400" cy="10287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DDE5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876300" y="2114550"/>
            <a:ext cx="57150" cy="1028700"/>
          </a:xfrm>
          <a:prstGeom prst="rect">
            <a:avLst/>
          </a:prstGeom>
          <a:solidFill>
            <a:srgbClr val="14B8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ounded Rectangle 12"/>
          <p:cNvSpPr/>
          <p:nvPr/>
        </p:nvSpPr>
        <p:spPr>
          <a:xfrm>
            <a:off x="1047750" y="2486025"/>
            <a:ext cx="285750" cy="285750"/>
          </a:xfrm>
          <a:prstGeom prst="roundRect">
            <a:avLst>
              <a:gd name="adj" fmla="val 8000"/>
            </a:avLst>
          </a:prstGeom>
          <a:solidFill>
            <a:srgbClr val="14B8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1047750" y="2476500"/>
            <a:ext cx="285750" cy="2857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300" b="1">
                <a:solidFill>
                  <a:srgbClr val="FFFFFF"/>
                </a:solidFill>
                <a:latin typeface="PingFang SC"/>
              </a:rPr>
              <a:t>2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485900" y="2114550"/>
            <a:ext cx="9601200" cy="10287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12000"/>
              </a:lnSpc>
            </a:pPr>
            <a:r>
              <a:rPr sz="1400" b="1">
                <a:solidFill>
                  <a:srgbClr val="475569"/>
                </a:solidFill>
                <a:latin typeface="PingFang SC"/>
              </a:rPr>
              <a:t>治理:非幂等工具禁自动重试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876300" y="3314700"/>
            <a:ext cx="10439400" cy="10287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DDE5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876300" y="3314700"/>
            <a:ext cx="57150" cy="1028700"/>
          </a:xfrm>
          <a:prstGeom prst="rect">
            <a:avLst/>
          </a:prstGeom>
          <a:solidFill>
            <a:srgbClr val="8B5C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ounded Rectangle 17"/>
          <p:cNvSpPr/>
          <p:nvPr/>
        </p:nvSpPr>
        <p:spPr>
          <a:xfrm>
            <a:off x="1047750" y="3686175"/>
            <a:ext cx="285750" cy="285750"/>
          </a:xfrm>
          <a:prstGeom prst="roundRect">
            <a:avLst>
              <a:gd name="adj" fmla="val 8000"/>
            </a:avLst>
          </a:prstGeom>
          <a:solidFill>
            <a:srgbClr val="8B5C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1047750" y="3676650"/>
            <a:ext cx="285750" cy="2857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300" b="1">
                <a:solidFill>
                  <a:srgbClr val="FFFFFF"/>
                </a:solidFill>
                <a:latin typeface="PingFang SC"/>
              </a:rPr>
              <a:t>3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485900" y="3314700"/>
            <a:ext cx="9601200" cy="10287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12000"/>
              </a:lnSpc>
            </a:pPr>
            <a:r>
              <a:rPr sz="1400" b="1">
                <a:solidFill>
                  <a:srgbClr val="475569"/>
                </a:solidFill>
                <a:latin typeface="PingFang SC"/>
              </a:rPr>
              <a:t>或引入幂等键去重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0287000" y="6534150"/>
            <a:ext cx="1619250" cy="2667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>
              <a:lnSpc>
                <a:spcPct val="100000"/>
              </a:lnSpc>
            </a:pPr>
            <a:r>
              <a:rPr sz="900" b="0">
                <a:solidFill>
                  <a:srgbClr val="94A3B8"/>
                </a:solidFill>
                <a:latin typeface="PingFang SC"/>
              </a:rPr>
              <a:t>第2章 · 83/141</a:t>
            </a:r>
          </a:p>
        </p:txBody>
      </p:sp>
    </p:spTree>
  </p:cSld>
  <p:clrMapOvr>
    <a:masterClrMapping/>
  </p:clrMapOvr>
</p:sld>
</file>

<file path=ppt/slides/slide8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704850"/>
          </a:xfrm>
          <a:prstGeom prst="rect">
            <a:avLst/>
          </a:prstGeom>
          <a:solidFill>
            <a:srgbClr val="0B1D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76200" cy="704850"/>
          </a:xfrm>
          <a:prstGeom prst="rect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266700" y="0"/>
            <a:ext cx="10287000" cy="7048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2000" b="1">
                <a:solidFill>
                  <a:srgbClr val="FFFFFF"/>
                </a:solidFill>
                <a:latin typeface="PingFang SC"/>
              </a:rPr>
              <a:t>优化:审计的实时风控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334500" y="0"/>
            <a:ext cx="2667000" cy="7048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>
              <a:lnSpc>
                <a:spcPct val="100000"/>
              </a:lnSpc>
            </a:pPr>
            <a:r>
              <a:rPr sz="1100" b="0">
                <a:solidFill>
                  <a:srgbClr val="94A3B8"/>
                </a:solidFill>
                <a:latin typeface="PingFang SC"/>
              </a:rPr>
              <a:t>第2章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876300" y="914400"/>
            <a:ext cx="10439400" cy="10287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DDE5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876300" y="914400"/>
            <a:ext cx="57150" cy="1028700"/>
          </a:xfrm>
          <a:prstGeom prst="rect">
            <a:avLst/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ounded Rectangle 7"/>
          <p:cNvSpPr/>
          <p:nvPr/>
        </p:nvSpPr>
        <p:spPr>
          <a:xfrm>
            <a:off x="1047750" y="1285875"/>
            <a:ext cx="285750" cy="285750"/>
          </a:xfrm>
          <a:prstGeom prst="roundRect">
            <a:avLst>
              <a:gd name="adj" fmla="val 8000"/>
            </a:avLst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047750" y="1276350"/>
            <a:ext cx="285750" cy="2857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300" b="1">
                <a:solidFill>
                  <a:srgbClr val="FFFFFF"/>
                </a:solidFill>
                <a:latin typeface="PingFang SC"/>
              </a:rPr>
              <a:t>1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485900" y="914400"/>
            <a:ext cx="9601200" cy="10287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12000"/>
              </a:lnSpc>
            </a:pPr>
            <a:r>
              <a:rPr sz="1400" b="1">
                <a:solidFill>
                  <a:srgbClr val="475569"/>
                </a:solidFill>
                <a:latin typeface="PingFang SC"/>
              </a:rPr>
              <a:t>审计流实时分析异常模式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876300" y="2114550"/>
            <a:ext cx="10439400" cy="10287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DDE5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876300" y="2114550"/>
            <a:ext cx="57150" cy="1028700"/>
          </a:xfrm>
          <a:prstGeom prst="rect">
            <a:avLst/>
          </a:prstGeom>
          <a:solidFill>
            <a:srgbClr val="14B8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ounded Rectangle 12"/>
          <p:cNvSpPr/>
          <p:nvPr/>
        </p:nvSpPr>
        <p:spPr>
          <a:xfrm>
            <a:off x="1047750" y="2486025"/>
            <a:ext cx="285750" cy="285750"/>
          </a:xfrm>
          <a:prstGeom prst="roundRect">
            <a:avLst>
              <a:gd name="adj" fmla="val 8000"/>
            </a:avLst>
          </a:prstGeom>
          <a:solidFill>
            <a:srgbClr val="14B8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1047750" y="2476500"/>
            <a:ext cx="285750" cy="2857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300" b="1">
                <a:solidFill>
                  <a:srgbClr val="FFFFFF"/>
                </a:solidFill>
                <a:latin typeface="PingFang SC"/>
              </a:rPr>
              <a:t>2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485900" y="2114550"/>
            <a:ext cx="9601200" cy="10287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12000"/>
              </a:lnSpc>
            </a:pPr>
            <a:r>
              <a:rPr sz="1400" b="1">
                <a:solidFill>
                  <a:srgbClr val="475569"/>
                </a:solidFill>
                <a:latin typeface="PingFang SC"/>
              </a:rPr>
              <a:t>单位时间高危调用超阈值→告警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876300" y="3314700"/>
            <a:ext cx="10439400" cy="10287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DDE5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876300" y="3314700"/>
            <a:ext cx="57150" cy="1028700"/>
          </a:xfrm>
          <a:prstGeom prst="rect">
            <a:avLst/>
          </a:prstGeom>
          <a:solidFill>
            <a:srgbClr val="8B5C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ounded Rectangle 17"/>
          <p:cNvSpPr/>
          <p:nvPr/>
        </p:nvSpPr>
        <p:spPr>
          <a:xfrm>
            <a:off x="1047750" y="3686175"/>
            <a:ext cx="285750" cy="285750"/>
          </a:xfrm>
          <a:prstGeom prst="roundRect">
            <a:avLst>
              <a:gd name="adj" fmla="val 8000"/>
            </a:avLst>
          </a:prstGeom>
          <a:solidFill>
            <a:srgbClr val="8B5C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1047750" y="3676650"/>
            <a:ext cx="285750" cy="2857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300" b="1">
                <a:solidFill>
                  <a:srgbClr val="FFFFFF"/>
                </a:solidFill>
                <a:latin typeface="PingFang SC"/>
              </a:rPr>
              <a:t>3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485900" y="3314700"/>
            <a:ext cx="9601200" cy="10287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12000"/>
              </a:lnSpc>
            </a:pPr>
            <a:r>
              <a:rPr sz="1400" b="1">
                <a:solidFill>
                  <a:srgbClr val="475569"/>
                </a:solidFill>
                <a:latin typeface="PingFang SC"/>
              </a:rPr>
              <a:t>自动降级为只读模式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0287000" y="6534150"/>
            <a:ext cx="1619250" cy="2667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>
              <a:lnSpc>
                <a:spcPct val="100000"/>
              </a:lnSpc>
            </a:pPr>
            <a:r>
              <a:rPr sz="900" b="0">
                <a:solidFill>
                  <a:srgbClr val="94A3B8"/>
                </a:solidFill>
                <a:latin typeface="PingFang SC"/>
              </a:rPr>
              <a:t>第2章 · 84/141</a:t>
            </a:r>
          </a:p>
        </p:txBody>
      </p:sp>
    </p:spTree>
  </p:cSld>
  <p:clrMapOvr>
    <a:masterClrMapping/>
  </p:clrMapOvr>
</p:sld>
</file>

<file path=ppt/slides/slide8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704850"/>
          </a:xfrm>
          <a:prstGeom prst="rect">
            <a:avLst/>
          </a:prstGeom>
          <a:solidFill>
            <a:srgbClr val="0B1D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76200" cy="704850"/>
          </a:xfrm>
          <a:prstGeom prst="rect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266700" y="0"/>
            <a:ext cx="10287000" cy="7048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2000" b="1">
                <a:solidFill>
                  <a:srgbClr val="FFFFFF"/>
                </a:solidFill>
                <a:latin typeface="PingFang SC"/>
              </a:rPr>
              <a:t>优化:权限即代码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334500" y="0"/>
            <a:ext cx="2667000" cy="7048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>
              <a:lnSpc>
                <a:spcPct val="100000"/>
              </a:lnSpc>
            </a:pPr>
            <a:r>
              <a:rPr sz="1100" b="0">
                <a:solidFill>
                  <a:srgbClr val="94A3B8"/>
                </a:solidFill>
                <a:latin typeface="PingFang SC"/>
              </a:rPr>
              <a:t>第2章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876300" y="914400"/>
            <a:ext cx="10439400" cy="10287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DDE5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876300" y="914400"/>
            <a:ext cx="57150" cy="1028700"/>
          </a:xfrm>
          <a:prstGeom prst="rect">
            <a:avLst/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ounded Rectangle 7"/>
          <p:cNvSpPr/>
          <p:nvPr/>
        </p:nvSpPr>
        <p:spPr>
          <a:xfrm>
            <a:off x="1047750" y="1285875"/>
            <a:ext cx="285750" cy="285750"/>
          </a:xfrm>
          <a:prstGeom prst="roundRect">
            <a:avLst>
              <a:gd name="adj" fmla="val 8000"/>
            </a:avLst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047750" y="1276350"/>
            <a:ext cx="285750" cy="2857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300" b="1">
                <a:solidFill>
                  <a:srgbClr val="FFFFFF"/>
                </a:solidFill>
                <a:latin typeface="PingFang SC"/>
              </a:rPr>
              <a:t>1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485900" y="914400"/>
            <a:ext cx="9601200" cy="10287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12000"/>
              </a:lnSpc>
            </a:pPr>
            <a:r>
              <a:rPr sz="1400" b="1">
                <a:solidFill>
                  <a:srgbClr val="475569"/>
                </a:solidFill>
                <a:latin typeface="PingFang SC"/>
              </a:rPr>
              <a:t>权限矩阵进 Git 版本化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876300" y="2114550"/>
            <a:ext cx="10439400" cy="10287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DDE5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876300" y="2114550"/>
            <a:ext cx="57150" cy="1028700"/>
          </a:xfrm>
          <a:prstGeom prst="rect">
            <a:avLst/>
          </a:prstGeom>
          <a:solidFill>
            <a:srgbClr val="14B8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ounded Rectangle 12"/>
          <p:cNvSpPr/>
          <p:nvPr/>
        </p:nvSpPr>
        <p:spPr>
          <a:xfrm>
            <a:off x="1047750" y="2486025"/>
            <a:ext cx="285750" cy="285750"/>
          </a:xfrm>
          <a:prstGeom prst="roundRect">
            <a:avLst>
              <a:gd name="adj" fmla="val 8000"/>
            </a:avLst>
          </a:prstGeom>
          <a:solidFill>
            <a:srgbClr val="14B8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1047750" y="2476500"/>
            <a:ext cx="285750" cy="2857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300" b="1">
                <a:solidFill>
                  <a:srgbClr val="FFFFFF"/>
                </a:solidFill>
                <a:latin typeface="PingFang SC"/>
              </a:rPr>
              <a:t>2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485900" y="2114550"/>
            <a:ext cx="9601200" cy="10287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12000"/>
              </a:lnSpc>
            </a:pPr>
            <a:r>
              <a:rPr sz="1400" b="1">
                <a:solidFill>
                  <a:srgbClr val="475569"/>
                </a:solidFill>
                <a:latin typeface="PingFang SC"/>
              </a:rPr>
              <a:t>变更走 PR 评审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876300" y="3314700"/>
            <a:ext cx="10439400" cy="10287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DDE5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876300" y="3314700"/>
            <a:ext cx="57150" cy="1028700"/>
          </a:xfrm>
          <a:prstGeom prst="rect">
            <a:avLst/>
          </a:prstGeom>
          <a:solidFill>
            <a:srgbClr val="8B5C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ounded Rectangle 17"/>
          <p:cNvSpPr/>
          <p:nvPr/>
        </p:nvSpPr>
        <p:spPr>
          <a:xfrm>
            <a:off x="1047750" y="3686175"/>
            <a:ext cx="285750" cy="285750"/>
          </a:xfrm>
          <a:prstGeom prst="roundRect">
            <a:avLst>
              <a:gd name="adj" fmla="val 8000"/>
            </a:avLst>
          </a:prstGeom>
          <a:solidFill>
            <a:srgbClr val="8B5C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1047750" y="3676650"/>
            <a:ext cx="285750" cy="2857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300" b="1">
                <a:solidFill>
                  <a:srgbClr val="FFFFFF"/>
                </a:solidFill>
                <a:latin typeface="PingFang SC"/>
              </a:rPr>
              <a:t>3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485900" y="3314700"/>
            <a:ext cx="9601200" cy="10287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12000"/>
              </a:lnSpc>
            </a:pPr>
            <a:r>
              <a:rPr sz="1400" b="1">
                <a:solidFill>
                  <a:srgbClr val="475569"/>
                </a:solidFill>
                <a:latin typeface="PingFang SC"/>
              </a:rPr>
              <a:t>CI 校验角色-风险覆盖关系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0287000" y="6534150"/>
            <a:ext cx="1619250" cy="2667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>
              <a:lnSpc>
                <a:spcPct val="100000"/>
              </a:lnSpc>
            </a:pPr>
            <a:r>
              <a:rPr sz="900" b="0">
                <a:solidFill>
                  <a:srgbClr val="94A3B8"/>
                </a:solidFill>
                <a:latin typeface="PingFang SC"/>
              </a:rPr>
              <a:t>第2章 · 85/141</a:t>
            </a:r>
          </a:p>
        </p:txBody>
      </p:sp>
    </p:spTree>
  </p:cSld>
  <p:clrMapOvr>
    <a:masterClrMapping/>
  </p:clrMapOvr>
</p:sld>
</file>

<file path=ppt/slides/slide8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704850"/>
          </a:xfrm>
          <a:prstGeom prst="rect">
            <a:avLst/>
          </a:prstGeom>
          <a:solidFill>
            <a:srgbClr val="0B1D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76200" cy="704850"/>
          </a:xfrm>
          <a:prstGeom prst="rect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266700" y="0"/>
            <a:ext cx="10287000" cy="7048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2000" b="1">
                <a:solidFill>
                  <a:srgbClr val="FFFFFF"/>
                </a:solidFill>
                <a:latin typeface="PingFang SC"/>
              </a:rPr>
              <a:t>2-3 自测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334500" y="0"/>
            <a:ext cx="2667000" cy="7048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>
              <a:lnSpc>
                <a:spcPct val="100000"/>
              </a:lnSpc>
            </a:pPr>
            <a:r>
              <a:rPr sz="1100" b="0">
                <a:solidFill>
                  <a:srgbClr val="94A3B8"/>
                </a:solidFill>
                <a:latin typeface="PingFang SC"/>
              </a:rPr>
              <a:t>第2章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287000" y="6534150"/>
            <a:ext cx="1619250" cy="2667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>
              <a:lnSpc>
                <a:spcPct val="100000"/>
              </a:lnSpc>
            </a:pPr>
            <a:r>
              <a:rPr sz="900" b="0">
                <a:solidFill>
                  <a:srgbClr val="94A3B8"/>
                </a:solidFill>
                <a:latin typeface="PingFang SC"/>
              </a:rPr>
              <a:t>第2章 · 86/141</a:t>
            </a:r>
          </a:p>
        </p:txBody>
      </p:sp>
    </p:spTree>
  </p:cSld>
  <p:clrMapOvr>
    <a:masterClrMapping/>
  </p:clrMapOvr>
</p:sld>
</file>

<file path=ppt/slides/slide8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0B1D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2000" cy="609600"/>
          </a:xfrm>
          <a:prstGeom prst="rect">
            <a:avLst/>
          </a:prstGeom>
          <a:solidFill>
            <a:srgbClr val="142A4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266700" y="0"/>
            <a:ext cx="11430000" cy="6096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1600" b="1">
                <a:solidFill>
                  <a:srgbClr val="F59E0B"/>
                </a:solidFill>
                <a:latin typeface="PingFang SC"/>
              </a:rPr>
              <a:t>执行管线:权限→校验→超时→审计 · src/agent_platform/tools/runtime.py:200-232</a:t>
            </a:r>
          </a:p>
        </p:txBody>
      </p:sp>
      <p:pic>
        <p:nvPicPr>
          <p:cNvPr id="5" name="Picture 4" descr="code_0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569720" y="762000"/>
            <a:ext cx="9052560" cy="5760720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10287000" y="6534150"/>
            <a:ext cx="1619250" cy="2667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>
              <a:lnSpc>
                <a:spcPct val="100000"/>
              </a:lnSpc>
            </a:pPr>
            <a:r>
              <a:rPr sz="900" b="0">
                <a:solidFill>
                  <a:srgbClr val="94A3B8"/>
                </a:solidFill>
                <a:latin typeface="PingFang SC"/>
              </a:rPr>
              <a:t>第2章 · 87/141</a:t>
            </a:r>
          </a:p>
        </p:txBody>
      </p:sp>
    </p:spTree>
  </p:cSld>
  <p:clrMapOvr>
    <a:masterClrMapping/>
  </p:clrMapOvr>
</p:sld>
</file>

<file path=ppt/slides/slide8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704850"/>
          </a:xfrm>
          <a:prstGeom prst="rect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04800" y="0"/>
            <a:ext cx="11430000" cy="7048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2000" b="1">
                <a:solidFill>
                  <a:srgbClr val="0B1D3A"/>
                </a:solidFill>
                <a:latin typeface="PingFang SC"/>
              </a:rPr>
              <a:t>自测 · 治理与安全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1143000" y="1143000"/>
            <a:ext cx="9906000" cy="590550"/>
          </a:xfrm>
          <a:prstGeom prst="roundRect">
            <a:avLst>
              <a:gd name="adj" fmla="val 8000"/>
            </a:avLst>
          </a:prstGeom>
          <a:solidFill>
            <a:srgbClr val="F1F5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1143000" y="1143000"/>
            <a:ext cx="47625" cy="647700"/>
          </a:xfrm>
          <a:prstGeom prst="rect">
            <a:avLst/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390650" y="1143000"/>
            <a:ext cx="419100" cy="6477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1500" b="1">
                <a:solidFill>
                  <a:srgbClr val="2563EB"/>
                </a:solidFill>
                <a:latin typeface="PingFang SC"/>
              </a:rPr>
              <a:t>Q1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905000" y="1143000"/>
            <a:ext cx="8572500" cy="6477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1350" b="0">
                <a:solidFill>
                  <a:srgbClr val="475569"/>
                </a:solidFill>
                <a:latin typeface="PingFang SC"/>
              </a:rPr>
              <a:t>四道防线各拦住什么?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1143000" y="1905000"/>
            <a:ext cx="9906000" cy="590550"/>
          </a:xfrm>
          <a:prstGeom prst="roundRect">
            <a:avLst>
              <a:gd name="adj" fmla="val 8000"/>
            </a:avLst>
          </a:prstGeom>
          <a:solidFill>
            <a:srgbClr val="F1F5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1143000" y="1905000"/>
            <a:ext cx="47625" cy="647700"/>
          </a:xfrm>
          <a:prstGeom prst="rect">
            <a:avLst/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390650" y="1905000"/>
            <a:ext cx="419100" cy="6477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1500" b="1">
                <a:solidFill>
                  <a:srgbClr val="2563EB"/>
                </a:solidFill>
                <a:latin typeface="PingFang SC"/>
              </a:rPr>
              <a:t>Q2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905000" y="1905000"/>
            <a:ext cx="8572500" cy="6477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1350" b="0">
                <a:solidFill>
                  <a:srgbClr val="475569"/>
                </a:solidFill>
                <a:latin typeface="PingFang SC"/>
              </a:rPr>
              <a:t>为什么 DANGEROUS 需要确认凭据?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1143000" y="2667000"/>
            <a:ext cx="9906000" cy="590550"/>
          </a:xfrm>
          <a:prstGeom prst="roundRect">
            <a:avLst>
              <a:gd name="adj" fmla="val 8000"/>
            </a:avLst>
          </a:prstGeom>
          <a:solidFill>
            <a:srgbClr val="F1F5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1143000" y="2667000"/>
            <a:ext cx="47625" cy="647700"/>
          </a:xfrm>
          <a:prstGeom prst="rect">
            <a:avLst/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1390650" y="2667000"/>
            <a:ext cx="419100" cy="6477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1500" b="1">
                <a:solidFill>
                  <a:srgbClr val="2563EB"/>
                </a:solidFill>
                <a:latin typeface="PingFang SC"/>
              </a:rPr>
              <a:t>Q3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905000" y="2667000"/>
            <a:ext cx="8572500" cy="6477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1350" b="0">
                <a:solidFill>
                  <a:srgbClr val="475569"/>
                </a:solidFill>
                <a:latin typeface="PingFang SC"/>
              </a:rPr>
              <a:t>非幂等工具的重试原则?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1143000" y="3429000"/>
            <a:ext cx="9906000" cy="590550"/>
          </a:xfrm>
          <a:prstGeom prst="roundRect">
            <a:avLst>
              <a:gd name="adj" fmla="val 8000"/>
            </a:avLst>
          </a:prstGeom>
          <a:solidFill>
            <a:srgbClr val="F1F5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1143000" y="3429000"/>
            <a:ext cx="47625" cy="647700"/>
          </a:xfrm>
          <a:prstGeom prst="rect">
            <a:avLst/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1390650" y="3429000"/>
            <a:ext cx="419100" cy="6477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1500" b="1">
                <a:solidFill>
                  <a:srgbClr val="2563EB"/>
                </a:solidFill>
                <a:latin typeface="PingFang SC"/>
              </a:rPr>
              <a:t>Q4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905000" y="3429000"/>
            <a:ext cx="8572500" cy="6477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1350" b="0">
                <a:solidFill>
                  <a:srgbClr val="475569"/>
                </a:solidFill>
                <a:latin typeface="PingFang SC"/>
              </a:rPr>
              <a:t>脱敏应该在哪一层做?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0287000" y="6534150"/>
            <a:ext cx="1619250" cy="2667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>
              <a:lnSpc>
                <a:spcPct val="100000"/>
              </a:lnSpc>
            </a:pPr>
            <a:r>
              <a:rPr sz="900" b="0">
                <a:solidFill>
                  <a:srgbClr val="94A3B8"/>
                </a:solidFill>
                <a:latin typeface="PingFang SC"/>
              </a:rPr>
              <a:t>第2章 · 88/141</a:t>
            </a:r>
          </a:p>
        </p:txBody>
      </p:sp>
    </p:spTree>
  </p:cSld>
  <p:clrMapOvr>
    <a:masterClrMapping/>
  </p:clrMapOvr>
</p:sld>
</file>

<file path=ppt/slides/slide8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0B1D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857250" y="952500"/>
            <a:ext cx="323850" cy="76200"/>
          </a:xfrm>
          <a:prstGeom prst="rect">
            <a:avLst/>
          </a:prstGeom>
          <a:solidFill>
            <a:srgbClr val="27406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1295400" y="952500"/>
            <a:ext cx="323850" cy="76200"/>
          </a:xfrm>
          <a:prstGeom prst="rect">
            <a:avLst/>
          </a:prstGeom>
          <a:solidFill>
            <a:srgbClr val="27406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1733550" y="952500"/>
            <a:ext cx="323850" cy="76200"/>
          </a:xfrm>
          <a:prstGeom prst="rect">
            <a:avLst/>
          </a:prstGeom>
          <a:solidFill>
            <a:srgbClr val="27406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2171700" y="952500"/>
            <a:ext cx="323850" cy="76200"/>
          </a:xfrm>
          <a:prstGeom prst="rect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2609850" y="952500"/>
            <a:ext cx="323850" cy="76200"/>
          </a:xfrm>
          <a:prstGeom prst="rect">
            <a:avLst/>
          </a:prstGeom>
          <a:solidFill>
            <a:srgbClr val="27406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857250" y="2381250"/>
            <a:ext cx="1143000" cy="57150"/>
          </a:xfrm>
          <a:prstGeom prst="rect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857250" y="2857500"/>
            <a:ext cx="9906000" cy="12382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5000"/>
              </a:lnSpc>
            </a:pPr>
            <a:r>
              <a:rPr sz="3200" b="1">
                <a:solidFill>
                  <a:srgbClr val="FFFFFF"/>
                </a:solidFill>
                <a:latin typeface="PingFang SC"/>
              </a:rPr>
              <a:t>讲次 2-4 · MCP 协议与接入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57250" y="4286250"/>
            <a:ext cx="9334500" cy="4762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1400" b="0">
                <a:solidFill>
                  <a:srgbClr val="F59E0B"/>
                </a:solidFill>
                <a:latin typeface="PingFang SC"/>
              </a:rPr>
              <a:t>LECTURE 04 / 05</a:t>
            </a:r>
          </a:p>
        </p:txBody>
      </p:sp>
    </p:spTree>
  </p:cSld>
  <p:clrMapOvr>
    <a:masterClrMapping/>
  </p:clrMapOvr>
</p:sld>
</file>

<file path=ppt/slides/slide9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704850"/>
          </a:xfrm>
          <a:prstGeom prst="rect">
            <a:avLst/>
          </a:prstGeom>
          <a:solidFill>
            <a:srgbClr val="0B1D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76200" cy="704850"/>
          </a:xfrm>
          <a:prstGeom prst="rect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266700" y="0"/>
            <a:ext cx="10287000" cy="7048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2000" b="1">
                <a:solidFill>
                  <a:srgbClr val="FFFFFF"/>
                </a:solidFill>
                <a:latin typeface="PingFang SC"/>
              </a:rPr>
              <a:t>MCP 是什么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334500" y="0"/>
            <a:ext cx="2667000" cy="7048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>
              <a:lnSpc>
                <a:spcPct val="100000"/>
              </a:lnSpc>
            </a:pPr>
            <a:r>
              <a:rPr sz="1100" b="0">
                <a:solidFill>
                  <a:srgbClr val="94A3B8"/>
                </a:solidFill>
                <a:latin typeface="PingFang SC"/>
              </a:rPr>
              <a:t>第2章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876300" y="914400"/>
            <a:ext cx="10439400" cy="10287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DDE5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876300" y="914400"/>
            <a:ext cx="57150" cy="1028700"/>
          </a:xfrm>
          <a:prstGeom prst="rect">
            <a:avLst/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ounded Rectangle 7"/>
          <p:cNvSpPr/>
          <p:nvPr/>
        </p:nvSpPr>
        <p:spPr>
          <a:xfrm>
            <a:off x="1047750" y="1285875"/>
            <a:ext cx="285750" cy="285750"/>
          </a:xfrm>
          <a:prstGeom prst="roundRect">
            <a:avLst>
              <a:gd name="adj" fmla="val 8000"/>
            </a:avLst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047750" y="1276350"/>
            <a:ext cx="285750" cy="2857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300" b="1">
                <a:solidFill>
                  <a:srgbClr val="FFFFFF"/>
                </a:solidFill>
                <a:latin typeface="PingFang SC"/>
              </a:rPr>
              <a:t>1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485900" y="914400"/>
            <a:ext cx="9601200" cy="10287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12000"/>
              </a:lnSpc>
            </a:pPr>
            <a:r>
              <a:rPr sz="1400" b="1">
                <a:solidFill>
                  <a:srgbClr val="475569"/>
                </a:solidFill>
                <a:latin typeface="PingFang SC"/>
              </a:rPr>
              <a:t>Model Context Protocol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876300" y="2114550"/>
            <a:ext cx="10439400" cy="10287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DDE5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876300" y="2114550"/>
            <a:ext cx="57150" cy="1028700"/>
          </a:xfrm>
          <a:prstGeom prst="rect">
            <a:avLst/>
          </a:prstGeom>
          <a:solidFill>
            <a:srgbClr val="14B8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ounded Rectangle 12"/>
          <p:cNvSpPr/>
          <p:nvPr/>
        </p:nvSpPr>
        <p:spPr>
          <a:xfrm>
            <a:off x="1047750" y="2486025"/>
            <a:ext cx="285750" cy="285750"/>
          </a:xfrm>
          <a:prstGeom prst="roundRect">
            <a:avLst>
              <a:gd name="adj" fmla="val 8000"/>
            </a:avLst>
          </a:prstGeom>
          <a:solidFill>
            <a:srgbClr val="14B8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1047750" y="2476500"/>
            <a:ext cx="285750" cy="2857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300" b="1">
                <a:solidFill>
                  <a:srgbClr val="FFFFFF"/>
                </a:solidFill>
                <a:latin typeface="PingFang SC"/>
              </a:rPr>
              <a:t>2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485900" y="2114550"/>
            <a:ext cx="9601200" cy="10287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12000"/>
              </a:lnSpc>
            </a:pPr>
            <a:r>
              <a:rPr sz="1400" b="1">
                <a:solidFill>
                  <a:srgbClr val="475569"/>
                </a:solidFill>
                <a:latin typeface="PingFang SC"/>
              </a:rPr>
              <a:t>连接模型与外部工具/资源的标准协议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876300" y="3314700"/>
            <a:ext cx="10439400" cy="10287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DDE5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876300" y="3314700"/>
            <a:ext cx="57150" cy="1028700"/>
          </a:xfrm>
          <a:prstGeom prst="rect">
            <a:avLst/>
          </a:prstGeom>
          <a:solidFill>
            <a:srgbClr val="8B5C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ounded Rectangle 17"/>
          <p:cNvSpPr/>
          <p:nvPr/>
        </p:nvSpPr>
        <p:spPr>
          <a:xfrm>
            <a:off x="1047750" y="3686175"/>
            <a:ext cx="285750" cy="285750"/>
          </a:xfrm>
          <a:prstGeom prst="roundRect">
            <a:avLst>
              <a:gd name="adj" fmla="val 8000"/>
            </a:avLst>
          </a:prstGeom>
          <a:solidFill>
            <a:srgbClr val="8B5C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1047750" y="3676650"/>
            <a:ext cx="285750" cy="2857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300" b="1">
                <a:solidFill>
                  <a:srgbClr val="FFFFFF"/>
                </a:solidFill>
                <a:latin typeface="PingFang SC"/>
              </a:rPr>
              <a:t>3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485900" y="3314700"/>
            <a:ext cx="9601200" cy="10287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12000"/>
              </a:lnSpc>
            </a:pPr>
            <a:r>
              <a:rPr sz="1400" b="1">
                <a:solidFill>
                  <a:srgbClr val="475569"/>
                </a:solidFill>
                <a:latin typeface="PingFang SC"/>
              </a:rPr>
              <a:t>Client/Server 架构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876300" y="4514850"/>
            <a:ext cx="10439400" cy="10287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DDE5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ectangle 21"/>
          <p:cNvSpPr/>
          <p:nvPr/>
        </p:nvSpPr>
        <p:spPr>
          <a:xfrm>
            <a:off x="876300" y="4514850"/>
            <a:ext cx="57150" cy="1028700"/>
          </a:xfrm>
          <a:prstGeom prst="rect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ounded Rectangle 22"/>
          <p:cNvSpPr/>
          <p:nvPr/>
        </p:nvSpPr>
        <p:spPr>
          <a:xfrm>
            <a:off x="1047750" y="4886325"/>
            <a:ext cx="285750" cy="285750"/>
          </a:xfrm>
          <a:prstGeom prst="roundRect">
            <a:avLst>
              <a:gd name="adj" fmla="val 8000"/>
            </a:avLst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1047750" y="4876800"/>
            <a:ext cx="285750" cy="2857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300" b="1">
                <a:solidFill>
                  <a:srgbClr val="FFFFFF"/>
                </a:solidFill>
                <a:latin typeface="PingFang SC"/>
              </a:rPr>
              <a:t>4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1485900" y="4514850"/>
            <a:ext cx="9601200" cy="10287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12000"/>
              </a:lnSpc>
            </a:pPr>
            <a:r>
              <a:rPr sz="1400" b="1">
                <a:solidFill>
                  <a:srgbClr val="475569"/>
                </a:solidFill>
                <a:latin typeface="PingFang SC"/>
              </a:rPr>
              <a:t>Anthropic 开源,已成行业趋势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10287000" y="6534150"/>
            <a:ext cx="1619250" cy="2667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>
              <a:lnSpc>
                <a:spcPct val="100000"/>
              </a:lnSpc>
            </a:pPr>
            <a:r>
              <a:rPr sz="900" b="0">
                <a:solidFill>
                  <a:srgbClr val="94A3B8"/>
                </a:solidFill>
                <a:latin typeface="PingFang SC"/>
              </a:rPr>
              <a:t>第2章 · 90/141</a:t>
            </a:r>
          </a:p>
        </p:txBody>
      </p:sp>
    </p:spTree>
  </p:cSld>
  <p:clrMapOvr>
    <a:masterClrMapping/>
  </p:clrMapOvr>
</p:sld>
</file>

<file path=ppt/slides/slide9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704850"/>
          </a:xfrm>
          <a:prstGeom prst="rect">
            <a:avLst/>
          </a:prstGeom>
          <a:solidFill>
            <a:srgbClr val="0B1D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76200" cy="704850"/>
          </a:xfrm>
          <a:prstGeom prst="rect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266700" y="0"/>
            <a:ext cx="10287000" cy="7048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2000" b="1">
                <a:solidFill>
                  <a:srgbClr val="FFFFFF"/>
                </a:solidFill>
                <a:latin typeface="PingFang SC"/>
              </a:rPr>
              <a:t>2026 前沿①:MCP 生态演进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1047750" y="1724025"/>
            <a:ext cx="4924425" cy="15240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DDE5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1047750" y="1724025"/>
            <a:ext cx="4924425" cy="57150"/>
          </a:xfrm>
          <a:prstGeom prst="rect">
            <a:avLst/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ounded Rectangle 6"/>
          <p:cNvSpPr/>
          <p:nvPr/>
        </p:nvSpPr>
        <p:spPr>
          <a:xfrm>
            <a:off x="1200150" y="1914525"/>
            <a:ext cx="323850" cy="323850"/>
          </a:xfrm>
          <a:prstGeom prst="roundRect">
            <a:avLst>
              <a:gd name="adj" fmla="val 8000"/>
            </a:avLst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200150" y="1914525"/>
            <a:ext cx="323850" cy="3238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200" b="1">
                <a:solidFill>
                  <a:srgbClr val="FFFFFF"/>
                </a:solidFill>
                <a:latin typeface="PingFang SC"/>
              </a:rPr>
              <a:t>01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638300" y="1933575"/>
            <a:ext cx="4181475" cy="2857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1400" b="1">
                <a:solidFill>
                  <a:srgbClr val="0B1D3A"/>
                </a:solidFill>
                <a:latin typeface="PingFang SC"/>
              </a:rPr>
              <a:t>Streamable HTTP 取代 stdio 为主流传输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200150" y="2333625"/>
            <a:ext cx="4619625" cy="7810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10000"/>
              </a:lnSpc>
            </a:pPr>
            <a:r>
              <a:rPr sz="1150" b="0">
                <a:solidFill>
                  <a:srgbClr val="475569"/>
                </a:solidFill>
                <a:latin typeface="PingFang SC"/>
              </a:rPr>
              <a:t/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6219825" y="1724025"/>
            <a:ext cx="4924425" cy="15240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DDE5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6219825" y="1724025"/>
            <a:ext cx="4924425" cy="57150"/>
          </a:xfrm>
          <a:prstGeom prst="rect">
            <a:avLst/>
          </a:prstGeom>
          <a:solidFill>
            <a:srgbClr val="14B8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ounded Rectangle 12"/>
          <p:cNvSpPr/>
          <p:nvPr/>
        </p:nvSpPr>
        <p:spPr>
          <a:xfrm>
            <a:off x="6372225" y="1914525"/>
            <a:ext cx="323850" cy="323850"/>
          </a:xfrm>
          <a:prstGeom prst="roundRect">
            <a:avLst>
              <a:gd name="adj" fmla="val 8000"/>
            </a:avLst>
          </a:prstGeom>
          <a:solidFill>
            <a:srgbClr val="14B8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6372225" y="1914525"/>
            <a:ext cx="323850" cy="3238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200" b="1">
                <a:solidFill>
                  <a:srgbClr val="FFFFFF"/>
                </a:solidFill>
                <a:latin typeface="PingFang SC"/>
              </a:rPr>
              <a:t>02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810375" y="1933575"/>
            <a:ext cx="4181475" cy="2857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1400" b="1">
                <a:solidFill>
                  <a:srgbClr val="0B1D3A"/>
                </a:solidFill>
                <a:latin typeface="PingFang SC"/>
              </a:rPr>
              <a:t>Server 目录化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372225" y="2333625"/>
            <a:ext cx="4619625" cy="7810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10000"/>
              </a:lnSpc>
            </a:pPr>
            <a:r>
              <a:rPr sz="1150" b="0">
                <a:solidFill>
                  <a:srgbClr val="475569"/>
                </a:solidFill>
                <a:latin typeface="PingFang SC"/>
              </a:rPr>
              <a:t>一次接入处处复用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1047750" y="3495675"/>
            <a:ext cx="4924425" cy="15240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DDE5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1047750" y="3495675"/>
            <a:ext cx="4924425" cy="57150"/>
          </a:xfrm>
          <a:prstGeom prst="rect">
            <a:avLst/>
          </a:prstGeom>
          <a:solidFill>
            <a:srgbClr val="8B5C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ounded Rectangle 18"/>
          <p:cNvSpPr/>
          <p:nvPr/>
        </p:nvSpPr>
        <p:spPr>
          <a:xfrm>
            <a:off x="1200150" y="3686175"/>
            <a:ext cx="323850" cy="323850"/>
          </a:xfrm>
          <a:prstGeom prst="roundRect">
            <a:avLst>
              <a:gd name="adj" fmla="val 8000"/>
            </a:avLst>
          </a:prstGeom>
          <a:solidFill>
            <a:srgbClr val="8B5C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1200150" y="3686175"/>
            <a:ext cx="323850" cy="3238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200" b="1">
                <a:solidFill>
                  <a:srgbClr val="FFFFFF"/>
                </a:solidFill>
                <a:latin typeface="PingFang SC"/>
              </a:rPr>
              <a:t>03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638300" y="3705225"/>
            <a:ext cx="4181475" cy="2857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1400" b="1">
                <a:solidFill>
                  <a:srgbClr val="0B1D3A"/>
                </a:solidFill>
                <a:latin typeface="PingFang SC"/>
              </a:rPr>
              <a:t>企业网关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200150" y="4105275"/>
            <a:ext cx="4619625" cy="7810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10000"/>
              </a:lnSpc>
            </a:pPr>
            <a:r>
              <a:rPr sz="1150" b="0">
                <a:solidFill>
                  <a:srgbClr val="475569"/>
                </a:solidFill>
                <a:latin typeface="PingFang SC"/>
              </a:rPr>
              <a:t>集中鉴权/审计/配额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6219825" y="3495675"/>
            <a:ext cx="4924425" cy="15240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DDE5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Rectangle 23"/>
          <p:cNvSpPr/>
          <p:nvPr/>
        </p:nvSpPr>
        <p:spPr>
          <a:xfrm>
            <a:off x="6219825" y="3495675"/>
            <a:ext cx="4924425" cy="57150"/>
          </a:xfrm>
          <a:prstGeom prst="rect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Rounded Rectangle 24"/>
          <p:cNvSpPr/>
          <p:nvPr/>
        </p:nvSpPr>
        <p:spPr>
          <a:xfrm>
            <a:off x="6372225" y="3686175"/>
            <a:ext cx="323850" cy="323850"/>
          </a:xfrm>
          <a:prstGeom prst="roundRect">
            <a:avLst>
              <a:gd name="adj" fmla="val 8000"/>
            </a:avLst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6372225" y="3686175"/>
            <a:ext cx="323850" cy="3238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200" b="1">
                <a:solidFill>
                  <a:srgbClr val="FFFFFF"/>
                </a:solidFill>
                <a:latin typeface="PingFang SC"/>
              </a:rPr>
              <a:t>04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6810375" y="3705225"/>
            <a:ext cx="4181475" cy="2857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1400" b="1">
                <a:solidFill>
                  <a:srgbClr val="0B1D3A"/>
                </a:solidFill>
                <a:latin typeface="PingFang SC"/>
              </a:rPr>
              <a:t>本平台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6372225" y="4105275"/>
            <a:ext cx="4619625" cy="7810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10000"/>
              </a:lnSpc>
            </a:pPr>
            <a:r>
              <a:rPr sz="1150" b="0">
                <a:solidFill>
                  <a:srgbClr val="475569"/>
                </a:solidFill>
                <a:latin typeface="PingFang SC"/>
              </a:rPr>
              <a:t>PulsarAuditBus+三层权限|与 OWASP LLM Top10 联动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10287000" y="6534150"/>
            <a:ext cx="1619250" cy="2667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>
              <a:lnSpc>
                <a:spcPct val="100000"/>
              </a:lnSpc>
            </a:pPr>
            <a:r>
              <a:rPr sz="900" b="0">
                <a:solidFill>
                  <a:srgbClr val="94A3B8"/>
                </a:solidFill>
                <a:latin typeface="PingFang SC"/>
              </a:rPr>
              <a:t>第2章 · 91/141</a:t>
            </a:r>
          </a:p>
        </p:txBody>
      </p:sp>
    </p:spTree>
  </p:cSld>
  <p:clrMapOvr>
    <a:masterClrMapping/>
  </p:clrMapOvr>
</p:sld>
</file>

<file path=ppt/slides/slide9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704850"/>
          </a:xfrm>
          <a:prstGeom prst="rect">
            <a:avLst/>
          </a:prstGeom>
          <a:solidFill>
            <a:srgbClr val="0B1D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76200" cy="704850"/>
          </a:xfrm>
          <a:prstGeom prst="rect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266700" y="0"/>
            <a:ext cx="10287000" cy="7048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2000" b="1">
                <a:solidFill>
                  <a:srgbClr val="FFFFFF"/>
                </a:solidFill>
                <a:latin typeface="PingFang SC"/>
              </a:rPr>
              <a:t>MCP 调用时序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381000" y="990600"/>
            <a:ext cx="1905000" cy="400050"/>
          </a:xfrm>
          <a:prstGeom prst="roundRect">
            <a:avLst>
              <a:gd name="adj" fmla="val 8000"/>
            </a:avLst>
          </a:prstGeom>
          <a:solidFill>
            <a:srgbClr val="142A4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381000" y="990600"/>
            <a:ext cx="1905000" cy="4000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200" b="1">
                <a:solidFill>
                  <a:srgbClr val="FFFFFF"/>
                </a:solidFill>
                <a:latin typeface="PingFang SC"/>
              </a:rPr>
              <a:t>Agent</a:t>
            </a:r>
          </a:p>
        </p:txBody>
      </p:sp>
      <p:cxnSp>
        <p:nvCxnSpPr>
          <p:cNvPr id="7" name="Connector 6"/>
          <p:cNvCxnSpPr/>
          <p:nvPr/>
        </p:nvCxnSpPr>
        <p:spPr>
          <a:xfrm>
            <a:off x="1333500" y="1428750"/>
            <a:ext cx="0" cy="4381500"/>
          </a:xfrm>
          <a:prstGeom prst="line">
            <a:avLst/>
          </a:prstGeom>
          <a:ln w="12700">
            <a:solidFill>
              <a:srgbClr val="DDE5EE"/>
            </a:solidFill>
            <a:prstDash val="dash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8" name="Rounded Rectangle 7"/>
          <p:cNvSpPr/>
          <p:nvPr/>
        </p:nvSpPr>
        <p:spPr>
          <a:xfrm>
            <a:off x="3556000" y="990600"/>
            <a:ext cx="1905000" cy="400050"/>
          </a:xfrm>
          <a:prstGeom prst="roundRect">
            <a:avLst>
              <a:gd name="adj" fmla="val 8000"/>
            </a:avLst>
          </a:prstGeom>
          <a:solidFill>
            <a:srgbClr val="142A4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3556000" y="990600"/>
            <a:ext cx="1905000" cy="4000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200" b="1">
                <a:solidFill>
                  <a:srgbClr val="FFFFFF"/>
                </a:solidFill>
                <a:latin typeface="PingFang SC"/>
              </a:rPr>
              <a:t>MCP Client</a:t>
            </a:r>
          </a:p>
        </p:txBody>
      </p:sp>
      <p:cxnSp>
        <p:nvCxnSpPr>
          <p:cNvPr id="10" name="Connector 9"/>
          <p:cNvCxnSpPr/>
          <p:nvPr/>
        </p:nvCxnSpPr>
        <p:spPr>
          <a:xfrm>
            <a:off x="4508500" y="1428750"/>
            <a:ext cx="0" cy="4381500"/>
          </a:xfrm>
          <a:prstGeom prst="line">
            <a:avLst/>
          </a:prstGeom>
          <a:ln w="12700">
            <a:solidFill>
              <a:srgbClr val="DDE5EE"/>
            </a:solidFill>
            <a:prstDash val="dash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1" name="Rounded Rectangle 10"/>
          <p:cNvSpPr/>
          <p:nvPr/>
        </p:nvSpPr>
        <p:spPr>
          <a:xfrm>
            <a:off x="6731000" y="990600"/>
            <a:ext cx="1905000" cy="400050"/>
          </a:xfrm>
          <a:prstGeom prst="roundRect">
            <a:avLst>
              <a:gd name="adj" fmla="val 8000"/>
            </a:avLst>
          </a:prstGeom>
          <a:solidFill>
            <a:srgbClr val="142A4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731000" y="990600"/>
            <a:ext cx="1905000" cy="4000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200" b="1">
                <a:solidFill>
                  <a:srgbClr val="FFFFFF"/>
                </a:solidFill>
                <a:latin typeface="PingFang SC"/>
              </a:rPr>
              <a:t>MCP Server</a:t>
            </a:r>
          </a:p>
        </p:txBody>
      </p:sp>
      <p:cxnSp>
        <p:nvCxnSpPr>
          <p:cNvPr id="13" name="Connector 12"/>
          <p:cNvCxnSpPr/>
          <p:nvPr/>
        </p:nvCxnSpPr>
        <p:spPr>
          <a:xfrm>
            <a:off x="7683500" y="1428750"/>
            <a:ext cx="0" cy="4381500"/>
          </a:xfrm>
          <a:prstGeom prst="line">
            <a:avLst/>
          </a:prstGeom>
          <a:ln w="12700">
            <a:solidFill>
              <a:srgbClr val="DDE5EE"/>
            </a:solidFill>
            <a:prstDash val="dash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4" name="Rounded Rectangle 13"/>
          <p:cNvSpPr/>
          <p:nvPr/>
        </p:nvSpPr>
        <p:spPr>
          <a:xfrm>
            <a:off x="9906000" y="990600"/>
            <a:ext cx="1905000" cy="400050"/>
          </a:xfrm>
          <a:prstGeom prst="roundRect">
            <a:avLst>
              <a:gd name="adj" fmla="val 8000"/>
            </a:avLst>
          </a:prstGeom>
          <a:solidFill>
            <a:srgbClr val="142A4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9906000" y="990600"/>
            <a:ext cx="1905000" cy="4000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200" b="1">
                <a:solidFill>
                  <a:srgbClr val="FFFFFF"/>
                </a:solidFill>
                <a:latin typeface="PingFang SC"/>
              </a:rPr>
              <a:t>外部资源</a:t>
            </a:r>
          </a:p>
        </p:txBody>
      </p:sp>
      <p:cxnSp>
        <p:nvCxnSpPr>
          <p:cNvPr id="16" name="Connector 15"/>
          <p:cNvCxnSpPr/>
          <p:nvPr/>
        </p:nvCxnSpPr>
        <p:spPr>
          <a:xfrm>
            <a:off x="10858500" y="1428750"/>
            <a:ext cx="0" cy="4381500"/>
          </a:xfrm>
          <a:prstGeom prst="line">
            <a:avLst/>
          </a:prstGeom>
          <a:ln w="12700">
            <a:solidFill>
              <a:srgbClr val="DDE5EE"/>
            </a:solidFill>
            <a:prstDash val="dash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7" name="Connector 16"/>
          <p:cNvCxnSpPr/>
          <p:nvPr/>
        </p:nvCxnSpPr>
        <p:spPr>
          <a:xfrm>
            <a:off x="1333500" y="1809750"/>
            <a:ext cx="3175000" cy="0"/>
          </a:xfrm>
          <a:prstGeom prst="line">
            <a:avLst/>
          </a:prstGeom>
          <a:ln w="20320">
            <a:solidFill>
              <a:srgbClr val="2563E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8" name="Isosceles Triangle 17"/>
          <p:cNvSpPr/>
          <p:nvPr/>
        </p:nvSpPr>
        <p:spPr>
          <a:xfrm rot="5400000">
            <a:off x="4422776" y="1766888"/>
            <a:ext cx="85725" cy="85725"/>
          </a:xfrm>
          <a:prstGeom prst="triangle">
            <a:avLst/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1397000" y="1524000"/>
            <a:ext cx="3048000" cy="2286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000" b="0">
                <a:solidFill>
                  <a:srgbClr val="2563EB"/>
                </a:solidFill>
                <a:latin typeface="PingFang SC"/>
              </a:rPr>
              <a:t>1. 发现工具清单</a:t>
            </a:r>
          </a:p>
        </p:txBody>
      </p:sp>
      <p:cxnSp>
        <p:nvCxnSpPr>
          <p:cNvPr id="20" name="Connector 19"/>
          <p:cNvCxnSpPr/>
          <p:nvPr/>
        </p:nvCxnSpPr>
        <p:spPr>
          <a:xfrm>
            <a:off x="4508500" y="2492375"/>
            <a:ext cx="3175000" cy="0"/>
          </a:xfrm>
          <a:prstGeom prst="line">
            <a:avLst/>
          </a:prstGeom>
          <a:ln w="20320">
            <a:solidFill>
              <a:srgbClr val="2563E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1" name="Isosceles Triangle 20"/>
          <p:cNvSpPr/>
          <p:nvPr/>
        </p:nvSpPr>
        <p:spPr>
          <a:xfrm rot="5400000">
            <a:off x="7597776" y="2449513"/>
            <a:ext cx="85725" cy="85725"/>
          </a:xfrm>
          <a:prstGeom prst="triangle">
            <a:avLst/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4572000" y="2206625"/>
            <a:ext cx="3048000" cy="2286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000" b="0">
                <a:solidFill>
                  <a:srgbClr val="2563EB"/>
                </a:solidFill>
                <a:latin typeface="PingFang SC"/>
              </a:rPr>
              <a:t>2. tools/call(参数)</a:t>
            </a:r>
          </a:p>
        </p:txBody>
      </p:sp>
      <p:cxnSp>
        <p:nvCxnSpPr>
          <p:cNvPr id="23" name="Connector 22"/>
          <p:cNvCxnSpPr/>
          <p:nvPr/>
        </p:nvCxnSpPr>
        <p:spPr>
          <a:xfrm>
            <a:off x="7683500" y="3175000"/>
            <a:ext cx="3175000" cy="0"/>
          </a:xfrm>
          <a:prstGeom prst="line">
            <a:avLst/>
          </a:prstGeom>
          <a:ln w="20320">
            <a:solidFill>
              <a:srgbClr val="2563E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4" name="Isosceles Triangle 23"/>
          <p:cNvSpPr/>
          <p:nvPr/>
        </p:nvSpPr>
        <p:spPr>
          <a:xfrm rot="5400000">
            <a:off x="10772776" y="3132138"/>
            <a:ext cx="85725" cy="85725"/>
          </a:xfrm>
          <a:prstGeom prst="triangle">
            <a:avLst/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7747000" y="2889250"/>
            <a:ext cx="3048000" cy="2286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000" b="0">
                <a:solidFill>
                  <a:srgbClr val="2563EB"/>
                </a:solidFill>
                <a:latin typeface="PingFang SC"/>
              </a:rPr>
              <a:t>3. 执行(受白名单约束)</a:t>
            </a:r>
          </a:p>
        </p:txBody>
      </p:sp>
      <p:cxnSp>
        <p:nvCxnSpPr>
          <p:cNvPr id="26" name="Connector 25"/>
          <p:cNvCxnSpPr/>
          <p:nvPr/>
        </p:nvCxnSpPr>
        <p:spPr>
          <a:xfrm flipH="1">
            <a:off x="7683500" y="3857625"/>
            <a:ext cx="3175000" cy="0"/>
          </a:xfrm>
          <a:prstGeom prst="line">
            <a:avLst/>
          </a:prstGeom>
          <a:ln w="20320">
            <a:solidFill>
              <a:srgbClr val="F59E0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7" name="Isosceles Triangle 26"/>
          <p:cNvSpPr/>
          <p:nvPr/>
        </p:nvSpPr>
        <p:spPr>
          <a:xfrm rot="16200000">
            <a:off x="7683500" y="3814763"/>
            <a:ext cx="85725" cy="85725"/>
          </a:xfrm>
          <a:prstGeom prst="triangle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7747000" y="3571875"/>
            <a:ext cx="3048000" cy="2286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000" b="0">
                <a:solidFill>
                  <a:srgbClr val="F59E0B"/>
                </a:solidFill>
                <a:latin typeface="PingFang SC"/>
              </a:rPr>
              <a:t>4. 结果+元数据</a:t>
            </a:r>
          </a:p>
        </p:txBody>
      </p:sp>
      <p:cxnSp>
        <p:nvCxnSpPr>
          <p:cNvPr id="29" name="Connector 28"/>
          <p:cNvCxnSpPr/>
          <p:nvPr/>
        </p:nvCxnSpPr>
        <p:spPr>
          <a:xfrm flipH="1">
            <a:off x="4508500" y="4540250"/>
            <a:ext cx="3175000" cy="0"/>
          </a:xfrm>
          <a:prstGeom prst="line">
            <a:avLst/>
          </a:prstGeom>
          <a:ln w="20320">
            <a:solidFill>
              <a:srgbClr val="F59E0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0" name="Isosceles Triangle 29"/>
          <p:cNvSpPr/>
          <p:nvPr/>
        </p:nvSpPr>
        <p:spPr>
          <a:xfrm rot="16200000">
            <a:off x="4508500" y="4497388"/>
            <a:ext cx="85725" cy="85725"/>
          </a:xfrm>
          <a:prstGeom prst="triangle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4572000" y="4254500"/>
            <a:ext cx="3048000" cy="2286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000" b="0">
                <a:solidFill>
                  <a:srgbClr val="F59E0B"/>
                </a:solidFill>
                <a:latin typeface="PingFang SC"/>
              </a:rPr>
              <a:t>5. 结构化返回</a:t>
            </a:r>
          </a:p>
        </p:txBody>
      </p:sp>
      <p:cxnSp>
        <p:nvCxnSpPr>
          <p:cNvPr id="32" name="Connector 31"/>
          <p:cNvCxnSpPr/>
          <p:nvPr/>
        </p:nvCxnSpPr>
        <p:spPr>
          <a:xfrm flipH="1">
            <a:off x="1333500" y="5222875"/>
            <a:ext cx="3175000" cy="0"/>
          </a:xfrm>
          <a:prstGeom prst="line">
            <a:avLst/>
          </a:prstGeom>
          <a:ln w="20320">
            <a:solidFill>
              <a:srgbClr val="F59E0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3" name="Isosceles Triangle 32"/>
          <p:cNvSpPr/>
          <p:nvPr/>
        </p:nvSpPr>
        <p:spPr>
          <a:xfrm rot="16200000">
            <a:off x="1333500" y="5180013"/>
            <a:ext cx="85725" cy="85725"/>
          </a:xfrm>
          <a:prstGeom prst="triangle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1397000" y="4937125"/>
            <a:ext cx="3048000" cy="2286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000" b="0">
                <a:solidFill>
                  <a:srgbClr val="F59E0B"/>
                </a:solidFill>
                <a:latin typeface="PingFang SC"/>
              </a:rPr>
              <a:t>6. 观察回灌|三层权限:Server/工具/参数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10287000" y="6534150"/>
            <a:ext cx="1619250" cy="2667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>
              <a:lnSpc>
                <a:spcPct val="100000"/>
              </a:lnSpc>
            </a:pPr>
            <a:r>
              <a:rPr sz="900" b="0">
                <a:solidFill>
                  <a:srgbClr val="94A3B8"/>
                </a:solidFill>
                <a:latin typeface="PingFang SC"/>
              </a:rPr>
              <a:t>第2章 · 92/141</a:t>
            </a:r>
          </a:p>
        </p:txBody>
      </p:sp>
    </p:spTree>
  </p:cSld>
  <p:clrMapOvr>
    <a:masterClrMapping/>
  </p:clrMapOvr>
</p:sld>
</file>

<file path=ppt/slides/slide9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704850"/>
          </a:xfrm>
          <a:prstGeom prst="rect">
            <a:avLst/>
          </a:prstGeom>
          <a:solidFill>
            <a:srgbClr val="0B1D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76200" cy="704850"/>
          </a:xfrm>
          <a:prstGeom prst="rect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266700" y="0"/>
            <a:ext cx="10287000" cy="7048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2000" b="1">
                <a:solidFill>
                  <a:srgbClr val="FFFFFF"/>
                </a:solidFill>
                <a:latin typeface="PingFang SC"/>
              </a:rPr>
              <a:t>FC 与 MCP 的分工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334500" y="0"/>
            <a:ext cx="2667000" cy="7048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>
              <a:lnSpc>
                <a:spcPct val="100000"/>
              </a:lnSpc>
            </a:pPr>
            <a:r>
              <a:rPr sz="1100" b="0">
                <a:solidFill>
                  <a:srgbClr val="94A3B8"/>
                </a:solidFill>
                <a:latin typeface="PingFang SC"/>
              </a:rPr>
              <a:t>第2章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876300" y="914400"/>
            <a:ext cx="10439400" cy="10287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DDE5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876300" y="914400"/>
            <a:ext cx="57150" cy="1028700"/>
          </a:xfrm>
          <a:prstGeom prst="rect">
            <a:avLst/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ounded Rectangle 7"/>
          <p:cNvSpPr/>
          <p:nvPr/>
        </p:nvSpPr>
        <p:spPr>
          <a:xfrm>
            <a:off x="1047750" y="1285875"/>
            <a:ext cx="285750" cy="285750"/>
          </a:xfrm>
          <a:prstGeom prst="roundRect">
            <a:avLst>
              <a:gd name="adj" fmla="val 8000"/>
            </a:avLst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047750" y="1276350"/>
            <a:ext cx="285750" cy="2857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300" b="1">
                <a:solidFill>
                  <a:srgbClr val="FFFFFF"/>
                </a:solidFill>
                <a:latin typeface="PingFang SC"/>
              </a:rPr>
              <a:t>1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485900" y="914400"/>
            <a:ext cx="9601200" cy="10287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12000"/>
              </a:lnSpc>
            </a:pPr>
            <a:r>
              <a:rPr sz="1400" b="1">
                <a:solidFill>
                  <a:srgbClr val="475569"/>
                </a:solidFill>
                <a:latin typeface="PingFang SC"/>
              </a:rPr>
              <a:t>Function Calling:模型怎么选工具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876300" y="2114550"/>
            <a:ext cx="10439400" cy="10287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DDE5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876300" y="2114550"/>
            <a:ext cx="57150" cy="1028700"/>
          </a:xfrm>
          <a:prstGeom prst="rect">
            <a:avLst/>
          </a:prstGeom>
          <a:solidFill>
            <a:srgbClr val="14B8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ounded Rectangle 12"/>
          <p:cNvSpPr/>
          <p:nvPr/>
        </p:nvSpPr>
        <p:spPr>
          <a:xfrm>
            <a:off x="1047750" y="2486025"/>
            <a:ext cx="285750" cy="285750"/>
          </a:xfrm>
          <a:prstGeom prst="roundRect">
            <a:avLst>
              <a:gd name="adj" fmla="val 8000"/>
            </a:avLst>
          </a:prstGeom>
          <a:solidFill>
            <a:srgbClr val="14B8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1047750" y="2476500"/>
            <a:ext cx="285750" cy="2857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300" b="1">
                <a:solidFill>
                  <a:srgbClr val="FFFFFF"/>
                </a:solidFill>
                <a:latin typeface="PingFang SC"/>
              </a:rPr>
              <a:t>2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485900" y="2114550"/>
            <a:ext cx="9601200" cy="10287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12000"/>
              </a:lnSpc>
            </a:pPr>
            <a:r>
              <a:rPr sz="1400" b="1">
                <a:solidFill>
                  <a:srgbClr val="475569"/>
                </a:solidFill>
                <a:latin typeface="PingFang SC"/>
              </a:rPr>
              <a:t>MCP:工具怎么标准化接入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876300" y="3314700"/>
            <a:ext cx="10439400" cy="10287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DDE5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876300" y="3314700"/>
            <a:ext cx="57150" cy="1028700"/>
          </a:xfrm>
          <a:prstGeom prst="rect">
            <a:avLst/>
          </a:prstGeom>
          <a:solidFill>
            <a:srgbClr val="8B5C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ounded Rectangle 17"/>
          <p:cNvSpPr/>
          <p:nvPr/>
        </p:nvSpPr>
        <p:spPr>
          <a:xfrm>
            <a:off x="1047750" y="3686175"/>
            <a:ext cx="285750" cy="285750"/>
          </a:xfrm>
          <a:prstGeom prst="roundRect">
            <a:avLst>
              <a:gd name="adj" fmla="val 8000"/>
            </a:avLst>
          </a:prstGeom>
          <a:solidFill>
            <a:srgbClr val="8B5C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1047750" y="3676650"/>
            <a:ext cx="285750" cy="2857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300" b="1">
                <a:solidFill>
                  <a:srgbClr val="FFFFFF"/>
                </a:solidFill>
                <a:latin typeface="PingFang SC"/>
              </a:rPr>
              <a:t>3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485900" y="3314700"/>
            <a:ext cx="9601200" cy="10287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12000"/>
              </a:lnSpc>
            </a:pPr>
            <a:r>
              <a:rPr sz="1400" b="1">
                <a:solidFill>
                  <a:srgbClr val="475569"/>
                </a:solidFill>
                <a:latin typeface="PingFang SC"/>
              </a:rPr>
              <a:t>一个管意图,一个管生态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876300" y="6019800"/>
            <a:ext cx="10439400" cy="514350"/>
          </a:xfrm>
          <a:prstGeom prst="roundRect">
            <a:avLst>
              <a:gd name="adj" fmla="val 8000"/>
            </a:avLst>
          </a:prstGeom>
          <a:solidFill>
            <a:srgbClr val="F1F5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1066800" y="6019800"/>
            <a:ext cx="10058400" cy="5524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1250" b="0">
                <a:solidFill>
                  <a:srgbClr val="2563EB"/>
                </a:solidFill>
                <a:latin typeface="PingFang SC"/>
              </a:rPr>
              <a:t>▶ 两者互补而非竞争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0287000" y="6534150"/>
            <a:ext cx="1619250" cy="2667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>
              <a:lnSpc>
                <a:spcPct val="100000"/>
              </a:lnSpc>
            </a:pPr>
            <a:r>
              <a:rPr sz="900" b="0">
                <a:solidFill>
                  <a:srgbClr val="94A3B8"/>
                </a:solidFill>
                <a:latin typeface="PingFang SC"/>
              </a:rPr>
              <a:t>第2章 · 93/141</a:t>
            </a:r>
          </a:p>
        </p:txBody>
      </p:sp>
    </p:spTree>
  </p:cSld>
  <p:clrMapOvr>
    <a:masterClrMapping/>
  </p:clrMapOvr>
</p:sld>
</file>

<file path=ppt/slides/slide9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704850"/>
          </a:xfrm>
          <a:prstGeom prst="rect">
            <a:avLst/>
          </a:prstGeom>
          <a:solidFill>
            <a:srgbClr val="0B1D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76200" cy="704850"/>
          </a:xfrm>
          <a:prstGeom prst="rect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266700" y="0"/>
            <a:ext cx="10287000" cy="7048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2000" b="1">
                <a:solidFill>
                  <a:srgbClr val="FFFFFF"/>
                </a:solidFill>
                <a:latin typeface="PingFang SC"/>
              </a:rPr>
              <a:t>MCP 三大能力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334500" y="0"/>
            <a:ext cx="2667000" cy="7048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>
              <a:lnSpc>
                <a:spcPct val="100000"/>
              </a:lnSpc>
            </a:pPr>
            <a:r>
              <a:rPr sz="1100" b="0">
                <a:solidFill>
                  <a:srgbClr val="94A3B8"/>
                </a:solidFill>
                <a:latin typeface="PingFang SC"/>
              </a:rPr>
              <a:t>第2章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876300" y="914400"/>
            <a:ext cx="10439400" cy="10287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DDE5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876300" y="914400"/>
            <a:ext cx="57150" cy="1028700"/>
          </a:xfrm>
          <a:prstGeom prst="rect">
            <a:avLst/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ounded Rectangle 7"/>
          <p:cNvSpPr/>
          <p:nvPr/>
        </p:nvSpPr>
        <p:spPr>
          <a:xfrm>
            <a:off x="1047750" y="1285875"/>
            <a:ext cx="285750" cy="285750"/>
          </a:xfrm>
          <a:prstGeom prst="roundRect">
            <a:avLst>
              <a:gd name="adj" fmla="val 8000"/>
            </a:avLst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047750" y="1276350"/>
            <a:ext cx="285750" cy="2857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300" b="1">
                <a:solidFill>
                  <a:srgbClr val="FFFFFF"/>
                </a:solidFill>
                <a:latin typeface="PingFang SC"/>
              </a:rPr>
              <a:t>1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485900" y="914400"/>
            <a:ext cx="9601200" cy="10287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12000"/>
              </a:lnSpc>
            </a:pPr>
            <a:r>
              <a:rPr sz="1400" b="1">
                <a:solidFill>
                  <a:srgbClr val="475569"/>
                </a:solidFill>
                <a:latin typeface="PingFang SC"/>
              </a:rPr>
              <a:t>Tools:可执行的函数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876300" y="2114550"/>
            <a:ext cx="10439400" cy="10287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DDE5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876300" y="2114550"/>
            <a:ext cx="57150" cy="1028700"/>
          </a:xfrm>
          <a:prstGeom prst="rect">
            <a:avLst/>
          </a:prstGeom>
          <a:solidFill>
            <a:srgbClr val="14B8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ounded Rectangle 12"/>
          <p:cNvSpPr/>
          <p:nvPr/>
        </p:nvSpPr>
        <p:spPr>
          <a:xfrm>
            <a:off x="1047750" y="2486025"/>
            <a:ext cx="285750" cy="285750"/>
          </a:xfrm>
          <a:prstGeom prst="roundRect">
            <a:avLst>
              <a:gd name="adj" fmla="val 8000"/>
            </a:avLst>
          </a:prstGeom>
          <a:solidFill>
            <a:srgbClr val="14B8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1047750" y="2476500"/>
            <a:ext cx="285750" cy="2857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300" b="1">
                <a:solidFill>
                  <a:srgbClr val="FFFFFF"/>
                </a:solidFill>
                <a:latin typeface="PingFang SC"/>
              </a:rPr>
              <a:t>2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485900" y="2114550"/>
            <a:ext cx="9601200" cy="10287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12000"/>
              </a:lnSpc>
            </a:pPr>
            <a:r>
              <a:rPr sz="1400" b="1">
                <a:solidFill>
                  <a:srgbClr val="475569"/>
                </a:solidFill>
                <a:latin typeface="PingFang SC"/>
              </a:rPr>
              <a:t>Resources:可读的数据源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876300" y="3314700"/>
            <a:ext cx="10439400" cy="10287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DDE5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876300" y="3314700"/>
            <a:ext cx="57150" cy="1028700"/>
          </a:xfrm>
          <a:prstGeom prst="rect">
            <a:avLst/>
          </a:prstGeom>
          <a:solidFill>
            <a:srgbClr val="8B5C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ounded Rectangle 17"/>
          <p:cNvSpPr/>
          <p:nvPr/>
        </p:nvSpPr>
        <p:spPr>
          <a:xfrm>
            <a:off x="1047750" y="3686175"/>
            <a:ext cx="285750" cy="285750"/>
          </a:xfrm>
          <a:prstGeom prst="roundRect">
            <a:avLst>
              <a:gd name="adj" fmla="val 8000"/>
            </a:avLst>
          </a:prstGeom>
          <a:solidFill>
            <a:srgbClr val="8B5C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1047750" y="3676650"/>
            <a:ext cx="285750" cy="2857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300" b="1">
                <a:solidFill>
                  <a:srgbClr val="FFFFFF"/>
                </a:solidFill>
                <a:latin typeface="PingFang SC"/>
              </a:rPr>
              <a:t>3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485900" y="3314700"/>
            <a:ext cx="9601200" cy="10287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12000"/>
              </a:lnSpc>
            </a:pPr>
            <a:r>
              <a:rPr sz="1400" b="1">
                <a:solidFill>
                  <a:srgbClr val="475569"/>
                </a:solidFill>
                <a:latin typeface="PingFang SC"/>
              </a:rPr>
              <a:t>Prompts:预置提示模板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876300" y="6019800"/>
            <a:ext cx="10439400" cy="514350"/>
          </a:xfrm>
          <a:prstGeom prst="roundRect">
            <a:avLst>
              <a:gd name="adj" fmla="val 8000"/>
            </a:avLst>
          </a:prstGeom>
          <a:solidFill>
            <a:srgbClr val="F1F5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1066800" y="6019800"/>
            <a:ext cx="10058400" cy="5524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1250" b="0">
                <a:solidFill>
                  <a:srgbClr val="2563EB"/>
                </a:solidFill>
                <a:latin typeface="PingFang SC"/>
              </a:rPr>
              <a:t>▶ 一个 Server 同时暴露三类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0287000" y="6534150"/>
            <a:ext cx="1619250" cy="2667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>
              <a:lnSpc>
                <a:spcPct val="100000"/>
              </a:lnSpc>
            </a:pPr>
            <a:r>
              <a:rPr sz="900" b="0">
                <a:solidFill>
                  <a:srgbClr val="94A3B8"/>
                </a:solidFill>
                <a:latin typeface="PingFang SC"/>
              </a:rPr>
              <a:t>第2章 · 94/141</a:t>
            </a:r>
          </a:p>
        </p:txBody>
      </p:sp>
    </p:spTree>
  </p:cSld>
  <p:clrMapOvr>
    <a:masterClrMapping/>
  </p:clrMapOvr>
</p:sld>
</file>

<file path=ppt/slides/slide9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0B1D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2000" cy="609600"/>
          </a:xfrm>
          <a:prstGeom prst="rect">
            <a:avLst/>
          </a:prstGeom>
          <a:solidFill>
            <a:srgbClr val="142A4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266700" y="0"/>
            <a:ext cx="11430000" cy="6096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1600" b="1">
                <a:solidFill>
                  <a:srgbClr val="F59E0B"/>
                </a:solidFill>
                <a:latin typeface="PingFang SC"/>
              </a:rPr>
              <a:t>default_registry:四工具装配 · src/agent_platform/api/deps.py:9-30</a:t>
            </a:r>
          </a:p>
        </p:txBody>
      </p:sp>
      <p:pic>
        <p:nvPicPr>
          <p:cNvPr id="5" name="Picture 4" descr="code_0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65760" y="762000"/>
            <a:ext cx="11460480" cy="5144192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10287000" y="6534150"/>
            <a:ext cx="1619250" cy="2667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>
              <a:lnSpc>
                <a:spcPct val="100000"/>
              </a:lnSpc>
            </a:pPr>
            <a:r>
              <a:rPr sz="900" b="0">
                <a:solidFill>
                  <a:srgbClr val="94A3B8"/>
                </a:solidFill>
                <a:latin typeface="PingFang SC"/>
              </a:rPr>
              <a:t>第2章 · 95/141</a:t>
            </a:r>
          </a:p>
        </p:txBody>
      </p:sp>
    </p:spTree>
  </p:cSld>
  <p:clrMapOvr>
    <a:masterClrMapping/>
  </p:clrMapOvr>
</p:sld>
</file>

<file path=ppt/slides/slide9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704850"/>
          </a:xfrm>
          <a:prstGeom prst="rect">
            <a:avLst/>
          </a:prstGeom>
          <a:solidFill>
            <a:srgbClr val="0B1D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76200" cy="704850"/>
          </a:xfrm>
          <a:prstGeom prst="rect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266700" y="0"/>
            <a:ext cx="10287000" cy="7048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2000" b="1">
                <a:solidFill>
                  <a:srgbClr val="FFFFFF"/>
                </a:solidFill>
                <a:latin typeface="PingFang SC"/>
              </a:rPr>
              <a:t>MCP 三大能力卡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1047750" y="2609850"/>
            <a:ext cx="3200400" cy="15240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DDE5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1047750" y="2609850"/>
            <a:ext cx="3200400" cy="57150"/>
          </a:xfrm>
          <a:prstGeom prst="rect">
            <a:avLst/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ounded Rectangle 6"/>
          <p:cNvSpPr/>
          <p:nvPr/>
        </p:nvSpPr>
        <p:spPr>
          <a:xfrm>
            <a:off x="1200150" y="2800350"/>
            <a:ext cx="323850" cy="323850"/>
          </a:xfrm>
          <a:prstGeom prst="roundRect">
            <a:avLst>
              <a:gd name="adj" fmla="val 8000"/>
            </a:avLst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200150" y="2800350"/>
            <a:ext cx="323850" cy="3238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200" b="1">
                <a:solidFill>
                  <a:srgbClr val="FFFFFF"/>
                </a:solidFill>
                <a:latin typeface="PingFang SC"/>
              </a:rPr>
              <a:t>01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638300" y="2819400"/>
            <a:ext cx="2457450" cy="2857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1400" b="1">
                <a:solidFill>
                  <a:srgbClr val="0B1D3A"/>
                </a:solidFill>
                <a:latin typeface="PingFang SC"/>
              </a:rPr>
              <a:t>Tools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200150" y="3219450"/>
            <a:ext cx="2895600" cy="7810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10000"/>
              </a:lnSpc>
            </a:pPr>
            <a:r>
              <a:rPr sz="1150" b="0">
                <a:solidFill>
                  <a:srgbClr val="475569"/>
                </a:solidFill>
                <a:latin typeface="PingFang SC"/>
              </a:rPr>
              <a:t>可执行函数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4495800" y="2609850"/>
            <a:ext cx="3200400" cy="15240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DDE5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4495800" y="2609850"/>
            <a:ext cx="3200400" cy="57150"/>
          </a:xfrm>
          <a:prstGeom prst="rect">
            <a:avLst/>
          </a:prstGeom>
          <a:solidFill>
            <a:srgbClr val="14B8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ounded Rectangle 12"/>
          <p:cNvSpPr/>
          <p:nvPr/>
        </p:nvSpPr>
        <p:spPr>
          <a:xfrm>
            <a:off x="4648200" y="2800350"/>
            <a:ext cx="323850" cy="323850"/>
          </a:xfrm>
          <a:prstGeom prst="roundRect">
            <a:avLst>
              <a:gd name="adj" fmla="val 8000"/>
            </a:avLst>
          </a:prstGeom>
          <a:solidFill>
            <a:srgbClr val="14B8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4648200" y="2800350"/>
            <a:ext cx="323850" cy="3238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200" b="1">
                <a:solidFill>
                  <a:srgbClr val="FFFFFF"/>
                </a:solidFill>
                <a:latin typeface="PingFang SC"/>
              </a:rPr>
              <a:t>02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5086350" y="2819400"/>
            <a:ext cx="2457450" cy="2857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1400" b="1">
                <a:solidFill>
                  <a:srgbClr val="0B1D3A"/>
                </a:solidFill>
                <a:latin typeface="PingFang SC"/>
              </a:rPr>
              <a:t>Resources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4648200" y="3219450"/>
            <a:ext cx="2895600" cy="7810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10000"/>
              </a:lnSpc>
            </a:pPr>
            <a:r>
              <a:rPr sz="1150" b="0">
                <a:solidFill>
                  <a:srgbClr val="475569"/>
                </a:solidFill>
                <a:latin typeface="PingFang SC"/>
              </a:rPr>
              <a:t>可读数据源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7943850" y="2609850"/>
            <a:ext cx="3200400" cy="15240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DDE5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7943850" y="2609850"/>
            <a:ext cx="3200400" cy="57150"/>
          </a:xfrm>
          <a:prstGeom prst="rect">
            <a:avLst/>
          </a:prstGeom>
          <a:solidFill>
            <a:srgbClr val="8B5C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ounded Rectangle 18"/>
          <p:cNvSpPr/>
          <p:nvPr/>
        </p:nvSpPr>
        <p:spPr>
          <a:xfrm>
            <a:off x="8096250" y="2800350"/>
            <a:ext cx="323850" cy="323850"/>
          </a:xfrm>
          <a:prstGeom prst="roundRect">
            <a:avLst>
              <a:gd name="adj" fmla="val 8000"/>
            </a:avLst>
          </a:prstGeom>
          <a:solidFill>
            <a:srgbClr val="8B5C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8096250" y="2800350"/>
            <a:ext cx="323850" cy="3238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200" b="1">
                <a:solidFill>
                  <a:srgbClr val="FFFFFF"/>
                </a:solidFill>
                <a:latin typeface="PingFang SC"/>
              </a:rPr>
              <a:t>03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8534400" y="2819400"/>
            <a:ext cx="2457450" cy="2857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1400" b="1">
                <a:solidFill>
                  <a:srgbClr val="0B1D3A"/>
                </a:solidFill>
                <a:latin typeface="PingFang SC"/>
              </a:rPr>
              <a:t>Prompts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8096250" y="3219450"/>
            <a:ext cx="2895600" cy="7810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10000"/>
              </a:lnSpc>
            </a:pPr>
            <a:r>
              <a:rPr sz="1150" b="0">
                <a:solidFill>
                  <a:srgbClr val="475569"/>
                </a:solidFill>
                <a:latin typeface="PingFang SC"/>
              </a:rPr>
              <a:t>预置提示模板|一个 Server 同时暴露三类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0287000" y="6534150"/>
            <a:ext cx="1619250" cy="2667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>
              <a:lnSpc>
                <a:spcPct val="100000"/>
              </a:lnSpc>
            </a:pPr>
            <a:r>
              <a:rPr sz="900" b="0">
                <a:solidFill>
                  <a:srgbClr val="94A3B8"/>
                </a:solidFill>
                <a:latin typeface="PingFang SC"/>
              </a:rPr>
              <a:t>第2章 · 96/141</a:t>
            </a:r>
          </a:p>
        </p:txBody>
      </p:sp>
    </p:spTree>
  </p:cSld>
  <p:clrMapOvr>
    <a:masterClrMapping/>
  </p:clrMapOvr>
</p:sld>
</file>

<file path=ppt/slides/slide9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704850"/>
          </a:xfrm>
          <a:prstGeom prst="rect">
            <a:avLst/>
          </a:prstGeom>
          <a:solidFill>
            <a:srgbClr val="0B1D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76200" cy="704850"/>
          </a:xfrm>
          <a:prstGeom prst="rect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266700" y="0"/>
            <a:ext cx="10287000" cy="7048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2000" b="1">
                <a:solidFill>
                  <a:srgbClr val="FFFFFF"/>
                </a:solidFill>
                <a:latin typeface="PingFang SC"/>
              </a:rPr>
              <a:t>MCP vs 传统 HTTP API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334500" y="0"/>
            <a:ext cx="2667000" cy="7048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>
              <a:lnSpc>
                <a:spcPct val="100000"/>
              </a:lnSpc>
            </a:pPr>
            <a:r>
              <a:rPr sz="1100" b="0">
                <a:solidFill>
                  <a:srgbClr val="94A3B8"/>
                </a:solidFill>
                <a:latin typeface="PingFang SC"/>
              </a:rPr>
              <a:t>第2章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876300" y="914400"/>
            <a:ext cx="10439400" cy="10287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DDE5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876300" y="914400"/>
            <a:ext cx="57150" cy="1028700"/>
          </a:xfrm>
          <a:prstGeom prst="rect">
            <a:avLst/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ounded Rectangle 7"/>
          <p:cNvSpPr/>
          <p:nvPr/>
        </p:nvSpPr>
        <p:spPr>
          <a:xfrm>
            <a:off x="1047750" y="1285875"/>
            <a:ext cx="285750" cy="285750"/>
          </a:xfrm>
          <a:prstGeom prst="roundRect">
            <a:avLst>
              <a:gd name="adj" fmla="val 8000"/>
            </a:avLst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047750" y="1276350"/>
            <a:ext cx="285750" cy="2857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300" b="1">
                <a:solidFill>
                  <a:srgbClr val="FFFFFF"/>
                </a:solidFill>
                <a:latin typeface="PingFang SC"/>
              </a:rPr>
              <a:t>1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485900" y="914400"/>
            <a:ext cx="9601200" cy="10287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12000"/>
              </a:lnSpc>
            </a:pPr>
            <a:r>
              <a:rPr sz="1400" b="1">
                <a:solidFill>
                  <a:srgbClr val="475569"/>
                </a:solidFill>
                <a:latin typeface="PingFang SC"/>
              </a:rPr>
              <a:t>自描述:发现而非硬编码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876300" y="2114550"/>
            <a:ext cx="10439400" cy="10287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DDE5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876300" y="2114550"/>
            <a:ext cx="57150" cy="1028700"/>
          </a:xfrm>
          <a:prstGeom prst="rect">
            <a:avLst/>
          </a:prstGeom>
          <a:solidFill>
            <a:srgbClr val="14B8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ounded Rectangle 12"/>
          <p:cNvSpPr/>
          <p:nvPr/>
        </p:nvSpPr>
        <p:spPr>
          <a:xfrm>
            <a:off x="1047750" y="2486025"/>
            <a:ext cx="285750" cy="285750"/>
          </a:xfrm>
          <a:prstGeom prst="roundRect">
            <a:avLst>
              <a:gd name="adj" fmla="val 8000"/>
            </a:avLst>
          </a:prstGeom>
          <a:solidFill>
            <a:srgbClr val="14B8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1047750" y="2476500"/>
            <a:ext cx="285750" cy="2857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300" b="1">
                <a:solidFill>
                  <a:srgbClr val="FFFFFF"/>
                </a:solidFill>
                <a:latin typeface="PingFang SC"/>
              </a:rPr>
              <a:t>2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485900" y="2114550"/>
            <a:ext cx="9601200" cy="10287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12000"/>
              </a:lnSpc>
            </a:pPr>
            <a:r>
              <a:rPr sz="1400" b="1">
                <a:solidFill>
                  <a:srgbClr val="475569"/>
                </a:solidFill>
                <a:latin typeface="PingFang SC"/>
              </a:rPr>
              <a:t>标准化:一次接入处处可用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876300" y="3314700"/>
            <a:ext cx="10439400" cy="10287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DDE5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876300" y="3314700"/>
            <a:ext cx="57150" cy="1028700"/>
          </a:xfrm>
          <a:prstGeom prst="rect">
            <a:avLst/>
          </a:prstGeom>
          <a:solidFill>
            <a:srgbClr val="8B5C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ounded Rectangle 17"/>
          <p:cNvSpPr/>
          <p:nvPr/>
        </p:nvSpPr>
        <p:spPr>
          <a:xfrm>
            <a:off x="1047750" y="3686175"/>
            <a:ext cx="285750" cy="285750"/>
          </a:xfrm>
          <a:prstGeom prst="roundRect">
            <a:avLst>
              <a:gd name="adj" fmla="val 8000"/>
            </a:avLst>
          </a:prstGeom>
          <a:solidFill>
            <a:srgbClr val="8B5C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1047750" y="3676650"/>
            <a:ext cx="285750" cy="2857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300" b="1">
                <a:solidFill>
                  <a:srgbClr val="FFFFFF"/>
                </a:solidFill>
                <a:latin typeface="PingFang SC"/>
              </a:rPr>
              <a:t>3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485900" y="3314700"/>
            <a:ext cx="9601200" cy="10287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12000"/>
              </a:lnSpc>
            </a:pPr>
            <a:r>
              <a:rPr sz="1400" b="1">
                <a:solidFill>
                  <a:srgbClr val="475569"/>
                </a:solidFill>
                <a:latin typeface="PingFang SC"/>
              </a:rPr>
              <a:t>会话化:连接复用与状态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876300" y="6019800"/>
            <a:ext cx="10439400" cy="514350"/>
          </a:xfrm>
          <a:prstGeom prst="roundRect">
            <a:avLst>
              <a:gd name="adj" fmla="val 8000"/>
            </a:avLst>
          </a:prstGeom>
          <a:solidFill>
            <a:srgbClr val="F1F5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1066800" y="6019800"/>
            <a:ext cx="10058400" cy="5524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1250" b="0">
                <a:solidFill>
                  <a:srgbClr val="2563EB"/>
                </a:solidFill>
                <a:latin typeface="PingFang SC"/>
              </a:rPr>
              <a:t>▶ 更适合 Agent 的动态场景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0287000" y="6534150"/>
            <a:ext cx="1619250" cy="2667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>
              <a:lnSpc>
                <a:spcPct val="100000"/>
              </a:lnSpc>
            </a:pPr>
            <a:r>
              <a:rPr sz="900" b="0">
                <a:solidFill>
                  <a:srgbClr val="94A3B8"/>
                </a:solidFill>
                <a:latin typeface="PingFang SC"/>
              </a:rPr>
              <a:t>第2章 · 97/141</a:t>
            </a:r>
          </a:p>
        </p:txBody>
      </p:sp>
    </p:spTree>
  </p:cSld>
  <p:clrMapOvr>
    <a:masterClrMapping/>
  </p:clrMapOvr>
</p:sld>
</file>

<file path=ppt/slides/slide9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704850"/>
          </a:xfrm>
          <a:prstGeom prst="rect">
            <a:avLst/>
          </a:prstGeom>
          <a:solidFill>
            <a:srgbClr val="0B1D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76200" cy="704850"/>
          </a:xfrm>
          <a:prstGeom prst="rect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266700" y="0"/>
            <a:ext cx="10287000" cy="7048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2000" b="1">
                <a:solidFill>
                  <a:srgbClr val="FFFFFF"/>
                </a:solidFill>
                <a:latin typeface="PingFang SC"/>
              </a:rPr>
              <a:t>MCP 生态接入层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1847850" y="914400"/>
            <a:ext cx="8877300" cy="1100137"/>
          </a:xfrm>
          <a:prstGeom prst="roundRect">
            <a:avLst>
              <a:gd name="adj" fmla="val 8000"/>
            </a:avLst>
          </a:prstGeom>
          <a:solidFill>
            <a:srgbClr val="F1F5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ounded Rectangle 5"/>
          <p:cNvSpPr/>
          <p:nvPr/>
        </p:nvSpPr>
        <p:spPr>
          <a:xfrm>
            <a:off x="1905000" y="952500"/>
            <a:ext cx="8763000" cy="1023937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2563E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1905000" y="952500"/>
            <a:ext cx="47625" cy="1023937"/>
          </a:xfrm>
          <a:prstGeom prst="rect">
            <a:avLst/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2038350" y="952500"/>
            <a:ext cx="8534400" cy="1023937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1200" b="1">
                <a:solidFill>
                  <a:srgbClr val="475569"/>
                </a:solidFill>
                <a:latin typeface="PingFang SC"/>
              </a:rPr>
              <a:t>Agent 运行时:Loop+Decider</a:t>
            </a:r>
          </a:p>
        </p:txBody>
      </p:sp>
      <p:cxnSp>
        <p:nvCxnSpPr>
          <p:cNvPr id="9" name="Connector 8"/>
          <p:cNvCxnSpPr/>
          <p:nvPr/>
        </p:nvCxnSpPr>
        <p:spPr>
          <a:xfrm>
            <a:off x="6096000" y="2033587"/>
            <a:ext cx="0" cy="152400"/>
          </a:xfrm>
          <a:prstGeom prst="line">
            <a:avLst/>
          </a:prstGeom>
          <a:ln w="15240">
            <a:solidFill>
              <a:srgbClr val="94A3B8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0" name="Isosceles Triangle 9"/>
          <p:cNvSpPr/>
          <p:nvPr/>
        </p:nvSpPr>
        <p:spPr>
          <a:xfrm rot="10800000">
            <a:off x="6053138" y="2100263"/>
            <a:ext cx="85725" cy="85725"/>
          </a:xfrm>
          <a:prstGeom prst="triangle">
            <a:avLst/>
          </a:prstGeom>
          <a:solidFill>
            <a:srgbClr val="94A3B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6248400" y="1976437"/>
            <a:ext cx="2095500" cy="2476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1000" b="0">
                <a:solidFill>
                  <a:srgbClr val="94A3B8"/>
                </a:solidFill>
                <a:latin typeface="PingFang SC"/>
              </a:rPr>
              <a:t>发现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1847850" y="2185987"/>
            <a:ext cx="8877300" cy="1100137"/>
          </a:xfrm>
          <a:prstGeom prst="roundRect">
            <a:avLst>
              <a:gd name="adj" fmla="val 8000"/>
            </a:avLst>
          </a:prstGeom>
          <a:solidFill>
            <a:srgbClr val="F1F5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ounded Rectangle 12"/>
          <p:cNvSpPr/>
          <p:nvPr/>
        </p:nvSpPr>
        <p:spPr>
          <a:xfrm>
            <a:off x="1905000" y="2224087"/>
            <a:ext cx="2819400" cy="1023937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14B8A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1905000" y="2224087"/>
            <a:ext cx="47625" cy="1023937"/>
          </a:xfrm>
          <a:prstGeom prst="rect">
            <a:avLst/>
          </a:prstGeom>
          <a:solidFill>
            <a:srgbClr val="14B8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2038350" y="2224087"/>
            <a:ext cx="2590800" cy="1023937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1200" b="1">
                <a:solidFill>
                  <a:srgbClr val="475569"/>
                </a:solidFill>
                <a:latin typeface="PingFang SC"/>
              </a:rPr>
              <a:t>MCP Client:发现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4876800" y="2224087"/>
            <a:ext cx="2819400" cy="1023937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14B8A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4876800" y="2224087"/>
            <a:ext cx="47625" cy="1023937"/>
          </a:xfrm>
          <a:prstGeom prst="rect">
            <a:avLst/>
          </a:prstGeom>
          <a:solidFill>
            <a:srgbClr val="14B8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5010150" y="2224087"/>
            <a:ext cx="2590800" cy="1023937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1200" b="1">
                <a:solidFill>
                  <a:srgbClr val="475569"/>
                </a:solidFill>
                <a:latin typeface="PingFang SC"/>
              </a:rPr>
              <a:t>调用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7848600" y="2224087"/>
            <a:ext cx="2819400" cy="1023937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14B8A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ectangle 19"/>
          <p:cNvSpPr/>
          <p:nvPr/>
        </p:nvSpPr>
        <p:spPr>
          <a:xfrm>
            <a:off x="7848600" y="2224087"/>
            <a:ext cx="47625" cy="1023937"/>
          </a:xfrm>
          <a:prstGeom prst="rect">
            <a:avLst/>
          </a:prstGeom>
          <a:solidFill>
            <a:srgbClr val="14B8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7981950" y="2224087"/>
            <a:ext cx="2590800" cy="1023937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1200" b="1">
                <a:solidFill>
                  <a:srgbClr val="475569"/>
                </a:solidFill>
                <a:latin typeface="PingFang SC"/>
              </a:rPr>
              <a:t>连接池</a:t>
            </a:r>
          </a:p>
        </p:txBody>
      </p:sp>
      <p:cxnSp>
        <p:nvCxnSpPr>
          <p:cNvPr id="22" name="Connector 21"/>
          <p:cNvCxnSpPr/>
          <p:nvPr/>
        </p:nvCxnSpPr>
        <p:spPr>
          <a:xfrm>
            <a:off x="6096000" y="3305174"/>
            <a:ext cx="0" cy="152400"/>
          </a:xfrm>
          <a:prstGeom prst="line">
            <a:avLst/>
          </a:prstGeom>
          <a:ln w="15240">
            <a:solidFill>
              <a:srgbClr val="94A3B8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3" name="Isosceles Triangle 22"/>
          <p:cNvSpPr/>
          <p:nvPr/>
        </p:nvSpPr>
        <p:spPr>
          <a:xfrm rot="10800000">
            <a:off x="6053138" y="3371850"/>
            <a:ext cx="85725" cy="85725"/>
          </a:xfrm>
          <a:prstGeom prst="triangle">
            <a:avLst/>
          </a:prstGeom>
          <a:solidFill>
            <a:srgbClr val="94A3B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6248400" y="3248024"/>
            <a:ext cx="2095500" cy="2476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1000" b="0">
                <a:solidFill>
                  <a:srgbClr val="94A3B8"/>
                </a:solidFill>
                <a:latin typeface="PingFang SC"/>
              </a:rPr>
              <a:t>调用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1847850" y="3457574"/>
            <a:ext cx="8877300" cy="1100137"/>
          </a:xfrm>
          <a:prstGeom prst="roundRect">
            <a:avLst>
              <a:gd name="adj" fmla="val 8000"/>
            </a:avLst>
          </a:prstGeom>
          <a:solidFill>
            <a:srgbClr val="F1F5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Rounded Rectangle 25"/>
          <p:cNvSpPr/>
          <p:nvPr/>
        </p:nvSpPr>
        <p:spPr>
          <a:xfrm>
            <a:off x="1905000" y="3495674"/>
            <a:ext cx="2076450" cy="1023937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8B5CF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Rectangle 26"/>
          <p:cNvSpPr/>
          <p:nvPr/>
        </p:nvSpPr>
        <p:spPr>
          <a:xfrm>
            <a:off x="1905000" y="3495674"/>
            <a:ext cx="47625" cy="1023937"/>
          </a:xfrm>
          <a:prstGeom prst="rect">
            <a:avLst/>
          </a:prstGeom>
          <a:solidFill>
            <a:srgbClr val="8B5C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2038350" y="3495674"/>
            <a:ext cx="1847850" cy="1023937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1200" b="1">
                <a:solidFill>
                  <a:srgbClr val="475569"/>
                </a:solidFill>
                <a:latin typeface="PingFang SC"/>
              </a:rPr>
              <a:t>MCP Server 群:文件系统</a:t>
            </a:r>
          </a:p>
        </p:txBody>
      </p:sp>
      <p:sp>
        <p:nvSpPr>
          <p:cNvPr id="29" name="Rounded Rectangle 28"/>
          <p:cNvSpPr/>
          <p:nvPr/>
        </p:nvSpPr>
        <p:spPr>
          <a:xfrm>
            <a:off x="4133850" y="3495674"/>
            <a:ext cx="2076450" cy="1023937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8B5CF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Rectangle 29"/>
          <p:cNvSpPr/>
          <p:nvPr/>
        </p:nvSpPr>
        <p:spPr>
          <a:xfrm>
            <a:off x="4133850" y="3495674"/>
            <a:ext cx="47625" cy="1023937"/>
          </a:xfrm>
          <a:prstGeom prst="rect">
            <a:avLst/>
          </a:prstGeom>
          <a:solidFill>
            <a:srgbClr val="8B5C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4267200" y="3495674"/>
            <a:ext cx="1847850" cy="1023937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1200" b="1">
                <a:solidFill>
                  <a:srgbClr val="475569"/>
                </a:solidFill>
                <a:latin typeface="PingFang SC"/>
              </a:rPr>
              <a:t>数据库</a:t>
            </a:r>
          </a:p>
        </p:txBody>
      </p:sp>
      <p:sp>
        <p:nvSpPr>
          <p:cNvPr id="32" name="Rounded Rectangle 31"/>
          <p:cNvSpPr/>
          <p:nvPr/>
        </p:nvSpPr>
        <p:spPr>
          <a:xfrm>
            <a:off x="6362700" y="3495674"/>
            <a:ext cx="2076450" cy="1023937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8B5CF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Rectangle 32"/>
          <p:cNvSpPr/>
          <p:nvPr/>
        </p:nvSpPr>
        <p:spPr>
          <a:xfrm>
            <a:off x="6362700" y="3495674"/>
            <a:ext cx="47625" cy="1023937"/>
          </a:xfrm>
          <a:prstGeom prst="rect">
            <a:avLst/>
          </a:prstGeom>
          <a:solidFill>
            <a:srgbClr val="8B5C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6496050" y="3495674"/>
            <a:ext cx="1847850" cy="1023937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1200" b="1">
                <a:solidFill>
                  <a:srgbClr val="475569"/>
                </a:solidFill>
                <a:latin typeface="PingFang SC"/>
              </a:rPr>
              <a:t>GitHub</a:t>
            </a:r>
          </a:p>
        </p:txBody>
      </p:sp>
      <p:sp>
        <p:nvSpPr>
          <p:cNvPr id="35" name="Rounded Rectangle 34"/>
          <p:cNvSpPr/>
          <p:nvPr/>
        </p:nvSpPr>
        <p:spPr>
          <a:xfrm>
            <a:off x="8591550" y="3495674"/>
            <a:ext cx="2076450" cy="1023937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8B5CF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Rectangle 35"/>
          <p:cNvSpPr/>
          <p:nvPr/>
        </p:nvSpPr>
        <p:spPr>
          <a:xfrm>
            <a:off x="8591550" y="3495674"/>
            <a:ext cx="47625" cy="1023937"/>
          </a:xfrm>
          <a:prstGeom prst="rect">
            <a:avLst/>
          </a:prstGeom>
          <a:solidFill>
            <a:srgbClr val="8B5C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8724900" y="3495674"/>
            <a:ext cx="1847850" cy="1023937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1200" b="1">
                <a:solidFill>
                  <a:srgbClr val="475569"/>
                </a:solidFill>
                <a:latin typeface="PingFang SC"/>
              </a:rPr>
              <a:t>内部 API</a:t>
            </a:r>
          </a:p>
        </p:txBody>
      </p:sp>
      <p:cxnSp>
        <p:nvCxnSpPr>
          <p:cNvPr id="38" name="Connector 37"/>
          <p:cNvCxnSpPr/>
          <p:nvPr/>
        </p:nvCxnSpPr>
        <p:spPr>
          <a:xfrm>
            <a:off x="6096000" y="4576761"/>
            <a:ext cx="0" cy="152400"/>
          </a:xfrm>
          <a:prstGeom prst="line">
            <a:avLst/>
          </a:prstGeom>
          <a:ln w="15240">
            <a:solidFill>
              <a:srgbClr val="94A3B8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9" name="Isosceles Triangle 38"/>
          <p:cNvSpPr/>
          <p:nvPr/>
        </p:nvSpPr>
        <p:spPr>
          <a:xfrm rot="10800000">
            <a:off x="6053138" y="4643437"/>
            <a:ext cx="85725" cy="85725"/>
          </a:xfrm>
          <a:prstGeom prst="triangle">
            <a:avLst/>
          </a:prstGeom>
          <a:solidFill>
            <a:srgbClr val="94A3B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TextBox 39"/>
          <p:cNvSpPr txBox="1"/>
          <p:nvPr/>
        </p:nvSpPr>
        <p:spPr>
          <a:xfrm>
            <a:off x="6248400" y="4519611"/>
            <a:ext cx="2095500" cy="2476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1000" b="0">
                <a:solidFill>
                  <a:srgbClr val="94A3B8"/>
                </a:solidFill>
                <a:latin typeface="PingFang SC"/>
              </a:rPr>
              <a:t>治理</a:t>
            </a:r>
          </a:p>
        </p:txBody>
      </p:sp>
      <p:sp>
        <p:nvSpPr>
          <p:cNvPr id="41" name="Rounded Rectangle 40"/>
          <p:cNvSpPr/>
          <p:nvPr/>
        </p:nvSpPr>
        <p:spPr>
          <a:xfrm>
            <a:off x="1847850" y="4729161"/>
            <a:ext cx="8877300" cy="1100137"/>
          </a:xfrm>
          <a:prstGeom prst="roundRect">
            <a:avLst>
              <a:gd name="adj" fmla="val 8000"/>
            </a:avLst>
          </a:prstGeom>
          <a:solidFill>
            <a:srgbClr val="F1F5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" name="Rounded Rectangle 41"/>
          <p:cNvSpPr/>
          <p:nvPr/>
        </p:nvSpPr>
        <p:spPr>
          <a:xfrm>
            <a:off x="1905000" y="4767261"/>
            <a:ext cx="2819400" cy="1023937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F59E0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" name="Rectangle 42"/>
          <p:cNvSpPr/>
          <p:nvPr/>
        </p:nvSpPr>
        <p:spPr>
          <a:xfrm>
            <a:off x="1905000" y="4767261"/>
            <a:ext cx="47625" cy="1023937"/>
          </a:xfrm>
          <a:prstGeom prst="rect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4" name="TextBox 43"/>
          <p:cNvSpPr txBox="1"/>
          <p:nvPr/>
        </p:nvSpPr>
        <p:spPr>
          <a:xfrm>
            <a:off x="2038350" y="4767261"/>
            <a:ext cx="2590800" cy="1023937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1200" b="1">
                <a:solidFill>
                  <a:srgbClr val="475569"/>
                </a:solidFill>
                <a:latin typeface="PingFang SC"/>
              </a:rPr>
              <a:t>治理:白名单</a:t>
            </a:r>
          </a:p>
        </p:txBody>
      </p:sp>
      <p:sp>
        <p:nvSpPr>
          <p:cNvPr id="45" name="Rounded Rectangle 44"/>
          <p:cNvSpPr/>
          <p:nvPr/>
        </p:nvSpPr>
        <p:spPr>
          <a:xfrm>
            <a:off x="4876800" y="4767261"/>
            <a:ext cx="2819400" cy="1023937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F59E0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6" name="Rectangle 45"/>
          <p:cNvSpPr/>
          <p:nvPr/>
        </p:nvSpPr>
        <p:spPr>
          <a:xfrm>
            <a:off x="4876800" y="4767261"/>
            <a:ext cx="47625" cy="1023937"/>
          </a:xfrm>
          <a:prstGeom prst="rect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7" name="TextBox 46"/>
          <p:cNvSpPr txBox="1"/>
          <p:nvPr/>
        </p:nvSpPr>
        <p:spPr>
          <a:xfrm>
            <a:off x="5010150" y="4767261"/>
            <a:ext cx="2590800" cy="1023937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1200" b="1">
                <a:solidFill>
                  <a:srgbClr val="475569"/>
                </a:solidFill>
                <a:latin typeface="PingFang SC"/>
              </a:rPr>
              <a:t>审计</a:t>
            </a:r>
          </a:p>
        </p:txBody>
      </p:sp>
      <p:sp>
        <p:nvSpPr>
          <p:cNvPr id="48" name="Rounded Rectangle 47"/>
          <p:cNvSpPr/>
          <p:nvPr/>
        </p:nvSpPr>
        <p:spPr>
          <a:xfrm>
            <a:off x="7848600" y="4767261"/>
            <a:ext cx="2819400" cy="1023937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F59E0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9" name="Rectangle 48"/>
          <p:cNvSpPr/>
          <p:nvPr/>
        </p:nvSpPr>
        <p:spPr>
          <a:xfrm>
            <a:off x="7848600" y="4767261"/>
            <a:ext cx="47625" cy="1023937"/>
          </a:xfrm>
          <a:prstGeom prst="rect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0" name="TextBox 49"/>
          <p:cNvSpPr txBox="1"/>
          <p:nvPr/>
        </p:nvSpPr>
        <p:spPr>
          <a:xfrm>
            <a:off x="7981950" y="4767261"/>
            <a:ext cx="2590800" cy="1023937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1200" b="1">
                <a:solidFill>
                  <a:srgbClr val="475569"/>
                </a:solidFill>
                <a:latin typeface="PingFang SC"/>
              </a:rPr>
              <a:t>脱敏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10287000" y="6534150"/>
            <a:ext cx="1619250" cy="2667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>
              <a:lnSpc>
                <a:spcPct val="100000"/>
              </a:lnSpc>
            </a:pPr>
            <a:r>
              <a:rPr sz="900" b="0">
                <a:solidFill>
                  <a:srgbClr val="94A3B8"/>
                </a:solidFill>
                <a:latin typeface="PingFang SC"/>
              </a:rPr>
              <a:t>第2章 · 98/141</a:t>
            </a:r>
          </a:p>
        </p:txBody>
      </p:sp>
    </p:spTree>
  </p:cSld>
  <p:clrMapOvr>
    <a:masterClrMapping/>
  </p:clrMapOvr>
</p:sld>
</file>

<file path=ppt/slides/slide9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704850"/>
          </a:xfrm>
          <a:prstGeom prst="rect">
            <a:avLst/>
          </a:prstGeom>
          <a:solidFill>
            <a:srgbClr val="0B1D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76200" cy="704850"/>
          </a:xfrm>
          <a:prstGeom prst="rect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266700" y="0"/>
            <a:ext cx="10287000" cy="7048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2000" b="1">
                <a:solidFill>
                  <a:srgbClr val="FFFFFF"/>
                </a:solidFill>
                <a:latin typeface="PingFang SC"/>
              </a:rPr>
              <a:t>架构位置:防腐层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334500" y="0"/>
            <a:ext cx="2667000" cy="7048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>
              <a:lnSpc>
                <a:spcPct val="100000"/>
              </a:lnSpc>
            </a:pPr>
            <a:r>
              <a:rPr sz="1100" b="0">
                <a:solidFill>
                  <a:srgbClr val="94A3B8"/>
                </a:solidFill>
                <a:latin typeface="PingFang SC"/>
              </a:rPr>
              <a:t>第2章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876300" y="914400"/>
            <a:ext cx="10439400" cy="10287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DDE5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876300" y="914400"/>
            <a:ext cx="57150" cy="1028700"/>
          </a:xfrm>
          <a:prstGeom prst="rect">
            <a:avLst/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ounded Rectangle 7"/>
          <p:cNvSpPr/>
          <p:nvPr/>
        </p:nvSpPr>
        <p:spPr>
          <a:xfrm>
            <a:off x="1047750" y="1285875"/>
            <a:ext cx="285750" cy="285750"/>
          </a:xfrm>
          <a:prstGeom prst="roundRect">
            <a:avLst>
              <a:gd name="adj" fmla="val 8000"/>
            </a:avLst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047750" y="1276350"/>
            <a:ext cx="285750" cy="2857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300" b="1">
                <a:solidFill>
                  <a:srgbClr val="FFFFFF"/>
                </a:solidFill>
                <a:latin typeface="PingFang SC"/>
              </a:rPr>
              <a:t>1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485900" y="914400"/>
            <a:ext cx="9601200" cy="10287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12000"/>
              </a:lnSpc>
            </a:pPr>
            <a:r>
              <a:rPr sz="1400" b="1">
                <a:solidFill>
                  <a:srgbClr val="475569"/>
                </a:solidFill>
                <a:latin typeface="PingFang SC"/>
              </a:rPr>
              <a:t>MCP Client 藏在 Runtime 后面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876300" y="2114550"/>
            <a:ext cx="10439400" cy="10287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DDE5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876300" y="2114550"/>
            <a:ext cx="57150" cy="1028700"/>
          </a:xfrm>
          <a:prstGeom prst="rect">
            <a:avLst/>
          </a:prstGeom>
          <a:solidFill>
            <a:srgbClr val="14B8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ounded Rectangle 12"/>
          <p:cNvSpPr/>
          <p:nvPr/>
        </p:nvSpPr>
        <p:spPr>
          <a:xfrm>
            <a:off x="1047750" y="2486025"/>
            <a:ext cx="285750" cy="285750"/>
          </a:xfrm>
          <a:prstGeom prst="roundRect">
            <a:avLst>
              <a:gd name="adj" fmla="val 8000"/>
            </a:avLst>
          </a:prstGeom>
          <a:solidFill>
            <a:srgbClr val="14B8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1047750" y="2476500"/>
            <a:ext cx="285750" cy="2857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300" b="1">
                <a:solidFill>
                  <a:srgbClr val="FFFFFF"/>
                </a:solidFill>
                <a:latin typeface="PingFang SC"/>
              </a:rPr>
              <a:t>2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485900" y="2114550"/>
            <a:ext cx="9601200" cy="10287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12000"/>
              </a:lnSpc>
            </a:pPr>
            <a:r>
              <a:rPr sz="1400" b="1">
                <a:solidFill>
                  <a:srgbClr val="475569"/>
                </a:solidFill>
                <a:latin typeface="PingFang SC"/>
              </a:rPr>
              <a:t>上层不感知 Server 差异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876300" y="3314700"/>
            <a:ext cx="10439400" cy="10287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DDE5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876300" y="3314700"/>
            <a:ext cx="57150" cy="1028700"/>
          </a:xfrm>
          <a:prstGeom prst="rect">
            <a:avLst/>
          </a:prstGeom>
          <a:solidFill>
            <a:srgbClr val="8B5C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ounded Rectangle 17"/>
          <p:cNvSpPr/>
          <p:nvPr/>
        </p:nvSpPr>
        <p:spPr>
          <a:xfrm>
            <a:off x="1047750" y="3686175"/>
            <a:ext cx="285750" cy="285750"/>
          </a:xfrm>
          <a:prstGeom prst="roundRect">
            <a:avLst>
              <a:gd name="adj" fmla="val 8000"/>
            </a:avLst>
          </a:prstGeom>
          <a:solidFill>
            <a:srgbClr val="8B5C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1047750" y="3676650"/>
            <a:ext cx="285750" cy="2857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300" b="1">
                <a:solidFill>
                  <a:srgbClr val="FFFFFF"/>
                </a:solidFill>
                <a:latin typeface="PingFang SC"/>
              </a:rPr>
              <a:t>3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485900" y="3314700"/>
            <a:ext cx="9601200" cy="10287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12000"/>
              </a:lnSpc>
            </a:pPr>
            <a:r>
              <a:rPr sz="1400" b="1">
                <a:solidFill>
                  <a:srgbClr val="475569"/>
                </a:solidFill>
                <a:latin typeface="PingFang SC"/>
              </a:rPr>
              <a:t>Server 挂了 → 工具自动摘除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876300" y="6019800"/>
            <a:ext cx="10439400" cy="514350"/>
          </a:xfrm>
          <a:prstGeom prst="roundRect">
            <a:avLst>
              <a:gd name="adj" fmla="val 8000"/>
            </a:avLst>
          </a:prstGeom>
          <a:solidFill>
            <a:srgbClr val="F1F5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1066800" y="6019800"/>
            <a:ext cx="10058400" cy="5524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1250" b="0">
                <a:solidFill>
                  <a:srgbClr val="2563EB"/>
                </a:solidFill>
                <a:latin typeface="PingFang SC"/>
              </a:rPr>
              <a:t>▶ DDD 防腐层的教科书案例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0287000" y="6534150"/>
            <a:ext cx="1619250" cy="2667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>
              <a:lnSpc>
                <a:spcPct val="100000"/>
              </a:lnSpc>
            </a:pPr>
            <a:r>
              <a:rPr sz="900" b="0">
                <a:solidFill>
                  <a:srgbClr val="94A3B8"/>
                </a:solidFill>
                <a:latin typeface="PingFang SC"/>
              </a:rPr>
              <a:t>第2章 · 99/141</a:t>
            </a:r>
          </a:p>
        </p:txBody>
      </p:sp>
    </p:spTree>
  </p:cSld>
  <p:clrMapOvr>
    <a:masterClrMapping/>
  </p:clrMapOvr>
</p:sld>
</file>

<file path=ppt/slides/slide10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704850"/>
          </a:xfrm>
          <a:prstGeom prst="rect">
            <a:avLst/>
          </a:prstGeom>
          <a:solidFill>
            <a:srgbClr val="0B1D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76200" cy="704850"/>
          </a:xfrm>
          <a:prstGeom prst="rect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266700" y="0"/>
            <a:ext cx="10287000" cy="7048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2000" b="1">
                <a:solidFill>
                  <a:srgbClr val="FFFFFF"/>
                </a:solidFill>
                <a:latin typeface="PingFang SC"/>
              </a:rPr>
              <a:t>接入:文件系统 Server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334500" y="0"/>
            <a:ext cx="2667000" cy="7048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>
              <a:lnSpc>
                <a:spcPct val="100000"/>
              </a:lnSpc>
            </a:pPr>
            <a:r>
              <a:rPr sz="1100" b="0">
                <a:solidFill>
                  <a:srgbClr val="94A3B8"/>
                </a:solidFill>
                <a:latin typeface="PingFang SC"/>
              </a:rPr>
              <a:t>第2章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876300" y="914400"/>
            <a:ext cx="10439400" cy="10287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DDE5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876300" y="914400"/>
            <a:ext cx="57150" cy="1028700"/>
          </a:xfrm>
          <a:prstGeom prst="rect">
            <a:avLst/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ounded Rectangle 7"/>
          <p:cNvSpPr/>
          <p:nvPr/>
        </p:nvSpPr>
        <p:spPr>
          <a:xfrm>
            <a:off x="1047750" y="1285875"/>
            <a:ext cx="285750" cy="285750"/>
          </a:xfrm>
          <a:prstGeom prst="roundRect">
            <a:avLst>
              <a:gd name="adj" fmla="val 8000"/>
            </a:avLst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047750" y="1276350"/>
            <a:ext cx="285750" cy="2857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300" b="1">
                <a:solidFill>
                  <a:srgbClr val="FFFFFF"/>
                </a:solidFill>
                <a:latin typeface="PingFang SC"/>
              </a:rPr>
              <a:t>1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485900" y="914400"/>
            <a:ext cx="9601200" cy="10287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12000"/>
              </a:lnSpc>
            </a:pPr>
            <a:r>
              <a:rPr sz="1400" b="1">
                <a:solidFill>
                  <a:srgbClr val="475569"/>
                </a:solidFill>
                <a:latin typeface="PingFang SC"/>
              </a:rPr>
              <a:t>能力:列目录/读文件/搜索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876300" y="2114550"/>
            <a:ext cx="10439400" cy="10287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DDE5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876300" y="2114550"/>
            <a:ext cx="57150" cy="1028700"/>
          </a:xfrm>
          <a:prstGeom prst="rect">
            <a:avLst/>
          </a:prstGeom>
          <a:solidFill>
            <a:srgbClr val="14B8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ounded Rectangle 12"/>
          <p:cNvSpPr/>
          <p:nvPr/>
        </p:nvSpPr>
        <p:spPr>
          <a:xfrm>
            <a:off x="1047750" y="2486025"/>
            <a:ext cx="285750" cy="285750"/>
          </a:xfrm>
          <a:prstGeom prst="roundRect">
            <a:avLst>
              <a:gd name="adj" fmla="val 8000"/>
            </a:avLst>
          </a:prstGeom>
          <a:solidFill>
            <a:srgbClr val="14B8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1047750" y="2476500"/>
            <a:ext cx="285750" cy="2857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300" b="1">
                <a:solidFill>
                  <a:srgbClr val="FFFFFF"/>
                </a:solidFill>
                <a:latin typeface="PingFang SC"/>
              </a:rPr>
              <a:t>2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485900" y="2114550"/>
            <a:ext cx="9601200" cy="10287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12000"/>
              </a:lnSpc>
            </a:pPr>
            <a:r>
              <a:rPr sz="1400" b="1">
                <a:solidFill>
                  <a:srgbClr val="475569"/>
                </a:solidFill>
                <a:latin typeface="PingFang SC"/>
              </a:rPr>
              <a:t>治理:路径白名单映射到 Sandbox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876300" y="3314700"/>
            <a:ext cx="10439400" cy="10287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DDE5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876300" y="3314700"/>
            <a:ext cx="57150" cy="1028700"/>
          </a:xfrm>
          <a:prstGeom prst="rect">
            <a:avLst/>
          </a:prstGeom>
          <a:solidFill>
            <a:srgbClr val="8B5C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ounded Rectangle 17"/>
          <p:cNvSpPr/>
          <p:nvPr/>
        </p:nvSpPr>
        <p:spPr>
          <a:xfrm>
            <a:off x="1047750" y="3686175"/>
            <a:ext cx="285750" cy="285750"/>
          </a:xfrm>
          <a:prstGeom prst="roundRect">
            <a:avLst>
              <a:gd name="adj" fmla="val 8000"/>
            </a:avLst>
          </a:prstGeom>
          <a:solidFill>
            <a:srgbClr val="8B5C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1047750" y="3676650"/>
            <a:ext cx="285750" cy="2857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300" b="1">
                <a:solidFill>
                  <a:srgbClr val="FFFFFF"/>
                </a:solidFill>
                <a:latin typeface="PingFang SC"/>
              </a:rPr>
              <a:t>3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485900" y="3314700"/>
            <a:ext cx="9601200" cy="10287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12000"/>
              </a:lnSpc>
            </a:pPr>
            <a:r>
              <a:rPr sz="1400" b="1">
                <a:solidFill>
                  <a:srgbClr val="475569"/>
                </a:solidFill>
                <a:latin typeface="PingFang SC"/>
              </a:rPr>
              <a:t>场景:Codebase Agent 的眼睛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0287000" y="6534150"/>
            <a:ext cx="1619250" cy="2667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>
              <a:lnSpc>
                <a:spcPct val="100000"/>
              </a:lnSpc>
            </a:pPr>
            <a:r>
              <a:rPr sz="900" b="0">
                <a:solidFill>
                  <a:srgbClr val="94A3B8"/>
                </a:solidFill>
                <a:latin typeface="PingFang SC"/>
              </a:rPr>
              <a:t>第2章 · 100/141</a:t>
            </a:r>
          </a:p>
        </p:txBody>
      </p:sp>
    </p:spTree>
  </p:cSld>
  <p:clrMapOvr>
    <a:masterClrMapping/>
  </p:clrMapOvr>
</p:sld>
</file>

<file path=ppt/slides/slide10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704850"/>
          </a:xfrm>
          <a:prstGeom prst="rect">
            <a:avLst/>
          </a:prstGeom>
          <a:solidFill>
            <a:srgbClr val="0B1D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76200" cy="704850"/>
          </a:xfrm>
          <a:prstGeom prst="rect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266700" y="0"/>
            <a:ext cx="10287000" cy="7048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2000" b="1">
                <a:solidFill>
                  <a:srgbClr val="FFFFFF"/>
                </a:solidFill>
                <a:latin typeface="PingFang SC"/>
              </a:rPr>
              <a:t>接入:数据库 Server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334500" y="0"/>
            <a:ext cx="2667000" cy="7048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>
              <a:lnSpc>
                <a:spcPct val="100000"/>
              </a:lnSpc>
            </a:pPr>
            <a:r>
              <a:rPr sz="1100" b="0">
                <a:solidFill>
                  <a:srgbClr val="94A3B8"/>
                </a:solidFill>
                <a:latin typeface="PingFang SC"/>
              </a:rPr>
              <a:t>第2章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876300" y="914400"/>
            <a:ext cx="10439400" cy="10287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DDE5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876300" y="914400"/>
            <a:ext cx="57150" cy="1028700"/>
          </a:xfrm>
          <a:prstGeom prst="rect">
            <a:avLst/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ounded Rectangle 7"/>
          <p:cNvSpPr/>
          <p:nvPr/>
        </p:nvSpPr>
        <p:spPr>
          <a:xfrm>
            <a:off x="1047750" y="1285875"/>
            <a:ext cx="285750" cy="285750"/>
          </a:xfrm>
          <a:prstGeom prst="roundRect">
            <a:avLst>
              <a:gd name="adj" fmla="val 8000"/>
            </a:avLst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047750" y="1276350"/>
            <a:ext cx="285750" cy="2857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300" b="1">
                <a:solidFill>
                  <a:srgbClr val="FFFFFF"/>
                </a:solidFill>
                <a:latin typeface="PingFang SC"/>
              </a:rPr>
              <a:t>1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485900" y="914400"/>
            <a:ext cx="9601200" cy="10287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12000"/>
              </a:lnSpc>
            </a:pPr>
            <a:r>
              <a:rPr sz="1400" b="1">
                <a:solidFill>
                  <a:srgbClr val="475569"/>
                </a:solidFill>
                <a:latin typeface="PingFang SC"/>
              </a:rPr>
              <a:t>能力:只读查询/Schema 内省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876300" y="2114550"/>
            <a:ext cx="10439400" cy="10287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DDE5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876300" y="2114550"/>
            <a:ext cx="57150" cy="1028700"/>
          </a:xfrm>
          <a:prstGeom prst="rect">
            <a:avLst/>
          </a:prstGeom>
          <a:solidFill>
            <a:srgbClr val="14B8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ounded Rectangle 12"/>
          <p:cNvSpPr/>
          <p:nvPr/>
        </p:nvSpPr>
        <p:spPr>
          <a:xfrm>
            <a:off x="1047750" y="2486025"/>
            <a:ext cx="285750" cy="285750"/>
          </a:xfrm>
          <a:prstGeom prst="roundRect">
            <a:avLst>
              <a:gd name="adj" fmla="val 8000"/>
            </a:avLst>
          </a:prstGeom>
          <a:solidFill>
            <a:srgbClr val="14B8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1047750" y="2476500"/>
            <a:ext cx="285750" cy="2857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300" b="1">
                <a:solidFill>
                  <a:srgbClr val="FFFFFF"/>
                </a:solidFill>
                <a:latin typeface="PingFang SC"/>
              </a:rPr>
              <a:t>2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485900" y="2114550"/>
            <a:ext cx="9601200" cy="10287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12000"/>
              </a:lnSpc>
            </a:pPr>
            <a:r>
              <a:rPr sz="1400" b="1">
                <a:solidFill>
                  <a:srgbClr val="475569"/>
                </a:solidFill>
                <a:latin typeface="PingFang SC"/>
              </a:rPr>
              <a:t>治理:只读账号+审计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876300" y="3314700"/>
            <a:ext cx="10439400" cy="10287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DDE5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876300" y="3314700"/>
            <a:ext cx="57150" cy="1028700"/>
          </a:xfrm>
          <a:prstGeom prst="rect">
            <a:avLst/>
          </a:prstGeom>
          <a:solidFill>
            <a:srgbClr val="8B5C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ounded Rectangle 17"/>
          <p:cNvSpPr/>
          <p:nvPr/>
        </p:nvSpPr>
        <p:spPr>
          <a:xfrm>
            <a:off x="1047750" y="3686175"/>
            <a:ext cx="285750" cy="285750"/>
          </a:xfrm>
          <a:prstGeom prst="roundRect">
            <a:avLst>
              <a:gd name="adj" fmla="val 8000"/>
            </a:avLst>
          </a:prstGeom>
          <a:solidFill>
            <a:srgbClr val="8B5C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1047750" y="3676650"/>
            <a:ext cx="285750" cy="2857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300" b="1">
                <a:solidFill>
                  <a:srgbClr val="FFFFFF"/>
                </a:solidFill>
                <a:latin typeface="PingFang SC"/>
              </a:rPr>
              <a:t>3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485900" y="3314700"/>
            <a:ext cx="9601200" cy="10287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12000"/>
              </a:lnSpc>
            </a:pPr>
            <a:r>
              <a:rPr sz="1400" b="1">
                <a:solidFill>
                  <a:srgbClr val="475569"/>
                </a:solidFill>
                <a:latin typeface="PingFang SC"/>
              </a:rPr>
              <a:t>禁止直连生产写库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0287000" y="6534150"/>
            <a:ext cx="1619250" cy="2667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>
              <a:lnSpc>
                <a:spcPct val="100000"/>
              </a:lnSpc>
            </a:pPr>
            <a:r>
              <a:rPr sz="900" b="0">
                <a:solidFill>
                  <a:srgbClr val="94A3B8"/>
                </a:solidFill>
                <a:latin typeface="PingFang SC"/>
              </a:rPr>
              <a:t>第2章 · 101/141</a:t>
            </a:r>
          </a:p>
        </p:txBody>
      </p:sp>
    </p:spTree>
  </p:cSld>
  <p:clrMapOvr>
    <a:masterClrMapping/>
  </p:clrMapOvr>
</p:sld>
</file>

<file path=ppt/slides/slide10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704850"/>
          </a:xfrm>
          <a:prstGeom prst="rect">
            <a:avLst/>
          </a:prstGeom>
          <a:solidFill>
            <a:srgbClr val="0B1D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76200" cy="704850"/>
          </a:xfrm>
          <a:prstGeom prst="rect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266700" y="0"/>
            <a:ext cx="10287000" cy="7048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2000" b="1">
                <a:solidFill>
                  <a:srgbClr val="FFFFFF"/>
                </a:solidFill>
                <a:latin typeface="PingFang SC"/>
              </a:rPr>
              <a:t>接入:GitHub Server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334500" y="0"/>
            <a:ext cx="2667000" cy="7048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>
              <a:lnSpc>
                <a:spcPct val="100000"/>
              </a:lnSpc>
            </a:pPr>
            <a:r>
              <a:rPr sz="1100" b="0">
                <a:solidFill>
                  <a:srgbClr val="94A3B8"/>
                </a:solidFill>
                <a:latin typeface="PingFang SC"/>
              </a:rPr>
              <a:t>第2章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876300" y="914400"/>
            <a:ext cx="10439400" cy="10287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DDE5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876300" y="914400"/>
            <a:ext cx="57150" cy="1028700"/>
          </a:xfrm>
          <a:prstGeom prst="rect">
            <a:avLst/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ounded Rectangle 7"/>
          <p:cNvSpPr/>
          <p:nvPr/>
        </p:nvSpPr>
        <p:spPr>
          <a:xfrm>
            <a:off x="1047750" y="1285875"/>
            <a:ext cx="285750" cy="285750"/>
          </a:xfrm>
          <a:prstGeom prst="roundRect">
            <a:avLst>
              <a:gd name="adj" fmla="val 8000"/>
            </a:avLst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047750" y="1276350"/>
            <a:ext cx="285750" cy="2857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300" b="1">
                <a:solidFill>
                  <a:srgbClr val="FFFFFF"/>
                </a:solidFill>
                <a:latin typeface="PingFang SC"/>
              </a:rPr>
              <a:t>1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485900" y="914400"/>
            <a:ext cx="9601200" cy="10287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12000"/>
              </a:lnSpc>
            </a:pPr>
            <a:r>
              <a:rPr sz="1400" b="1">
                <a:solidFill>
                  <a:srgbClr val="475569"/>
                </a:solidFill>
                <a:latin typeface="PingFang SC"/>
              </a:rPr>
              <a:t>能力:仓库/Issue/PR 读写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876300" y="2114550"/>
            <a:ext cx="10439400" cy="10287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DDE5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876300" y="2114550"/>
            <a:ext cx="57150" cy="1028700"/>
          </a:xfrm>
          <a:prstGeom prst="rect">
            <a:avLst/>
          </a:prstGeom>
          <a:solidFill>
            <a:srgbClr val="14B8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ounded Rectangle 12"/>
          <p:cNvSpPr/>
          <p:nvPr/>
        </p:nvSpPr>
        <p:spPr>
          <a:xfrm>
            <a:off x="1047750" y="2486025"/>
            <a:ext cx="285750" cy="285750"/>
          </a:xfrm>
          <a:prstGeom prst="roundRect">
            <a:avLst>
              <a:gd name="adj" fmla="val 8000"/>
            </a:avLst>
          </a:prstGeom>
          <a:solidFill>
            <a:srgbClr val="14B8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1047750" y="2476500"/>
            <a:ext cx="285750" cy="2857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300" b="1">
                <a:solidFill>
                  <a:srgbClr val="FFFFFF"/>
                </a:solidFill>
                <a:latin typeface="PingFang SC"/>
              </a:rPr>
              <a:t>2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485900" y="2114550"/>
            <a:ext cx="9601200" cy="10287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12000"/>
              </a:lnSpc>
            </a:pPr>
            <a:r>
              <a:rPr sz="1400" b="1">
                <a:solidFill>
                  <a:srgbClr val="475569"/>
                </a:solidFill>
                <a:latin typeface="PingFang SC"/>
              </a:rPr>
              <a:t>治理:Token 最小权限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876300" y="3314700"/>
            <a:ext cx="10439400" cy="10287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DDE5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876300" y="3314700"/>
            <a:ext cx="57150" cy="1028700"/>
          </a:xfrm>
          <a:prstGeom prst="rect">
            <a:avLst/>
          </a:prstGeom>
          <a:solidFill>
            <a:srgbClr val="8B5C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ounded Rectangle 17"/>
          <p:cNvSpPr/>
          <p:nvPr/>
        </p:nvSpPr>
        <p:spPr>
          <a:xfrm>
            <a:off x="1047750" y="3686175"/>
            <a:ext cx="285750" cy="285750"/>
          </a:xfrm>
          <a:prstGeom prst="roundRect">
            <a:avLst>
              <a:gd name="adj" fmla="val 8000"/>
            </a:avLst>
          </a:prstGeom>
          <a:solidFill>
            <a:srgbClr val="8B5C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1047750" y="3676650"/>
            <a:ext cx="285750" cy="2857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300" b="1">
                <a:solidFill>
                  <a:srgbClr val="FFFFFF"/>
                </a:solidFill>
                <a:latin typeface="PingFang SC"/>
              </a:rPr>
              <a:t>3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485900" y="3314700"/>
            <a:ext cx="9601200" cy="10287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12000"/>
              </a:lnSpc>
            </a:pPr>
            <a:r>
              <a:rPr sz="1400" b="1">
                <a:solidFill>
                  <a:srgbClr val="475569"/>
                </a:solidFill>
                <a:latin typeface="PingFang SC"/>
              </a:rPr>
              <a:t>场景:软件工厂的 DevOps 集成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0287000" y="6534150"/>
            <a:ext cx="1619250" cy="2667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>
              <a:lnSpc>
                <a:spcPct val="100000"/>
              </a:lnSpc>
            </a:pPr>
            <a:r>
              <a:rPr sz="900" b="0">
                <a:solidFill>
                  <a:srgbClr val="94A3B8"/>
                </a:solidFill>
                <a:latin typeface="PingFang SC"/>
              </a:rPr>
              <a:t>第2章 · 102/141</a:t>
            </a:r>
          </a:p>
        </p:txBody>
      </p:sp>
    </p:spTree>
  </p:cSld>
  <p:clrMapOvr>
    <a:masterClrMapping/>
  </p:clrMapOvr>
</p:sld>
</file>

<file path=ppt/slides/slide10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704850"/>
          </a:xfrm>
          <a:prstGeom prst="rect">
            <a:avLst/>
          </a:prstGeom>
          <a:solidFill>
            <a:srgbClr val="0B1D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76200" cy="704850"/>
          </a:xfrm>
          <a:prstGeom prst="rect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266700" y="0"/>
            <a:ext cx="10287000" cy="7048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2000" b="1">
                <a:solidFill>
                  <a:srgbClr val="FFFFFF"/>
                </a:solidFill>
                <a:latin typeface="PingFang SC"/>
              </a:rPr>
              <a:t>接入:内部 HTTP 服务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334500" y="0"/>
            <a:ext cx="2667000" cy="7048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>
              <a:lnSpc>
                <a:spcPct val="100000"/>
              </a:lnSpc>
            </a:pPr>
            <a:r>
              <a:rPr sz="1100" b="0">
                <a:solidFill>
                  <a:srgbClr val="94A3B8"/>
                </a:solidFill>
                <a:latin typeface="PingFang SC"/>
              </a:rPr>
              <a:t>第2章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876300" y="914400"/>
            <a:ext cx="10439400" cy="10287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DDE5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876300" y="914400"/>
            <a:ext cx="57150" cy="1028700"/>
          </a:xfrm>
          <a:prstGeom prst="rect">
            <a:avLst/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ounded Rectangle 7"/>
          <p:cNvSpPr/>
          <p:nvPr/>
        </p:nvSpPr>
        <p:spPr>
          <a:xfrm>
            <a:off x="1047750" y="1285875"/>
            <a:ext cx="285750" cy="285750"/>
          </a:xfrm>
          <a:prstGeom prst="roundRect">
            <a:avLst>
              <a:gd name="adj" fmla="val 8000"/>
            </a:avLst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047750" y="1276350"/>
            <a:ext cx="285750" cy="2857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300" b="1">
                <a:solidFill>
                  <a:srgbClr val="FFFFFF"/>
                </a:solidFill>
                <a:latin typeface="PingFang SC"/>
              </a:rPr>
              <a:t>1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485900" y="914400"/>
            <a:ext cx="9601200" cy="10287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12000"/>
              </a:lnSpc>
            </a:pPr>
            <a:r>
              <a:rPr sz="1400" b="1">
                <a:solidFill>
                  <a:srgbClr val="475569"/>
                </a:solidFill>
                <a:latin typeface="PingFang SC"/>
              </a:rPr>
              <a:t>包装内部 API 为 MCP Server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876300" y="2114550"/>
            <a:ext cx="10439400" cy="10287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DDE5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876300" y="2114550"/>
            <a:ext cx="57150" cy="1028700"/>
          </a:xfrm>
          <a:prstGeom prst="rect">
            <a:avLst/>
          </a:prstGeom>
          <a:solidFill>
            <a:srgbClr val="14B8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ounded Rectangle 12"/>
          <p:cNvSpPr/>
          <p:nvPr/>
        </p:nvSpPr>
        <p:spPr>
          <a:xfrm>
            <a:off x="1047750" y="2486025"/>
            <a:ext cx="285750" cy="285750"/>
          </a:xfrm>
          <a:prstGeom prst="roundRect">
            <a:avLst>
              <a:gd name="adj" fmla="val 8000"/>
            </a:avLst>
          </a:prstGeom>
          <a:solidFill>
            <a:srgbClr val="14B8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1047750" y="2476500"/>
            <a:ext cx="285750" cy="2857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300" b="1">
                <a:solidFill>
                  <a:srgbClr val="FFFFFF"/>
                </a:solidFill>
                <a:latin typeface="PingFang SC"/>
              </a:rPr>
              <a:t>2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485900" y="2114550"/>
            <a:ext cx="9601200" cy="10287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12000"/>
              </a:lnSpc>
            </a:pPr>
            <a:r>
              <a:rPr sz="1400" b="1">
                <a:solidFill>
                  <a:srgbClr val="475569"/>
                </a:solidFill>
                <a:latin typeface="PingFang SC"/>
              </a:rPr>
              <a:t>复用现有鉴权与限流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876300" y="3314700"/>
            <a:ext cx="10439400" cy="10287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DDE5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876300" y="3314700"/>
            <a:ext cx="57150" cy="1028700"/>
          </a:xfrm>
          <a:prstGeom prst="rect">
            <a:avLst/>
          </a:prstGeom>
          <a:solidFill>
            <a:srgbClr val="8B5C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ounded Rectangle 17"/>
          <p:cNvSpPr/>
          <p:nvPr/>
        </p:nvSpPr>
        <p:spPr>
          <a:xfrm>
            <a:off x="1047750" y="3686175"/>
            <a:ext cx="285750" cy="285750"/>
          </a:xfrm>
          <a:prstGeom prst="roundRect">
            <a:avLst>
              <a:gd name="adj" fmla="val 8000"/>
            </a:avLst>
          </a:prstGeom>
          <a:solidFill>
            <a:srgbClr val="8B5C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1047750" y="3676650"/>
            <a:ext cx="285750" cy="2857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300" b="1">
                <a:solidFill>
                  <a:srgbClr val="FFFFFF"/>
                </a:solidFill>
                <a:latin typeface="PingFang SC"/>
              </a:rPr>
              <a:t>3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485900" y="3314700"/>
            <a:ext cx="9601200" cy="10287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12000"/>
              </a:lnSpc>
            </a:pPr>
            <a:r>
              <a:rPr sz="1400" b="1">
                <a:solidFill>
                  <a:srgbClr val="475569"/>
                </a:solidFill>
                <a:latin typeface="PingFang SC"/>
              </a:rPr>
              <a:t>新工具零改造上架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0287000" y="6534150"/>
            <a:ext cx="1619250" cy="2667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>
              <a:lnSpc>
                <a:spcPct val="100000"/>
              </a:lnSpc>
            </a:pPr>
            <a:r>
              <a:rPr sz="900" b="0">
                <a:solidFill>
                  <a:srgbClr val="94A3B8"/>
                </a:solidFill>
                <a:latin typeface="PingFang SC"/>
              </a:rPr>
              <a:t>第2章 · 103/141</a:t>
            </a:r>
          </a:p>
        </p:txBody>
      </p:sp>
    </p:spTree>
  </p:cSld>
  <p:clrMapOvr>
    <a:masterClrMapping/>
  </p:clrMapOvr>
</p:sld>
</file>

<file path=ppt/slides/slide10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704850"/>
          </a:xfrm>
          <a:prstGeom prst="rect">
            <a:avLst/>
          </a:prstGeom>
          <a:solidFill>
            <a:srgbClr val="0B1D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76200" cy="704850"/>
          </a:xfrm>
          <a:prstGeom prst="rect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266700" y="0"/>
            <a:ext cx="10287000" cy="7048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2000" b="1">
                <a:solidFill>
                  <a:srgbClr val="FFFFFF"/>
                </a:solidFill>
                <a:latin typeface="PingFang SC"/>
              </a:rPr>
              <a:t>MCP 权限控制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334500" y="0"/>
            <a:ext cx="2667000" cy="7048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>
              <a:lnSpc>
                <a:spcPct val="100000"/>
              </a:lnSpc>
            </a:pPr>
            <a:r>
              <a:rPr sz="1100" b="0">
                <a:solidFill>
                  <a:srgbClr val="94A3B8"/>
                </a:solidFill>
                <a:latin typeface="PingFang SC"/>
              </a:rPr>
              <a:t>第2章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876300" y="914400"/>
            <a:ext cx="10439400" cy="10287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DDE5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876300" y="914400"/>
            <a:ext cx="57150" cy="1028700"/>
          </a:xfrm>
          <a:prstGeom prst="rect">
            <a:avLst/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ounded Rectangle 7"/>
          <p:cNvSpPr/>
          <p:nvPr/>
        </p:nvSpPr>
        <p:spPr>
          <a:xfrm>
            <a:off x="1047750" y="1285875"/>
            <a:ext cx="285750" cy="285750"/>
          </a:xfrm>
          <a:prstGeom prst="roundRect">
            <a:avLst>
              <a:gd name="adj" fmla="val 8000"/>
            </a:avLst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047750" y="1276350"/>
            <a:ext cx="285750" cy="2857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300" b="1">
                <a:solidFill>
                  <a:srgbClr val="FFFFFF"/>
                </a:solidFill>
                <a:latin typeface="PingFang SC"/>
              </a:rPr>
              <a:t>1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485900" y="914400"/>
            <a:ext cx="9601200" cy="10287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12000"/>
              </a:lnSpc>
            </a:pPr>
            <a:r>
              <a:rPr sz="1400" b="1">
                <a:solidFill>
                  <a:srgbClr val="475569"/>
                </a:solidFill>
                <a:latin typeface="PingFang SC"/>
              </a:rPr>
              <a:t>Server 级:可连接哪些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876300" y="2114550"/>
            <a:ext cx="10439400" cy="10287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DDE5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876300" y="2114550"/>
            <a:ext cx="57150" cy="1028700"/>
          </a:xfrm>
          <a:prstGeom prst="rect">
            <a:avLst/>
          </a:prstGeom>
          <a:solidFill>
            <a:srgbClr val="14B8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ounded Rectangle 12"/>
          <p:cNvSpPr/>
          <p:nvPr/>
        </p:nvSpPr>
        <p:spPr>
          <a:xfrm>
            <a:off x="1047750" y="2486025"/>
            <a:ext cx="285750" cy="285750"/>
          </a:xfrm>
          <a:prstGeom prst="roundRect">
            <a:avLst>
              <a:gd name="adj" fmla="val 8000"/>
            </a:avLst>
          </a:prstGeom>
          <a:solidFill>
            <a:srgbClr val="14B8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1047750" y="2476500"/>
            <a:ext cx="285750" cy="2857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300" b="1">
                <a:solidFill>
                  <a:srgbClr val="FFFFFF"/>
                </a:solidFill>
                <a:latin typeface="PingFang SC"/>
              </a:rPr>
              <a:t>2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485900" y="2114550"/>
            <a:ext cx="9601200" cy="10287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12000"/>
              </a:lnSpc>
            </a:pPr>
            <a:r>
              <a:rPr sz="1400" b="1">
                <a:solidFill>
                  <a:srgbClr val="475569"/>
                </a:solidFill>
                <a:latin typeface="PingFang SC"/>
              </a:rPr>
              <a:t>工具级:可调用哪些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876300" y="3314700"/>
            <a:ext cx="10439400" cy="10287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DDE5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876300" y="3314700"/>
            <a:ext cx="57150" cy="1028700"/>
          </a:xfrm>
          <a:prstGeom prst="rect">
            <a:avLst/>
          </a:prstGeom>
          <a:solidFill>
            <a:srgbClr val="8B5C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ounded Rectangle 17"/>
          <p:cNvSpPr/>
          <p:nvPr/>
        </p:nvSpPr>
        <p:spPr>
          <a:xfrm>
            <a:off x="1047750" y="3686175"/>
            <a:ext cx="285750" cy="285750"/>
          </a:xfrm>
          <a:prstGeom prst="roundRect">
            <a:avLst>
              <a:gd name="adj" fmla="val 8000"/>
            </a:avLst>
          </a:prstGeom>
          <a:solidFill>
            <a:srgbClr val="8B5C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1047750" y="3676650"/>
            <a:ext cx="285750" cy="2857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300" b="1">
                <a:solidFill>
                  <a:srgbClr val="FFFFFF"/>
                </a:solidFill>
                <a:latin typeface="PingFang SC"/>
              </a:rPr>
              <a:t>3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485900" y="3314700"/>
            <a:ext cx="9601200" cy="10287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12000"/>
              </a:lnSpc>
            </a:pPr>
            <a:r>
              <a:rPr sz="1400" b="1">
                <a:solidFill>
                  <a:srgbClr val="475569"/>
                </a:solidFill>
                <a:latin typeface="PingFang SC"/>
              </a:rPr>
              <a:t>参数级:路径/表名白名单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876300" y="6019800"/>
            <a:ext cx="10439400" cy="514350"/>
          </a:xfrm>
          <a:prstGeom prst="roundRect">
            <a:avLst>
              <a:gd name="adj" fmla="val 8000"/>
            </a:avLst>
          </a:prstGeom>
          <a:solidFill>
            <a:srgbClr val="F1F5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1066800" y="6019800"/>
            <a:ext cx="10058400" cy="5524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1250" b="0">
                <a:solidFill>
                  <a:srgbClr val="2563EB"/>
                </a:solidFill>
                <a:latin typeface="PingFang SC"/>
              </a:rPr>
              <a:t>▶ 三层收敛,默认拒绝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0287000" y="6534150"/>
            <a:ext cx="1619250" cy="2667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>
              <a:lnSpc>
                <a:spcPct val="100000"/>
              </a:lnSpc>
            </a:pPr>
            <a:r>
              <a:rPr sz="900" b="0">
                <a:solidFill>
                  <a:srgbClr val="94A3B8"/>
                </a:solidFill>
                <a:latin typeface="PingFang SC"/>
              </a:rPr>
              <a:t>第2章 · 104/141</a:t>
            </a:r>
          </a:p>
        </p:txBody>
      </p:sp>
    </p:spTree>
  </p:cSld>
  <p:clrMapOvr>
    <a:masterClrMapping/>
  </p:clrMapOvr>
</p:sld>
</file>

<file path=ppt/slides/slide10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0B1D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2000" cy="609600"/>
          </a:xfrm>
          <a:prstGeom prst="rect">
            <a:avLst/>
          </a:prstGeom>
          <a:solidFill>
            <a:srgbClr val="142A4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266700" y="0"/>
            <a:ext cx="11430000" cy="6096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1600" b="1">
                <a:solidFill>
                  <a:srgbClr val="F59E0B"/>
                </a:solidFill>
                <a:latin typeface="PingFang SC"/>
              </a:rPr>
              <a:t>PulsarAuditBus:异步安全投递 · src/agent_platform/tools/pulsar_audit.py:56-88</a:t>
            </a:r>
          </a:p>
        </p:txBody>
      </p:sp>
      <p:pic>
        <p:nvPicPr>
          <p:cNvPr id="5" name="Picture 4" descr="code_0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65760" y="762000"/>
            <a:ext cx="11460480" cy="5144192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10287000" y="6534150"/>
            <a:ext cx="1619250" cy="2667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>
              <a:lnSpc>
                <a:spcPct val="100000"/>
              </a:lnSpc>
            </a:pPr>
            <a:r>
              <a:rPr sz="900" b="0">
                <a:solidFill>
                  <a:srgbClr val="94A3B8"/>
                </a:solidFill>
                <a:latin typeface="PingFang SC"/>
              </a:rPr>
              <a:t>第2章 · 105/141</a:t>
            </a:r>
          </a:p>
        </p:txBody>
      </p:sp>
    </p:spTree>
  </p:cSld>
  <p:clrMapOvr>
    <a:masterClrMapping/>
  </p:clrMapOvr>
</p:sld>
</file>

<file path=ppt/slides/slide10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704850"/>
          </a:xfrm>
          <a:prstGeom prst="rect">
            <a:avLst/>
          </a:prstGeom>
          <a:solidFill>
            <a:srgbClr val="0B1D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76200" cy="704850"/>
          </a:xfrm>
          <a:prstGeom prst="rect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266700" y="0"/>
            <a:ext cx="10287000" cy="7048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2000" b="1">
                <a:solidFill>
                  <a:srgbClr val="FFFFFF"/>
                </a:solidFill>
                <a:latin typeface="PingFang SC"/>
              </a:rPr>
              <a:t>MCP 三层权限收敛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1047750" y="2609850"/>
            <a:ext cx="3200400" cy="15240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DDE5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1047750" y="2609850"/>
            <a:ext cx="3200400" cy="57150"/>
          </a:xfrm>
          <a:prstGeom prst="rect">
            <a:avLst/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ounded Rectangle 6"/>
          <p:cNvSpPr/>
          <p:nvPr/>
        </p:nvSpPr>
        <p:spPr>
          <a:xfrm>
            <a:off x="1200150" y="2800350"/>
            <a:ext cx="323850" cy="323850"/>
          </a:xfrm>
          <a:prstGeom prst="roundRect">
            <a:avLst>
              <a:gd name="adj" fmla="val 8000"/>
            </a:avLst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200150" y="2800350"/>
            <a:ext cx="323850" cy="3238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200" b="1">
                <a:solidFill>
                  <a:srgbClr val="FFFFFF"/>
                </a:solidFill>
                <a:latin typeface="PingFang SC"/>
              </a:rPr>
              <a:t>01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638300" y="2819400"/>
            <a:ext cx="2457450" cy="2857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1400" b="1">
                <a:solidFill>
                  <a:srgbClr val="0B1D3A"/>
                </a:solidFill>
                <a:latin typeface="PingFang SC"/>
              </a:rPr>
              <a:t>Server 级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200150" y="3219450"/>
            <a:ext cx="2895600" cy="7810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10000"/>
              </a:lnSpc>
            </a:pPr>
            <a:r>
              <a:rPr sz="1150" b="0">
                <a:solidFill>
                  <a:srgbClr val="475569"/>
                </a:solidFill>
                <a:latin typeface="PingFang SC"/>
              </a:rPr>
              <a:t>可连接白名单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4495800" y="2609850"/>
            <a:ext cx="3200400" cy="15240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DDE5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4495800" y="2609850"/>
            <a:ext cx="3200400" cy="57150"/>
          </a:xfrm>
          <a:prstGeom prst="rect">
            <a:avLst/>
          </a:prstGeom>
          <a:solidFill>
            <a:srgbClr val="14B8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ounded Rectangle 12"/>
          <p:cNvSpPr/>
          <p:nvPr/>
        </p:nvSpPr>
        <p:spPr>
          <a:xfrm>
            <a:off x="4648200" y="2800350"/>
            <a:ext cx="323850" cy="323850"/>
          </a:xfrm>
          <a:prstGeom prst="roundRect">
            <a:avLst>
              <a:gd name="adj" fmla="val 8000"/>
            </a:avLst>
          </a:prstGeom>
          <a:solidFill>
            <a:srgbClr val="14B8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4648200" y="2800350"/>
            <a:ext cx="323850" cy="3238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200" b="1">
                <a:solidFill>
                  <a:srgbClr val="FFFFFF"/>
                </a:solidFill>
                <a:latin typeface="PingFang SC"/>
              </a:rPr>
              <a:t>02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5086350" y="2819400"/>
            <a:ext cx="2457450" cy="2857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1400" b="1">
                <a:solidFill>
                  <a:srgbClr val="0B1D3A"/>
                </a:solidFill>
                <a:latin typeface="PingFang SC"/>
              </a:rPr>
              <a:t>工具级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4648200" y="3219450"/>
            <a:ext cx="2895600" cy="7810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10000"/>
              </a:lnSpc>
            </a:pPr>
            <a:r>
              <a:rPr sz="1150" b="0">
                <a:solidFill>
                  <a:srgbClr val="475569"/>
                </a:solidFill>
                <a:latin typeface="PingFang SC"/>
              </a:rPr>
              <a:t>可调用子集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7943850" y="2609850"/>
            <a:ext cx="3200400" cy="15240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DDE5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7943850" y="2609850"/>
            <a:ext cx="3200400" cy="57150"/>
          </a:xfrm>
          <a:prstGeom prst="rect">
            <a:avLst/>
          </a:prstGeom>
          <a:solidFill>
            <a:srgbClr val="8B5C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ounded Rectangle 18"/>
          <p:cNvSpPr/>
          <p:nvPr/>
        </p:nvSpPr>
        <p:spPr>
          <a:xfrm>
            <a:off x="8096250" y="2800350"/>
            <a:ext cx="323850" cy="323850"/>
          </a:xfrm>
          <a:prstGeom prst="roundRect">
            <a:avLst>
              <a:gd name="adj" fmla="val 8000"/>
            </a:avLst>
          </a:prstGeom>
          <a:solidFill>
            <a:srgbClr val="8B5C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8096250" y="2800350"/>
            <a:ext cx="323850" cy="3238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200" b="1">
                <a:solidFill>
                  <a:srgbClr val="FFFFFF"/>
                </a:solidFill>
                <a:latin typeface="PingFang SC"/>
              </a:rPr>
              <a:t>03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8534400" y="2819400"/>
            <a:ext cx="2457450" cy="2857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1400" b="1">
                <a:solidFill>
                  <a:srgbClr val="0B1D3A"/>
                </a:solidFill>
                <a:latin typeface="PingFang SC"/>
              </a:rPr>
              <a:t>参数级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8096250" y="3219450"/>
            <a:ext cx="2895600" cy="7810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10000"/>
              </a:lnSpc>
            </a:pPr>
            <a:r>
              <a:rPr sz="1150" b="0">
                <a:solidFill>
                  <a:srgbClr val="475569"/>
                </a:solidFill>
                <a:latin typeface="PingFang SC"/>
              </a:rPr>
              <a:t>路径/表名白名单|默认拒绝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0287000" y="6534150"/>
            <a:ext cx="1619250" cy="2667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>
              <a:lnSpc>
                <a:spcPct val="100000"/>
              </a:lnSpc>
            </a:pPr>
            <a:r>
              <a:rPr sz="900" b="0">
                <a:solidFill>
                  <a:srgbClr val="94A3B8"/>
                </a:solidFill>
                <a:latin typeface="PingFang SC"/>
              </a:rPr>
              <a:t>第2章 · 106/141</a:t>
            </a:r>
          </a:p>
        </p:txBody>
      </p:sp>
    </p:spTree>
  </p:cSld>
  <p:clrMapOvr>
    <a:masterClrMapping/>
  </p:clrMapOvr>
</p:sld>
</file>

<file path=ppt/slides/slide10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704850"/>
          </a:xfrm>
          <a:prstGeom prst="rect">
            <a:avLst/>
          </a:prstGeom>
          <a:solidFill>
            <a:srgbClr val="0B1D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76200" cy="704850"/>
          </a:xfrm>
          <a:prstGeom prst="rect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266700" y="0"/>
            <a:ext cx="10287000" cy="7048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2000" b="1">
                <a:solidFill>
                  <a:srgbClr val="FFFFFF"/>
                </a:solidFill>
                <a:latin typeface="PingFang SC"/>
              </a:rPr>
              <a:t>MCP 审计与连接管理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334500" y="0"/>
            <a:ext cx="2667000" cy="7048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>
              <a:lnSpc>
                <a:spcPct val="100000"/>
              </a:lnSpc>
            </a:pPr>
            <a:r>
              <a:rPr sz="1100" b="0">
                <a:solidFill>
                  <a:srgbClr val="94A3B8"/>
                </a:solidFill>
                <a:latin typeface="PingFang SC"/>
              </a:rPr>
              <a:t>第2章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876300" y="914400"/>
            <a:ext cx="10439400" cy="10287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DDE5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876300" y="914400"/>
            <a:ext cx="57150" cy="1028700"/>
          </a:xfrm>
          <a:prstGeom prst="rect">
            <a:avLst/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ounded Rectangle 7"/>
          <p:cNvSpPr/>
          <p:nvPr/>
        </p:nvSpPr>
        <p:spPr>
          <a:xfrm>
            <a:off x="1047750" y="1285875"/>
            <a:ext cx="285750" cy="285750"/>
          </a:xfrm>
          <a:prstGeom prst="roundRect">
            <a:avLst>
              <a:gd name="adj" fmla="val 8000"/>
            </a:avLst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047750" y="1276350"/>
            <a:ext cx="285750" cy="2857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300" b="1">
                <a:solidFill>
                  <a:srgbClr val="FFFFFF"/>
                </a:solidFill>
                <a:latin typeface="PingFang SC"/>
              </a:rPr>
              <a:t>1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485900" y="914400"/>
            <a:ext cx="9601200" cy="10287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12000"/>
              </a:lnSpc>
            </a:pPr>
            <a:r>
              <a:rPr sz="1400" b="1">
                <a:solidFill>
                  <a:srgbClr val="475569"/>
                </a:solidFill>
                <a:latin typeface="PingFang SC"/>
              </a:rPr>
              <a:t>连接生命周期:握手/心跳/断开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876300" y="2114550"/>
            <a:ext cx="10439400" cy="10287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DDE5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876300" y="2114550"/>
            <a:ext cx="57150" cy="1028700"/>
          </a:xfrm>
          <a:prstGeom prst="rect">
            <a:avLst/>
          </a:prstGeom>
          <a:solidFill>
            <a:srgbClr val="14B8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ounded Rectangle 12"/>
          <p:cNvSpPr/>
          <p:nvPr/>
        </p:nvSpPr>
        <p:spPr>
          <a:xfrm>
            <a:off x="1047750" y="2486025"/>
            <a:ext cx="285750" cy="285750"/>
          </a:xfrm>
          <a:prstGeom prst="roundRect">
            <a:avLst>
              <a:gd name="adj" fmla="val 8000"/>
            </a:avLst>
          </a:prstGeom>
          <a:solidFill>
            <a:srgbClr val="14B8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1047750" y="2476500"/>
            <a:ext cx="285750" cy="2857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300" b="1">
                <a:solidFill>
                  <a:srgbClr val="FFFFFF"/>
                </a:solidFill>
                <a:latin typeface="PingFang SC"/>
              </a:rPr>
              <a:t>2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485900" y="2114550"/>
            <a:ext cx="9601200" cy="10287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12000"/>
              </a:lnSpc>
            </a:pPr>
            <a:r>
              <a:rPr sz="1400" b="1">
                <a:solidFill>
                  <a:srgbClr val="475569"/>
                </a:solidFill>
                <a:latin typeface="PingFang SC"/>
              </a:rPr>
              <a:t>工具调用全部过统一审计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876300" y="3314700"/>
            <a:ext cx="10439400" cy="10287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DDE5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876300" y="3314700"/>
            <a:ext cx="57150" cy="1028700"/>
          </a:xfrm>
          <a:prstGeom prst="rect">
            <a:avLst/>
          </a:prstGeom>
          <a:solidFill>
            <a:srgbClr val="8B5C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ounded Rectangle 17"/>
          <p:cNvSpPr/>
          <p:nvPr/>
        </p:nvSpPr>
        <p:spPr>
          <a:xfrm>
            <a:off x="1047750" y="3686175"/>
            <a:ext cx="285750" cy="285750"/>
          </a:xfrm>
          <a:prstGeom prst="roundRect">
            <a:avLst>
              <a:gd name="adj" fmla="val 8000"/>
            </a:avLst>
          </a:prstGeom>
          <a:solidFill>
            <a:srgbClr val="8B5C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1047750" y="3676650"/>
            <a:ext cx="285750" cy="2857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300" b="1">
                <a:solidFill>
                  <a:srgbClr val="FFFFFF"/>
                </a:solidFill>
                <a:latin typeface="PingFang SC"/>
              </a:rPr>
              <a:t>3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485900" y="3314700"/>
            <a:ext cx="9601200" cy="10287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12000"/>
              </a:lnSpc>
            </a:pPr>
            <a:r>
              <a:rPr sz="1400" b="1">
                <a:solidFill>
                  <a:srgbClr val="475569"/>
                </a:solidFill>
                <a:latin typeface="PingFang SC"/>
              </a:rPr>
              <a:t>断线自动重连+退避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876300" y="6019800"/>
            <a:ext cx="10439400" cy="514350"/>
          </a:xfrm>
          <a:prstGeom prst="roundRect">
            <a:avLst>
              <a:gd name="adj" fmla="val 8000"/>
            </a:avLst>
          </a:prstGeom>
          <a:solidFill>
            <a:srgbClr val="F1F5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1066800" y="6019800"/>
            <a:ext cx="10058400" cy="5524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1250" b="0">
                <a:solidFill>
                  <a:srgbClr val="2563EB"/>
                </a:solidFill>
                <a:latin typeface="PingFang SC"/>
              </a:rPr>
              <a:t>▶ 与 PulsarAuditBus 同一出口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0287000" y="6534150"/>
            <a:ext cx="1619250" cy="2667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>
              <a:lnSpc>
                <a:spcPct val="100000"/>
              </a:lnSpc>
            </a:pPr>
            <a:r>
              <a:rPr sz="900" b="0">
                <a:solidFill>
                  <a:srgbClr val="94A3B8"/>
                </a:solidFill>
                <a:latin typeface="PingFang SC"/>
              </a:rPr>
              <a:t>第2章 · 107/141</a:t>
            </a:r>
          </a:p>
        </p:txBody>
      </p:sp>
    </p:spTree>
  </p:cSld>
  <p:clrMapOvr>
    <a:masterClrMapping/>
  </p:clrMapOvr>
</p:sld>
</file>

<file path=ppt/slides/slide10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704850"/>
          </a:xfrm>
          <a:prstGeom prst="rect">
            <a:avLst/>
          </a:prstGeom>
          <a:solidFill>
            <a:srgbClr val="0B1D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76200" cy="704850"/>
          </a:xfrm>
          <a:prstGeom prst="rect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266700" y="0"/>
            <a:ext cx="10287000" cy="7048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2000" b="1">
                <a:solidFill>
                  <a:srgbClr val="FFFFFF"/>
                </a:solidFill>
                <a:latin typeface="PingFang SC"/>
              </a:rPr>
              <a:t>2026 前沿②:Agent 安全框架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1047750" y="1724025"/>
            <a:ext cx="4924425" cy="15240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DDE5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1047750" y="1724025"/>
            <a:ext cx="4924425" cy="57150"/>
          </a:xfrm>
          <a:prstGeom prst="rect">
            <a:avLst/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ounded Rectangle 6"/>
          <p:cNvSpPr/>
          <p:nvPr/>
        </p:nvSpPr>
        <p:spPr>
          <a:xfrm>
            <a:off x="1200150" y="1914525"/>
            <a:ext cx="323850" cy="323850"/>
          </a:xfrm>
          <a:prstGeom prst="roundRect">
            <a:avLst>
              <a:gd name="adj" fmla="val 8000"/>
            </a:avLst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200150" y="1914525"/>
            <a:ext cx="323850" cy="3238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200" b="1">
                <a:solidFill>
                  <a:srgbClr val="FFFFFF"/>
                </a:solidFill>
                <a:latin typeface="PingFang SC"/>
              </a:rPr>
              <a:t>01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638300" y="1933575"/>
            <a:ext cx="4181475" cy="2857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1400" b="1">
                <a:solidFill>
                  <a:srgbClr val="0B1D3A"/>
                </a:solidFill>
                <a:latin typeface="PingFang SC"/>
              </a:rPr>
              <a:t>OWASP LLM Top10(2025 版)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200150" y="2333625"/>
            <a:ext cx="4619625" cy="7810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10000"/>
              </a:lnSpc>
            </a:pPr>
            <a:r>
              <a:rPr sz="1150" b="0">
                <a:solidFill>
                  <a:srgbClr val="475569"/>
                </a:solidFill>
                <a:latin typeface="PingFang SC"/>
              </a:rPr>
              <a:t>提示注入/敏感泄露/供应链/越权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6219825" y="1724025"/>
            <a:ext cx="4924425" cy="15240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DDE5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6219825" y="1724025"/>
            <a:ext cx="4924425" cy="57150"/>
          </a:xfrm>
          <a:prstGeom prst="rect">
            <a:avLst/>
          </a:prstGeom>
          <a:solidFill>
            <a:srgbClr val="14B8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ounded Rectangle 12"/>
          <p:cNvSpPr/>
          <p:nvPr/>
        </p:nvSpPr>
        <p:spPr>
          <a:xfrm>
            <a:off x="6372225" y="1914525"/>
            <a:ext cx="323850" cy="323850"/>
          </a:xfrm>
          <a:prstGeom prst="roundRect">
            <a:avLst>
              <a:gd name="adj" fmla="val 8000"/>
            </a:avLst>
          </a:prstGeom>
          <a:solidFill>
            <a:srgbClr val="14B8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6372225" y="1914525"/>
            <a:ext cx="323850" cy="3238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200" b="1">
                <a:solidFill>
                  <a:srgbClr val="FFFFFF"/>
                </a:solidFill>
                <a:latin typeface="PingFang SC"/>
              </a:rPr>
              <a:t>02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810375" y="1933575"/>
            <a:ext cx="4181475" cy="2857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1400" b="1">
                <a:solidFill>
                  <a:srgbClr val="0B1D3A"/>
                </a:solidFill>
                <a:latin typeface="PingFang SC"/>
              </a:rPr>
              <a:t>Agent 身份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372225" y="2333625"/>
            <a:ext cx="4619625" cy="7810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10000"/>
              </a:lnSpc>
            </a:pPr>
            <a:r>
              <a:rPr sz="1150" b="0">
                <a:solidFill>
                  <a:srgbClr val="475569"/>
                </a:solidFill>
                <a:latin typeface="PingFang SC"/>
              </a:rPr>
              <a:t>服务账号+短期凭证(M2M)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1047750" y="3495675"/>
            <a:ext cx="4924425" cy="15240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DDE5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1047750" y="3495675"/>
            <a:ext cx="4924425" cy="57150"/>
          </a:xfrm>
          <a:prstGeom prst="rect">
            <a:avLst/>
          </a:prstGeom>
          <a:solidFill>
            <a:srgbClr val="8B5C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ounded Rectangle 18"/>
          <p:cNvSpPr/>
          <p:nvPr/>
        </p:nvSpPr>
        <p:spPr>
          <a:xfrm>
            <a:off x="1200150" y="3686175"/>
            <a:ext cx="323850" cy="323850"/>
          </a:xfrm>
          <a:prstGeom prst="roundRect">
            <a:avLst>
              <a:gd name="adj" fmla="val 8000"/>
            </a:avLst>
          </a:prstGeom>
          <a:solidFill>
            <a:srgbClr val="8B5C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1200150" y="3686175"/>
            <a:ext cx="323850" cy="3238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200" b="1">
                <a:solidFill>
                  <a:srgbClr val="FFFFFF"/>
                </a:solidFill>
                <a:latin typeface="PingFang SC"/>
              </a:rPr>
              <a:t>03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638300" y="3705225"/>
            <a:ext cx="4181475" cy="2857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1400" b="1">
                <a:solidFill>
                  <a:srgbClr val="0B1D3A"/>
                </a:solidFill>
                <a:latin typeface="PingFang SC"/>
              </a:rPr>
              <a:t>审计防篡改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200150" y="4105275"/>
            <a:ext cx="4619625" cy="7810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10000"/>
              </a:lnSpc>
            </a:pPr>
            <a:r>
              <a:rPr sz="1150" b="0">
                <a:solidFill>
                  <a:srgbClr val="475569"/>
                </a:solidFill>
                <a:latin typeface="PingFang SC"/>
              </a:rPr>
              <a:t>哈希链(平台已实现)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6219825" y="3495675"/>
            <a:ext cx="4924425" cy="15240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DDE5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Rectangle 23"/>
          <p:cNvSpPr/>
          <p:nvPr/>
        </p:nvSpPr>
        <p:spPr>
          <a:xfrm>
            <a:off x="6219825" y="3495675"/>
            <a:ext cx="4924425" cy="57150"/>
          </a:xfrm>
          <a:prstGeom prst="rect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Rounded Rectangle 24"/>
          <p:cNvSpPr/>
          <p:nvPr/>
        </p:nvSpPr>
        <p:spPr>
          <a:xfrm>
            <a:off x="6372225" y="3686175"/>
            <a:ext cx="323850" cy="323850"/>
          </a:xfrm>
          <a:prstGeom prst="roundRect">
            <a:avLst>
              <a:gd name="adj" fmla="val 8000"/>
            </a:avLst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6372225" y="3686175"/>
            <a:ext cx="323850" cy="3238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200" b="1">
                <a:solidFill>
                  <a:srgbClr val="FFFFFF"/>
                </a:solidFill>
                <a:latin typeface="PingFang SC"/>
              </a:rPr>
              <a:t>04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6810375" y="3705225"/>
            <a:ext cx="4181475" cy="2857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1400" b="1">
                <a:solidFill>
                  <a:srgbClr val="0B1D3A"/>
                </a:solidFill>
                <a:latin typeface="PingFang SC"/>
              </a:rPr>
              <a:t>等保 2.0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6372225" y="4105275"/>
            <a:ext cx="4619625" cy="7810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10000"/>
              </a:lnSpc>
            </a:pPr>
            <a:r>
              <a:rPr sz="1150" b="0">
                <a:solidFill>
                  <a:srgbClr val="475569"/>
                </a:solidFill>
                <a:latin typeface="PingFang SC"/>
              </a:rPr>
              <a:t>日志留存≥6 个月|面试高频:安全三件套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10287000" y="6534150"/>
            <a:ext cx="1619250" cy="2667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>
              <a:lnSpc>
                <a:spcPct val="100000"/>
              </a:lnSpc>
            </a:pPr>
            <a:r>
              <a:rPr sz="900" b="0">
                <a:solidFill>
                  <a:srgbClr val="94A3B8"/>
                </a:solidFill>
                <a:latin typeface="PingFang SC"/>
              </a:rPr>
              <a:t>第2章 · 108/141</a:t>
            </a:r>
          </a:p>
        </p:txBody>
      </p:sp>
    </p:spTree>
  </p:cSld>
  <p:clrMapOvr>
    <a:masterClrMapping/>
  </p:clrMapOvr>
</p:sld>
</file>

<file path=ppt/slides/slide10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704850"/>
          </a:xfrm>
          <a:prstGeom prst="rect">
            <a:avLst/>
          </a:prstGeom>
          <a:solidFill>
            <a:srgbClr val="0B1D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76200" cy="704850"/>
          </a:xfrm>
          <a:prstGeom prst="rect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266700" y="0"/>
            <a:ext cx="10287000" cy="7048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2000" b="1">
                <a:solidFill>
                  <a:srgbClr val="FFFFFF"/>
                </a:solidFill>
                <a:latin typeface="PingFang SC"/>
              </a:rPr>
              <a:t>连接生命周期时序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381000" y="990600"/>
            <a:ext cx="1905000" cy="400050"/>
          </a:xfrm>
          <a:prstGeom prst="roundRect">
            <a:avLst>
              <a:gd name="adj" fmla="val 8000"/>
            </a:avLst>
          </a:prstGeom>
          <a:solidFill>
            <a:srgbClr val="142A4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381000" y="990600"/>
            <a:ext cx="1905000" cy="4000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200" b="1">
                <a:solidFill>
                  <a:srgbClr val="FFFFFF"/>
                </a:solidFill>
                <a:latin typeface="PingFang SC"/>
              </a:rPr>
              <a:t>Client</a:t>
            </a:r>
          </a:p>
        </p:txBody>
      </p:sp>
      <p:cxnSp>
        <p:nvCxnSpPr>
          <p:cNvPr id="7" name="Connector 6"/>
          <p:cNvCxnSpPr/>
          <p:nvPr/>
        </p:nvCxnSpPr>
        <p:spPr>
          <a:xfrm>
            <a:off x="1333500" y="1428750"/>
            <a:ext cx="0" cy="4381500"/>
          </a:xfrm>
          <a:prstGeom prst="line">
            <a:avLst/>
          </a:prstGeom>
          <a:ln w="12700">
            <a:solidFill>
              <a:srgbClr val="DDE5EE"/>
            </a:solidFill>
            <a:prstDash val="dash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8" name="Rounded Rectangle 7"/>
          <p:cNvSpPr/>
          <p:nvPr/>
        </p:nvSpPr>
        <p:spPr>
          <a:xfrm>
            <a:off x="5143500" y="990600"/>
            <a:ext cx="1905000" cy="400050"/>
          </a:xfrm>
          <a:prstGeom prst="roundRect">
            <a:avLst>
              <a:gd name="adj" fmla="val 8000"/>
            </a:avLst>
          </a:prstGeom>
          <a:solidFill>
            <a:srgbClr val="142A4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5143500" y="990600"/>
            <a:ext cx="1905000" cy="4000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200" b="1">
                <a:solidFill>
                  <a:srgbClr val="FFFFFF"/>
                </a:solidFill>
                <a:latin typeface="PingFang SC"/>
              </a:rPr>
              <a:t>连接池</a:t>
            </a:r>
          </a:p>
        </p:txBody>
      </p:sp>
      <p:cxnSp>
        <p:nvCxnSpPr>
          <p:cNvPr id="10" name="Connector 9"/>
          <p:cNvCxnSpPr/>
          <p:nvPr/>
        </p:nvCxnSpPr>
        <p:spPr>
          <a:xfrm>
            <a:off x="6096000" y="1428750"/>
            <a:ext cx="0" cy="4381500"/>
          </a:xfrm>
          <a:prstGeom prst="line">
            <a:avLst/>
          </a:prstGeom>
          <a:ln w="12700">
            <a:solidFill>
              <a:srgbClr val="DDE5EE"/>
            </a:solidFill>
            <a:prstDash val="dash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1" name="Rounded Rectangle 10"/>
          <p:cNvSpPr/>
          <p:nvPr/>
        </p:nvSpPr>
        <p:spPr>
          <a:xfrm>
            <a:off x="9906000" y="990600"/>
            <a:ext cx="1905000" cy="400050"/>
          </a:xfrm>
          <a:prstGeom prst="roundRect">
            <a:avLst>
              <a:gd name="adj" fmla="val 8000"/>
            </a:avLst>
          </a:prstGeom>
          <a:solidFill>
            <a:srgbClr val="142A4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9906000" y="990600"/>
            <a:ext cx="1905000" cy="4000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200" b="1">
                <a:solidFill>
                  <a:srgbClr val="FFFFFF"/>
                </a:solidFill>
                <a:latin typeface="PingFang SC"/>
              </a:rPr>
              <a:t>MCP Server</a:t>
            </a:r>
          </a:p>
        </p:txBody>
      </p:sp>
      <p:cxnSp>
        <p:nvCxnSpPr>
          <p:cNvPr id="13" name="Connector 12"/>
          <p:cNvCxnSpPr/>
          <p:nvPr/>
        </p:nvCxnSpPr>
        <p:spPr>
          <a:xfrm>
            <a:off x="10858500" y="1428750"/>
            <a:ext cx="0" cy="4381500"/>
          </a:xfrm>
          <a:prstGeom prst="line">
            <a:avLst/>
          </a:prstGeom>
          <a:ln w="12700">
            <a:solidFill>
              <a:srgbClr val="DDE5EE"/>
            </a:solidFill>
            <a:prstDash val="dash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4" name="Connector 13"/>
          <p:cNvCxnSpPr/>
          <p:nvPr/>
        </p:nvCxnSpPr>
        <p:spPr>
          <a:xfrm>
            <a:off x="1333500" y="1809750"/>
            <a:ext cx="4762500" cy="0"/>
          </a:xfrm>
          <a:prstGeom prst="line">
            <a:avLst/>
          </a:prstGeom>
          <a:ln w="20320">
            <a:solidFill>
              <a:srgbClr val="2563E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5" name="Isosceles Triangle 14"/>
          <p:cNvSpPr/>
          <p:nvPr/>
        </p:nvSpPr>
        <p:spPr>
          <a:xfrm rot="5400000">
            <a:off x="6010276" y="1766888"/>
            <a:ext cx="85725" cy="85725"/>
          </a:xfrm>
          <a:prstGeom prst="triangle">
            <a:avLst/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2190750" y="1524000"/>
            <a:ext cx="3048000" cy="2286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000" b="0">
                <a:solidFill>
                  <a:srgbClr val="2563EB"/>
                </a:solidFill>
                <a:latin typeface="PingFang SC"/>
              </a:rPr>
              <a:t>1. 握手+能力协商</a:t>
            </a:r>
          </a:p>
        </p:txBody>
      </p:sp>
      <p:cxnSp>
        <p:nvCxnSpPr>
          <p:cNvPr id="17" name="Connector 16"/>
          <p:cNvCxnSpPr/>
          <p:nvPr/>
        </p:nvCxnSpPr>
        <p:spPr>
          <a:xfrm>
            <a:off x="6096000" y="2628900"/>
            <a:ext cx="4762500" cy="0"/>
          </a:xfrm>
          <a:prstGeom prst="line">
            <a:avLst/>
          </a:prstGeom>
          <a:ln w="20320">
            <a:solidFill>
              <a:srgbClr val="2563E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8" name="Isosceles Triangle 17"/>
          <p:cNvSpPr/>
          <p:nvPr/>
        </p:nvSpPr>
        <p:spPr>
          <a:xfrm rot="5400000">
            <a:off x="10772776" y="2586038"/>
            <a:ext cx="85725" cy="85725"/>
          </a:xfrm>
          <a:prstGeom prst="triangle">
            <a:avLst/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6953250" y="2343150"/>
            <a:ext cx="3048000" cy="2286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000" b="0">
                <a:solidFill>
                  <a:srgbClr val="2563EB"/>
                </a:solidFill>
                <a:latin typeface="PingFang SC"/>
              </a:rPr>
              <a:t>2. 心跳保活(15s)</a:t>
            </a:r>
          </a:p>
        </p:txBody>
      </p:sp>
      <p:cxnSp>
        <p:nvCxnSpPr>
          <p:cNvPr id="20" name="Connector 19"/>
          <p:cNvCxnSpPr/>
          <p:nvPr/>
        </p:nvCxnSpPr>
        <p:spPr>
          <a:xfrm flipH="1">
            <a:off x="6096000" y="3448050"/>
            <a:ext cx="4762500" cy="0"/>
          </a:xfrm>
          <a:prstGeom prst="line">
            <a:avLst/>
          </a:prstGeom>
          <a:ln w="20320">
            <a:solidFill>
              <a:srgbClr val="F59E0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1" name="Isosceles Triangle 20"/>
          <p:cNvSpPr/>
          <p:nvPr/>
        </p:nvSpPr>
        <p:spPr>
          <a:xfrm rot="16200000">
            <a:off x="6096000" y="3405188"/>
            <a:ext cx="85725" cy="85725"/>
          </a:xfrm>
          <a:prstGeom prst="triangle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6953250" y="3162300"/>
            <a:ext cx="3048000" cy="2286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000" b="0">
                <a:solidFill>
                  <a:srgbClr val="F59E0B"/>
                </a:solidFill>
                <a:latin typeface="PingFang SC"/>
              </a:rPr>
              <a:t>3. 断线检测</a:t>
            </a:r>
          </a:p>
        </p:txBody>
      </p:sp>
      <p:cxnSp>
        <p:nvCxnSpPr>
          <p:cNvPr id="23" name="Connector 22"/>
          <p:cNvCxnSpPr/>
          <p:nvPr/>
        </p:nvCxnSpPr>
        <p:spPr>
          <a:xfrm>
            <a:off x="6096000" y="4267200"/>
            <a:ext cx="4762500" cy="0"/>
          </a:xfrm>
          <a:prstGeom prst="line">
            <a:avLst/>
          </a:prstGeom>
          <a:ln w="20320">
            <a:solidFill>
              <a:srgbClr val="2563E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4" name="Isosceles Triangle 23"/>
          <p:cNvSpPr/>
          <p:nvPr/>
        </p:nvSpPr>
        <p:spPr>
          <a:xfrm rot="5400000">
            <a:off x="10772776" y="4224338"/>
            <a:ext cx="85725" cy="85725"/>
          </a:xfrm>
          <a:prstGeom prst="triangle">
            <a:avLst/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6953250" y="3981450"/>
            <a:ext cx="3048000" cy="2286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000" b="0">
                <a:solidFill>
                  <a:srgbClr val="2563EB"/>
                </a:solidFill>
                <a:latin typeface="PingFang SC"/>
              </a:rPr>
              <a:t>4. 指数退避重连</a:t>
            </a:r>
          </a:p>
        </p:txBody>
      </p:sp>
      <p:cxnSp>
        <p:nvCxnSpPr>
          <p:cNvPr id="26" name="Connector 25"/>
          <p:cNvCxnSpPr/>
          <p:nvPr/>
        </p:nvCxnSpPr>
        <p:spPr>
          <a:xfrm flipH="1">
            <a:off x="1333500" y="5086350"/>
            <a:ext cx="4762500" cy="0"/>
          </a:xfrm>
          <a:prstGeom prst="line">
            <a:avLst/>
          </a:prstGeom>
          <a:ln w="20320">
            <a:solidFill>
              <a:srgbClr val="F59E0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7" name="Isosceles Triangle 26"/>
          <p:cNvSpPr/>
          <p:nvPr/>
        </p:nvSpPr>
        <p:spPr>
          <a:xfrm rot="16200000">
            <a:off x="1333500" y="5043488"/>
            <a:ext cx="85725" cy="85725"/>
          </a:xfrm>
          <a:prstGeom prst="triangle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2190750" y="4800600"/>
            <a:ext cx="3048000" cy="2286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000" b="0">
                <a:solidFill>
                  <a:srgbClr val="F59E0B"/>
                </a:solidFill>
                <a:latin typeface="PingFang SC"/>
              </a:rPr>
              <a:t>5. 连接释放|断连自动重连,工具不摘除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10287000" y="6534150"/>
            <a:ext cx="1619250" cy="2667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>
              <a:lnSpc>
                <a:spcPct val="100000"/>
              </a:lnSpc>
            </a:pPr>
            <a:r>
              <a:rPr sz="900" b="0">
                <a:solidFill>
                  <a:srgbClr val="94A3B8"/>
                </a:solidFill>
                <a:latin typeface="PingFang SC"/>
              </a:rPr>
              <a:t>第2章 · 109/141</a:t>
            </a:r>
          </a:p>
        </p:txBody>
      </p:sp>
    </p:spTree>
  </p:cSld>
  <p:clrMapOvr>
    <a:masterClrMapping/>
  </p:clrMapOvr>
</p:sld>
</file>

<file path=ppt/slides/slide1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704850"/>
          </a:xfrm>
          <a:prstGeom prst="rect">
            <a:avLst/>
          </a:prstGeom>
          <a:solidFill>
            <a:srgbClr val="0B1D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76200" cy="704850"/>
          </a:xfrm>
          <a:prstGeom prst="rect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266700" y="0"/>
            <a:ext cx="10287000" cy="7048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2000" b="1">
                <a:solidFill>
                  <a:srgbClr val="FFFFFF"/>
                </a:solidFill>
                <a:latin typeface="PingFang SC"/>
              </a:rPr>
              <a:t>应用:多 Server 组合任务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334500" y="0"/>
            <a:ext cx="2667000" cy="7048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>
              <a:lnSpc>
                <a:spcPct val="100000"/>
              </a:lnSpc>
            </a:pPr>
            <a:r>
              <a:rPr sz="1100" b="0">
                <a:solidFill>
                  <a:srgbClr val="94A3B8"/>
                </a:solidFill>
                <a:latin typeface="PingFang SC"/>
              </a:rPr>
              <a:t>第2章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876300" y="914400"/>
            <a:ext cx="10439400" cy="10287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DDE5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876300" y="914400"/>
            <a:ext cx="57150" cy="1028700"/>
          </a:xfrm>
          <a:prstGeom prst="rect">
            <a:avLst/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ounded Rectangle 7"/>
          <p:cNvSpPr/>
          <p:nvPr/>
        </p:nvSpPr>
        <p:spPr>
          <a:xfrm>
            <a:off x="1047750" y="1285875"/>
            <a:ext cx="285750" cy="285750"/>
          </a:xfrm>
          <a:prstGeom prst="roundRect">
            <a:avLst>
              <a:gd name="adj" fmla="val 8000"/>
            </a:avLst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047750" y="1276350"/>
            <a:ext cx="285750" cy="2857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300" b="1">
                <a:solidFill>
                  <a:srgbClr val="FFFFFF"/>
                </a:solidFill>
                <a:latin typeface="PingFang SC"/>
              </a:rPr>
              <a:t>1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485900" y="914400"/>
            <a:ext cx="9601200" cy="10287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12000"/>
              </a:lnSpc>
            </a:pPr>
            <a:r>
              <a:rPr sz="1400" b="1">
                <a:solidFill>
                  <a:srgbClr val="475569"/>
                </a:solidFill>
                <a:latin typeface="PingFang SC"/>
              </a:rPr>
              <a:t>文件 Server 读需求文档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876300" y="2114550"/>
            <a:ext cx="10439400" cy="10287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DDE5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876300" y="2114550"/>
            <a:ext cx="57150" cy="1028700"/>
          </a:xfrm>
          <a:prstGeom prst="rect">
            <a:avLst/>
          </a:prstGeom>
          <a:solidFill>
            <a:srgbClr val="14B8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ounded Rectangle 12"/>
          <p:cNvSpPr/>
          <p:nvPr/>
        </p:nvSpPr>
        <p:spPr>
          <a:xfrm>
            <a:off x="1047750" y="2486025"/>
            <a:ext cx="285750" cy="285750"/>
          </a:xfrm>
          <a:prstGeom prst="roundRect">
            <a:avLst>
              <a:gd name="adj" fmla="val 8000"/>
            </a:avLst>
          </a:prstGeom>
          <a:solidFill>
            <a:srgbClr val="14B8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1047750" y="2476500"/>
            <a:ext cx="285750" cy="2857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300" b="1">
                <a:solidFill>
                  <a:srgbClr val="FFFFFF"/>
                </a:solidFill>
                <a:latin typeface="PingFang SC"/>
              </a:rPr>
              <a:t>2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485900" y="2114550"/>
            <a:ext cx="9601200" cy="10287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12000"/>
              </a:lnSpc>
            </a:pPr>
            <a:r>
              <a:rPr sz="1400" b="1">
                <a:solidFill>
                  <a:srgbClr val="475569"/>
                </a:solidFill>
                <a:latin typeface="PingFang SC"/>
              </a:rPr>
              <a:t>数据库 Server 查订单数据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876300" y="3314700"/>
            <a:ext cx="10439400" cy="10287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DDE5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876300" y="3314700"/>
            <a:ext cx="57150" cy="1028700"/>
          </a:xfrm>
          <a:prstGeom prst="rect">
            <a:avLst/>
          </a:prstGeom>
          <a:solidFill>
            <a:srgbClr val="8B5C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ounded Rectangle 17"/>
          <p:cNvSpPr/>
          <p:nvPr/>
        </p:nvSpPr>
        <p:spPr>
          <a:xfrm>
            <a:off x="1047750" y="3686175"/>
            <a:ext cx="285750" cy="285750"/>
          </a:xfrm>
          <a:prstGeom prst="roundRect">
            <a:avLst>
              <a:gd name="adj" fmla="val 8000"/>
            </a:avLst>
          </a:prstGeom>
          <a:solidFill>
            <a:srgbClr val="8B5C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1047750" y="3676650"/>
            <a:ext cx="285750" cy="2857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300" b="1">
                <a:solidFill>
                  <a:srgbClr val="FFFFFF"/>
                </a:solidFill>
                <a:latin typeface="PingFang SC"/>
              </a:rPr>
              <a:t>3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485900" y="3314700"/>
            <a:ext cx="9601200" cy="10287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12000"/>
              </a:lnSpc>
            </a:pPr>
            <a:r>
              <a:rPr sz="1400" b="1">
                <a:solidFill>
                  <a:srgbClr val="475569"/>
                </a:solidFill>
                <a:latin typeface="PingFang SC"/>
              </a:rPr>
              <a:t>GitHub Server 提修复 PR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876300" y="6019800"/>
            <a:ext cx="10439400" cy="514350"/>
          </a:xfrm>
          <a:prstGeom prst="roundRect">
            <a:avLst>
              <a:gd name="adj" fmla="val 8000"/>
            </a:avLst>
          </a:prstGeom>
          <a:solidFill>
            <a:srgbClr val="F1F5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1066800" y="6019800"/>
            <a:ext cx="10058400" cy="5524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1250" b="0">
                <a:solidFill>
                  <a:srgbClr val="2563EB"/>
                </a:solidFill>
                <a:latin typeface="PingFang SC"/>
              </a:rPr>
              <a:t>▶ 跨 Server 编排=Agent Loop 的活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0287000" y="6534150"/>
            <a:ext cx="1619250" cy="2667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>
              <a:lnSpc>
                <a:spcPct val="100000"/>
              </a:lnSpc>
            </a:pPr>
            <a:r>
              <a:rPr sz="900" b="0">
                <a:solidFill>
                  <a:srgbClr val="94A3B8"/>
                </a:solidFill>
                <a:latin typeface="PingFang SC"/>
              </a:rPr>
              <a:t>第2章 · 110/141</a:t>
            </a:r>
          </a:p>
        </p:txBody>
      </p:sp>
    </p:spTree>
  </p:cSld>
  <p:clrMapOvr>
    <a:masterClrMapping/>
  </p:clrMapOvr>
</p:sld>
</file>

<file path=ppt/slides/slide1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704850"/>
          </a:xfrm>
          <a:prstGeom prst="rect">
            <a:avLst/>
          </a:prstGeom>
          <a:solidFill>
            <a:srgbClr val="0B1D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76200" cy="704850"/>
          </a:xfrm>
          <a:prstGeom prst="rect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266700" y="0"/>
            <a:ext cx="10287000" cy="7048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2000" b="1">
                <a:solidFill>
                  <a:srgbClr val="FFFFFF"/>
                </a:solidFill>
                <a:latin typeface="PingFang SC"/>
              </a:rPr>
              <a:t>多 MCP Server 编排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334500" y="0"/>
            <a:ext cx="2667000" cy="7048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>
              <a:lnSpc>
                <a:spcPct val="100000"/>
              </a:lnSpc>
            </a:pPr>
            <a:r>
              <a:rPr sz="1100" b="0">
                <a:solidFill>
                  <a:srgbClr val="94A3B8"/>
                </a:solidFill>
                <a:latin typeface="PingFang SC"/>
              </a:rPr>
              <a:t>跨 Server=Loop 的主场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1847850" y="914400"/>
            <a:ext cx="8877300" cy="1100137"/>
          </a:xfrm>
          <a:prstGeom prst="roundRect">
            <a:avLst>
              <a:gd name="adj" fmla="val 8000"/>
            </a:avLst>
          </a:prstGeom>
          <a:solidFill>
            <a:srgbClr val="F1F5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ounded Rectangle 6"/>
          <p:cNvSpPr/>
          <p:nvPr/>
        </p:nvSpPr>
        <p:spPr>
          <a:xfrm>
            <a:off x="1905000" y="952500"/>
            <a:ext cx="8763000" cy="1023937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2563E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1905000" y="952500"/>
            <a:ext cx="47625" cy="1023937"/>
          </a:xfrm>
          <a:prstGeom prst="rect">
            <a:avLst/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2038350" y="952500"/>
            <a:ext cx="8534400" cy="1023937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1200" b="1">
                <a:solidFill>
                  <a:srgbClr val="475569"/>
                </a:solidFill>
                <a:latin typeface="PingFang SC"/>
              </a:rPr>
              <a:t>Agent Loop:任务分解</a:t>
            </a:r>
          </a:p>
        </p:txBody>
      </p:sp>
      <p:cxnSp>
        <p:nvCxnSpPr>
          <p:cNvPr id="10" name="Connector 9"/>
          <p:cNvCxnSpPr/>
          <p:nvPr/>
        </p:nvCxnSpPr>
        <p:spPr>
          <a:xfrm>
            <a:off x="6096000" y="2033587"/>
            <a:ext cx="0" cy="152400"/>
          </a:xfrm>
          <a:prstGeom prst="line">
            <a:avLst/>
          </a:prstGeom>
          <a:ln w="15240">
            <a:solidFill>
              <a:srgbClr val="94A3B8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1" name="Isosceles Triangle 10"/>
          <p:cNvSpPr/>
          <p:nvPr/>
        </p:nvSpPr>
        <p:spPr>
          <a:xfrm rot="10800000">
            <a:off x="6053138" y="2100263"/>
            <a:ext cx="85725" cy="85725"/>
          </a:xfrm>
          <a:prstGeom prst="triangle">
            <a:avLst/>
          </a:prstGeom>
          <a:solidFill>
            <a:srgbClr val="94A3B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248400" y="1976437"/>
            <a:ext cx="2095500" cy="2476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1000" b="0">
                <a:solidFill>
                  <a:srgbClr val="94A3B8"/>
                </a:solidFill>
                <a:latin typeface="PingFang SC"/>
              </a:rPr>
              <a:t>读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1847850" y="2185987"/>
            <a:ext cx="8877300" cy="1100137"/>
          </a:xfrm>
          <a:prstGeom prst="roundRect">
            <a:avLst>
              <a:gd name="adj" fmla="val 8000"/>
            </a:avLst>
          </a:prstGeom>
          <a:solidFill>
            <a:srgbClr val="F1F5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ounded Rectangle 13"/>
          <p:cNvSpPr/>
          <p:nvPr/>
        </p:nvSpPr>
        <p:spPr>
          <a:xfrm>
            <a:off x="1905000" y="2224087"/>
            <a:ext cx="8763000" cy="1023937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14B8A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1905000" y="2224087"/>
            <a:ext cx="47625" cy="1023937"/>
          </a:xfrm>
          <a:prstGeom prst="rect">
            <a:avLst/>
          </a:prstGeom>
          <a:solidFill>
            <a:srgbClr val="14B8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2038350" y="2224087"/>
            <a:ext cx="8534400" cy="1023937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1200" b="1">
                <a:solidFill>
                  <a:srgbClr val="475569"/>
                </a:solidFill>
                <a:latin typeface="PingFang SC"/>
              </a:rPr>
              <a:t>文件 Server:读需求(路径白名单)</a:t>
            </a:r>
          </a:p>
        </p:txBody>
      </p:sp>
      <p:cxnSp>
        <p:nvCxnSpPr>
          <p:cNvPr id="17" name="Connector 16"/>
          <p:cNvCxnSpPr/>
          <p:nvPr/>
        </p:nvCxnSpPr>
        <p:spPr>
          <a:xfrm>
            <a:off x="6096000" y="3305174"/>
            <a:ext cx="0" cy="152400"/>
          </a:xfrm>
          <a:prstGeom prst="line">
            <a:avLst/>
          </a:prstGeom>
          <a:ln w="15240">
            <a:solidFill>
              <a:srgbClr val="94A3B8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8" name="Isosceles Triangle 17"/>
          <p:cNvSpPr/>
          <p:nvPr/>
        </p:nvSpPr>
        <p:spPr>
          <a:xfrm rot="10800000">
            <a:off x="6053138" y="3371850"/>
            <a:ext cx="85725" cy="85725"/>
          </a:xfrm>
          <a:prstGeom prst="triangle">
            <a:avLst/>
          </a:prstGeom>
          <a:solidFill>
            <a:srgbClr val="94A3B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6248400" y="3248024"/>
            <a:ext cx="2095500" cy="2476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1000" b="0">
                <a:solidFill>
                  <a:srgbClr val="94A3B8"/>
                </a:solidFill>
                <a:latin typeface="PingFang SC"/>
              </a:rPr>
              <a:t>查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1847850" y="3457574"/>
            <a:ext cx="8877300" cy="1100137"/>
          </a:xfrm>
          <a:prstGeom prst="roundRect">
            <a:avLst>
              <a:gd name="adj" fmla="val 8000"/>
            </a:avLst>
          </a:prstGeom>
          <a:solidFill>
            <a:srgbClr val="F1F5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Rounded Rectangle 20"/>
          <p:cNvSpPr/>
          <p:nvPr/>
        </p:nvSpPr>
        <p:spPr>
          <a:xfrm>
            <a:off x="1905000" y="3495674"/>
            <a:ext cx="8763000" cy="1023937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8B5CF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ectangle 21"/>
          <p:cNvSpPr/>
          <p:nvPr/>
        </p:nvSpPr>
        <p:spPr>
          <a:xfrm>
            <a:off x="1905000" y="3495674"/>
            <a:ext cx="47625" cy="1023937"/>
          </a:xfrm>
          <a:prstGeom prst="rect">
            <a:avLst/>
          </a:prstGeom>
          <a:solidFill>
            <a:srgbClr val="8B5C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2038350" y="3495674"/>
            <a:ext cx="8534400" cy="1023937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1200" b="1">
                <a:solidFill>
                  <a:srgbClr val="475569"/>
                </a:solidFill>
                <a:latin typeface="PingFang SC"/>
              </a:rPr>
              <a:t>DB Server:查数据(只读)</a:t>
            </a:r>
          </a:p>
        </p:txBody>
      </p:sp>
      <p:cxnSp>
        <p:nvCxnSpPr>
          <p:cNvPr id="24" name="Connector 23"/>
          <p:cNvCxnSpPr/>
          <p:nvPr/>
        </p:nvCxnSpPr>
        <p:spPr>
          <a:xfrm>
            <a:off x="6096000" y="4576761"/>
            <a:ext cx="0" cy="152400"/>
          </a:xfrm>
          <a:prstGeom prst="line">
            <a:avLst/>
          </a:prstGeom>
          <a:ln w="15240">
            <a:solidFill>
              <a:srgbClr val="94A3B8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5" name="Isosceles Triangle 24"/>
          <p:cNvSpPr/>
          <p:nvPr/>
        </p:nvSpPr>
        <p:spPr>
          <a:xfrm rot="10800000">
            <a:off x="6053138" y="4643437"/>
            <a:ext cx="85725" cy="85725"/>
          </a:xfrm>
          <a:prstGeom prst="triangle">
            <a:avLst/>
          </a:prstGeom>
          <a:solidFill>
            <a:srgbClr val="94A3B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6248400" y="4519611"/>
            <a:ext cx="2095500" cy="2476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1000" b="0">
                <a:solidFill>
                  <a:srgbClr val="94A3B8"/>
                </a:solidFill>
                <a:latin typeface="PingFang SC"/>
              </a:rPr>
              <a:t>交付</a:t>
            </a:r>
          </a:p>
        </p:txBody>
      </p:sp>
      <p:sp>
        <p:nvSpPr>
          <p:cNvPr id="27" name="Rounded Rectangle 26"/>
          <p:cNvSpPr/>
          <p:nvPr/>
        </p:nvSpPr>
        <p:spPr>
          <a:xfrm>
            <a:off x="1847850" y="4729161"/>
            <a:ext cx="8877300" cy="1100137"/>
          </a:xfrm>
          <a:prstGeom prst="roundRect">
            <a:avLst>
              <a:gd name="adj" fmla="val 8000"/>
            </a:avLst>
          </a:prstGeom>
          <a:solidFill>
            <a:srgbClr val="F1F5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Rounded Rectangle 27"/>
          <p:cNvSpPr/>
          <p:nvPr/>
        </p:nvSpPr>
        <p:spPr>
          <a:xfrm>
            <a:off x="1905000" y="4767261"/>
            <a:ext cx="8763000" cy="1023937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F59E0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Rectangle 28"/>
          <p:cNvSpPr/>
          <p:nvPr/>
        </p:nvSpPr>
        <p:spPr>
          <a:xfrm>
            <a:off x="1905000" y="4767261"/>
            <a:ext cx="47625" cy="1023937"/>
          </a:xfrm>
          <a:prstGeom prst="rect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2038350" y="4767261"/>
            <a:ext cx="8534400" cy="1023937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1200" b="1">
                <a:solidFill>
                  <a:srgbClr val="475569"/>
                </a:solidFill>
                <a:latin typeface="PingFang SC"/>
              </a:rPr>
              <a:t>GitHub Server:提 PR(Token 最小权)|跨 Server=Loop 的主场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10287000" y="6534150"/>
            <a:ext cx="1619250" cy="2667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>
              <a:lnSpc>
                <a:spcPct val="100000"/>
              </a:lnSpc>
            </a:pPr>
            <a:r>
              <a:rPr sz="900" b="0">
                <a:solidFill>
                  <a:srgbClr val="94A3B8"/>
                </a:solidFill>
                <a:latin typeface="PingFang SC"/>
              </a:rPr>
              <a:t>第2章 · 111/141</a:t>
            </a:r>
          </a:p>
        </p:txBody>
      </p:sp>
    </p:spTree>
  </p:cSld>
  <p:clrMapOvr>
    <a:masterClrMapping/>
  </p:clrMapOvr>
</p:sld>
</file>

<file path=ppt/slides/slide1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704850"/>
          </a:xfrm>
          <a:prstGeom prst="rect">
            <a:avLst/>
          </a:prstGeom>
          <a:solidFill>
            <a:srgbClr val="0B1D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76200" cy="704850"/>
          </a:xfrm>
          <a:prstGeom prst="rect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266700" y="0"/>
            <a:ext cx="10287000" cy="7048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2000" b="1">
                <a:solidFill>
                  <a:srgbClr val="FFFFFF"/>
                </a:solidFill>
                <a:latin typeface="PingFang SC"/>
              </a:rPr>
              <a:t>踩坑:Server 版本漂移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334500" y="0"/>
            <a:ext cx="2667000" cy="7048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>
              <a:lnSpc>
                <a:spcPct val="100000"/>
              </a:lnSpc>
            </a:pPr>
            <a:r>
              <a:rPr sz="1100" b="0">
                <a:solidFill>
                  <a:srgbClr val="94A3B8"/>
                </a:solidFill>
                <a:latin typeface="PingFang SC"/>
              </a:rPr>
              <a:t>第2章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876300" y="914400"/>
            <a:ext cx="10439400" cy="10287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DDE5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876300" y="914400"/>
            <a:ext cx="57150" cy="1028700"/>
          </a:xfrm>
          <a:prstGeom prst="rect">
            <a:avLst/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ounded Rectangle 7"/>
          <p:cNvSpPr/>
          <p:nvPr/>
        </p:nvSpPr>
        <p:spPr>
          <a:xfrm>
            <a:off x="1047750" y="1285875"/>
            <a:ext cx="285750" cy="285750"/>
          </a:xfrm>
          <a:prstGeom prst="roundRect">
            <a:avLst>
              <a:gd name="adj" fmla="val 8000"/>
            </a:avLst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047750" y="1276350"/>
            <a:ext cx="285750" cy="2857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300" b="1">
                <a:solidFill>
                  <a:srgbClr val="FFFFFF"/>
                </a:solidFill>
                <a:latin typeface="PingFang SC"/>
              </a:rPr>
              <a:t>1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485900" y="914400"/>
            <a:ext cx="9601200" cy="10287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12000"/>
              </a:lnSpc>
            </a:pPr>
            <a:r>
              <a:rPr sz="1400" b="1">
                <a:solidFill>
                  <a:srgbClr val="475569"/>
                </a:solidFill>
                <a:latin typeface="PingFang SC"/>
              </a:rPr>
              <a:t>Server 升级后工具签名变了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876300" y="2114550"/>
            <a:ext cx="10439400" cy="10287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DDE5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876300" y="2114550"/>
            <a:ext cx="57150" cy="1028700"/>
          </a:xfrm>
          <a:prstGeom prst="rect">
            <a:avLst/>
          </a:prstGeom>
          <a:solidFill>
            <a:srgbClr val="14B8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ounded Rectangle 12"/>
          <p:cNvSpPr/>
          <p:nvPr/>
        </p:nvSpPr>
        <p:spPr>
          <a:xfrm>
            <a:off x="1047750" y="2486025"/>
            <a:ext cx="285750" cy="285750"/>
          </a:xfrm>
          <a:prstGeom prst="roundRect">
            <a:avLst>
              <a:gd name="adj" fmla="val 8000"/>
            </a:avLst>
          </a:prstGeom>
          <a:solidFill>
            <a:srgbClr val="14B8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1047750" y="2476500"/>
            <a:ext cx="285750" cy="2857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300" b="1">
                <a:solidFill>
                  <a:srgbClr val="FFFFFF"/>
                </a:solidFill>
                <a:latin typeface="PingFang SC"/>
              </a:rPr>
              <a:t>2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485900" y="2114550"/>
            <a:ext cx="9601200" cy="10287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12000"/>
              </a:lnSpc>
            </a:pPr>
            <a:r>
              <a:rPr sz="1400" b="1">
                <a:solidFill>
                  <a:srgbClr val="475569"/>
                </a:solidFill>
                <a:latin typeface="PingFang SC"/>
              </a:rPr>
              <a:t>Agent 参数错误率飙升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876300" y="3314700"/>
            <a:ext cx="10439400" cy="10287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DDE5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876300" y="3314700"/>
            <a:ext cx="57150" cy="1028700"/>
          </a:xfrm>
          <a:prstGeom prst="rect">
            <a:avLst/>
          </a:prstGeom>
          <a:solidFill>
            <a:srgbClr val="8B5C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ounded Rectangle 17"/>
          <p:cNvSpPr/>
          <p:nvPr/>
        </p:nvSpPr>
        <p:spPr>
          <a:xfrm>
            <a:off x="1047750" y="3686175"/>
            <a:ext cx="285750" cy="285750"/>
          </a:xfrm>
          <a:prstGeom prst="roundRect">
            <a:avLst>
              <a:gd name="adj" fmla="val 8000"/>
            </a:avLst>
          </a:prstGeom>
          <a:solidFill>
            <a:srgbClr val="8B5C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1047750" y="3676650"/>
            <a:ext cx="285750" cy="2857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300" b="1">
                <a:solidFill>
                  <a:srgbClr val="FFFFFF"/>
                </a:solidFill>
                <a:latin typeface="PingFang SC"/>
              </a:rPr>
              <a:t>3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485900" y="3314700"/>
            <a:ext cx="9601200" cy="10287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12000"/>
              </a:lnSpc>
            </a:pPr>
            <a:r>
              <a:rPr sz="1400" b="1">
                <a:solidFill>
                  <a:srgbClr val="475569"/>
                </a:solidFill>
                <a:latin typeface="PingFang SC"/>
              </a:rPr>
              <a:t>防护:接入时快照工具清单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876300" y="4514850"/>
            <a:ext cx="10439400" cy="10287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DDE5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ectangle 21"/>
          <p:cNvSpPr/>
          <p:nvPr/>
        </p:nvSpPr>
        <p:spPr>
          <a:xfrm>
            <a:off x="876300" y="4514850"/>
            <a:ext cx="57150" cy="1028700"/>
          </a:xfrm>
          <a:prstGeom prst="rect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ounded Rectangle 22"/>
          <p:cNvSpPr/>
          <p:nvPr/>
        </p:nvSpPr>
        <p:spPr>
          <a:xfrm>
            <a:off x="1047750" y="4886325"/>
            <a:ext cx="285750" cy="285750"/>
          </a:xfrm>
          <a:prstGeom prst="roundRect">
            <a:avLst>
              <a:gd name="adj" fmla="val 8000"/>
            </a:avLst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1047750" y="4876800"/>
            <a:ext cx="285750" cy="2857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300" b="1">
                <a:solidFill>
                  <a:srgbClr val="FFFFFF"/>
                </a:solidFill>
                <a:latin typeface="PingFang SC"/>
              </a:rPr>
              <a:t>4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1485900" y="4514850"/>
            <a:ext cx="9601200" cy="10287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12000"/>
              </a:lnSpc>
            </a:pPr>
            <a:r>
              <a:rPr sz="1400" b="1">
                <a:solidFill>
                  <a:srgbClr val="475569"/>
                </a:solidFill>
                <a:latin typeface="PingFang SC"/>
              </a:rPr>
              <a:t>变更告警+回归评测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10287000" y="6534150"/>
            <a:ext cx="1619250" cy="2667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>
              <a:lnSpc>
                <a:spcPct val="100000"/>
              </a:lnSpc>
            </a:pPr>
            <a:r>
              <a:rPr sz="900" b="0">
                <a:solidFill>
                  <a:srgbClr val="94A3B8"/>
                </a:solidFill>
                <a:latin typeface="PingFang SC"/>
              </a:rPr>
              <a:t>第2章 · 112/141</a:t>
            </a:r>
          </a:p>
        </p:txBody>
      </p:sp>
    </p:spTree>
  </p:cSld>
  <p:clrMapOvr>
    <a:masterClrMapping/>
  </p:clrMapOvr>
</p:sld>
</file>

<file path=ppt/slides/slide1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704850"/>
          </a:xfrm>
          <a:prstGeom prst="rect">
            <a:avLst/>
          </a:prstGeom>
          <a:solidFill>
            <a:srgbClr val="0B1D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76200" cy="704850"/>
          </a:xfrm>
          <a:prstGeom prst="rect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266700" y="0"/>
            <a:ext cx="10287000" cy="7048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2000" b="1">
                <a:solidFill>
                  <a:srgbClr val="FFFFFF"/>
                </a:solidFill>
                <a:latin typeface="PingFang SC"/>
              </a:rPr>
              <a:t>踩坑:权限过大陷阱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334500" y="0"/>
            <a:ext cx="2667000" cy="7048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>
              <a:lnSpc>
                <a:spcPct val="100000"/>
              </a:lnSpc>
            </a:pPr>
            <a:r>
              <a:rPr sz="1100" b="0">
                <a:solidFill>
                  <a:srgbClr val="94A3B8"/>
                </a:solidFill>
                <a:latin typeface="PingFang SC"/>
              </a:rPr>
              <a:t>第2章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876300" y="914400"/>
            <a:ext cx="10439400" cy="10287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DDE5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876300" y="914400"/>
            <a:ext cx="57150" cy="1028700"/>
          </a:xfrm>
          <a:prstGeom prst="rect">
            <a:avLst/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ounded Rectangle 7"/>
          <p:cNvSpPr/>
          <p:nvPr/>
        </p:nvSpPr>
        <p:spPr>
          <a:xfrm>
            <a:off x="1047750" y="1285875"/>
            <a:ext cx="285750" cy="285750"/>
          </a:xfrm>
          <a:prstGeom prst="roundRect">
            <a:avLst>
              <a:gd name="adj" fmla="val 8000"/>
            </a:avLst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047750" y="1276350"/>
            <a:ext cx="285750" cy="2857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300" b="1">
                <a:solidFill>
                  <a:srgbClr val="FFFFFF"/>
                </a:solidFill>
                <a:latin typeface="PingFang SC"/>
              </a:rPr>
              <a:t>1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485900" y="914400"/>
            <a:ext cx="9601200" cy="10287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12000"/>
              </a:lnSpc>
            </a:pPr>
            <a:r>
              <a:rPr sz="1400" b="1">
                <a:solidFill>
                  <a:srgbClr val="475569"/>
                </a:solidFill>
                <a:latin typeface="PingFang SC"/>
              </a:rPr>
              <a:t>文件 Server 默认给全盘读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876300" y="2114550"/>
            <a:ext cx="10439400" cy="10287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DDE5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876300" y="2114550"/>
            <a:ext cx="57150" cy="1028700"/>
          </a:xfrm>
          <a:prstGeom prst="rect">
            <a:avLst/>
          </a:prstGeom>
          <a:solidFill>
            <a:srgbClr val="14B8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ounded Rectangle 12"/>
          <p:cNvSpPr/>
          <p:nvPr/>
        </p:nvSpPr>
        <p:spPr>
          <a:xfrm>
            <a:off x="1047750" y="2486025"/>
            <a:ext cx="285750" cy="285750"/>
          </a:xfrm>
          <a:prstGeom prst="roundRect">
            <a:avLst>
              <a:gd name="adj" fmla="val 8000"/>
            </a:avLst>
          </a:prstGeom>
          <a:solidFill>
            <a:srgbClr val="14B8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1047750" y="2476500"/>
            <a:ext cx="285750" cy="2857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300" b="1">
                <a:solidFill>
                  <a:srgbClr val="FFFFFF"/>
                </a:solidFill>
                <a:latin typeface="PingFang SC"/>
              </a:rPr>
              <a:t>2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485900" y="2114550"/>
            <a:ext cx="9601200" cy="10287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12000"/>
              </a:lnSpc>
            </a:pPr>
            <a:r>
              <a:rPr sz="1400" b="1">
                <a:solidFill>
                  <a:srgbClr val="475569"/>
                </a:solidFill>
                <a:latin typeface="PingFang SC"/>
              </a:rPr>
              <a:t>应最小化:只挂需要的根目录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876300" y="6019800"/>
            <a:ext cx="10439400" cy="514350"/>
          </a:xfrm>
          <a:prstGeom prst="roundRect">
            <a:avLst>
              <a:gd name="adj" fmla="val 8000"/>
            </a:avLst>
          </a:prstGeom>
          <a:solidFill>
            <a:srgbClr val="F1F5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1066800" y="6019800"/>
            <a:ext cx="10058400" cy="5524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1250" b="0">
                <a:solidFill>
                  <a:srgbClr val="2563EB"/>
                </a:solidFill>
                <a:latin typeface="PingFang SC"/>
              </a:rPr>
              <a:t>▶ 与第3章 Sandbox 联动收敛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0287000" y="6534150"/>
            <a:ext cx="1619250" cy="2667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>
              <a:lnSpc>
                <a:spcPct val="100000"/>
              </a:lnSpc>
            </a:pPr>
            <a:r>
              <a:rPr sz="900" b="0">
                <a:solidFill>
                  <a:srgbClr val="94A3B8"/>
                </a:solidFill>
                <a:latin typeface="PingFang SC"/>
              </a:rPr>
              <a:t>第2章 · 113/141</a:t>
            </a:r>
          </a:p>
        </p:txBody>
      </p:sp>
    </p:spTree>
  </p:cSld>
  <p:clrMapOvr>
    <a:masterClrMapping/>
  </p:clrMapOvr>
</p:sld>
</file>

<file path=ppt/slides/slide1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704850"/>
          </a:xfrm>
          <a:prstGeom prst="rect">
            <a:avLst/>
          </a:prstGeom>
          <a:solidFill>
            <a:srgbClr val="0B1D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76200" cy="704850"/>
          </a:xfrm>
          <a:prstGeom prst="rect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266700" y="0"/>
            <a:ext cx="10287000" cy="7048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2000" b="1">
                <a:solidFill>
                  <a:srgbClr val="FFFFFF"/>
                </a:solidFill>
                <a:latin typeface="PingFang SC"/>
              </a:rPr>
              <a:t>优化:连接池与复用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334500" y="0"/>
            <a:ext cx="2667000" cy="7048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>
              <a:lnSpc>
                <a:spcPct val="100000"/>
              </a:lnSpc>
            </a:pPr>
            <a:r>
              <a:rPr sz="1100" b="0">
                <a:solidFill>
                  <a:srgbClr val="94A3B8"/>
                </a:solidFill>
                <a:latin typeface="PingFang SC"/>
              </a:rPr>
              <a:t>第2章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876300" y="914400"/>
            <a:ext cx="10439400" cy="10287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DDE5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876300" y="914400"/>
            <a:ext cx="57150" cy="1028700"/>
          </a:xfrm>
          <a:prstGeom prst="rect">
            <a:avLst/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ounded Rectangle 7"/>
          <p:cNvSpPr/>
          <p:nvPr/>
        </p:nvSpPr>
        <p:spPr>
          <a:xfrm>
            <a:off x="1047750" y="1285875"/>
            <a:ext cx="285750" cy="285750"/>
          </a:xfrm>
          <a:prstGeom prst="roundRect">
            <a:avLst>
              <a:gd name="adj" fmla="val 8000"/>
            </a:avLst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047750" y="1276350"/>
            <a:ext cx="285750" cy="2857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300" b="1">
                <a:solidFill>
                  <a:srgbClr val="FFFFFF"/>
                </a:solidFill>
                <a:latin typeface="PingFang SC"/>
              </a:rPr>
              <a:t>1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485900" y="914400"/>
            <a:ext cx="9601200" cy="10287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12000"/>
              </a:lnSpc>
            </a:pPr>
            <a:r>
              <a:rPr sz="1400" b="1">
                <a:solidFill>
                  <a:srgbClr val="475569"/>
                </a:solidFill>
                <a:latin typeface="PingFang SC"/>
              </a:rPr>
              <a:t>多 Agent 共享 Client 连接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876300" y="2114550"/>
            <a:ext cx="10439400" cy="10287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DDE5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876300" y="2114550"/>
            <a:ext cx="57150" cy="1028700"/>
          </a:xfrm>
          <a:prstGeom prst="rect">
            <a:avLst/>
          </a:prstGeom>
          <a:solidFill>
            <a:srgbClr val="14B8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ounded Rectangle 12"/>
          <p:cNvSpPr/>
          <p:nvPr/>
        </p:nvSpPr>
        <p:spPr>
          <a:xfrm>
            <a:off x="1047750" y="2486025"/>
            <a:ext cx="285750" cy="285750"/>
          </a:xfrm>
          <a:prstGeom prst="roundRect">
            <a:avLst>
              <a:gd name="adj" fmla="val 8000"/>
            </a:avLst>
          </a:prstGeom>
          <a:solidFill>
            <a:srgbClr val="14B8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1047750" y="2476500"/>
            <a:ext cx="285750" cy="2857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300" b="1">
                <a:solidFill>
                  <a:srgbClr val="FFFFFF"/>
                </a:solidFill>
                <a:latin typeface="PingFang SC"/>
              </a:rPr>
              <a:t>2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485900" y="2114550"/>
            <a:ext cx="9601200" cy="10287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12000"/>
              </a:lnSpc>
            </a:pPr>
            <a:r>
              <a:rPr sz="1400" b="1">
                <a:solidFill>
                  <a:srgbClr val="475569"/>
                </a:solidFill>
                <a:latin typeface="PingFang SC"/>
              </a:rPr>
              <a:t>心跳保活+惰性重连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876300" y="3314700"/>
            <a:ext cx="10439400" cy="10287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DDE5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876300" y="3314700"/>
            <a:ext cx="57150" cy="1028700"/>
          </a:xfrm>
          <a:prstGeom prst="rect">
            <a:avLst/>
          </a:prstGeom>
          <a:solidFill>
            <a:srgbClr val="8B5C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ounded Rectangle 17"/>
          <p:cNvSpPr/>
          <p:nvPr/>
        </p:nvSpPr>
        <p:spPr>
          <a:xfrm>
            <a:off x="1047750" y="3686175"/>
            <a:ext cx="285750" cy="285750"/>
          </a:xfrm>
          <a:prstGeom prst="roundRect">
            <a:avLst>
              <a:gd name="adj" fmla="val 8000"/>
            </a:avLst>
          </a:prstGeom>
          <a:solidFill>
            <a:srgbClr val="8B5C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1047750" y="3676650"/>
            <a:ext cx="285750" cy="2857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300" b="1">
                <a:solidFill>
                  <a:srgbClr val="FFFFFF"/>
                </a:solidFill>
                <a:latin typeface="PingFang SC"/>
              </a:rPr>
              <a:t>3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485900" y="3314700"/>
            <a:ext cx="9601200" cy="10287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12000"/>
              </a:lnSpc>
            </a:pPr>
            <a:r>
              <a:rPr sz="1400" b="1">
                <a:solidFill>
                  <a:srgbClr val="475569"/>
                </a:solidFill>
                <a:latin typeface="PingFang SC"/>
              </a:rPr>
              <a:t>连接数纳入监控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0287000" y="6534150"/>
            <a:ext cx="1619250" cy="2667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>
              <a:lnSpc>
                <a:spcPct val="100000"/>
              </a:lnSpc>
            </a:pPr>
            <a:r>
              <a:rPr sz="900" b="0">
                <a:solidFill>
                  <a:srgbClr val="94A3B8"/>
                </a:solidFill>
                <a:latin typeface="PingFang SC"/>
              </a:rPr>
              <a:t>第2章 · 114/141</a:t>
            </a:r>
          </a:p>
        </p:txBody>
      </p:sp>
    </p:spTree>
  </p:cSld>
  <p:clrMapOvr>
    <a:masterClrMapping/>
  </p:clrMapOvr>
</p:sld>
</file>

<file path=ppt/slides/slide1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704850"/>
          </a:xfrm>
          <a:prstGeom prst="rect">
            <a:avLst/>
          </a:prstGeom>
          <a:solidFill>
            <a:srgbClr val="0B1D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76200" cy="704850"/>
          </a:xfrm>
          <a:prstGeom prst="rect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266700" y="0"/>
            <a:ext cx="10287000" cy="7048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2000" b="1">
                <a:solidFill>
                  <a:srgbClr val="FFFFFF"/>
                </a:solidFill>
                <a:latin typeface="PingFang SC"/>
              </a:rPr>
              <a:t>优化:工具清单缓存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334500" y="0"/>
            <a:ext cx="2667000" cy="7048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>
              <a:lnSpc>
                <a:spcPct val="100000"/>
              </a:lnSpc>
            </a:pPr>
            <a:r>
              <a:rPr sz="1100" b="0">
                <a:solidFill>
                  <a:srgbClr val="94A3B8"/>
                </a:solidFill>
                <a:latin typeface="PingFang SC"/>
              </a:rPr>
              <a:t>第2章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876300" y="914400"/>
            <a:ext cx="10439400" cy="10287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DDE5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876300" y="914400"/>
            <a:ext cx="57150" cy="1028700"/>
          </a:xfrm>
          <a:prstGeom prst="rect">
            <a:avLst/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ounded Rectangle 7"/>
          <p:cNvSpPr/>
          <p:nvPr/>
        </p:nvSpPr>
        <p:spPr>
          <a:xfrm>
            <a:off x="1047750" y="1285875"/>
            <a:ext cx="285750" cy="285750"/>
          </a:xfrm>
          <a:prstGeom prst="roundRect">
            <a:avLst>
              <a:gd name="adj" fmla="val 8000"/>
            </a:avLst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047750" y="1276350"/>
            <a:ext cx="285750" cy="2857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300" b="1">
                <a:solidFill>
                  <a:srgbClr val="FFFFFF"/>
                </a:solidFill>
                <a:latin typeface="PingFang SC"/>
              </a:rPr>
              <a:t>1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485900" y="914400"/>
            <a:ext cx="9601200" cy="10287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12000"/>
              </a:lnSpc>
            </a:pPr>
            <a:r>
              <a:rPr sz="1400" b="1">
                <a:solidFill>
                  <a:srgbClr val="475569"/>
                </a:solidFill>
                <a:latin typeface="PingFang SC"/>
              </a:rPr>
              <a:t>发现结果缓存+版本标记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876300" y="2114550"/>
            <a:ext cx="10439400" cy="10287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DDE5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876300" y="2114550"/>
            <a:ext cx="57150" cy="1028700"/>
          </a:xfrm>
          <a:prstGeom prst="rect">
            <a:avLst/>
          </a:prstGeom>
          <a:solidFill>
            <a:srgbClr val="14B8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ounded Rectangle 12"/>
          <p:cNvSpPr/>
          <p:nvPr/>
        </p:nvSpPr>
        <p:spPr>
          <a:xfrm>
            <a:off x="1047750" y="2486025"/>
            <a:ext cx="285750" cy="285750"/>
          </a:xfrm>
          <a:prstGeom prst="roundRect">
            <a:avLst>
              <a:gd name="adj" fmla="val 8000"/>
            </a:avLst>
          </a:prstGeom>
          <a:solidFill>
            <a:srgbClr val="14B8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1047750" y="2476500"/>
            <a:ext cx="285750" cy="2857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300" b="1">
                <a:solidFill>
                  <a:srgbClr val="FFFFFF"/>
                </a:solidFill>
                <a:latin typeface="PingFang SC"/>
              </a:rPr>
              <a:t>2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485900" y="2114550"/>
            <a:ext cx="9601200" cy="10287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12000"/>
              </a:lnSpc>
            </a:pPr>
            <a:r>
              <a:rPr sz="1400" b="1">
                <a:solidFill>
                  <a:srgbClr val="475569"/>
                </a:solidFill>
                <a:latin typeface="PingFang SC"/>
              </a:rPr>
              <a:t>失效:连接重建时刷新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876300" y="3314700"/>
            <a:ext cx="10439400" cy="10287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DDE5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876300" y="3314700"/>
            <a:ext cx="57150" cy="1028700"/>
          </a:xfrm>
          <a:prstGeom prst="rect">
            <a:avLst/>
          </a:prstGeom>
          <a:solidFill>
            <a:srgbClr val="8B5C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ounded Rectangle 17"/>
          <p:cNvSpPr/>
          <p:nvPr/>
        </p:nvSpPr>
        <p:spPr>
          <a:xfrm>
            <a:off x="1047750" y="3686175"/>
            <a:ext cx="285750" cy="285750"/>
          </a:xfrm>
          <a:prstGeom prst="roundRect">
            <a:avLst>
              <a:gd name="adj" fmla="val 8000"/>
            </a:avLst>
          </a:prstGeom>
          <a:solidFill>
            <a:srgbClr val="8B5C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1047750" y="3676650"/>
            <a:ext cx="285750" cy="2857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300" b="1">
                <a:solidFill>
                  <a:srgbClr val="FFFFFF"/>
                </a:solidFill>
                <a:latin typeface="PingFang SC"/>
              </a:rPr>
              <a:t>3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485900" y="3314700"/>
            <a:ext cx="9601200" cy="10287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12000"/>
              </a:lnSpc>
            </a:pPr>
            <a:r>
              <a:rPr sz="1400" b="1">
                <a:solidFill>
                  <a:srgbClr val="475569"/>
                </a:solidFill>
                <a:latin typeface="PingFang SC"/>
              </a:rPr>
              <a:t>减少冷启动延迟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0287000" y="6534150"/>
            <a:ext cx="1619250" cy="2667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>
              <a:lnSpc>
                <a:spcPct val="100000"/>
              </a:lnSpc>
            </a:pPr>
            <a:r>
              <a:rPr sz="900" b="0">
                <a:solidFill>
                  <a:srgbClr val="94A3B8"/>
                </a:solidFill>
                <a:latin typeface="PingFang SC"/>
              </a:rPr>
              <a:t>第2章 · 115/141</a:t>
            </a:r>
          </a:p>
        </p:txBody>
      </p:sp>
    </p:spTree>
  </p:cSld>
  <p:clrMapOvr>
    <a:masterClrMapping/>
  </p:clrMapOvr>
</p:sld>
</file>

<file path=ppt/slides/slide1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704850"/>
          </a:xfrm>
          <a:prstGeom prst="rect">
            <a:avLst/>
          </a:prstGeom>
          <a:solidFill>
            <a:srgbClr val="0B1D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76200" cy="704850"/>
          </a:xfrm>
          <a:prstGeom prst="rect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266700" y="0"/>
            <a:ext cx="10287000" cy="7048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2000" b="1">
                <a:solidFill>
                  <a:srgbClr val="FFFFFF"/>
                </a:solidFill>
                <a:latin typeface="PingFang SC"/>
              </a:rPr>
              <a:t>2-4 自测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334500" y="0"/>
            <a:ext cx="2667000" cy="7048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>
              <a:lnSpc>
                <a:spcPct val="100000"/>
              </a:lnSpc>
            </a:pPr>
            <a:r>
              <a:rPr sz="1100" b="0">
                <a:solidFill>
                  <a:srgbClr val="94A3B8"/>
                </a:solidFill>
                <a:latin typeface="PingFang SC"/>
              </a:rPr>
              <a:t>第2章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287000" y="6534150"/>
            <a:ext cx="1619250" cy="2667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>
              <a:lnSpc>
                <a:spcPct val="100000"/>
              </a:lnSpc>
            </a:pPr>
            <a:r>
              <a:rPr sz="900" b="0">
                <a:solidFill>
                  <a:srgbClr val="94A3B8"/>
                </a:solidFill>
                <a:latin typeface="PingFang SC"/>
              </a:rPr>
              <a:t>第2章 · 116/141</a:t>
            </a:r>
          </a:p>
        </p:txBody>
      </p:sp>
    </p:spTree>
  </p:cSld>
  <p:clrMapOvr>
    <a:masterClrMapping/>
  </p:clrMapOvr>
</p:sld>
</file>

<file path=ppt/slides/slide1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704850"/>
          </a:xfrm>
          <a:prstGeom prst="rect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04800" y="0"/>
            <a:ext cx="11430000" cy="7048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2000" b="1">
                <a:solidFill>
                  <a:srgbClr val="0B1D3A"/>
                </a:solidFill>
                <a:latin typeface="PingFang SC"/>
              </a:rPr>
              <a:t>自测 · MCP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1143000" y="1143000"/>
            <a:ext cx="9906000" cy="590550"/>
          </a:xfrm>
          <a:prstGeom prst="roundRect">
            <a:avLst>
              <a:gd name="adj" fmla="val 8000"/>
            </a:avLst>
          </a:prstGeom>
          <a:solidFill>
            <a:srgbClr val="F1F5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1143000" y="1143000"/>
            <a:ext cx="47625" cy="647700"/>
          </a:xfrm>
          <a:prstGeom prst="rect">
            <a:avLst/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390650" y="1143000"/>
            <a:ext cx="419100" cy="6477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1500" b="1">
                <a:solidFill>
                  <a:srgbClr val="2563EB"/>
                </a:solidFill>
                <a:latin typeface="PingFang SC"/>
              </a:rPr>
              <a:t>Q1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905000" y="1143000"/>
            <a:ext cx="8572500" cy="6477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1350" b="0">
                <a:solidFill>
                  <a:srgbClr val="475569"/>
                </a:solidFill>
                <a:latin typeface="PingFang SC"/>
              </a:rPr>
              <a:t>MCP 解决了 FC 没解决的什么问题?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1143000" y="1905000"/>
            <a:ext cx="9906000" cy="590550"/>
          </a:xfrm>
          <a:prstGeom prst="roundRect">
            <a:avLst>
              <a:gd name="adj" fmla="val 8000"/>
            </a:avLst>
          </a:prstGeom>
          <a:solidFill>
            <a:srgbClr val="F1F5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1143000" y="1905000"/>
            <a:ext cx="47625" cy="647700"/>
          </a:xfrm>
          <a:prstGeom prst="rect">
            <a:avLst/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390650" y="1905000"/>
            <a:ext cx="419100" cy="6477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1500" b="1">
                <a:solidFill>
                  <a:srgbClr val="2563EB"/>
                </a:solidFill>
                <a:latin typeface="PingFang SC"/>
              </a:rPr>
              <a:t>Q2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905000" y="1905000"/>
            <a:ext cx="8572500" cy="6477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1350" b="0">
                <a:solidFill>
                  <a:srgbClr val="475569"/>
                </a:solidFill>
                <a:latin typeface="PingFang SC"/>
              </a:rPr>
              <a:t>Tools/Resources/Prompts 各举一例?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1143000" y="2667000"/>
            <a:ext cx="9906000" cy="590550"/>
          </a:xfrm>
          <a:prstGeom prst="roundRect">
            <a:avLst>
              <a:gd name="adj" fmla="val 8000"/>
            </a:avLst>
          </a:prstGeom>
          <a:solidFill>
            <a:srgbClr val="F1F5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1143000" y="2667000"/>
            <a:ext cx="47625" cy="647700"/>
          </a:xfrm>
          <a:prstGeom prst="rect">
            <a:avLst/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1390650" y="2667000"/>
            <a:ext cx="419100" cy="6477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1500" b="1">
                <a:solidFill>
                  <a:srgbClr val="2563EB"/>
                </a:solidFill>
                <a:latin typeface="PingFang SC"/>
              </a:rPr>
              <a:t>Q3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905000" y="2667000"/>
            <a:ext cx="8572500" cy="6477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1350" b="0">
                <a:solidFill>
                  <a:srgbClr val="475569"/>
                </a:solidFill>
                <a:latin typeface="PingFang SC"/>
              </a:rPr>
              <a:t>三层权限收敛如何设计?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1143000" y="3429000"/>
            <a:ext cx="9906000" cy="590550"/>
          </a:xfrm>
          <a:prstGeom prst="roundRect">
            <a:avLst>
              <a:gd name="adj" fmla="val 8000"/>
            </a:avLst>
          </a:prstGeom>
          <a:solidFill>
            <a:srgbClr val="F1F5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1143000" y="3429000"/>
            <a:ext cx="47625" cy="647700"/>
          </a:xfrm>
          <a:prstGeom prst="rect">
            <a:avLst/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1390650" y="3429000"/>
            <a:ext cx="419100" cy="6477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1500" b="1">
                <a:solidFill>
                  <a:srgbClr val="2563EB"/>
                </a:solidFill>
                <a:latin typeface="PingFang SC"/>
              </a:rPr>
              <a:t>Q4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905000" y="3429000"/>
            <a:ext cx="8572500" cy="6477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1350" b="0">
                <a:solidFill>
                  <a:srgbClr val="475569"/>
                </a:solidFill>
                <a:latin typeface="PingFang SC"/>
              </a:rPr>
              <a:t>Server 升级的风险如何防控?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0287000" y="6534150"/>
            <a:ext cx="1619250" cy="2667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>
              <a:lnSpc>
                <a:spcPct val="100000"/>
              </a:lnSpc>
            </a:pPr>
            <a:r>
              <a:rPr sz="900" b="0">
                <a:solidFill>
                  <a:srgbClr val="94A3B8"/>
                </a:solidFill>
                <a:latin typeface="PingFang SC"/>
              </a:rPr>
              <a:t>第2章 · 117/141</a:t>
            </a:r>
          </a:p>
        </p:txBody>
      </p:sp>
    </p:spTree>
  </p:cSld>
  <p:clrMapOvr>
    <a:masterClrMapping/>
  </p:clrMapOvr>
</p:sld>
</file>

<file path=ppt/slides/slide1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0B1D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857250" y="952500"/>
            <a:ext cx="323850" cy="76200"/>
          </a:xfrm>
          <a:prstGeom prst="rect">
            <a:avLst/>
          </a:prstGeom>
          <a:solidFill>
            <a:srgbClr val="27406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1295400" y="952500"/>
            <a:ext cx="323850" cy="76200"/>
          </a:xfrm>
          <a:prstGeom prst="rect">
            <a:avLst/>
          </a:prstGeom>
          <a:solidFill>
            <a:srgbClr val="27406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1733550" y="952500"/>
            <a:ext cx="323850" cy="76200"/>
          </a:xfrm>
          <a:prstGeom prst="rect">
            <a:avLst/>
          </a:prstGeom>
          <a:solidFill>
            <a:srgbClr val="27406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2171700" y="952500"/>
            <a:ext cx="323850" cy="76200"/>
          </a:xfrm>
          <a:prstGeom prst="rect">
            <a:avLst/>
          </a:prstGeom>
          <a:solidFill>
            <a:srgbClr val="27406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2609850" y="952500"/>
            <a:ext cx="323850" cy="76200"/>
          </a:xfrm>
          <a:prstGeom prst="rect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857250" y="2381250"/>
            <a:ext cx="1143000" cy="57150"/>
          </a:xfrm>
          <a:prstGeom prst="rect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857250" y="2857500"/>
            <a:ext cx="9906000" cy="12382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5000"/>
              </a:lnSpc>
            </a:pPr>
            <a:r>
              <a:rPr sz="3200" b="1">
                <a:solidFill>
                  <a:srgbClr val="FFFFFF"/>
                </a:solidFill>
                <a:latin typeface="PingFang SC"/>
              </a:rPr>
              <a:t>讲次 2-5 · Agent Tool Runtime 集成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57250" y="4286250"/>
            <a:ext cx="9334500" cy="4762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1400" b="0">
                <a:solidFill>
                  <a:srgbClr val="F59E0B"/>
                </a:solidFill>
                <a:latin typeface="PingFang SC"/>
              </a:rPr>
              <a:t>LECTURE 05 / 05</a:t>
            </a:r>
          </a:p>
        </p:txBody>
      </p:sp>
    </p:spTree>
  </p:cSld>
  <p:clrMapOvr>
    <a:masterClrMapping/>
  </p:clrMapOvr>
</p:sld>
</file>

<file path=ppt/slides/slide1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704850"/>
          </a:xfrm>
          <a:prstGeom prst="rect">
            <a:avLst/>
          </a:prstGeom>
          <a:solidFill>
            <a:srgbClr val="0B1D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76200" cy="704850"/>
          </a:xfrm>
          <a:prstGeom prst="rect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266700" y="0"/>
            <a:ext cx="10287000" cy="7048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2000" b="1">
                <a:solidFill>
                  <a:srgbClr val="FFFFFF"/>
                </a:solidFill>
                <a:latin typeface="PingFang SC"/>
              </a:rPr>
              <a:t>集成目标:一张运行时全景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334500" y="0"/>
            <a:ext cx="2667000" cy="7048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>
              <a:lnSpc>
                <a:spcPct val="100000"/>
              </a:lnSpc>
            </a:pPr>
            <a:r>
              <a:rPr sz="1100" b="0">
                <a:solidFill>
                  <a:srgbClr val="94A3B8"/>
                </a:solidFill>
                <a:latin typeface="PingFang SC"/>
              </a:rPr>
              <a:t>第2章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876300" y="914400"/>
            <a:ext cx="5133975" cy="8763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DDE5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876300" y="914400"/>
            <a:ext cx="47625" cy="876300"/>
          </a:xfrm>
          <a:prstGeom prst="rect">
            <a:avLst/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314450" y="914400"/>
            <a:ext cx="4524375" cy="8763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12000"/>
              </a:lnSpc>
            </a:pPr>
            <a:r>
              <a:rPr sz="1300" b="1">
                <a:solidFill>
                  <a:srgbClr val="475569"/>
                </a:solidFill>
                <a:latin typeface="PingFang SC"/>
              </a:rPr>
              <a:t>Registry 统一注册与发现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1009650" y="1285875"/>
            <a:ext cx="133350" cy="133350"/>
          </a:xfrm>
          <a:prstGeom prst="roundRect">
            <a:avLst>
              <a:gd name="adj" fmla="val 8000"/>
            </a:avLst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ounded Rectangle 9"/>
          <p:cNvSpPr/>
          <p:nvPr/>
        </p:nvSpPr>
        <p:spPr>
          <a:xfrm>
            <a:off x="6181725" y="914400"/>
            <a:ext cx="5133975" cy="8763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DDE5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6181725" y="914400"/>
            <a:ext cx="47625" cy="876300"/>
          </a:xfrm>
          <a:prstGeom prst="rect">
            <a:avLst/>
          </a:prstGeom>
          <a:solidFill>
            <a:srgbClr val="14B8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619875" y="914400"/>
            <a:ext cx="4524375" cy="8763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12000"/>
              </a:lnSpc>
            </a:pPr>
            <a:r>
              <a:rPr sz="1300" b="1">
                <a:solidFill>
                  <a:srgbClr val="475569"/>
                </a:solidFill>
                <a:latin typeface="PingFang SC"/>
              </a:rPr>
              <a:t>FC 集成:模型意图 → 执行管线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6315075" y="1285875"/>
            <a:ext cx="133350" cy="133350"/>
          </a:xfrm>
          <a:prstGeom prst="roundRect">
            <a:avLst>
              <a:gd name="adj" fmla="val 8000"/>
            </a:avLst>
          </a:prstGeom>
          <a:solidFill>
            <a:srgbClr val="14B8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ounded Rectangle 13"/>
          <p:cNvSpPr/>
          <p:nvPr/>
        </p:nvSpPr>
        <p:spPr>
          <a:xfrm>
            <a:off x="876300" y="1962150"/>
            <a:ext cx="5133975" cy="8763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DDE5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876300" y="1962150"/>
            <a:ext cx="47625" cy="876300"/>
          </a:xfrm>
          <a:prstGeom prst="rect">
            <a:avLst/>
          </a:prstGeom>
          <a:solidFill>
            <a:srgbClr val="8B5C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1314450" y="1962150"/>
            <a:ext cx="4524375" cy="8763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12000"/>
              </a:lnSpc>
            </a:pPr>
            <a:r>
              <a:rPr sz="1300" b="1">
                <a:solidFill>
                  <a:srgbClr val="475569"/>
                </a:solidFill>
                <a:latin typeface="PingFang SC"/>
              </a:rPr>
              <a:t>校验/权限/审计/超时全链路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1009650" y="2333625"/>
            <a:ext cx="133350" cy="133350"/>
          </a:xfrm>
          <a:prstGeom prst="roundRect">
            <a:avLst>
              <a:gd name="adj" fmla="val 8000"/>
            </a:avLst>
          </a:prstGeom>
          <a:solidFill>
            <a:srgbClr val="8B5C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ounded Rectangle 17"/>
          <p:cNvSpPr/>
          <p:nvPr/>
        </p:nvSpPr>
        <p:spPr>
          <a:xfrm>
            <a:off x="6181725" y="1962150"/>
            <a:ext cx="5133975" cy="8763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DDE5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6181725" y="1962150"/>
            <a:ext cx="47625" cy="876300"/>
          </a:xfrm>
          <a:prstGeom prst="rect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6619875" y="1962150"/>
            <a:ext cx="4524375" cy="8763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12000"/>
              </a:lnSpc>
            </a:pPr>
            <a:r>
              <a:rPr sz="1300" b="1">
                <a:solidFill>
                  <a:srgbClr val="475569"/>
                </a:solidFill>
                <a:latin typeface="PingFang SC"/>
              </a:rPr>
              <a:t>MCP 统一外部接入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6315075" y="2333625"/>
            <a:ext cx="133350" cy="133350"/>
          </a:xfrm>
          <a:prstGeom prst="roundRect">
            <a:avLst>
              <a:gd name="adj" fmla="val 8000"/>
            </a:avLst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ounded Rectangle 21"/>
          <p:cNvSpPr/>
          <p:nvPr/>
        </p:nvSpPr>
        <p:spPr>
          <a:xfrm>
            <a:off x="876300" y="3009900"/>
            <a:ext cx="5133975" cy="8763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DDE5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ectangle 22"/>
          <p:cNvSpPr/>
          <p:nvPr/>
        </p:nvSpPr>
        <p:spPr>
          <a:xfrm>
            <a:off x="876300" y="3009900"/>
            <a:ext cx="47625" cy="876300"/>
          </a:xfrm>
          <a:prstGeom prst="rect">
            <a:avLst/>
          </a:prstGeom>
          <a:solidFill>
            <a:srgbClr val="34D39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1314450" y="3009900"/>
            <a:ext cx="4524375" cy="8763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12000"/>
              </a:lnSpc>
            </a:pPr>
            <a:r>
              <a:rPr sz="1300" b="1">
                <a:solidFill>
                  <a:srgbClr val="475569"/>
                </a:solidFill>
                <a:latin typeface="PingFang SC"/>
              </a:rPr>
              <a:t>Trace 贯穿 + CLI 调试入口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1009650" y="3381375"/>
            <a:ext cx="133350" cy="133350"/>
          </a:xfrm>
          <a:prstGeom prst="roundRect">
            <a:avLst>
              <a:gd name="adj" fmla="val 8000"/>
            </a:avLst>
          </a:prstGeom>
          <a:solidFill>
            <a:srgbClr val="34D39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10287000" y="6534150"/>
            <a:ext cx="1619250" cy="2667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>
              <a:lnSpc>
                <a:spcPct val="100000"/>
              </a:lnSpc>
            </a:pPr>
            <a:r>
              <a:rPr sz="900" b="0">
                <a:solidFill>
                  <a:srgbClr val="94A3B8"/>
                </a:solidFill>
                <a:latin typeface="PingFang SC"/>
              </a:rPr>
              <a:t>第2章 · 119/141</a:t>
            </a:r>
          </a:p>
        </p:txBody>
      </p:sp>
    </p:spTree>
  </p:cSld>
  <p:clrMapOvr>
    <a:masterClrMapping/>
  </p:clrMapOvr>
</p:sld>
</file>

<file path=ppt/slides/slide1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704850"/>
          </a:xfrm>
          <a:prstGeom prst="rect">
            <a:avLst/>
          </a:prstGeom>
          <a:solidFill>
            <a:srgbClr val="0B1D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76200" cy="704850"/>
          </a:xfrm>
          <a:prstGeom prst="rect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266700" y="0"/>
            <a:ext cx="10287000" cy="7048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2000" b="1">
                <a:solidFill>
                  <a:srgbClr val="FFFFFF"/>
                </a:solidFill>
                <a:latin typeface="PingFang SC"/>
              </a:rPr>
              <a:t>Runtime 执行管线源码走读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334500" y="0"/>
            <a:ext cx="2667000" cy="7048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>
              <a:lnSpc>
                <a:spcPct val="100000"/>
              </a:lnSpc>
            </a:pPr>
            <a:r>
              <a:rPr sz="1100" b="0">
                <a:solidFill>
                  <a:srgbClr val="94A3B8"/>
                </a:solidFill>
                <a:latin typeface="PingFang SC"/>
              </a:rPr>
              <a:t>第2章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876300" y="914400"/>
            <a:ext cx="10439400" cy="10287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DDE5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876300" y="914400"/>
            <a:ext cx="57150" cy="1028700"/>
          </a:xfrm>
          <a:prstGeom prst="rect">
            <a:avLst/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ounded Rectangle 7"/>
          <p:cNvSpPr/>
          <p:nvPr/>
        </p:nvSpPr>
        <p:spPr>
          <a:xfrm>
            <a:off x="1047750" y="1285875"/>
            <a:ext cx="285750" cy="285750"/>
          </a:xfrm>
          <a:prstGeom prst="roundRect">
            <a:avLst>
              <a:gd name="adj" fmla="val 8000"/>
            </a:avLst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047750" y="1276350"/>
            <a:ext cx="285750" cy="2857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300" b="1">
                <a:solidFill>
                  <a:srgbClr val="FFFFFF"/>
                </a:solidFill>
                <a:latin typeface="PingFang SC"/>
              </a:rPr>
              <a:t>1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485900" y="914400"/>
            <a:ext cx="9601200" cy="10287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12000"/>
              </a:lnSpc>
            </a:pPr>
            <a:r>
              <a:rPr sz="1400" b="1">
                <a:solidFill>
                  <a:srgbClr val="475569"/>
                </a:solidFill>
                <a:latin typeface="PingFang SC"/>
              </a:rPr>
              <a:t>execute() 六步:取spec→enabled→权限→校验→超时执行→审计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876300" y="2114550"/>
            <a:ext cx="10439400" cy="10287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DDE5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876300" y="2114550"/>
            <a:ext cx="57150" cy="1028700"/>
          </a:xfrm>
          <a:prstGeom prst="rect">
            <a:avLst/>
          </a:prstGeom>
          <a:solidFill>
            <a:srgbClr val="14B8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ounded Rectangle 12"/>
          <p:cNvSpPr/>
          <p:nvPr/>
        </p:nvSpPr>
        <p:spPr>
          <a:xfrm>
            <a:off x="1047750" y="2486025"/>
            <a:ext cx="285750" cy="285750"/>
          </a:xfrm>
          <a:prstGeom prst="roundRect">
            <a:avLst>
              <a:gd name="adj" fmla="val 8000"/>
            </a:avLst>
          </a:prstGeom>
          <a:solidFill>
            <a:srgbClr val="14B8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1047750" y="2476500"/>
            <a:ext cx="285750" cy="2857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300" b="1">
                <a:solidFill>
                  <a:srgbClr val="FFFFFF"/>
                </a:solidFill>
                <a:latin typeface="PingFang SC"/>
              </a:rPr>
              <a:t>2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485900" y="2114550"/>
            <a:ext cx="9601200" cy="10287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12000"/>
              </a:lnSpc>
            </a:pPr>
            <a:r>
              <a:rPr sz="1400" b="1">
                <a:solidFill>
                  <a:srgbClr val="475569"/>
                </a:solidFill>
                <a:latin typeface="PingFang SC"/>
              </a:rPr>
              <a:t>每一步失败都有结构化出口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876300" y="6019800"/>
            <a:ext cx="10439400" cy="514350"/>
          </a:xfrm>
          <a:prstGeom prst="roundRect">
            <a:avLst>
              <a:gd name="adj" fmla="val 8000"/>
            </a:avLst>
          </a:prstGeom>
          <a:solidFill>
            <a:srgbClr val="F1F5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1066800" y="6019800"/>
            <a:ext cx="10058400" cy="5524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1250" b="0">
                <a:solidFill>
                  <a:srgbClr val="2563EB"/>
                </a:solidFill>
                <a:latin typeface="PingFang SC"/>
              </a:rPr>
              <a:t>▶ 代码:tools/runtime.py ToolExecutor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0287000" y="6534150"/>
            <a:ext cx="1619250" cy="2667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>
              <a:lnSpc>
                <a:spcPct val="100000"/>
              </a:lnSpc>
            </a:pPr>
            <a:r>
              <a:rPr sz="900" b="0">
                <a:solidFill>
                  <a:srgbClr val="94A3B8"/>
                </a:solidFill>
                <a:latin typeface="PingFang SC"/>
              </a:rPr>
              <a:t>第2章 · 120/141</a:t>
            </a:r>
          </a:p>
        </p:txBody>
      </p:sp>
    </p:spTree>
  </p:cSld>
  <p:clrMapOvr>
    <a:masterClrMapping/>
  </p:clrMapOvr>
</p:sld>
</file>

<file path=ppt/slides/slide12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704850"/>
          </a:xfrm>
          <a:prstGeom prst="rect">
            <a:avLst/>
          </a:prstGeom>
          <a:solidFill>
            <a:srgbClr val="0B1D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76200" cy="704850"/>
          </a:xfrm>
          <a:prstGeom prst="rect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266700" y="0"/>
            <a:ext cx="10287000" cy="7048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2000" b="1">
                <a:solidFill>
                  <a:srgbClr val="FFFFFF"/>
                </a:solidFill>
                <a:latin typeface="PingFang SC"/>
              </a:rPr>
              <a:t>CLI 调试入口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334500" y="0"/>
            <a:ext cx="2667000" cy="7048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>
              <a:lnSpc>
                <a:spcPct val="100000"/>
              </a:lnSpc>
            </a:pPr>
            <a:r>
              <a:rPr sz="1100" b="0">
                <a:solidFill>
                  <a:srgbClr val="94A3B8"/>
                </a:solidFill>
                <a:latin typeface="PingFang SC"/>
              </a:rPr>
              <a:t>第2章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876300" y="914400"/>
            <a:ext cx="10439400" cy="10287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DDE5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876300" y="914400"/>
            <a:ext cx="57150" cy="1028700"/>
          </a:xfrm>
          <a:prstGeom prst="rect">
            <a:avLst/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ounded Rectangle 7"/>
          <p:cNvSpPr/>
          <p:nvPr/>
        </p:nvSpPr>
        <p:spPr>
          <a:xfrm>
            <a:off x="1047750" y="1285875"/>
            <a:ext cx="285750" cy="285750"/>
          </a:xfrm>
          <a:prstGeom prst="roundRect">
            <a:avLst>
              <a:gd name="adj" fmla="val 8000"/>
            </a:avLst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047750" y="1276350"/>
            <a:ext cx="285750" cy="2857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300" b="1">
                <a:solidFill>
                  <a:srgbClr val="FFFFFF"/>
                </a:solidFill>
                <a:latin typeface="PingFang SC"/>
              </a:rPr>
              <a:t>1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485900" y="914400"/>
            <a:ext cx="9601200" cy="10287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12000"/>
              </a:lnSpc>
            </a:pPr>
            <a:r>
              <a:rPr sz="1400" b="1">
                <a:solidFill>
                  <a:srgbClr val="475569"/>
                </a:solidFill>
                <a:latin typeface="PingFang SC"/>
              </a:rPr>
              <a:t>list:列出全部工具与风险等级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876300" y="2114550"/>
            <a:ext cx="10439400" cy="10287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DDE5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876300" y="2114550"/>
            <a:ext cx="57150" cy="1028700"/>
          </a:xfrm>
          <a:prstGeom prst="rect">
            <a:avLst/>
          </a:prstGeom>
          <a:solidFill>
            <a:srgbClr val="14B8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ounded Rectangle 12"/>
          <p:cNvSpPr/>
          <p:nvPr/>
        </p:nvSpPr>
        <p:spPr>
          <a:xfrm>
            <a:off x="1047750" y="2486025"/>
            <a:ext cx="285750" cy="285750"/>
          </a:xfrm>
          <a:prstGeom prst="roundRect">
            <a:avLst>
              <a:gd name="adj" fmla="val 8000"/>
            </a:avLst>
          </a:prstGeom>
          <a:solidFill>
            <a:srgbClr val="14B8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1047750" y="2476500"/>
            <a:ext cx="285750" cy="2857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300" b="1">
                <a:solidFill>
                  <a:srgbClr val="FFFFFF"/>
                </a:solidFill>
                <a:latin typeface="PingFang SC"/>
              </a:rPr>
              <a:t>2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485900" y="2114550"/>
            <a:ext cx="9601200" cy="10287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12000"/>
              </a:lnSpc>
            </a:pPr>
            <a:r>
              <a:rPr sz="1400" b="1">
                <a:solidFill>
                  <a:srgbClr val="475569"/>
                </a:solidFill>
                <a:latin typeface="PingFang SC"/>
              </a:rPr>
              <a:t>call:命令行直接调工具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876300" y="3314700"/>
            <a:ext cx="10439400" cy="10287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DDE5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876300" y="3314700"/>
            <a:ext cx="57150" cy="1028700"/>
          </a:xfrm>
          <a:prstGeom prst="rect">
            <a:avLst/>
          </a:prstGeom>
          <a:solidFill>
            <a:srgbClr val="8B5C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ounded Rectangle 17"/>
          <p:cNvSpPr/>
          <p:nvPr/>
        </p:nvSpPr>
        <p:spPr>
          <a:xfrm>
            <a:off x="1047750" y="3686175"/>
            <a:ext cx="285750" cy="285750"/>
          </a:xfrm>
          <a:prstGeom prst="roundRect">
            <a:avLst>
              <a:gd name="adj" fmla="val 8000"/>
            </a:avLst>
          </a:prstGeom>
          <a:solidFill>
            <a:srgbClr val="8B5C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1047750" y="3676650"/>
            <a:ext cx="285750" cy="2857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300" b="1">
                <a:solidFill>
                  <a:srgbClr val="FFFFFF"/>
                </a:solidFill>
                <a:latin typeface="PingFang SC"/>
              </a:rPr>
              <a:t>3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485900" y="3314700"/>
            <a:ext cx="9601200" cy="10287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12000"/>
              </a:lnSpc>
            </a:pPr>
            <a:r>
              <a:rPr sz="1400" b="1">
                <a:solidFill>
                  <a:srgbClr val="475569"/>
                </a:solidFill>
                <a:latin typeface="PingFang SC"/>
              </a:rPr>
              <a:t>脱离模型单独验证工具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876300" y="6019800"/>
            <a:ext cx="10439400" cy="514350"/>
          </a:xfrm>
          <a:prstGeom prst="roundRect">
            <a:avLst>
              <a:gd name="adj" fmla="val 8000"/>
            </a:avLst>
          </a:prstGeom>
          <a:solidFill>
            <a:srgbClr val="F1F5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1066800" y="6019800"/>
            <a:ext cx="10058400" cy="5524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1250" b="0">
                <a:solidFill>
                  <a:srgbClr val="2563EB"/>
                </a:solidFill>
                <a:latin typeface="PingFang SC"/>
              </a:rPr>
              <a:t>▶ 工具先行测试,再接模型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0287000" y="6534150"/>
            <a:ext cx="1619250" cy="2667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>
              <a:lnSpc>
                <a:spcPct val="100000"/>
              </a:lnSpc>
            </a:pPr>
            <a:r>
              <a:rPr sz="900" b="0">
                <a:solidFill>
                  <a:srgbClr val="94A3B8"/>
                </a:solidFill>
                <a:latin typeface="PingFang SC"/>
              </a:rPr>
              <a:t>第2章 · 121/141</a:t>
            </a:r>
          </a:p>
        </p:txBody>
      </p:sp>
    </p:spTree>
  </p:cSld>
  <p:clrMapOvr>
    <a:masterClrMapping/>
  </p:clrMapOvr>
</p:sld>
</file>

<file path=ppt/slides/slide12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704850"/>
          </a:xfrm>
          <a:prstGeom prst="rect">
            <a:avLst/>
          </a:prstGeom>
          <a:solidFill>
            <a:srgbClr val="0B1D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76200" cy="704850"/>
          </a:xfrm>
          <a:prstGeom prst="rect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266700" y="0"/>
            <a:ext cx="10287000" cy="7048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2000" b="1">
                <a:solidFill>
                  <a:srgbClr val="FFFFFF"/>
                </a:solidFill>
                <a:latin typeface="PingFang SC"/>
              </a:rPr>
              <a:t>CLI 工具调试实测,$ aep tools list;get_weather [read] search_code [read];run_test [write] drop_table [dangerous];$ aep tools call get_weather --city BJ;sunny::BJ  (latency 0.4ms);# 工具先单测,再接模型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334500" y="0"/>
            <a:ext cx="2667000" cy="7048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>
              <a:lnSpc>
                <a:spcPct val="100000"/>
              </a:lnSpc>
            </a:pPr>
            <a:r>
              <a:rPr sz="1100" b="0">
                <a:solidFill>
                  <a:srgbClr val="94A3B8"/>
                </a:solidFill>
                <a:latin typeface="PingFang SC"/>
              </a:rPr>
              <a:t>教学调试闭环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1333500" y="952500"/>
            <a:ext cx="9525000" cy="5048250"/>
          </a:xfrm>
          <a:prstGeom prst="roundRect">
            <a:avLst>
              <a:gd name="adj" fmla="val 8000"/>
            </a:avLst>
          </a:prstGeom>
          <a:solidFill>
            <a:srgbClr val="0D111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1333500" y="952500"/>
            <a:ext cx="9525000" cy="381000"/>
          </a:xfrm>
          <a:prstGeom prst="rect">
            <a:avLst/>
          </a:prstGeom>
          <a:solidFill>
            <a:srgbClr val="1F293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ounded Rectangle 7"/>
          <p:cNvSpPr/>
          <p:nvPr/>
        </p:nvSpPr>
        <p:spPr>
          <a:xfrm>
            <a:off x="1504950" y="1085850"/>
            <a:ext cx="123825" cy="123825"/>
          </a:xfrm>
          <a:prstGeom prst="roundRect">
            <a:avLst>
              <a:gd name="adj" fmla="val 8000"/>
            </a:avLst>
          </a:prstGeom>
          <a:solidFill>
            <a:srgbClr val="F8717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ounded Rectangle 8"/>
          <p:cNvSpPr/>
          <p:nvPr/>
        </p:nvSpPr>
        <p:spPr>
          <a:xfrm>
            <a:off x="1752600" y="1085850"/>
            <a:ext cx="123825" cy="123825"/>
          </a:xfrm>
          <a:prstGeom prst="roundRect">
            <a:avLst>
              <a:gd name="adj" fmla="val 8000"/>
            </a:avLst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ounded Rectangle 9"/>
          <p:cNvSpPr/>
          <p:nvPr/>
        </p:nvSpPr>
        <p:spPr>
          <a:xfrm>
            <a:off x="2000250" y="1085850"/>
            <a:ext cx="123825" cy="123825"/>
          </a:xfrm>
          <a:prstGeom prst="roundRect">
            <a:avLst>
              <a:gd name="adj" fmla="val 8000"/>
            </a:avLst>
          </a:prstGeom>
          <a:solidFill>
            <a:srgbClr val="34D39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2381250" y="952500"/>
            <a:ext cx="8286750" cy="381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1100" b="0">
                <a:solidFill>
                  <a:srgbClr val="94A3B8"/>
                </a:solidFill>
                <a:latin typeface="PingFang SC"/>
              </a:rPr>
              <a:t>terminal — 平台实测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562100" y="1485900"/>
            <a:ext cx="9067800" cy="43815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</a:pPr>
            <a:r>
              <a:rPr sz="1300">
                <a:solidFill>
                  <a:srgbClr val="CBD5E1"/>
                </a:solidFill>
                <a:latin typeface="Menlo"/>
              </a:rPr>
              <a:t>教学调试闭环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0287000" y="6534150"/>
            <a:ext cx="1619250" cy="2667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>
              <a:lnSpc>
                <a:spcPct val="100000"/>
              </a:lnSpc>
            </a:pPr>
            <a:r>
              <a:rPr sz="900" b="0">
                <a:solidFill>
                  <a:srgbClr val="94A3B8"/>
                </a:solidFill>
                <a:latin typeface="PingFang SC"/>
              </a:rPr>
              <a:t>第2章 · 122/141</a:t>
            </a:r>
          </a:p>
        </p:txBody>
      </p:sp>
    </p:spTree>
  </p:cSld>
  <p:clrMapOvr>
    <a:masterClrMapping/>
  </p:clrMapOvr>
</p:sld>
</file>

<file path=ppt/slides/slide12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704850"/>
          </a:xfrm>
          <a:prstGeom prst="rect">
            <a:avLst/>
          </a:prstGeom>
          <a:solidFill>
            <a:srgbClr val="0B1D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76200" cy="704850"/>
          </a:xfrm>
          <a:prstGeom prst="rect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266700" y="0"/>
            <a:ext cx="10287000" cy="7048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2000" b="1">
                <a:solidFill>
                  <a:srgbClr val="FFFFFF"/>
                </a:solidFill>
                <a:latin typeface="PingFang SC"/>
              </a:rPr>
              <a:t>Trace:工具调用全链路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334500" y="0"/>
            <a:ext cx="2667000" cy="7048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>
              <a:lnSpc>
                <a:spcPct val="100000"/>
              </a:lnSpc>
            </a:pPr>
            <a:r>
              <a:rPr sz="1100" b="0">
                <a:solidFill>
                  <a:srgbClr val="94A3B8"/>
                </a:solidFill>
                <a:latin typeface="PingFang SC"/>
              </a:rPr>
              <a:t>第2章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876300" y="914400"/>
            <a:ext cx="10439400" cy="10287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DDE5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876300" y="914400"/>
            <a:ext cx="57150" cy="1028700"/>
          </a:xfrm>
          <a:prstGeom prst="rect">
            <a:avLst/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ounded Rectangle 7"/>
          <p:cNvSpPr/>
          <p:nvPr/>
        </p:nvSpPr>
        <p:spPr>
          <a:xfrm>
            <a:off x="1047750" y="1285875"/>
            <a:ext cx="285750" cy="285750"/>
          </a:xfrm>
          <a:prstGeom prst="roundRect">
            <a:avLst>
              <a:gd name="adj" fmla="val 8000"/>
            </a:avLst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047750" y="1276350"/>
            <a:ext cx="285750" cy="2857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300" b="1">
                <a:solidFill>
                  <a:srgbClr val="FFFFFF"/>
                </a:solidFill>
                <a:latin typeface="PingFang SC"/>
              </a:rPr>
              <a:t>1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485900" y="914400"/>
            <a:ext cx="9601200" cy="10287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12000"/>
              </a:lnSpc>
            </a:pPr>
            <a:r>
              <a:rPr sz="1400" b="1">
                <a:solidFill>
                  <a:srgbClr val="475569"/>
                </a:solidFill>
                <a:latin typeface="PingFang SC"/>
              </a:rPr>
              <a:t>选择(模型意图)→ 参数生成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876300" y="2114550"/>
            <a:ext cx="10439400" cy="10287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DDE5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876300" y="2114550"/>
            <a:ext cx="57150" cy="1028700"/>
          </a:xfrm>
          <a:prstGeom prst="rect">
            <a:avLst/>
          </a:prstGeom>
          <a:solidFill>
            <a:srgbClr val="14B8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ounded Rectangle 12"/>
          <p:cNvSpPr/>
          <p:nvPr/>
        </p:nvSpPr>
        <p:spPr>
          <a:xfrm>
            <a:off x="1047750" y="2486025"/>
            <a:ext cx="285750" cy="285750"/>
          </a:xfrm>
          <a:prstGeom prst="roundRect">
            <a:avLst>
              <a:gd name="adj" fmla="val 8000"/>
            </a:avLst>
          </a:prstGeom>
          <a:solidFill>
            <a:srgbClr val="14B8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1047750" y="2476500"/>
            <a:ext cx="285750" cy="2857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300" b="1">
                <a:solidFill>
                  <a:srgbClr val="FFFFFF"/>
                </a:solidFill>
                <a:latin typeface="PingFang SC"/>
              </a:rPr>
              <a:t>2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485900" y="2114550"/>
            <a:ext cx="9601200" cy="10287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12000"/>
              </a:lnSpc>
            </a:pPr>
            <a:r>
              <a:rPr sz="1400" b="1">
                <a:solidFill>
                  <a:srgbClr val="475569"/>
                </a:solidFill>
                <a:latin typeface="PingFang SC"/>
              </a:rPr>
              <a:t>→ 校验 → 权限 → 执行 → 返回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876300" y="3314700"/>
            <a:ext cx="10439400" cy="10287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DDE5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876300" y="3314700"/>
            <a:ext cx="57150" cy="1028700"/>
          </a:xfrm>
          <a:prstGeom prst="rect">
            <a:avLst/>
          </a:prstGeom>
          <a:solidFill>
            <a:srgbClr val="8B5C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ounded Rectangle 17"/>
          <p:cNvSpPr/>
          <p:nvPr/>
        </p:nvSpPr>
        <p:spPr>
          <a:xfrm>
            <a:off x="1047750" y="3686175"/>
            <a:ext cx="285750" cy="285750"/>
          </a:xfrm>
          <a:prstGeom prst="roundRect">
            <a:avLst>
              <a:gd name="adj" fmla="val 8000"/>
            </a:avLst>
          </a:prstGeom>
          <a:solidFill>
            <a:srgbClr val="8B5C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1047750" y="3676650"/>
            <a:ext cx="285750" cy="2857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300" b="1">
                <a:solidFill>
                  <a:srgbClr val="FFFFFF"/>
                </a:solidFill>
                <a:latin typeface="PingFang SC"/>
              </a:rPr>
              <a:t>3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485900" y="3314700"/>
            <a:ext cx="9601200" cy="10287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12000"/>
              </a:lnSpc>
            </a:pPr>
            <a:r>
              <a:rPr sz="1400" b="1">
                <a:solidFill>
                  <a:srgbClr val="475569"/>
                </a:solidFill>
                <a:latin typeface="PingFang SC"/>
              </a:rPr>
              <a:t>每步 span 可视化(第6章展开)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876300" y="6019800"/>
            <a:ext cx="10439400" cy="514350"/>
          </a:xfrm>
          <a:prstGeom prst="roundRect">
            <a:avLst>
              <a:gd name="adj" fmla="val 8000"/>
            </a:avLst>
          </a:prstGeom>
          <a:solidFill>
            <a:srgbClr val="F1F5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1066800" y="6019800"/>
            <a:ext cx="10058400" cy="5524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1250" b="0">
                <a:solidFill>
                  <a:srgbClr val="2563EB"/>
                </a:solidFill>
                <a:latin typeface="PingFang SC"/>
              </a:rPr>
              <a:t>▶ 平台 Span 树已支持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0287000" y="6534150"/>
            <a:ext cx="1619250" cy="2667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>
              <a:lnSpc>
                <a:spcPct val="100000"/>
              </a:lnSpc>
            </a:pPr>
            <a:r>
              <a:rPr sz="900" b="0">
                <a:solidFill>
                  <a:srgbClr val="94A3B8"/>
                </a:solidFill>
                <a:latin typeface="PingFang SC"/>
              </a:rPr>
              <a:t>第2章 · 123/141</a:t>
            </a:r>
          </a:p>
        </p:txBody>
      </p:sp>
    </p:spTree>
  </p:cSld>
  <p:clrMapOvr>
    <a:masterClrMapping/>
  </p:clrMapOvr>
</p:sld>
</file>

<file path=ppt/slides/slide12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704850"/>
          </a:xfrm>
          <a:prstGeom prst="rect">
            <a:avLst/>
          </a:prstGeom>
          <a:solidFill>
            <a:srgbClr val="0B1D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76200" cy="704850"/>
          </a:xfrm>
          <a:prstGeom prst="rect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266700" y="0"/>
            <a:ext cx="10287000" cy="7048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2000" b="1">
                <a:solidFill>
                  <a:srgbClr val="FFFFFF"/>
                </a:solidFill>
                <a:latin typeface="PingFang SC"/>
              </a:rPr>
              <a:t>Tool Trace 链路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334500" y="0"/>
            <a:ext cx="2667000" cy="7048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>
              <a:lnSpc>
                <a:spcPct val="100000"/>
              </a:lnSpc>
            </a:pPr>
            <a:r>
              <a:rPr sz="1100" b="0">
                <a:solidFill>
                  <a:srgbClr val="94A3B8"/>
                </a:solidFill>
                <a:latin typeface="PingFang SC"/>
              </a:rPr>
              <a:t>run_id 串起全链路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1847850" y="914400"/>
            <a:ext cx="8877300" cy="1100137"/>
          </a:xfrm>
          <a:prstGeom prst="roundRect">
            <a:avLst>
              <a:gd name="adj" fmla="val 8000"/>
            </a:avLst>
          </a:prstGeom>
          <a:solidFill>
            <a:srgbClr val="F1F5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ounded Rectangle 6"/>
          <p:cNvSpPr/>
          <p:nvPr/>
        </p:nvSpPr>
        <p:spPr>
          <a:xfrm>
            <a:off x="1905000" y="952500"/>
            <a:ext cx="8763000" cy="1023937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2563E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1905000" y="952500"/>
            <a:ext cx="47625" cy="1023937"/>
          </a:xfrm>
          <a:prstGeom prst="rect">
            <a:avLst/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2038350" y="952500"/>
            <a:ext cx="8534400" cy="1023937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1200" b="1">
                <a:solidFill>
                  <a:srgbClr val="475569"/>
                </a:solidFill>
                <a:latin typeface="PingFang SC"/>
              </a:rPr>
              <a:t>选择:模型意图(span)</a:t>
            </a:r>
          </a:p>
        </p:txBody>
      </p:sp>
      <p:cxnSp>
        <p:nvCxnSpPr>
          <p:cNvPr id="10" name="Connector 9"/>
          <p:cNvCxnSpPr/>
          <p:nvPr/>
        </p:nvCxnSpPr>
        <p:spPr>
          <a:xfrm>
            <a:off x="6096000" y="2033587"/>
            <a:ext cx="0" cy="152400"/>
          </a:xfrm>
          <a:prstGeom prst="line">
            <a:avLst/>
          </a:prstGeom>
          <a:ln w="15240">
            <a:solidFill>
              <a:srgbClr val="94A3B8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1" name="Isosceles Triangle 10"/>
          <p:cNvSpPr/>
          <p:nvPr/>
        </p:nvSpPr>
        <p:spPr>
          <a:xfrm rot="10800000">
            <a:off x="6053138" y="2100263"/>
            <a:ext cx="85725" cy="85725"/>
          </a:xfrm>
          <a:prstGeom prst="triangle">
            <a:avLst/>
          </a:prstGeom>
          <a:solidFill>
            <a:srgbClr val="94A3B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248400" y="1976437"/>
            <a:ext cx="2095500" cy="2476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1000" b="0">
                <a:solidFill>
                  <a:srgbClr val="94A3B8"/>
                </a:solidFill>
                <a:latin typeface="PingFang SC"/>
              </a:rPr>
              <a:t>串联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1847850" y="2185987"/>
            <a:ext cx="8877300" cy="1100137"/>
          </a:xfrm>
          <a:prstGeom prst="roundRect">
            <a:avLst>
              <a:gd name="adj" fmla="val 8000"/>
            </a:avLst>
          </a:prstGeom>
          <a:solidFill>
            <a:srgbClr val="F1F5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ounded Rectangle 13"/>
          <p:cNvSpPr/>
          <p:nvPr/>
        </p:nvSpPr>
        <p:spPr>
          <a:xfrm>
            <a:off x="1905000" y="2224087"/>
            <a:ext cx="8763000" cy="1023937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14B8A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1905000" y="2224087"/>
            <a:ext cx="47625" cy="1023937"/>
          </a:xfrm>
          <a:prstGeom prst="rect">
            <a:avLst/>
          </a:prstGeom>
          <a:solidFill>
            <a:srgbClr val="14B8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2038350" y="2224087"/>
            <a:ext cx="8534400" cy="1023937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1200" b="1">
                <a:solidFill>
                  <a:srgbClr val="475569"/>
                </a:solidFill>
                <a:latin typeface="PingFang SC"/>
              </a:rPr>
              <a:t>参数:Schema 校验(span)</a:t>
            </a:r>
          </a:p>
        </p:txBody>
      </p:sp>
      <p:cxnSp>
        <p:nvCxnSpPr>
          <p:cNvPr id="17" name="Connector 16"/>
          <p:cNvCxnSpPr/>
          <p:nvPr/>
        </p:nvCxnSpPr>
        <p:spPr>
          <a:xfrm>
            <a:off x="6096000" y="3305174"/>
            <a:ext cx="0" cy="152400"/>
          </a:xfrm>
          <a:prstGeom prst="line">
            <a:avLst/>
          </a:prstGeom>
          <a:ln w="15240">
            <a:solidFill>
              <a:srgbClr val="94A3B8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8" name="Isosceles Triangle 17"/>
          <p:cNvSpPr/>
          <p:nvPr/>
        </p:nvSpPr>
        <p:spPr>
          <a:xfrm rot="10800000">
            <a:off x="6053138" y="3371850"/>
            <a:ext cx="85725" cy="85725"/>
          </a:xfrm>
          <a:prstGeom prst="triangle">
            <a:avLst/>
          </a:prstGeom>
          <a:solidFill>
            <a:srgbClr val="94A3B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6248400" y="3248024"/>
            <a:ext cx="2095500" cy="2476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1000" b="0">
                <a:solidFill>
                  <a:srgbClr val="94A3B8"/>
                </a:solidFill>
                <a:latin typeface="PingFang SC"/>
              </a:rPr>
              <a:t>计时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1847850" y="3457574"/>
            <a:ext cx="8877300" cy="1100137"/>
          </a:xfrm>
          <a:prstGeom prst="roundRect">
            <a:avLst>
              <a:gd name="adj" fmla="val 8000"/>
            </a:avLst>
          </a:prstGeom>
          <a:solidFill>
            <a:srgbClr val="F1F5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Rounded Rectangle 20"/>
          <p:cNvSpPr/>
          <p:nvPr/>
        </p:nvSpPr>
        <p:spPr>
          <a:xfrm>
            <a:off x="1905000" y="3495674"/>
            <a:ext cx="8763000" cy="1023937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8B5CF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ectangle 21"/>
          <p:cNvSpPr/>
          <p:nvPr/>
        </p:nvSpPr>
        <p:spPr>
          <a:xfrm>
            <a:off x="1905000" y="3495674"/>
            <a:ext cx="47625" cy="1023937"/>
          </a:xfrm>
          <a:prstGeom prst="rect">
            <a:avLst/>
          </a:prstGeom>
          <a:solidFill>
            <a:srgbClr val="8B5C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2038350" y="3495674"/>
            <a:ext cx="8534400" cy="1023937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1200" b="1">
                <a:solidFill>
                  <a:srgbClr val="475569"/>
                </a:solidFill>
                <a:latin typeface="PingFang SC"/>
              </a:rPr>
              <a:t>执行:wait_for 超时(span)</a:t>
            </a:r>
          </a:p>
        </p:txBody>
      </p:sp>
      <p:cxnSp>
        <p:nvCxnSpPr>
          <p:cNvPr id="24" name="Connector 23"/>
          <p:cNvCxnSpPr/>
          <p:nvPr/>
        </p:nvCxnSpPr>
        <p:spPr>
          <a:xfrm>
            <a:off x="6096000" y="4576761"/>
            <a:ext cx="0" cy="152400"/>
          </a:xfrm>
          <a:prstGeom prst="line">
            <a:avLst/>
          </a:prstGeom>
          <a:ln w="15240">
            <a:solidFill>
              <a:srgbClr val="94A3B8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5" name="Isosceles Triangle 24"/>
          <p:cNvSpPr/>
          <p:nvPr/>
        </p:nvSpPr>
        <p:spPr>
          <a:xfrm rot="10800000">
            <a:off x="6053138" y="4643437"/>
            <a:ext cx="85725" cy="85725"/>
          </a:xfrm>
          <a:prstGeom prst="triangle">
            <a:avLst/>
          </a:prstGeom>
          <a:solidFill>
            <a:srgbClr val="94A3B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6248400" y="4519611"/>
            <a:ext cx="2095500" cy="2476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1000" b="0">
                <a:solidFill>
                  <a:srgbClr val="94A3B8"/>
                </a:solidFill>
                <a:latin typeface="PingFang SC"/>
              </a:rPr>
              <a:t>归档</a:t>
            </a:r>
          </a:p>
        </p:txBody>
      </p:sp>
      <p:sp>
        <p:nvSpPr>
          <p:cNvPr id="27" name="Rounded Rectangle 26"/>
          <p:cNvSpPr/>
          <p:nvPr/>
        </p:nvSpPr>
        <p:spPr>
          <a:xfrm>
            <a:off x="1847850" y="4729161"/>
            <a:ext cx="8877300" cy="1100137"/>
          </a:xfrm>
          <a:prstGeom prst="roundRect">
            <a:avLst>
              <a:gd name="adj" fmla="val 8000"/>
            </a:avLst>
          </a:prstGeom>
          <a:solidFill>
            <a:srgbClr val="F1F5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Rounded Rectangle 27"/>
          <p:cNvSpPr/>
          <p:nvPr/>
        </p:nvSpPr>
        <p:spPr>
          <a:xfrm>
            <a:off x="1905000" y="4767261"/>
            <a:ext cx="8763000" cy="1023937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F59E0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Rectangle 28"/>
          <p:cNvSpPr/>
          <p:nvPr/>
        </p:nvSpPr>
        <p:spPr>
          <a:xfrm>
            <a:off x="1905000" y="4767261"/>
            <a:ext cx="47625" cy="1023937"/>
          </a:xfrm>
          <a:prstGeom prst="rect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2038350" y="4767261"/>
            <a:ext cx="8534400" cy="1023937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1200" b="1">
                <a:solidFill>
                  <a:srgbClr val="475569"/>
                </a:solidFill>
                <a:latin typeface="PingFang SC"/>
              </a:rPr>
              <a:t>审计:脱敏落盘(span)|run_id 串起全链路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10287000" y="6534150"/>
            <a:ext cx="1619250" cy="2667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>
              <a:lnSpc>
                <a:spcPct val="100000"/>
              </a:lnSpc>
            </a:pPr>
            <a:r>
              <a:rPr sz="900" b="0">
                <a:solidFill>
                  <a:srgbClr val="94A3B8"/>
                </a:solidFill>
                <a:latin typeface="PingFang SC"/>
              </a:rPr>
              <a:t>第2章 · 124/141</a:t>
            </a:r>
          </a:p>
        </p:txBody>
      </p:sp>
    </p:spTree>
  </p:cSld>
  <p:clrMapOvr>
    <a:masterClrMapping/>
  </p:clrMapOvr>
</p:sld>
</file>

<file path=ppt/slides/slide12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704850"/>
          </a:xfrm>
          <a:prstGeom prst="rect">
            <a:avLst/>
          </a:prstGeom>
          <a:solidFill>
            <a:srgbClr val="0B1D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76200" cy="704850"/>
          </a:xfrm>
          <a:prstGeom prst="rect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266700" y="0"/>
            <a:ext cx="10287000" cy="7048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2000" b="1">
                <a:solidFill>
                  <a:srgbClr val="FFFFFF"/>
                </a:solidFill>
                <a:latin typeface="PingFang SC"/>
              </a:rPr>
              <a:t>应用:客服工具包全流程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334500" y="0"/>
            <a:ext cx="2667000" cy="7048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>
              <a:lnSpc>
                <a:spcPct val="100000"/>
              </a:lnSpc>
            </a:pPr>
            <a:r>
              <a:rPr sz="1100" b="0">
                <a:solidFill>
                  <a:srgbClr val="94A3B8"/>
                </a:solidFill>
                <a:latin typeface="PingFang SC"/>
              </a:rPr>
              <a:t>第2章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876300" y="914400"/>
            <a:ext cx="10439400" cy="10287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DDE5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876300" y="914400"/>
            <a:ext cx="57150" cy="1028700"/>
          </a:xfrm>
          <a:prstGeom prst="rect">
            <a:avLst/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ounded Rectangle 7"/>
          <p:cNvSpPr/>
          <p:nvPr/>
        </p:nvSpPr>
        <p:spPr>
          <a:xfrm>
            <a:off x="1047750" y="1285875"/>
            <a:ext cx="285750" cy="285750"/>
          </a:xfrm>
          <a:prstGeom prst="roundRect">
            <a:avLst>
              <a:gd name="adj" fmla="val 8000"/>
            </a:avLst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047750" y="1276350"/>
            <a:ext cx="285750" cy="2857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300" b="1">
                <a:solidFill>
                  <a:srgbClr val="FFFFFF"/>
                </a:solidFill>
                <a:latin typeface="PingFang SC"/>
              </a:rPr>
              <a:t>1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485900" y="914400"/>
            <a:ext cx="9601200" cy="10287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12000"/>
              </a:lnSpc>
            </a:pPr>
            <a:r>
              <a:rPr sz="1400" b="1">
                <a:solidFill>
                  <a:srgbClr val="475569"/>
                </a:solidFill>
                <a:latin typeface="PingFang SC"/>
              </a:rPr>
              <a:t>查订单(READ)直接过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876300" y="2114550"/>
            <a:ext cx="10439400" cy="10287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DDE5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876300" y="2114550"/>
            <a:ext cx="57150" cy="1028700"/>
          </a:xfrm>
          <a:prstGeom prst="rect">
            <a:avLst/>
          </a:prstGeom>
          <a:solidFill>
            <a:srgbClr val="14B8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ounded Rectangle 12"/>
          <p:cNvSpPr/>
          <p:nvPr/>
        </p:nvSpPr>
        <p:spPr>
          <a:xfrm>
            <a:off x="1047750" y="2486025"/>
            <a:ext cx="285750" cy="285750"/>
          </a:xfrm>
          <a:prstGeom prst="roundRect">
            <a:avLst>
              <a:gd name="adj" fmla="val 8000"/>
            </a:avLst>
          </a:prstGeom>
          <a:solidFill>
            <a:srgbClr val="14B8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1047750" y="2476500"/>
            <a:ext cx="285750" cy="2857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300" b="1">
                <a:solidFill>
                  <a:srgbClr val="FFFFFF"/>
                </a:solidFill>
                <a:latin typeface="PingFang SC"/>
              </a:rPr>
              <a:t>2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485900" y="2114550"/>
            <a:ext cx="9601200" cy="10287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12000"/>
              </a:lnSpc>
            </a:pPr>
            <a:r>
              <a:rPr sz="1400" b="1">
                <a:solidFill>
                  <a:srgbClr val="475569"/>
                </a:solidFill>
                <a:latin typeface="PingFang SC"/>
              </a:rPr>
              <a:t>退款(WRITE)要 agent 角色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876300" y="3314700"/>
            <a:ext cx="10439400" cy="10287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DDE5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876300" y="3314700"/>
            <a:ext cx="57150" cy="1028700"/>
          </a:xfrm>
          <a:prstGeom prst="rect">
            <a:avLst/>
          </a:prstGeom>
          <a:solidFill>
            <a:srgbClr val="8B5C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ounded Rectangle 17"/>
          <p:cNvSpPr/>
          <p:nvPr/>
        </p:nvSpPr>
        <p:spPr>
          <a:xfrm>
            <a:off x="1047750" y="3686175"/>
            <a:ext cx="285750" cy="285750"/>
          </a:xfrm>
          <a:prstGeom prst="roundRect">
            <a:avLst>
              <a:gd name="adj" fmla="val 8000"/>
            </a:avLst>
          </a:prstGeom>
          <a:solidFill>
            <a:srgbClr val="8B5C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1047750" y="3676650"/>
            <a:ext cx="285750" cy="2857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300" b="1">
                <a:solidFill>
                  <a:srgbClr val="FFFFFF"/>
                </a:solidFill>
                <a:latin typeface="PingFang SC"/>
              </a:rPr>
              <a:t>3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485900" y="3314700"/>
            <a:ext cx="9601200" cy="10287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12000"/>
              </a:lnSpc>
            </a:pPr>
            <a:r>
              <a:rPr sz="1400" b="1">
                <a:solidFill>
                  <a:srgbClr val="475569"/>
                </a:solidFill>
                <a:latin typeface="PingFang SC"/>
              </a:rPr>
              <a:t>删除记录(DANGEROUS)人工确认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876300" y="6019800"/>
            <a:ext cx="10439400" cy="514350"/>
          </a:xfrm>
          <a:prstGeom prst="roundRect">
            <a:avLst>
              <a:gd name="adj" fmla="val 8000"/>
            </a:avLst>
          </a:prstGeom>
          <a:solidFill>
            <a:srgbClr val="F1F5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1066800" y="6019800"/>
            <a:ext cx="10058400" cy="5524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1250" b="0">
                <a:solidFill>
                  <a:srgbClr val="2563EB"/>
                </a:solidFill>
                <a:latin typeface="PingFang SC"/>
              </a:rPr>
              <a:t>▶ 一个场景走完三道权限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0287000" y="6534150"/>
            <a:ext cx="1619250" cy="2667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>
              <a:lnSpc>
                <a:spcPct val="100000"/>
              </a:lnSpc>
            </a:pPr>
            <a:r>
              <a:rPr sz="900" b="0">
                <a:solidFill>
                  <a:srgbClr val="94A3B8"/>
                </a:solidFill>
                <a:latin typeface="PingFang SC"/>
              </a:rPr>
              <a:t>第2章 · 125/141</a:t>
            </a:r>
          </a:p>
        </p:txBody>
      </p:sp>
    </p:spTree>
  </p:cSld>
  <p:clrMapOvr>
    <a:masterClrMapping/>
  </p:clrMapOvr>
</p:sld>
</file>

<file path=ppt/slides/slide12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704850"/>
          </a:xfrm>
          <a:prstGeom prst="rect">
            <a:avLst/>
          </a:prstGeom>
          <a:solidFill>
            <a:srgbClr val="0B1D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76200" cy="704850"/>
          </a:xfrm>
          <a:prstGeom prst="rect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266700" y="0"/>
            <a:ext cx="10287000" cy="7048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2000" b="1">
                <a:solidFill>
                  <a:srgbClr val="FFFFFF"/>
                </a:solidFill>
                <a:latin typeface="PingFang SC"/>
              </a:rPr>
              <a:t>应用:数据分析工具包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334500" y="0"/>
            <a:ext cx="2667000" cy="7048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>
              <a:lnSpc>
                <a:spcPct val="100000"/>
              </a:lnSpc>
            </a:pPr>
            <a:r>
              <a:rPr sz="1100" b="0">
                <a:solidFill>
                  <a:srgbClr val="94A3B8"/>
                </a:solidFill>
                <a:latin typeface="PingFang SC"/>
              </a:rPr>
              <a:t>第2章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876300" y="914400"/>
            <a:ext cx="10439400" cy="10287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DDE5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876300" y="914400"/>
            <a:ext cx="57150" cy="1028700"/>
          </a:xfrm>
          <a:prstGeom prst="rect">
            <a:avLst/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ounded Rectangle 7"/>
          <p:cNvSpPr/>
          <p:nvPr/>
        </p:nvSpPr>
        <p:spPr>
          <a:xfrm>
            <a:off x="1047750" y="1285875"/>
            <a:ext cx="285750" cy="285750"/>
          </a:xfrm>
          <a:prstGeom prst="roundRect">
            <a:avLst>
              <a:gd name="adj" fmla="val 8000"/>
            </a:avLst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047750" y="1276350"/>
            <a:ext cx="285750" cy="2857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300" b="1">
                <a:solidFill>
                  <a:srgbClr val="FFFFFF"/>
                </a:solidFill>
                <a:latin typeface="PingFang SC"/>
              </a:rPr>
              <a:t>1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485900" y="914400"/>
            <a:ext cx="9601200" cy="10287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12000"/>
              </a:lnSpc>
            </a:pPr>
            <a:r>
              <a:rPr sz="1400" b="1">
                <a:solidFill>
                  <a:srgbClr val="475569"/>
                </a:solidFill>
                <a:latin typeface="PingFang SC"/>
              </a:rPr>
              <a:t>查询(只读 SQL 白名单)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876300" y="2114550"/>
            <a:ext cx="10439400" cy="10287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DDE5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876300" y="2114550"/>
            <a:ext cx="57150" cy="1028700"/>
          </a:xfrm>
          <a:prstGeom prst="rect">
            <a:avLst/>
          </a:prstGeom>
          <a:solidFill>
            <a:srgbClr val="14B8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ounded Rectangle 12"/>
          <p:cNvSpPr/>
          <p:nvPr/>
        </p:nvSpPr>
        <p:spPr>
          <a:xfrm>
            <a:off x="1047750" y="2486025"/>
            <a:ext cx="285750" cy="285750"/>
          </a:xfrm>
          <a:prstGeom prst="roundRect">
            <a:avLst>
              <a:gd name="adj" fmla="val 8000"/>
            </a:avLst>
          </a:prstGeom>
          <a:solidFill>
            <a:srgbClr val="14B8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1047750" y="2476500"/>
            <a:ext cx="285750" cy="2857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300" b="1">
                <a:solidFill>
                  <a:srgbClr val="FFFFFF"/>
                </a:solidFill>
                <a:latin typeface="PingFang SC"/>
              </a:rPr>
              <a:t>2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485900" y="2114550"/>
            <a:ext cx="9601200" cy="10287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12000"/>
              </a:lnSpc>
            </a:pPr>
            <a:r>
              <a:rPr sz="1400" b="1">
                <a:solidFill>
                  <a:srgbClr val="475569"/>
                </a:solidFill>
                <a:latin typeface="PingFang SC"/>
              </a:rPr>
              <a:t>生成图表(写临时文件)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876300" y="3314700"/>
            <a:ext cx="10439400" cy="10287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DDE5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876300" y="3314700"/>
            <a:ext cx="57150" cy="1028700"/>
          </a:xfrm>
          <a:prstGeom prst="rect">
            <a:avLst/>
          </a:prstGeom>
          <a:solidFill>
            <a:srgbClr val="8B5C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ounded Rectangle 17"/>
          <p:cNvSpPr/>
          <p:nvPr/>
        </p:nvSpPr>
        <p:spPr>
          <a:xfrm>
            <a:off x="1047750" y="3686175"/>
            <a:ext cx="285750" cy="285750"/>
          </a:xfrm>
          <a:prstGeom prst="roundRect">
            <a:avLst>
              <a:gd name="adj" fmla="val 8000"/>
            </a:avLst>
          </a:prstGeom>
          <a:solidFill>
            <a:srgbClr val="8B5C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1047750" y="3676650"/>
            <a:ext cx="285750" cy="2857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300" b="1">
                <a:solidFill>
                  <a:srgbClr val="FFFFFF"/>
                </a:solidFill>
                <a:latin typeface="PingFang SC"/>
              </a:rPr>
              <a:t>3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485900" y="3314700"/>
            <a:ext cx="9601200" cy="10287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12000"/>
              </a:lnSpc>
            </a:pPr>
            <a:r>
              <a:rPr sz="1400" b="1">
                <a:solidFill>
                  <a:srgbClr val="475569"/>
                </a:solidFill>
                <a:latin typeface="PingFang SC"/>
              </a:rPr>
              <a:t>发送报告(外发,需确认)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876300" y="6019800"/>
            <a:ext cx="10439400" cy="514350"/>
          </a:xfrm>
          <a:prstGeom prst="roundRect">
            <a:avLst>
              <a:gd name="adj" fmla="val 8000"/>
            </a:avLst>
          </a:prstGeom>
          <a:solidFill>
            <a:srgbClr val="F1F5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1066800" y="6019800"/>
            <a:ext cx="10058400" cy="5524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1250" b="0">
                <a:solidFill>
                  <a:srgbClr val="2563EB"/>
                </a:solidFill>
                <a:latin typeface="PingFang SC"/>
              </a:rPr>
              <a:t>▶ 同一 Runtime 不同工具包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0287000" y="6534150"/>
            <a:ext cx="1619250" cy="2667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>
              <a:lnSpc>
                <a:spcPct val="100000"/>
              </a:lnSpc>
            </a:pPr>
            <a:r>
              <a:rPr sz="900" b="0">
                <a:solidFill>
                  <a:srgbClr val="94A3B8"/>
                </a:solidFill>
                <a:latin typeface="PingFang SC"/>
              </a:rPr>
              <a:t>第2章 · 126/141</a:t>
            </a:r>
          </a:p>
        </p:txBody>
      </p:sp>
    </p:spTree>
  </p:cSld>
  <p:clrMapOvr>
    <a:masterClrMapping/>
  </p:clrMapOvr>
</p:sld>
</file>

<file path=ppt/slides/slide12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704850"/>
          </a:xfrm>
          <a:prstGeom prst="rect">
            <a:avLst/>
          </a:prstGeom>
          <a:solidFill>
            <a:srgbClr val="0B1D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76200" cy="704850"/>
          </a:xfrm>
          <a:prstGeom prst="rect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266700" y="0"/>
            <a:ext cx="10287000" cy="7048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2000" b="1">
                <a:solidFill>
                  <a:srgbClr val="FFFFFF"/>
                </a:solidFill>
                <a:latin typeface="PingFang SC"/>
              </a:rPr>
              <a:t>分析工具包编排-&gt;查询(只读 SQL 白名单)-&gt;生成图表(写临时区)-&gt;发送报告(外发,确认)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334500" y="0"/>
            <a:ext cx="2667000" cy="7048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>
              <a:lnSpc>
                <a:spcPct val="100000"/>
              </a:lnSpc>
            </a:pPr>
            <a:r>
              <a:rPr sz="1100" b="0">
                <a:solidFill>
                  <a:srgbClr val="94A3B8"/>
                </a:solidFill>
                <a:latin typeface="PingFang SC"/>
              </a:rPr>
              <a:t>风险等级即流程节点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857250" y="2667000"/>
            <a:ext cx="10477500" cy="11430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2563E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857250" y="2667000"/>
            <a:ext cx="10477500" cy="57150"/>
          </a:xfrm>
          <a:prstGeom prst="rect">
            <a:avLst/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ounded Rectangle 7"/>
          <p:cNvSpPr/>
          <p:nvPr/>
        </p:nvSpPr>
        <p:spPr>
          <a:xfrm>
            <a:off x="5953125" y="2524125"/>
            <a:ext cx="285750" cy="285750"/>
          </a:xfrm>
          <a:prstGeom prst="roundRect">
            <a:avLst>
              <a:gd name="adj" fmla="val 8000"/>
            </a:avLst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5953125" y="2514600"/>
            <a:ext cx="285750" cy="2857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300" b="1">
                <a:solidFill>
                  <a:srgbClr val="FFFFFF"/>
                </a:solidFill>
                <a:latin typeface="PingFang SC"/>
              </a:rPr>
              <a:t>1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933450" y="2800350"/>
            <a:ext cx="10325100" cy="9525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200" b="1">
                <a:solidFill>
                  <a:srgbClr val="475569"/>
                </a:solidFill>
                <a:latin typeface="PingFang SC"/>
              </a:rPr>
              <a:t>note=同一 Runtime 不同工具包|风险等级即流程节点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0287000" y="6534150"/>
            <a:ext cx="1619250" cy="2667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>
              <a:lnSpc>
                <a:spcPct val="100000"/>
              </a:lnSpc>
            </a:pPr>
            <a:r>
              <a:rPr sz="900" b="0">
                <a:solidFill>
                  <a:srgbClr val="94A3B8"/>
                </a:solidFill>
                <a:latin typeface="PingFang SC"/>
              </a:rPr>
              <a:t>第2章 · 127/141</a:t>
            </a:r>
          </a:p>
        </p:txBody>
      </p:sp>
    </p:spTree>
  </p:cSld>
  <p:clrMapOvr>
    <a:masterClrMapping/>
  </p:clrMapOvr>
</p:sld>
</file>

<file path=ppt/slides/slide12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704850"/>
          </a:xfrm>
          <a:prstGeom prst="rect">
            <a:avLst/>
          </a:prstGeom>
          <a:solidFill>
            <a:srgbClr val="0B1D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76200" cy="704850"/>
          </a:xfrm>
          <a:prstGeom prst="rect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266700" y="0"/>
            <a:ext cx="10287000" cy="7048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2000" b="1">
                <a:solidFill>
                  <a:srgbClr val="FFFFFF"/>
                </a:solidFill>
                <a:latin typeface="PingFang SC"/>
              </a:rPr>
              <a:t>踩坑:执行器吞异常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334500" y="0"/>
            <a:ext cx="2667000" cy="7048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>
              <a:lnSpc>
                <a:spcPct val="100000"/>
              </a:lnSpc>
            </a:pPr>
            <a:r>
              <a:rPr sz="1100" b="0">
                <a:solidFill>
                  <a:srgbClr val="94A3B8"/>
                </a:solidFill>
                <a:latin typeface="PingFang SC"/>
              </a:rPr>
              <a:t>第2章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876300" y="914400"/>
            <a:ext cx="10439400" cy="10287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DDE5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876300" y="914400"/>
            <a:ext cx="57150" cy="1028700"/>
          </a:xfrm>
          <a:prstGeom prst="rect">
            <a:avLst/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ounded Rectangle 7"/>
          <p:cNvSpPr/>
          <p:nvPr/>
        </p:nvSpPr>
        <p:spPr>
          <a:xfrm>
            <a:off x="1047750" y="1285875"/>
            <a:ext cx="285750" cy="285750"/>
          </a:xfrm>
          <a:prstGeom prst="roundRect">
            <a:avLst>
              <a:gd name="adj" fmla="val 8000"/>
            </a:avLst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047750" y="1276350"/>
            <a:ext cx="285750" cy="2857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300" b="1">
                <a:solidFill>
                  <a:srgbClr val="FFFFFF"/>
                </a:solidFill>
                <a:latin typeface="PingFang SC"/>
              </a:rPr>
              <a:t>1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485900" y="914400"/>
            <a:ext cx="9601200" cy="10287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12000"/>
              </a:lnSpc>
            </a:pPr>
            <a:r>
              <a:rPr sz="1400" b="1">
                <a:solidFill>
                  <a:srgbClr val="475569"/>
                </a:solidFill>
                <a:latin typeface="PingFang SC"/>
              </a:rPr>
              <a:t>except Exception 返回 None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876300" y="2114550"/>
            <a:ext cx="10439400" cy="10287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DDE5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876300" y="2114550"/>
            <a:ext cx="57150" cy="1028700"/>
          </a:xfrm>
          <a:prstGeom prst="rect">
            <a:avLst/>
          </a:prstGeom>
          <a:solidFill>
            <a:srgbClr val="14B8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ounded Rectangle 12"/>
          <p:cNvSpPr/>
          <p:nvPr/>
        </p:nvSpPr>
        <p:spPr>
          <a:xfrm>
            <a:off x="1047750" y="2486025"/>
            <a:ext cx="285750" cy="285750"/>
          </a:xfrm>
          <a:prstGeom prst="roundRect">
            <a:avLst>
              <a:gd name="adj" fmla="val 8000"/>
            </a:avLst>
          </a:prstGeom>
          <a:solidFill>
            <a:srgbClr val="14B8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1047750" y="2476500"/>
            <a:ext cx="285750" cy="2857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300" b="1">
                <a:solidFill>
                  <a:srgbClr val="FFFFFF"/>
                </a:solidFill>
                <a:latin typeface="PingFang SC"/>
              </a:rPr>
              <a:t>2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485900" y="2114550"/>
            <a:ext cx="9601200" cy="10287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12000"/>
              </a:lnSpc>
            </a:pPr>
            <a:r>
              <a:rPr sz="1400" b="1">
                <a:solidFill>
                  <a:srgbClr val="475569"/>
                </a:solidFill>
                <a:latin typeface="PingFang SC"/>
              </a:rPr>
              <a:t>模型以为成功,继续错误推理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876300" y="3314700"/>
            <a:ext cx="10439400" cy="10287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DDE5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876300" y="3314700"/>
            <a:ext cx="57150" cy="1028700"/>
          </a:xfrm>
          <a:prstGeom prst="rect">
            <a:avLst/>
          </a:prstGeom>
          <a:solidFill>
            <a:srgbClr val="8B5C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ounded Rectangle 17"/>
          <p:cNvSpPr/>
          <p:nvPr/>
        </p:nvSpPr>
        <p:spPr>
          <a:xfrm>
            <a:off x="1047750" y="3686175"/>
            <a:ext cx="285750" cy="285750"/>
          </a:xfrm>
          <a:prstGeom prst="roundRect">
            <a:avLst>
              <a:gd name="adj" fmla="val 8000"/>
            </a:avLst>
          </a:prstGeom>
          <a:solidFill>
            <a:srgbClr val="8B5C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1047750" y="3676650"/>
            <a:ext cx="285750" cy="2857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300" b="1">
                <a:solidFill>
                  <a:srgbClr val="FFFFFF"/>
                </a:solidFill>
                <a:latin typeface="PingFang SC"/>
              </a:rPr>
              <a:t>3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485900" y="3314700"/>
            <a:ext cx="9601200" cy="10287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12000"/>
              </a:lnSpc>
            </a:pPr>
            <a:r>
              <a:rPr sz="1400" b="1">
                <a:solidFill>
                  <a:srgbClr val="475569"/>
                </a:solidFill>
                <a:latin typeface="PingFang SC"/>
              </a:rPr>
              <a:t>修复:失败必须结构化上抛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876300" y="6019800"/>
            <a:ext cx="10439400" cy="514350"/>
          </a:xfrm>
          <a:prstGeom prst="roundRect">
            <a:avLst>
              <a:gd name="adj" fmla="val 8000"/>
            </a:avLst>
          </a:prstGeom>
          <a:solidFill>
            <a:srgbClr val="F1F5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1066800" y="6019800"/>
            <a:ext cx="10058400" cy="5524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1250" b="0">
                <a:solidFill>
                  <a:srgbClr val="2563EB"/>
                </a:solidFill>
                <a:latin typeface="PingFang SC"/>
              </a:rPr>
              <a:t>▶ 平台 ToolResult.ok 永远显式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0287000" y="6534150"/>
            <a:ext cx="1619250" cy="2667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>
              <a:lnSpc>
                <a:spcPct val="100000"/>
              </a:lnSpc>
            </a:pPr>
            <a:r>
              <a:rPr sz="900" b="0">
                <a:solidFill>
                  <a:srgbClr val="94A3B8"/>
                </a:solidFill>
                <a:latin typeface="PingFang SC"/>
              </a:rPr>
              <a:t>第2章 · 128/141</a:t>
            </a:r>
          </a:p>
        </p:txBody>
      </p:sp>
    </p:spTree>
  </p:cSld>
  <p:clrMapOvr>
    <a:masterClrMapping/>
  </p:clrMapOvr>
</p:sld>
</file>

<file path=ppt/slides/slide12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704850"/>
          </a:xfrm>
          <a:prstGeom prst="rect">
            <a:avLst/>
          </a:prstGeom>
          <a:solidFill>
            <a:srgbClr val="0B1D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76200" cy="704850"/>
          </a:xfrm>
          <a:prstGeom prst="rect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266700" y="0"/>
            <a:ext cx="10287000" cy="7048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2000" b="1">
                <a:solidFill>
                  <a:srgbClr val="FFFFFF"/>
                </a:solidFill>
                <a:latin typeface="PingFang SC"/>
              </a:rPr>
              <a:t>踩坑:超时值拍脑袋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334500" y="0"/>
            <a:ext cx="2667000" cy="7048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>
              <a:lnSpc>
                <a:spcPct val="100000"/>
              </a:lnSpc>
            </a:pPr>
            <a:r>
              <a:rPr sz="1100" b="0">
                <a:solidFill>
                  <a:srgbClr val="94A3B8"/>
                </a:solidFill>
                <a:latin typeface="PingFang SC"/>
              </a:rPr>
              <a:t>第2章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876300" y="914400"/>
            <a:ext cx="10439400" cy="10287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DDE5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876300" y="914400"/>
            <a:ext cx="57150" cy="1028700"/>
          </a:xfrm>
          <a:prstGeom prst="rect">
            <a:avLst/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ounded Rectangle 7"/>
          <p:cNvSpPr/>
          <p:nvPr/>
        </p:nvSpPr>
        <p:spPr>
          <a:xfrm>
            <a:off x="1047750" y="1285875"/>
            <a:ext cx="285750" cy="285750"/>
          </a:xfrm>
          <a:prstGeom prst="roundRect">
            <a:avLst>
              <a:gd name="adj" fmla="val 8000"/>
            </a:avLst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047750" y="1276350"/>
            <a:ext cx="285750" cy="2857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300" b="1">
                <a:solidFill>
                  <a:srgbClr val="FFFFFF"/>
                </a:solidFill>
                <a:latin typeface="PingFang SC"/>
              </a:rPr>
              <a:t>1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485900" y="914400"/>
            <a:ext cx="9601200" cy="10287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12000"/>
              </a:lnSpc>
            </a:pPr>
            <a:r>
              <a:rPr sz="1400" b="1">
                <a:solidFill>
                  <a:srgbClr val="475569"/>
                </a:solidFill>
                <a:latin typeface="PingFang SC"/>
              </a:rPr>
              <a:t>默认 30s 对慢工具不够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876300" y="2114550"/>
            <a:ext cx="10439400" cy="10287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DDE5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876300" y="2114550"/>
            <a:ext cx="57150" cy="1028700"/>
          </a:xfrm>
          <a:prstGeom prst="rect">
            <a:avLst/>
          </a:prstGeom>
          <a:solidFill>
            <a:srgbClr val="14B8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ounded Rectangle 12"/>
          <p:cNvSpPr/>
          <p:nvPr/>
        </p:nvSpPr>
        <p:spPr>
          <a:xfrm>
            <a:off x="1047750" y="2486025"/>
            <a:ext cx="285750" cy="285750"/>
          </a:xfrm>
          <a:prstGeom prst="roundRect">
            <a:avLst>
              <a:gd name="adj" fmla="val 8000"/>
            </a:avLst>
          </a:prstGeom>
          <a:solidFill>
            <a:srgbClr val="14B8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1047750" y="2476500"/>
            <a:ext cx="285750" cy="2857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300" b="1">
                <a:solidFill>
                  <a:srgbClr val="FFFFFF"/>
                </a:solidFill>
                <a:latin typeface="PingFang SC"/>
              </a:rPr>
              <a:t>2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485900" y="2114550"/>
            <a:ext cx="9601200" cy="10287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12000"/>
              </a:lnSpc>
            </a:pPr>
            <a:r>
              <a:rPr sz="1400" b="1">
                <a:solidFill>
                  <a:srgbClr val="475569"/>
                </a:solidFill>
                <a:latin typeface="PingFang SC"/>
              </a:rPr>
              <a:t>对快工具又太长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876300" y="3314700"/>
            <a:ext cx="10439400" cy="10287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DDE5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876300" y="3314700"/>
            <a:ext cx="57150" cy="1028700"/>
          </a:xfrm>
          <a:prstGeom prst="rect">
            <a:avLst/>
          </a:prstGeom>
          <a:solidFill>
            <a:srgbClr val="8B5C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ounded Rectangle 17"/>
          <p:cNvSpPr/>
          <p:nvPr/>
        </p:nvSpPr>
        <p:spPr>
          <a:xfrm>
            <a:off x="1047750" y="3686175"/>
            <a:ext cx="285750" cy="285750"/>
          </a:xfrm>
          <a:prstGeom prst="roundRect">
            <a:avLst>
              <a:gd name="adj" fmla="val 8000"/>
            </a:avLst>
          </a:prstGeom>
          <a:solidFill>
            <a:srgbClr val="8B5C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1047750" y="3676650"/>
            <a:ext cx="285750" cy="2857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300" b="1">
                <a:solidFill>
                  <a:srgbClr val="FFFFFF"/>
                </a:solidFill>
                <a:latin typeface="PingFang SC"/>
              </a:rPr>
              <a:t>3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485900" y="3314700"/>
            <a:ext cx="9601200" cy="10287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12000"/>
              </a:lnSpc>
            </a:pPr>
            <a:r>
              <a:rPr sz="1400" b="1">
                <a:solidFill>
                  <a:srgbClr val="475569"/>
                </a:solidFill>
                <a:latin typeface="PingFang SC"/>
              </a:rPr>
              <a:t>优化:按工具画像配置 P99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876300" y="4514850"/>
            <a:ext cx="10439400" cy="10287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DDE5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ectangle 21"/>
          <p:cNvSpPr/>
          <p:nvPr/>
        </p:nvSpPr>
        <p:spPr>
          <a:xfrm>
            <a:off x="876300" y="4514850"/>
            <a:ext cx="57150" cy="1028700"/>
          </a:xfrm>
          <a:prstGeom prst="rect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ounded Rectangle 22"/>
          <p:cNvSpPr/>
          <p:nvPr/>
        </p:nvSpPr>
        <p:spPr>
          <a:xfrm>
            <a:off x="1047750" y="4886325"/>
            <a:ext cx="285750" cy="285750"/>
          </a:xfrm>
          <a:prstGeom prst="roundRect">
            <a:avLst>
              <a:gd name="adj" fmla="val 8000"/>
            </a:avLst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1047750" y="4876800"/>
            <a:ext cx="285750" cy="2857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300" b="1">
                <a:solidFill>
                  <a:srgbClr val="FFFFFF"/>
                </a:solidFill>
                <a:latin typeface="PingFang SC"/>
              </a:rPr>
              <a:t>4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1485900" y="4514850"/>
            <a:ext cx="9601200" cy="10287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12000"/>
              </a:lnSpc>
            </a:pPr>
            <a:r>
              <a:rPr sz="1400" b="1">
                <a:solidFill>
                  <a:srgbClr val="475569"/>
                </a:solidFill>
                <a:latin typeface="PingFang SC"/>
              </a:rPr>
              <a:t>超时也是审计字段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10287000" y="6534150"/>
            <a:ext cx="1619250" cy="2667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>
              <a:lnSpc>
                <a:spcPct val="100000"/>
              </a:lnSpc>
            </a:pPr>
            <a:r>
              <a:rPr sz="900" b="0">
                <a:solidFill>
                  <a:srgbClr val="94A3B8"/>
                </a:solidFill>
                <a:latin typeface="PingFang SC"/>
              </a:rPr>
              <a:t>第2章 · 129/141</a:t>
            </a:r>
          </a:p>
        </p:txBody>
      </p:sp>
    </p:spTree>
  </p:cSld>
  <p:clrMapOvr>
    <a:masterClrMapping/>
  </p:clrMapOvr>
</p:sld>
</file>

<file path=ppt/slides/slide13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704850"/>
          </a:xfrm>
          <a:prstGeom prst="rect">
            <a:avLst/>
          </a:prstGeom>
          <a:solidFill>
            <a:srgbClr val="0B1D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76200" cy="704850"/>
          </a:xfrm>
          <a:prstGeom prst="rect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266700" y="0"/>
            <a:ext cx="10287000" cy="7048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2000" b="1">
                <a:solidFill>
                  <a:srgbClr val="FFFFFF"/>
                </a:solidFill>
                <a:latin typeface="PingFang SC"/>
              </a:rPr>
              <a:t>优化:工具调用缓存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334500" y="0"/>
            <a:ext cx="2667000" cy="7048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>
              <a:lnSpc>
                <a:spcPct val="100000"/>
              </a:lnSpc>
            </a:pPr>
            <a:r>
              <a:rPr sz="1100" b="0">
                <a:solidFill>
                  <a:srgbClr val="94A3B8"/>
                </a:solidFill>
                <a:latin typeface="PingFang SC"/>
              </a:rPr>
              <a:t>第2章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876300" y="914400"/>
            <a:ext cx="10439400" cy="10287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DDE5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876300" y="914400"/>
            <a:ext cx="57150" cy="1028700"/>
          </a:xfrm>
          <a:prstGeom prst="rect">
            <a:avLst/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ounded Rectangle 7"/>
          <p:cNvSpPr/>
          <p:nvPr/>
        </p:nvSpPr>
        <p:spPr>
          <a:xfrm>
            <a:off x="1047750" y="1285875"/>
            <a:ext cx="285750" cy="285750"/>
          </a:xfrm>
          <a:prstGeom prst="roundRect">
            <a:avLst>
              <a:gd name="adj" fmla="val 8000"/>
            </a:avLst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047750" y="1276350"/>
            <a:ext cx="285750" cy="2857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300" b="1">
                <a:solidFill>
                  <a:srgbClr val="FFFFFF"/>
                </a:solidFill>
                <a:latin typeface="PingFang SC"/>
              </a:rPr>
              <a:t>1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485900" y="914400"/>
            <a:ext cx="9601200" cy="10287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12000"/>
              </a:lnSpc>
            </a:pPr>
            <a:r>
              <a:rPr sz="1400" b="1">
                <a:solidFill>
                  <a:srgbClr val="475569"/>
                </a:solidFill>
                <a:latin typeface="PingFang SC"/>
              </a:rPr>
              <a:t>幂等读工具结果缓存 60s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876300" y="2114550"/>
            <a:ext cx="10439400" cy="10287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DDE5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876300" y="2114550"/>
            <a:ext cx="57150" cy="1028700"/>
          </a:xfrm>
          <a:prstGeom prst="rect">
            <a:avLst/>
          </a:prstGeom>
          <a:solidFill>
            <a:srgbClr val="14B8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ounded Rectangle 12"/>
          <p:cNvSpPr/>
          <p:nvPr/>
        </p:nvSpPr>
        <p:spPr>
          <a:xfrm>
            <a:off x="1047750" y="2486025"/>
            <a:ext cx="285750" cy="285750"/>
          </a:xfrm>
          <a:prstGeom prst="roundRect">
            <a:avLst>
              <a:gd name="adj" fmla="val 8000"/>
            </a:avLst>
          </a:prstGeom>
          <a:solidFill>
            <a:srgbClr val="14B8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1047750" y="2476500"/>
            <a:ext cx="285750" cy="2857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300" b="1">
                <a:solidFill>
                  <a:srgbClr val="FFFFFF"/>
                </a:solidFill>
                <a:latin typeface="PingFang SC"/>
              </a:rPr>
              <a:t>2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485900" y="2114550"/>
            <a:ext cx="9601200" cy="10287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12000"/>
              </a:lnSpc>
            </a:pPr>
            <a:r>
              <a:rPr sz="1400" b="1">
                <a:solidFill>
                  <a:srgbClr val="475569"/>
                </a:solidFill>
                <a:latin typeface="PingFang SC"/>
              </a:rPr>
              <a:t>相同参数直接回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876300" y="3314700"/>
            <a:ext cx="10439400" cy="10287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DDE5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876300" y="3314700"/>
            <a:ext cx="57150" cy="1028700"/>
          </a:xfrm>
          <a:prstGeom prst="rect">
            <a:avLst/>
          </a:prstGeom>
          <a:solidFill>
            <a:srgbClr val="8B5C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ounded Rectangle 17"/>
          <p:cNvSpPr/>
          <p:nvPr/>
        </p:nvSpPr>
        <p:spPr>
          <a:xfrm>
            <a:off x="1047750" y="3686175"/>
            <a:ext cx="285750" cy="285750"/>
          </a:xfrm>
          <a:prstGeom prst="roundRect">
            <a:avLst>
              <a:gd name="adj" fmla="val 8000"/>
            </a:avLst>
          </a:prstGeom>
          <a:solidFill>
            <a:srgbClr val="8B5C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1047750" y="3676650"/>
            <a:ext cx="285750" cy="2857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300" b="1">
                <a:solidFill>
                  <a:srgbClr val="FFFFFF"/>
                </a:solidFill>
                <a:latin typeface="PingFang SC"/>
              </a:rPr>
              <a:t>3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485900" y="3314700"/>
            <a:ext cx="9601200" cy="10287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12000"/>
              </a:lnSpc>
            </a:pPr>
            <a:r>
              <a:rPr sz="1400" b="1">
                <a:solidFill>
                  <a:srgbClr val="475569"/>
                </a:solidFill>
                <a:latin typeface="PingFang SC"/>
              </a:rPr>
              <a:t>命中率进监控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876300" y="6019800"/>
            <a:ext cx="10439400" cy="514350"/>
          </a:xfrm>
          <a:prstGeom prst="roundRect">
            <a:avLst>
              <a:gd name="adj" fmla="val 8000"/>
            </a:avLst>
          </a:prstGeom>
          <a:solidFill>
            <a:srgbClr val="F1F5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1066800" y="6019800"/>
            <a:ext cx="10058400" cy="5524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1250" b="0">
                <a:solidFill>
                  <a:srgbClr val="2563EB"/>
                </a:solidFill>
                <a:latin typeface="PingFang SC"/>
              </a:rPr>
              <a:t>▶ 第6章四级缓存的 L4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0287000" y="6534150"/>
            <a:ext cx="1619250" cy="2667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>
              <a:lnSpc>
                <a:spcPct val="100000"/>
              </a:lnSpc>
            </a:pPr>
            <a:r>
              <a:rPr sz="900" b="0">
                <a:solidFill>
                  <a:srgbClr val="94A3B8"/>
                </a:solidFill>
                <a:latin typeface="PingFang SC"/>
              </a:rPr>
              <a:t>第2章 · 130/141</a:t>
            </a:r>
          </a:p>
        </p:txBody>
      </p:sp>
    </p:spTree>
  </p:cSld>
  <p:clrMapOvr>
    <a:masterClrMapping/>
  </p:clrMapOvr>
</p:sld>
</file>

<file path=ppt/slides/slide13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704850"/>
          </a:xfrm>
          <a:prstGeom prst="rect">
            <a:avLst/>
          </a:prstGeom>
          <a:solidFill>
            <a:srgbClr val="0B1D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76200" cy="704850"/>
          </a:xfrm>
          <a:prstGeom prst="rect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266700" y="0"/>
            <a:ext cx="10287000" cy="7048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2000" b="1">
                <a:solidFill>
                  <a:srgbClr val="FFFFFF"/>
                </a:solidFill>
                <a:latin typeface="PingFang SC"/>
              </a:rPr>
              <a:t>优化:审计批量上报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334500" y="0"/>
            <a:ext cx="2667000" cy="7048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>
              <a:lnSpc>
                <a:spcPct val="100000"/>
              </a:lnSpc>
            </a:pPr>
            <a:r>
              <a:rPr sz="1100" b="0">
                <a:solidFill>
                  <a:srgbClr val="94A3B8"/>
                </a:solidFill>
                <a:latin typeface="PingFang SC"/>
              </a:rPr>
              <a:t>第2章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876300" y="914400"/>
            <a:ext cx="10439400" cy="10287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DDE5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876300" y="914400"/>
            <a:ext cx="57150" cy="1028700"/>
          </a:xfrm>
          <a:prstGeom prst="rect">
            <a:avLst/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ounded Rectangle 7"/>
          <p:cNvSpPr/>
          <p:nvPr/>
        </p:nvSpPr>
        <p:spPr>
          <a:xfrm>
            <a:off x="1047750" y="1285875"/>
            <a:ext cx="285750" cy="285750"/>
          </a:xfrm>
          <a:prstGeom prst="roundRect">
            <a:avLst>
              <a:gd name="adj" fmla="val 8000"/>
            </a:avLst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047750" y="1276350"/>
            <a:ext cx="285750" cy="2857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300" b="1">
                <a:solidFill>
                  <a:srgbClr val="FFFFFF"/>
                </a:solidFill>
                <a:latin typeface="PingFang SC"/>
              </a:rPr>
              <a:t>1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485900" y="914400"/>
            <a:ext cx="9601200" cy="10287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12000"/>
              </a:lnSpc>
            </a:pPr>
            <a:r>
              <a:rPr sz="1400" b="1">
                <a:solidFill>
                  <a:srgbClr val="475569"/>
                </a:solidFill>
                <a:latin typeface="PingFang SC"/>
              </a:rPr>
              <a:t>单条上报吞吐不够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876300" y="2114550"/>
            <a:ext cx="10439400" cy="10287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DDE5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876300" y="2114550"/>
            <a:ext cx="57150" cy="1028700"/>
          </a:xfrm>
          <a:prstGeom prst="rect">
            <a:avLst/>
          </a:prstGeom>
          <a:solidFill>
            <a:srgbClr val="14B8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ounded Rectangle 12"/>
          <p:cNvSpPr/>
          <p:nvPr/>
        </p:nvSpPr>
        <p:spPr>
          <a:xfrm>
            <a:off x="1047750" y="2486025"/>
            <a:ext cx="285750" cy="285750"/>
          </a:xfrm>
          <a:prstGeom prst="roundRect">
            <a:avLst>
              <a:gd name="adj" fmla="val 8000"/>
            </a:avLst>
          </a:prstGeom>
          <a:solidFill>
            <a:srgbClr val="14B8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1047750" y="2476500"/>
            <a:ext cx="285750" cy="2857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300" b="1">
                <a:solidFill>
                  <a:srgbClr val="FFFFFF"/>
                </a:solidFill>
                <a:latin typeface="PingFang SC"/>
              </a:rPr>
              <a:t>2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485900" y="2114550"/>
            <a:ext cx="9601200" cy="10287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12000"/>
              </a:lnSpc>
            </a:pPr>
            <a:r>
              <a:rPr sz="1400" b="1">
                <a:solidFill>
                  <a:srgbClr val="475569"/>
                </a:solidFill>
                <a:latin typeface="PingFang SC"/>
              </a:rPr>
              <a:t>攒批+超时双触发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876300" y="3314700"/>
            <a:ext cx="10439400" cy="10287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DDE5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876300" y="3314700"/>
            <a:ext cx="57150" cy="1028700"/>
          </a:xfrm>
          <a:prstGeom prst="rect">
            <a:avLst/>
          </a:prstGeom>
          <a:solidFill>
            <a:srgbClr val="8B5C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ounded Rectangle 17"/>
          <p:cNvSpPr/>
          <p:nvPr/>
        </p:nvSpPr>
        <p:spPr>
          <a:xfrm>
            <a:off x="1047750" y="3686175"/>
            <a:ext cx="285750" cy="285750"/>
          </a:xfrm>
          <a:prstGeom prst="roundRect">
            <a:avLst>
              <a:gd name="adj" fmla="val 8000"/>
            </a:avLst>
          </a:prstGeom>
          <a:solidFill>
            <a:srgbClr val="8B5C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1047750" y="3676650"/>
            <a:ext cx="285750" cy="2857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300" b="1">
                <a:solidFill>
                  <a:srgbClr val="FFFFFF"/>
                </a:solidFill>
                <a:latin typeface="PingFang SC"/>
              </a:rPr>
              <a:t>3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485900" y="3314700"/>
            <a:ext cx="9601200" cy="10287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12000"/>
              </a:lnSpc>
            </a:pPr>
            <a:r>
              <a:rPr sz="1400" b="1">
                <a:solidFill>
                  <a:srgbClr val="475569"/>
                </a:solidFill>
                <a:latin typeface="PingFang SC"/>
              </a:rPr>
              <a:t>Pulsar 生产端批量发送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0287000" y="6534150"/>
            <a:ext cx="1619250" cy="2667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>
              <a:lnSpc>
                <a:spcPct val="100000"/>
              </a:lnSpc>
            </a:pPr>
            <a:r>
              <a:rPr sz="900" b="0">
                <a:solidFill>
                  <a:srgbClr val="94A3B8"/>
                </a:solidFill>
                <a:latin typeface="PingFang SC"/>
              </a:rPr>
              <a:t>第2章 · 131/141</a:t>
            </a:r>
          </a:p>
        </p:txBody>
      </p:sp>
    </p:spTree>
  </p:cSld>
  <p:clrMapOvr>
    <a:masterClrMapping/>
  </p:clrMapOvr>
</p:sld>
</file>

<file path=ppt/slides/slide13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704850"/>
          </a:xfrm>
          <a:prstGeom prst="rect">
            <a:avLst/>
          </a:prstGeom>
          <a:solidFill>
            <a:srgbClr val="0B1D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76200" cy="704850"/>
          </a:xfrm>
          <a:prstGeom prst="rect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266700" y="0"/>
            <a:ext cx="10287000" cy="7048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2000" b="1">
                <a:solidFill>
                  <a:srgbClr val="FFFFFF"/>
                </a:solidFill>
                <a:latin typeface="PingFang SC"/>
              </a:rPr>
              <a:t>优化:工具健康分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334500" y="0"/>
            <a:ext cx="2667000" cy="7048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>
              <a:lnSpc>
                <a:spcPct val="100000"/>
              </a:lnSpc>
            </a:pPr>
            <a:r>
              <a:rPr sz="1100" b="0">
                <a:solidFill>
                  <a:srgbClr val="94A3B8"/>
                </a:solidFill>
                <a:latin typeface="PingFang SC"/>
              </a:rPr>
              <a:t>第2章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876300" y="914400"/>
            <a:ext cx="10439400" cy="10287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DDE5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876300" y="914400"/>
            <a:ext cx="57150" cy="1028700"/>
          </a:xfrm>
          <a:prstGeom prst="rect">
            <a:avLst/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ounded Rectangle 7"/>
          <p:cNvSpPr/>
          <p:nvPr/>
        </p:nvSpPr>
        <p:spPr>
          <a:xfrm>
            <a:off x="1047750" y="1285875"/>
            <a:ext cx="285750" cy="285750"/>
          </a:xfrm>
          <a:prstGeom prst="roundRect">
            <a:avLst>
              <a:gd name="adj" fmla="val 8000"/>
            </a:avLst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047750" y="1276350"/>
            <a:ext cx="285750" cy="2857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300" b="1">
                <a:solidFill>
                  <a:srgbClr val="FFFFFF"/>
                </a:solidFill>
                <a:latin typeface="PingFang SC"/>
              </a:rPr>
              <a:t>1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485900" y="914400"/>
            <a:ext cx="9601200" cy="10287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12000"/>
              </a:lnSpc>
            </a:pPr>
            <a:r>
              <a:rPr sz="1400" b="1">
                <a:solidFill>
                  <a:srgbClr val="475569"/>
                </a:solidFill>
                <a:latin typeface="PingFang SC"/>
              </a:rPr>
              <a:t>成功率/延迟/超时率加权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876300" y="2114550"/>
            <a:ext cx="10439400" cy="10287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DDE5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876300" y="2114550"/>
            <a:ext cx="57150" cy="1028700"/>
          </a:xfrm>
          <a:prstGeom prst="rect">
            <a:avLst/>
          </a:prstGeom>
          <a:solidFill>
            <a:srgbClr val="14B8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ounded Rectangle 12"/>
          <p:cNvSpPr/>
          <p:nvPr/>
        </p:nvSpPr>
        <p:spPr>
          <a:xfrm>
            <a:off x="1047750" y="2486025"/>
            <a:ext cx="285750" cy="285750"/>
          </a:xfrm>
          <a:prstGeom prst="roundRect">
            <a:avLst>
              <a:gd name="adj" fmla="val 8000"/>
            </a:avLst>
          </a:prstGeom>
          <a:solidFill>
            <a:srgbClr val="14B8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1047750" y="2476500"/>
            <a:ext cx="285750" cy="2857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300" b="1">
                <a:solidFill>
                  <a:srgbClr val="FFFFFF"/>
                </a:solidFill>
                <a:latin typeface="PingFang SC"/>
              </a:rPr>
              <a:t>2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485900" y="2114550"/>
            <a:ext cx="9601200" cy="10287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12000"/>
              </a:lnSpc>
            </a:pPr>
            <a:r>
              <a:rPr sz="1400" b="1">
                <a:solidFill>
                  <a:srgbClr val="475569"/>
                </a:solidFill>
                <a:latin typeface="PingFang SC"/>
              </a:rPr>
              <a:t>低于阈值自动下线告警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876300" y="3314700"/>
            <a:ext cx="10439400" cy="10287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DDE5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876300" y="3314700"/>
            <a:ext cx="57150" cy="1028700"/>
          </a:xfrm>
          <a:prstGeom prst="rect">
            <a:avLst/>
          </a:prstGeom>
          <a:solidFill>
            <a:srgbClr val="8B5C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ounded Rectangle 17"/>
          <p:cNvSpPr/>
          <p:nvPr/>
        </p:nvSpPr>
        <p:spPr>
          <a:xfrm>
            <a:off x="1047750" y="3686175"/>
            <a:ext cx="285750" cy="285750"/>
          </a:xfrm>
          <a:prstGeom prst="roundRect">
            <a:avLst>
              <a:gd name="adj" fmla="val 8000"/>
            </a:avLst>
          </a:prstGeom>
          <a:solidFill>
            <a:srgbClr val="8B5C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1047750" y="3676650"/>
            <a:ext cx="285750" cy="2857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300" b="1">
                <a:solidFill>
                  <a:srgbClr val="FFFFFF"/>
                </a:solidFill>
                <a:latin typeface="PingFang SC"/>
              </a:rPr>
              <a:t>3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485900" y="3314700"/>
            <a:ext cx="9601200" cy="10287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12000"/>
              </a:lnSpc>
            </a:pPr>
            <a:r>
              <a:rPr sz="1400" b="1">
                <a:solidFill>
                  <a:srgbClr val="475569"/>
                </a:solidFill>
                <a:latin typeface="PingFang SC"/>
              </a:rPr>
              <a:t>恢复后自动重新启用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0287000" y="6534150"/>
            <a:ext cx="1619250" cy="2667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>
              <a:lnSpc>
                <a:spcPct val="100000"/>
              </a:lnSpc>
            </a:pPr>
            <a:r>
              <a:rPr sz="900" b="0">
                <a:solidFill>
                  <a:srgbClr val="94A3B8"/>
                </a:solidFill>
                <a:latin typeface="PingFang SC"/>
              </a:rPr>
              <a:t>第2章 · 132/141</a:t>
            </a:r>
          </a:p>
        </p:txBody>
      </p:sp>
    </p:spTree>
  </p:cSld>
  <p:clrMapOvr>
    <a:masterClrMapping/>
  </p:clrMapOvr>
</p:sld>
</file>

<file path=ppt/slides/slide13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704850"/>
          </a:xfrm>
          <a:prstGeom prst="rect">
            <a:avLst/>
          </a:prstGeom>
          <a:solidFill>
            <a:srgbClr val="0B1D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76200" cy="704850"/>
          </a:xfrm>
          <a:prstGeom prst="rect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266700" y="0"/>
            <a:ext cx="10287000" cy="7048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2000" b="1">
                <a:solidFill>
                  <a:srgbClr val="FFFFFF"/>
                </a:solidFill>
                <a:latin typeface="PingFang SC"/>
              </a:rPr>
              <a:t>健康分三级响应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1047750" y="2609850"/>
            <a:ext cx="3200400" cy="15240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DDE5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1047750" y="2609850"/>
            <a:ext cx="3200400" cy="57150"/>
          </a:xfrm>
          <a:prstGeom prst="rect">
            <a:avLst/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ounded Rectangle 6"/>
          <p:cNvSpPr/>
          <p:nvPr/>
        </p:nvSpPr>
        <p:spPr>
          <a:xfrm>
            <a:off x="1200150" y="2800350"/>
            <a:ext cx="323850" cy="323850"/>
          </a:xfrm>
          <a:prstGeom prst="roundRect">
            <a:avLst>
              <a:gd name="adj" fmla="val 8000"/>
            </a:avLst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200150" y="2800350"/>
            <a:ext cx="323850" cy="3238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200" b="1">
                <a:solidFill>
                  <a:srgbClr val="FFFFFF"/>
                </a:solidFill>
                <a:latin typeface="PingFang SC"/>
              </a:rPr>
              <a:t>01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638300" y="2819400"/>
            <a:ext cx="2457450" cy="2857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1400" b="1">
                <a:solidFill>
                  <a:srgbClr val="0B1D3A"/>
                </a:solidFill>
                <a:latin typeface="PingFang SC"/>
              </a:rPr>
              <a:t>降权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200150" y="3219450"/>
            <a:ext cx="2895600" cy="7810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10000"/>
              </a:lnSpc>
            </a:pPr>
            <a:r>
              <a:rPr sz="1150" b="0">
                <a:solidFill>
                  <a:srgbClr val="475569"/>
                </a:solidFill>
                <a:latin typeface="PingFang SC"/>
              </a:rPr>
              <a:t>成功率 90~95% 减流量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4495800" y="2609850"/>
            <a:ext cx="3200400" cy="15240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DDE5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4495800" y="2609850"/>
            <a:ext cx="3200400" cy="57150"/>
          </a:xfrm>
          <a:prstGeom prst="rect">
            <a:avLst/>
          </a:prstGeom>
          <a:solidFill>
            <a:srgbClr val="14B8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ounded Rectangle 12"/>
          <p:cNvSpPr/>
          <p:nvPr/>
        </p:nvSpPr>
        <p:spPr>
          <a:xfrm>
            <a:off x="4648200" y="2800350"/>
            <a:ext cx="323850" cy="323850"/>
          </a:xfrm>
          <a:prstGeom prst="roundRect">
            <a:avLst>
              <a:gd name="adj" fmla="val 8000"/>
            </a:avLst>
          </a:prstGeom>
          <a:solidFill>
            <a:srgbClr val="14B8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4648200" y="2800350"/>
            <a:ext cx="323850" cy="3238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200" b="1">
                <a:solidFill>
                  <a:srgbClr val="FFFFFF"/>
                </a:solidFill>
                <a:latin typeface="PingFang SC"/>
              </a:rPr>
              <a:t>02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5086350" y="2819400"/>
            <a:ext cx="2457450" cy="2857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1400" b="1">
                <a:solidFill>
                  <a:srgbClr val="0B1D3A"/>
                </a:solidFill>
                <a:latin typeface="PingFang SC"/>
              </a:rPr>
              <a:t>下线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4648200" y="3219450"/>
            <a:ext cx="2895600" cy="7810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10000"/>
              </a:lnSpc>
            </a:pPr>
            <a:r>
              <a:rPr sz="1150" b="0">
                <a:solidFill>
                  <a:srgbClr val="475569"/>
                </a:solidFill>
                <a:latin typeface="PingFang SC"/>
              </a:rPr>
              <a:t>&lt;90% 自动禁用+告警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7943850" y="2609850"/>
            <a:ext cx="3200400" cy="15240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DDE5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7943850" y="2609850"/>
            <a:ext cx="3200400" cy="57150"/>
          </a:xfrm>
          <a:prstGeom prst="rect">
            <a:avLst/>
          </a:prstGeom>
          <a:solidFill>
            <a:srgbClr val="8B5C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ounded Rectangle 18"/>
          <p:cNvSpPr/>
          <p:nvPr/>
        </p:nvSpPr>
        <p:spPr>
          <a:xfrm>
            <a:off x="8096250" y="2800350"/>
            <a:ext cx="323850" cy="323850"/>
          </a:xfrm>
          <a:prstGeom prst="roundRect">
            <a:avLst>
              <a:gd name="adj" fmla="val 8000"/>
            </a:avLst>
          </a:prstGeom>
          <a:solidFill>
            <a:srgbClr val="8B5C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8096250" y="2800350"/>
            <a:ext cx="323850" cy="3238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200" b="1">
                <a:solidFill>
                  <a:srgbClr val="FFFFFF"/>
                </a:solidFill>
                <a:latin typeface="PingFang SC"/>
              </a:rPr>
              <a:t>03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8534400" y="2819400"/>
            <a:ext cx="2457450" cy="2857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1400" b="1">
                <a:solidFill>
                  <a:srgbClr val="0B1D3A"/>
                </a:solidFill>
                <a:latin typeface="PingFang SC"/>
              </a:rPr>
              <a:t>恢复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8096250" y="3219450"/>
            <a:ext cx="2895600" cy="7810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10000"/>
              </a:lnSpc>
            </a:pPr>
            <a:r>
              <a:rPr sz="1150" b="0">
                <a:solidFill>
                  <a:srgbClr val="475569"/>
                </a:solidFill>
                <a:latin typeface="PingFang SC"/>
              </a:rPr>
              <a:t>探活连续通过后重启|健康分=成功率×延迟×超时率加权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0287000" y="6534150"/>
            <a:ext cx="1619250" cy="2667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>
              <a:lnSpc>
                <a:spcPct val="100000"/>
              </a:lnSpc>
            </a:pPr>
            <a:r>
              <a:rPr sz="900" b="0">
                <a:solidFill>
                  <a:srgbClr val="94A3B8"/>
                </a:solidFill>
                <a:latin typeface="PingFang SC"/>
              </a:rPr>
              <a:t>第2章 · 133/141</a:t>
            </a:r>
          </a:p>
        </p:txBody>
      </p:sp>
    </p:spTree>
  </p:cSld>
  <p:clrMapOvr>
    <a:masterClrMapping/>
  </p:clrMapOvr>
</p:sld>
</file>

<file path=ppt/slides/slide13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704850"/>
          </a:xfrm>
          <a:prstGeom prst="rect">
            <a:avLst/>
          </a:prstGeom>
          <a:solidFill>
            <a:srgbClr val="0B1D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76200" cy="704850"/>
          </a:xfrm>
          <a:prstGeom prst="rect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266700" y="0"/>
            <a:ext cx="10287000" cy="7048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2000" b="1">
                <a:solidFill>
                  <a:srgbClr val="FFFFFF"/>
                </a:solidFill>
                <a:latin typeface="PingFang SC"/>
              </a:rPr>
              <a:t>Lab2 实战指引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334500" y="0"/>
            <a:ext cx="2667000" cy="7048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>
              <a:lnSpc>
                <a:spcPct val="100000"/>
              </a:lnSpc>
            </a:pPr>
            <a:r>
              <a:rPr sz="1100" b="0">
                <a:solidFill>
                  <a:srgbClr val="94A3B8"/>
                </a:solidFill>
                <a:latin typeface="PingFang SC"/>
              </a:rPr>
              <a:t>第2章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876300" y="914400"/>
            <a:ext cx="10439400" cy="10287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DDE5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876300" y="914400"/>
            <a:ext cx="57150" cy="1028700"/>
          </a:xfrm>
          <a:prstGeom prst="rect">
            <a:avLst/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ounded Rectangle 7"/>
          <p:cNvSpPr/>
          <p:nvPr/>
        </p:nvSpPr>
        <p:spPr>
          <a:xfrm>
            <a:off x="1047750" y="1285875"/>
            <a:ext cx="285750" cy="285750"/>
          </a:xfrm>
          <a:prstGeom prst="roundRect">
            <a:avLst>
              <a:gd name="adj" fmla="val 8000"/>
            </a:avLst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047750" y="1276350"/>
            <a:ext cx="285750" cy="2857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300" b="1">
                <a:solidFill>
                  <a:srgbClr val="FFFFFF"/>
                </a:solidFill>
                <a:latin typeface="PingFang SC"/>
              </a:rPr>
              <a:t>1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485900" y="914400"/>
            <a:ext cx="9601200" cy="10287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12000"/>
              </a:lnSpc>
            </a:pPr>
            <a:r>
              <a:rPr sz="1400" b="1">
                <a:solidFill>
                  <a:srgbClr val="475569"/>
                </a:solidFill>
                <a:latin typeface="PingFang SC"/>
              </a:rPr>
              <a:t>注册 5 个业务工具(含1高危)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876300" y="2114550"/>
            <a:ext cx="10439400" cy="10287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DDE5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876300" y="2114550"/>
            <a:ext cx="57150" cy="1028700"/>
          </a:xfrm>
          <a:prstGeom prst="rect">
            <a:avLst/>
          </a:prstGeom>
          <a:solidFill>
            <a:srgbClr val="14B8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ounded Rectangle 12"/>
          <p:cNvSpPr/>
          <p:nvPr/>
        </p:nvSpPr>
        <p:spPr>
          <a:xfrm>
            <a:off x="1047750" y="2486025"/>
            <a:ext cx="285750" cy="285750"/>
          </a:xfrm>
          <a:prstGeom prst="roundRect">
            <a:avLst>
              <a:gd name="adj" fmla="val 8000"/>
            </a:avLst>
          </a:prstGeom>
          <a:solidFill>
            <a:srgbClr val="14B8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1047750" y="2476500"/>
            <a:ext cx="285750" cy="2857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300" b="1">
                <a:solidFill>
                  <a:srgbClr val="FFFFFF"/>
                </a:solidFill>
                <a:latin typeface="PingFang SC"/>
              </a:rPr>
              <a:t>2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485900" y="2114550"/>
            <a:ext cx="9601200" cy="10287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12000"/>
              </a:lnSpc>
            </a:pPr>
            <a:r>
              <a:rPr sz="1400" b="1">
                <a:solidFill>
                  <a:srgbClr val="475569"/>
                </a:solidFill>
                <a:latin typeface="PingFang SC"/>
              </a:rPr>
              <a:t>readonly 调写工具→被拒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876300" y="3314700"/>
            <a:ext cx="10439400" cy="10287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DDE5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876300" y="3314700"/>
            <a:ext cx="57150" cy="1028700"/>
          </a:xfrm>
          <a:prstGeom prst="rect">
            <a:avLst/>
          </a:prstGeom>
          <a:solidFill>
            <a:srgbClr val="8B5C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ounded Rectangle 17"/>
          <p:cNvSpPr/>
          <p:nvPr/>
        </p:nvSpPr>
        <p:spPr>
          <a:xfrm>
            <a:off x="1047750" y="3686175"/>
            <a:ext cx="285750" cy="285750"/>
          </a:xfrm>
          <a:prstGeom prst="roundRect">
            <a:avLst>
              <a:gd name="adj" fmla="val 8000"/>
            </a:avLst>
          </a:prstGeom>
          <a:solidFill>
            <a:srgbClr val="8B5C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1047750" y="3676650"/>
            <a:ext cx="285750" cy="2857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300" b="1">
                <a:solidFill>
                  <a:srgbClr val="FFFFFF"/>
                </a:solidFill>
                <a:latin typeface="PingFang SC"/>
              </a:rPr>
              <a:t>3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485900" y="3314700"/>
            <a:ext cx="9601200" cy="10287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12000"/>
              </a:lnSpc>
            </a:pPr>
            <a:r>
              <a:rPr sz="1400" b="1">
                <a:solidFill>
                  <a:srgbClr val="475569"/>
                </a:solidFill>
                <a:latin typeface="PingFang SC"/>
              </a:rPr>
              <a:t>高危无确认→被拒,确认后通过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876300" y="4514850"/>
            <a:ext cx="10439400" cy="10287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DDE5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ectangle 21"/>
          <p:cNvSpPr/>
          <p:nvPr/>
        </p:nvSpPr>
        <p:spPr>
          <a:xfrm>
            <a:off x="876300" y="4514850"/>
            <a:ext cx="57150" cy="1028700"/>
          </a:xfrm>
          <a:prstGeom prst="rect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ounded Rectangle 22"/>
          <p:cNvSpPr/>
          <p:nvPr/>
        </p:nvSpPr>
        <p:spPr>
          <a:xfrm>
            <a:off x="1047750" y="4886325"/>
            <a:ext cx="285750" cy="285750"/>
          </a:xfrm>
          <a:prstGeom prst="roundRect">
            <a:avLst>
              <a:gd name="adj" fmla="val 8000"/>
            </a:avLst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1047750" y="4876800"/>
            <a:ext cx="285750" cy="2857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300" b="1">
                <a:solidFill>
                  <a:srgbClr val="FFFFFF"/>
                </a:solidFill>
                <a:latin typeface="PingFang SC"/>
              </a:rPr>
              <a:t>4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1485900" y="4514850"/>
            <a:ext cx="9601200" cy="10287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12000"/>
              </a:lnSpc>
            </a:pPr>
            <a:r>
              <a:rPr sz="1400" b="1">
                <a:solidFill>
                  <a:srgbClr val="475569"/>
                </a:solidFill>
                <a:latin typeface="PingFang SC"/>
              </a:rPr>
              <a:t>api_key 参数全程脱敏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876300" y="6019800"/>
            <a:ext cx="10439400" cy="514350"/>
          </a:xfrm>
          <a:prstGeom prst="roundRect">
            <a:avLst>
              <a:gd name="adj" fmla="val 8000"/>
            </a:avLst>
          </a:prstGeom>
          <a:solidFill>
            <a:srgbClr val="F1F5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1066800" y="6019800"/>
            <a:ext cx="10058400" cy="5524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1250" b="0">
                <a:solidFill>
                  <a:srgbClr val="2563EB"/>
                </a:solidFill>
                <a:latin typeface="PingFang SC"/>
              </a:rPr>
              <a:t>▶ 验收清单见下一页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0287000" y="6534150"/>
            <a:ext cx="1619250" cy="2667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>
              <a:lnSpc>
                <a:spcPct val="100000"/>
              </a:lnSpc>
            </a:pPr>
            <a:r>
              <a:rPr sz="900" b="0">
                <a:solidFill>
                  <a:srgbClr val="94A3B8"/>
                </a:solidFill>
                <a:latin typeface="PingFang SC"/>
              </a:rPr>
              <a:t>第2章 · 134/141</a:t>
            </a:r>
          </a:p>
        </p:txBody>
      </p:sp>
    </p:spTree>
  </p:cSld>
  <p:clrMapOvr>
    <a:masterClrMapping/>
  </p:clrMapOvr>
</p:sld>
</file>

<file path=ppt/slides/slide13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704850"/>
          </a:xfrm>
          <a:prstGeom prst="rect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04800" y="0"/>
            <a:ext cx="11430000" cy="7048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2000" b="1">
                <a:solidFill>
                  <a:srgbClr val="0B1D3A"/>
                </a:solidFill>
                <a:latin typeface="PingFang SC"/>
              </a:rPr>
              <a:t>自测 · MCP 与集成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1143000" y="1143000"/>
            <a:ext cx="9906000" cy="590550"/>
          </a:xfrm>
          <a:prstGeom prst="roundRect">
            <a:avLst>
              <a:gd name="adj" fmla="val 8000"/>
            </a:avLst>
          </a:prstGeom>
          <a:solidFill>
            <a:srgbClr val="F1F5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1143000" y="1143000"/>
            <a:ext cx="47625" cy="647700"/>
          </a:xfrm>
          <a:prstGeom prst="rect">
            <a:avLst/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390650" y="1143000"/>
            <a:ext cx="419100" cy="6477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1500" b="1">
                <a:solidFill>
                  <a:srgbClr val="2563EB"/>
                </a:solidFill>
                <a:latin typeface="PingFang SC"/>
              </a:rPr>
              <a:t>Q1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905000" y="1143000"/>
            <a:ext cx="8572500" cy="6477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1350" b="0">
                <a:solidFill>
                  <a:srgbClr val="475569"/>
                </a:solidFill>
                <a:latin typeface="PingFang SC"/>
              </a:rPr>
              <a:t>MCP 与 FC 的分工边界?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1143000" y="1905000"/>
            <a:ext cx="9906000" cy="590550"/>
          </a:xfrm>
          <a:prstGeom prst="roundRect">
            <a:avLst>
              <a:gd name="adj" fmla="val 8000"/>
            </a:avLst>
          </a:prstGeom>
          <a:solidFill>
            <a:srgbClr val="F1F5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1143000" y="1905000"/>
            <a:ext cx="47625" cy="647700"/>
          </a:xfrm>
          <a:prstGeom prst="rect">
            <a:avLst/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390650" y="1905000"/>
            <a:ext cx="419100" cy="6477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1500" b="1">
                <a:solidFill>
                  <a:srgbClr val="2563EB"/>
                </a:solidFill>
                <a:latin typeface="PingFang SC"/>
              </a:rPr>
              <a:t>Q2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905000" y="1905000"/>
            <a:ext cx="8572500" cy="6477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1350" b="0">
                <a:solidFill>
                  <a:srgbClr val="475569"/>
                </a:solidFill>
                <a:latin typeface="PingFang SC"/>
              </a:rPr>
              <a:t>三层权限如何收敛?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1143000" y="2667000"/>
            <a:ext cx="9906000" cy="590550"/>
          </a:xfrm>
          <a:prstGeom prst="roundRect">
            <a:avLst>
              <a:gd name="adj" fmla="val 8000"/>
            </a:avLst>
          </a:prstGeom>
          <a:solidFill>
            <a:srgbClr val="F1F5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1143000" y="2667000"/>
            <a:ext cx="47625" cy="647700"/>
          </a:xfrm>
          <a:prstGeom prst="rect">
            <a:avLst/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1390650" y="2667000"/>
            <a:ext cx="419100" cy="6477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1500" b="1">
                <a:solidFill>
                  <a:srgbClr val="2563EB"/>
                </a:solidFill>
                <a:latin typeface="PingFang SC"/>
              </a:rPr>
              <a:t>Q3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905000" y="2667000"/>
            <a:ext cx="8572500" cy="6477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1350" b="0">
                <a:solidFill>
                  <a:srgbClr val="475569"/>
                </a:solidFill>
                <a:latin typeface="PingFang SC"/>
              </a:rPr>
              <a:t>Server 版本漂移如何防控?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1143000" y="3429000"/>
            <a:ext cx="9906000" cy="590550"/>
          </a:xfrm>
          <a:prstGeom prst="roundRect">
            <a:avLst>
              <a:gd name="adj" fmla="val 8000"/>
            </a:avLst>
          </a:prstGeom>
          <a:solidFill>
            <a:srgbClr val="F1F5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1143000" y="3429000"/>
            <a:ext cx="47625" cy="647700"/>
          </a:xfrm>
          <a:prstGeom prst="rect">
            <a:avLst/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1390650" y="3429000"/>
            <a:ext cx="419100" cy="6477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1500" b="1">
                <a:solidFill>
                  <a:srgbClr val="2563EB"/>
                </a:solidFill>
                <a:latin typeface="PingFang SC"/>
              </a:rPr>
              <a:t>Q4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905000" y="3429000"/>
            <a:ext cx="8572500" cy="6477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1350" b="0">
                <a:solidFill>
                  <a:srgbClr val="475569"/>
                </a:solidFill>
                <a:latin typeface="PingFang SC"/>
              </a:rPr>
              <a:t>CLI 调试为何要先于接模型?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0287000" y="6534150"/>
            <a:ext cx="1619250" cy="2667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>
              <a:lnSpc>
                <a:spcPct val="100000"/>
              </a:lnSpc>
            </a:pPr>
            <a:r>
              <a:rPr sz="900" b="0">
                <a:solidFill>
                  <a:srgbClr val="94A3B8"/>
                </a:solidFill>
                <a:latin typeface="PingFang SC"/>
              </a:rPr>
              <a:t>第2章 · 135/141</a:t>
            </a:r>
          </a:p>
        </p:txBody>
      </p:sp>
    </p:spTree>
  </p:cSld>
  <p:clrMapOvr>
    <a:masterClrMapping/>
  </p:clrMapOvr>
</p:sld>
</file>

<file path=ppt/slides/slide13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0B1D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2000" cy="609600"/>
          </a:xfrm>
          <a:prstGeom prst="rect">
            <a:avLst/>
          </a:prstGeom>
          <a:solidFill>
            <a:srgbClr val="142A4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266700" y="0"/>
            <a:ext cx="11430000" cy="6096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1600" b="1">
                <a:solidFill>
                  <a:srgbClr val="F59E0B"/>
                </a:solidFill>
                <a:latin typeface="PingFang SC"/>
              </a:rPr>
              <a:t>MCP deps · src/agent_platform/api/deps.py:9-34</a:t>
            </a:r>
          </a:p>
        </p:txBody>
      </p:sp>
      <p:pic>
        <p:nvPicPr>
          <p:cNvPr id="5" name="Picture 4" descr="code_0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65760" y="762000"/>
            <a:ext cx="11460480" cy="5730240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10287000" y="6534150"/>
            <a:ext cx="1619250" cy="2667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>
              <a:lnSpc>
                <a:spcPct val="100000"/>
              </a:lnSpc>
            </a:pPr>
            <a:r>
              <a:rPr sz="900" b="0">
                <a:solidFill>
                  <a:srgbClr val="94A3B8"/>
                </a:solidFill>
                <a:latin typeface="PingFang SC"/>
              </a:rPr>
              <a:t>第2章 · 136/141</a:t>
            </a:r>
          </a:p>
        </p:txBody>
      </p:sp>
    </p:spTree>
  </p:cSld>
  <p:clrMapOvr>
    <a:masterClrMapping/>
  </p:clrMapOvr>
</p:sld>
</file>

<file path=ppt/slides/slide13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704850"/>
          </a:xfrm>
          <a:prstGeom prst="rect">
            <a:avLst/>
          </a:prstGeom>
          <a:solidFill>
            <a:srgbClr val="0B1D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76200" cy="704850"/>
          </a:xfrm>
          <a:prstGeom prst="rect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266700" y="0"/>
            <a:ext cx="10287000" cy="7048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2000" b="1">
                <a:solidFill>
                  <a:srgbClr val="FFFFFF"/>
                </a:solidFill>
                <a:latin typeface="PingFang SC"/>
              </a:rPr>
              <a:t>M2 里程碑数字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334500" y="0"/>
            <a:ext cx="2667000" cy="7048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>
              <a:lnSpc>
                <a:spcPct val="100000"/>
              </a:lnSpc>
            </a:pPr>
            <a:r>
              <a:rPr sz="1100" b="0">
                <a:solidFill>
                  <a:srgbClr val="94A3B8"/>
                </a:solidFill>
                <a:latin typeface="PingFang SC"/>
              </a:rPr>
              <a:t>22^测^工具模块单测;6^步^执行管线;3^角色^RBAC;100%^高危拦截^实测|CI 持续绿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1047750" y="1905000"/>
            <a:ext cx="2309812" cy="28575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DDE5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1047750" y="1905000"/>
            <a:ext cx="2309812" cy="76200"/>
          </a:xfrm>
          <a:prstGeom prst="rect">
            <a:avLst/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047750" y="2286000"/>
            <a:ext cx="2309812" cy="10477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4000" b="1">
                <a:solidFill>
                  <a:srgbClr val="2563EB"/>
                </a:solidFill>
                <a:latin typeface="PingFang SC"/>
              </a:rPr>
              <a:t>22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47750" y="3333750"/>
            <a:ext cx="2309812" cy="3238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300" b="0">
                <a:solidFill>
                  <a:srgbClr val="94A3B8"/>
                </a:solidFill>
                <a:latin typeface="PingFang SC"/>
              </a:rPr>
              <a:t>测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200150" y="4057650"/>
            <a:ext cx="2005012" cy="5715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300" b="1">
                <a:solidFill>
                  <a:srgbClr val="475569"/>
                </a:solidFill>
                <a:latin typeface="PingFang SC"/>
              </a:rPr>
              <a:t>工具模块单测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3643312" y="1905000"/>
            <a:ext cx="2309812" cy="28575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DDE5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3643312" y="1905000"/>
            <a:ext cx="2309812" cy="76200"/>
          </a:xfrm>
          <a:prstGeom prst="rect">
            <a:avLst/>
          </a:prstGeom>
          <a:solidFill>
            <a:srgbClr val="14B8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3643312" y="2286000"/>
            <a:ext cx="2309812" cy="10477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4000" b="1">
                <a:solidFill>
                  <a:srgbClr val="14B8A6"/>
                </a:solidFill>
                <a:latin typeface="PingFang SC"/>
              </a:rPr>
              <a:t>6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3643312" y="3333750"/>
            <a:ext cx="2309812" cy="3238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300" b="0">
                <a:solidFill>
                  <a:srgbClr val="94A3B8"/>
                </a:solidFill>
                <a:latin typeface="PingFang SC"/>
              </a:rPr>
              <a:t>步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3795712" y="4057650"/>
            <a:ext cx="2005012" cy="5715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300" b="1">
                <a:solidFill>
                  <a:srgbClr val="475569"/>
                </a:solidFill>
                <a:latin typeface="PingFang SC"/>
              </a:rPr>
              <a:t>执行管线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6238874" y="1905000"/>
            <a:ext cx="2309812" cy="28575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DDE5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6238874" y="1905000"/>
            <a:ext cx="2309812" cy="76200"/>
          </a:xfrm>
          <a:prstGeom prst="rect">
            <a:avLst/>
          </a:prstGeom>
          <a:solidFill>
            <a:srgbClr val="8B5C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6238874" y="2286000"/>
            <a:ext cx="2309812" cy="10477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4000" b="1">
                <a:solidFill>
                  <a:srgbClr val="8B5CF6"/>
                </a:solidFill>
                <a:latin typeface="PingFang SC"/>
              </a:rPr>
              <a:t>3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238874" y="3333750"/>
            <a:ext cx="2309812" cy="3238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300" b="0">
                <a:solidFill>
                  <a:srgbClr val="94A3B8"/>
                </a:solidFill>
                <a:latin typeface="PingFang SC"/>
              </a:rPr>
              <a:t>角色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391274" y="4057650"/>
            <a:ext cx="2005012" cy="5715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300" b="1">
                <a:solidFill>
                  <a:srgbClr val="475569"/>
                </a:solidFill>
                <a:latin typeface="PingFang SC"/>
              </a:rPr>
              <a:t>RBAC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8834436" y="1905000"/>
            <a:ext cx="2309812" cy="28575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DDE5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ectangle 21"/>
          <p:cNvSpPr/>
          <p:nvPr/>
        </p:nvSpPr>
        <p:spPr>
          <a:xfrm>
            <a:off x="8834436" y="1905000"/>
            <a:ext cx="2309812" cy="76200"/>
          </a:xfrm>
          <a:prstGeom prst="rect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8834436" y="2286000"/>
            <a:ext cx="2309812" cy="10477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4000" b="1">
                <a:solidFill>
                  <a:srgbClr val="F59E0B"/>
                </a:solidFill>
                <a:latin typeface="PingFang SC"/>
              </a:rPr>
              <a:t>100%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8834436" y="3333750"/>
            <a:ext cx="2309812" cy="3238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300" b="0">
                <a:solidFill>
                  <a:srgbClr val="94A3B8"/>
                </a:solidFill>
                <a:latin typeface="PingFang SC"/>
              </a:rPr>
              <a:t>高危拦截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8986836" y="4057650"/>
            <a:ext cx="2005012" cy="5715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300" b="1">
                <a:solidFill>
                  <a:srgbClr val="475569"/>
                </a:solidFill>
                <a:latin typeface="PingFang SC"/>
              </a:rPr>
              <a:t>实测|CI 持续绿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10287000" y="6534150"/>
            <a:ext cx="1619250" cy="2667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>
              <a:lnSpc>
                <a:spcPct val="100000"/>
              </a:lnSpc>
            </a:pPr>
            <a:r>
              <a:rPr sz="900" b="0">
                <a:solidFill>
                  <a:srgbClr val="94A3B8"/>
                </a:solidFill>
                <a:latin typeface="PingFang SC"/>
              </a:rPr>
              <a:t>第2章 · 137/141</a:t>
            </a:r>
          </a:p>
        </p:txBody>
      </p:sp>
    </p:spTree>
  </p:cSld>
  <p:clrMapOvr>
    <a:masterClrMapping/>
  </p:clrMapOvr>
</p:sld>
</file>

<file path=ppt/slides/slide13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704850"/>
          </a:xfrm>
          <a:prstGeom prst="rect">
            <a:avLst/>
          </a:prstGeom>
          <a:solidFill>
            <a:srgbClr val="0B1D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76200" cy="704850"/>
          </a:xfrm>
          <a:prstGeom prst="rect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266700" y="0"/>
            <a:ext cx="10287000" cy="7048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2000" b="1">
                <a:solidFill>
                  <a:srgbClr val="FFFFFF"/>
                </a:solidFill>
                <a:latin typeface="PingFang SC"/>
              </a:rPr>
              <a:t>本章小结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334500" y="0"/>
            <a:ext cx="2667000" cy="7048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>
              <a:lnSpc>
                <a:spcPct val="100000"/>
              </a:lnSpc>
            </a:pPr>
            <a:r>
              <a:rPr sz="1100" b="0">
                <a:solidFill>
                  <a:srgbClr val="94A3B8"/>
                </a:solidFill>
                <a:latin typeface="PingFang SC"/>
              </a:rPr>
              <a:t>第2章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876300" y="914400"/>
            <a:ext cx="10439400" cy="10287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DDE5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876300" y="914400"/>
            <a:ext cx="57150" cy="1028700"/>
          </a:xfrm>
          <a:prstGeom prst="rect">
            <a:avLst/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ounded Rectangle 7"/>
          <p:cNvSpPr/>
          <p:nvPr/>
        </p:nvSpPr>
        <p:spPr>
          <a:xfrm>
            <a:off x="1047750" y="1285875"/>
            <a:ext cx="285750" cy="285750"/>
          </a:xfrm>
          <a:prstGeom prst="roundRect">
            <a:avLst>
              <a:gd name="adj" fmla="val 8000"/>
            </a:avLst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047750" y="1276350"/>
            <a:ext cx="285750" cy="2857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300" b="1">
                <a:solidFill>
                  <a:srgbClr val="FFFFFF"/>
                </a:solidFill>
                <a:latin typeface="PingFang SC"/>
              </a:rPr>
              <a:t>1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485900" y="914400"/>
            <a:ext cx="9601200" cy="10287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12000"/>
              </a:lnSpc>
            </a:pPr>
            <a:r>
              <a:rPr sz="1400" b="1">
                <a:solidFill>
                  <a:srgbClr val="475569"/>
                </a:solidFill>
                <a:latin typeface="PingFang SC"/>
              </a:rPr>
              <a:t>FC 机制:意图与执行分离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876300" y="2114550"/>
            <a:ext cx="10439400" cy="10287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DDE5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876300" y="2114550"/>
            <a:ext cx="57150" cy="1028700"/>
          </a:xfrm>
          <a:prstGeom prst="rect">
            <a:avLst/>
          </a:prstGeom>
          <a:solidFill>
            <a:srgbClr val="14B8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ounded Rectangle 12"/>
          <p:cNvSpPr/>
          <p:nvPr/>
        </p:nvSpPr>
        <p:spPr>
          <a:xfrm>
            <a:off x="1047750" y="2486025"/>
            <a:ext cx="285750" cy="285750"/>
          </a:xfrm>
          <a:prstGeom prst="roundRect">
            <a:avLst>
              <a:gd name="adj" fmla="val 8000"/>
            </a:avLst>
          </a:prstGeom>
          <a:solidFill>
            <a:srgbClr val="14B8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1047750" y="2476500"/>
            <a:ext cx="285750" cy="2857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300" b="1">
                <a:solidFill>
                  <a:srgbClr val="FFFFFF"/>
                </a:solidFill>
                <a:latin typeface="PingFang SC"/>
              </a:rPr>
              <a:t>2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485900" y="2114550"/>
            <a:ext cx="9601200" cy="10287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12000"/>
              </a:lnSpc>
            </a:pPr>
            <a:r>
              <a:rPr sz="1400" b="1">
                <a:solidFill>
                  <a:srgbClr val="475569"/>
                </a:solidFill>
                <a:latin typeface="PingFang SC"/>
              </a:rPr>
              <a:t>Registry:工具的治理中枢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876300" y="3314700"/>
            <a:ext cx="10439400" cy="10287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DDE5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876300" y="3314700"/>
            <a:ext cx="57150" cy="1028700"/>
          </a:xfrm>
          <a:prstGeom prst="rect">
            <a:avLst/>
          </a:prstGeom>
          <a:solidFill>
            <a:srgbClr val="8B5C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ounded Rectangle 17"/>
          <p:cNvSpPr/>
          <p:nvPr/>
        </p:nvSpPr>
        <p:spPr>
          <a:xfrm>
            <a:off x="1047750" y="3686175"/>
            <a:ext cx="285750" cy="285750"/>
          </a:xfrm>
          <a:prstGeom prst="roundRect">
            <a:avLst>
              <a:gd name="adj" fmla="val 8000"/>
            </a:avLst>
          </a:prstGeom>
          <a:solidFill>
            <a:srgbClr val="8B5C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1047750" y="3676650"/>
            <a:ext cx="285750" cy="2857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300" b="1">
                <a:solidFill>
                  <a:srgbClr val="FFFFFF"/>
                </a:solidFill>
                <a:latin typeface="PingFang SC"/>
              </a:rPr>
              <a:t>3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485900" y="3314700"/>
            <a:ext cx="9601200" cy="10287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12000"/>
              </a:lnSpc>
            </a:pPr>
            <a:r>
              <a:rPr sz="1400" b="1">
                <a:solidFill>
                  <a:srgbClr val="475569"/>
                </a:solidFill>
                <a:latin typeface="PingFang SC"/>
              </a:rPr>
              <a:t>治理:四道防线缺一不可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876300" y="4514850"/>
            <a:ext cx="10439400" cy="10287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DDE5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ectangle 21"/>
          <p:cNvSpPr/>
          <p:nvPr/>
        </p:nvSpPr>
        <p:spPr>
          <a:xfrm>
            <a:off x="876300" y="4514850"/>
            <a:ext cx="57150" cy="1028700"/>
          </a:xfrm>
          <a:prstGeom prst="rect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ounded Rectangle 22"/>
          <p:cNvSpPr/>
          <p:nvPr/>
        </p:nvSpPr>
        <p:spPr>
          <a:xfrm>
            <a:off x="1047750" y="4886325"/>
            <a:ext cx="285750" cy="285750"/>
          </a:xfrm>
          <a:prstGeom prst="roundRect">
            <a:avLst>
              <a:gd name="adj" fmla="val 8000"/>
            </a:avLst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1047750" y="4876800"/>
            <a:ext cx="285750" cy="2857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300" b="1">
                <a:solidFill>
                  <a:srgbClr val="FFFFFF"/>
                </a:solidFill>
                <a:latin typeface="PingFang SC"/>
              </a:rPr>
              <a:t>4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1485900" y="4514850"/>
            <a:ext cx="9601200" cy="10287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12000"/>
              </a:lnSpc>
            </a:pPr>
            <a:r>
              <a:rPr sz="1400" b="1">
                <a:solidFill>
                  <a:srgbClr val="475569"/>
                </a:solidFill>
                <a:latin typeface="PingFang SC"/>
              </a:rPr>
              <a:t>MCP:生态接入的标准化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876300" y="6019800"/>
            <a:ext cx="10439400" cy="514350"/>
          </a:xfrm>
          <a:prstGeom prst="roundRect">
            <a:avLst>
              <a:gd name="adj" fmla="val 8000"/>
            </a:avLst>
          </a:prstGeom>
          <a:solidFill>
            <a:srgbClr val="F1F5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1066800" y="6019800"/>
            <a:ext cx="10058400" cy="5524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1250" b="0">
                <a:solidFill>
                  <a:srgbClr val="2563EB"/>
                </a:solidFill>
                <a:latin typeface="PingFang SC"/>
              </a:rPr>
              <a:t>▶ 下一章:工具串成长程任务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0287000" y="6534150"/>
            <a:ext cx="1619250" cy="2667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>
              <a:lnSpc>
                <a:spcPct val="100000"/>
              </a:lnSpc>
            </a:pPr>
            <a:r>
              <a:rPr sz="900" b="0">
                <a:solidFill>
                  <a:srgbClr val="94A3B8"/>
                </a:solidFill>
                <a:latin typeface="PingFang SC"/>
              </a:rPr>
              <a:t>第2章 · 138/141</a:t>
            </a:r>
          </a:p>
        </p:txBody>
      </p:sp>
    </p:spTree>
  </p:cSld>
  <p:clrMapOvr>
    <a:masterClrMapping/>
  </p:clrMapOvr>
</p:sld>
</file>

<file path=ppt/slides/slide13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704850"/>
          </a:xfrm>
          <a:prstGeom prst="rect">
            <a:avLst/>
          </a:prstGeom>
          <a:solidFill>
            <a:srgbClr val="0B1D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76200" cy="704850"/>
          </a:xfrm>
          <a:prstGeom prst="rect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266700" y="0"/>
            <a:ext cx="10287000" cy="7048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2000" b="1">
                <a:solidFill>
                  <a:srgbClr val="FFFFFF"/>
                </a:solidFill>
                <a:latin typeface="PingFang SC"/>
              </a:rPr>
              <a:t>第2章成果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334500" y="0"/>
            <a:ext cx="2667000" cy="7048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>
              <a:lnSpc>
                <a:spcPct val="100000"/>
              </a:lnSpc>
            </a:pPr>
            <a:r>
              <a:rPr sz="1100" b="0">
                <a:solidFill>
                  <a:srgbClr val="94A3B8"/>
                </a:solidFill>
                <a:latin typeface="PingFang SC"/>
              </a:rPr>
              <a:t>25^视觉页^本章;10^组件^图形类型;6.7^图/讲^全课程均值|数据持续更新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1047750" y="1905000"/>
            <a:ext cx="3175000" cy="28575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DDE5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1047750" y="1905000"/>
            <a:ext cx="3175000" cy="76200"/>
          </a:xfrm>
          <a:prstGeom prst="rect">
            <a:avLst/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047750" y="2286000"/>
            <a:ext cx="3175000" cy="10477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4000" b="1">
                <a:solidFill>
                  <a:srgbClr val="2563EB"/>
                </a:solidFill>
                <a:latin typeface="PingFang SC"/>
              </a:rPr>
              <a:t>25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47750" y="3333750"/>
            <a:ext cx="3175000" cy="3238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300" b="0">
                <a:solidFill>
                  <a:srgbClr val="94A3B8"/>
                </a:solidFill>
                <a:latin typeface="PingFang SC"/>
              </a:rPr>
              <a:t>视觉页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200150" y="4057650"/>
            <a:ext cx="2870200" cy="5715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300" b="1">
                <a:solidFill>
                  <a:srgbClr val="475569"/>
                </a:solidFill>
                <a:latin typeface="PingFang SC"/>
              </a:rPr>
              <a:t>本章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4508500" y="1905000"/>
            <a:ext cx="3175000" cy="28575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DDE5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4508500" y="1905000"/>
            <a:ext cx="3175000" cy="76200"/>
          </a:xfrm>
          <a:prstGeom prst="rect">
            <a:avLst/>
          </a:prstGeom>
          <a:solidFill>
            <a:srgbClr val="14B8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4508500" y="2286000"/>
            <a:ext cx="3175000" cy="10477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4000" b="1">
                <a:solidFill>
                  <a:srgbClr val="14B8A6"/>
                </a:solidFill>
                <a:latin typeface="PingFang SC"/>
              </a:rPr>
              <a:t>10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508500" y="3333750"/>
            <a:ext cx="3175000" cy="3238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300" b="0">
                <a:solidFill>
                  <a:srgbClr val="94A3B8"/>
                </a:solidFill>
                <a:latin typeface="PingFang SC"/>
              </a:rPr>
              <a:t>组件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660900" y="4057650"/>
            <a:ext cx="2870200" cy="5715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300" b="1">
                <a:solidFill>
                  <a:srgbClr val="475569"/>
                </a:solidFill>
                <a:latin typeface="PingFang SC"/>
              </a:rPr>
              <a:t>图形类型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7969250" y="1905000"/>
            <a:ext cx="3175000" cy="28575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DDE5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7969250" y="1905000"/>
            <a:ext cx="3175000" cy="76200"/>
          </a:xfrm>
          <a:prstGeom prst="rect">
            <a:avLst/>
          </a:prstGeom>
          <a:solidFill>
            <a:srgbClr val="8B5C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7969250" y="2286000"/>
            <a:ext cx="3175000" cy="10477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4000" b="1">
                <a:solidFill>
                  <a:srgbClr val="8B5CF6"/>
                </a:solidFill>
                <a:latin typeface="PingFang SC"/>
              </a:rPr>
              <a:t>6.7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7969250" y="3333750"/>
            <a:ext cx="3175000" cy="3238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300" b="0">
                <a:solidFill>
                  <a:srgbClr val="94A3B8"/>
                </a:solidFill>
                <a:latin typeface="PingFang SC"/>
              </a:rPr>
              <a:t>图/讲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8121650" y="4057650"/>
            <a:ext cx="2870200" cy="5715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300" b="1">
                <a:solidFill>
                  <a:srgbClr val="475569"/>
                </a:solidFill>
                <a:latin typeface="PingFang SC"/>
              </a:rPr>
              <a:t>全课程均值|数据持续更新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0287000" y="6534150"/>
            <a:ext cx="1619250" cy="2667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>
              <a:lnSpc>
                <a:spcPct val="100000"/>
              </a:lnSpc>
            </a:pPr>
            <a:r>
              <a:rPr sz="900" b="0">
                <a:solidFill>
                  <a:srgbClr val="94A3B8"/>
                </a:solidFill>
                <a:latin typeface="PingFang SC"/>
              </a:rPr>
              <a:t>第2章 · 139/141</a:t>
            </a:r>
          </a:p>
        </p:txBody>
      </p:sp>
    </p:spTree>
  </p:cSld>
  <p:clrMapOvr>
    <a:masterClrMapping/>
  </p:clrMapOvr>
</p:sld>
</file>

<file path=ppt/slides/slide14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704850"/>
          </a:xfrm>
          <a:prstGeom prst="rect">
            <a:avLst/>
          </a:prstGeom>
          <a:solidFill>
            <a:srgbClr val="0B1D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76200" cy="704850"/>
          </a:xfrm>
          <a:prstGeom prst="rect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266700" y="0"/>
            <a:ext cx="10287000" cy="7048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2000" b="1">
                <a:solidFill>
                  <a:srgbClr val="FFFFFF"/>
                </a:solidFill>
                <a:latin typeface="PingFang SC"/>
              </a:rPr>
              <a:t>Lab2 验收清单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334500" y="0"/>
            <a:ext cx="2667000" cy="7048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>
              <a:lnSpc>
                <a:spcPct val="100000"/>
              </a:lnSpc>
            </a:pPr>
            <a:r>
              <a:rPr sz="1100" b="0">
                <a:solidFill>
                  <a:srgbClr val="94A3B8"/>
                </a:solidFill>
                <a:latin typeface="PingFang SC"/>
              </a:rPr>
              <a:t>第2章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876300" y="914400"/>
            <a:ext cx="5133975" cy="8763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DDE5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876300" y="914400"/>
            <a:ext cx="47625" cy="876300"/>
          </a:xfrm>
          <a:prstGeom prst="rect">
            <a:avLst/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314450" y="914400"/>
            <a:ext cx="4524375" cy="8763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12000"/>
              </a:lnSpc>
            </a:pPr>
            <a:r>
              <a:rPr sz="1300" b="1">
                <a:solidFill>
                  <a:srgbClr val="475569"/>
                </a:solidFill>
                <a:latin typeface="PingFang SC"/>
              </a:rPr>
              <a:t>[ ] discover 命中预期工具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1009650" y="1285875"/>
            <a:ext cx="133350" cy="133350"/>
          </a:xfrm>
          <a:prstGeom prst="roundRect">
            <a:avLst>
              <a:gd name="adj" fmla="val 8000"/>
            </a:avLst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ounded Rectangle 9"/>
          <p:cNvSpPr/>
          <p:nvPr/>
        </p:nvSpPr>
        <p:spPr>
          <a:xfrm>
            <a:off x="6181725" y="914400"/>
            <a:ext cx="5133975" cy="8763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DDE5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6181725" y="914400"/>
            <a:ext cx="47625" cy="876300"/>
          </a:xfrm>
          <a:prstGeom prst="rect">
            <a:avLst/>
          </a:prstGeom>
          <a:solidFill>
            <a:srgbClr val="14B8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619875" y="914400"/>
            <a:ext cx="4524375" cy="8763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12000"/>
              </a:lnSpc>
            </a:pPr>
            <a:r>
              <a:rPr sz="1300" b="1">
                <a:solidFill>
                  <a:srgbClr val="475569"/>
                </a:solidFill>
                <a:latin typeface="PingFang SC"/>
              </a:rPr>
              <a:t>[ ] readonly 调 WRITE 被拒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6315075" y="1285875"/>
            <a:ext cx="133350" cy="133350"/>
          </a:xfrm>
          <a:prstGeom prst="roundRect">
            <a:avLst>
              <a:gd name="adj" fmla="val 8000"/>
            </a:avLst>
          </a:prstGeom>
          <a:solidFill>
            <a:srgbClr val="14B8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ounded Rectangle 13"/>
          <p:cNvSpPr/>
          <p:nvPr/>
        </p:nvSpPr>
        <p:spPr>
          <a:xfrm>
            <a:off x="876300" y="1962150"/>
            <a:ext cx="5133975" cy="8763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DDE5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876300" y="1962150"/>
            <a:ext cx="47625" cy="876300"/>
          </a:xfrm>
          <a:prstGeom prst="rect">
            <a:avLst/>
          </a:prstGeom>
          <a:solidFill>
            <a:srgbClr val="8B5C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1314450" y="1962150"/>
            <a:ext cx="4524375" cy="8763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12000"/>
              </a:lnSpc>
            </a:pPr>
            <a:r>
              <a:rPr sz="1300" b="1">
                <a:solidFill>
                  <a:srgbClr val="475569"/>
                </a:solidFill>
                <a:latin typeface="PingFang SC"/>
              </a:rPr>
              <a:t>[ ] DANGEROUS 无确认被拒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1009650" y="2333625"/>
            <a:ext cx="133350" cy="133350"/>
          </a:xfrm>
          <a:prstGeom prst="roundRect">
            <a:avLst>
              <a:gd name="adj" fmla="val 8000"/>
            </a:avLst>
          </a:prstGeom>
          <a:solidFill>
            <a:srgbClr val="8B5C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ounded Rectangle 17"/>
          <p:cNvSpPr/>
          <p:nvPr/>
        </p:nvSpPr>
        <p:spPr>
          <a:xfrm>
            <a:off x="6181725" y="1962150"/>
            <a:ext cx="5133975" cy="8763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DDE5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6181725" y="1962150"/>
            <a:ext cx="47625" cy="876300"/>
          </a:xfrm>
          <a:prstGeom prst="rect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6619875" y="1962150"/>
            <a:ext cx="4524375" cy="8763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12000"/>
              </a:lnSpc>
            </a:pPr>
            <a:r>
              <a:rPr sz="1300" b="1">
                <a:solidFill>
                  <a:srgbClr val="475569"/>
                </a:solidFill>
                <a:latin typeface="PingFang SC"/>
              </a:rPr>
              <a:t>[ ] 审计事件可在消费端核对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6315075" y="2333625"/>
            <a:ext cx="133350" cy="133350"/>
          </a:xfrm>
          <a:prstGeom prst="roundRect">
            <a:avLst>
              <a:gd name="adj" fmla="val 8000"/>
            </a:avLst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ounded Rectangle 21"/>
          <p:cNvSpPr/>
          <p:nvPr/>
        </p:nvSpPr>
        <p:spPr>
          <a:xfrm>
            <a:off x="876300" y="3009900"/>
            <a:ext cx="5133975" cy="8763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DDE5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ectangle 22"/>
          <p:cNvSpPr/>
          <p:nvPr/>
        </p:nvSpPr>
        <p:spPr>
          <a:xfrm>
            <a:off x="876300" y="3009900"/>
            <a:ext cx="47625" cy="876300"/>
          </a:xfrm>
          <a:prstGeom prst="rect">
            <a:avLst/>
          </a:prstGeom>
          <a:solidFill>
            <a:srgbClr val="34D39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1314450" y="3009900"/>
            <a:ext cx="4524375" cy="8763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12000"/>
              </a:lnSpc>
            </a:pPr>
            <a:r>
              <a:rPr sz="1300" b="1">
                <a:solidFill>
                  <a:srgbClr val="475569"/>
                </a:solidFill>
                <a:latin typeface="PingFang SC"/>
              </a:rPr>
              <a:t>[ ] 非法参数被 Schema 拦截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1009650" y="3381375"/>
            <a:ext cx="133350" cy="133350"/>
          </a:xfrm>
          <a:prstGeom prst="roundRect">
            <a:avLst>
              <a:gd name="adj" fmla="val 8000"/>
            </a:avLst>
          </a:prstGeom>
          <a:solidFill>
            <a:srgbClr val="34D39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Rounded Rectangle 25"/>
          <p:cNvSpPr/>
          <p:nvPr/>
        </p:nvSpPr>
        <p:spPr>
          <a:xfrm>
            <a:off x="6181725" y="3009900"/>
            <a:ext cx="5133975" cy="8763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DDE5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Rectangle 26"/>
          <p:cNvSpPr/>
          <p:nvPr/>
        </p:nvSpPr>
        <p:spPr>
          <a:xfrm>
            <a:off x="6181725" y="3009900"/>
            <a:ext cx="47625" cy="876300"/>
          </a:xfrm>
          <a:prstGeom prst="rect">
            <a:avLst/>
          </a:prstGeom>
          <a:solidFill>
            <a:srgbClr val="F8717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6619875" y="3009900"/>
            <a:ext cx="4524375" cy="8763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12000"/>
              </a:lnSpc>
            </a:pPr>
            <a:r>
              <a:rPr sz="1300" b="1">
                <a:solidFill>
                  <a:srgbClr val="475569"/>
                </a:solidFill>
                <a:latin typeface="PingFang SC"/>
              </a:rPr>
              <a:t>[ ] 慢工具超时降级不挂死</a:t>
            </a:r>
          </a:p>
        </p:txBody>
      </p:sp>
      <p:sp>
        <p:nvSpPr>
          <p:cNvPr id="29" name="Rounded Rectangle 28"/>
          <p:cNvSpPr/>
          <p:nvPr/>
        </p:nvSpPr>
        <p:spPr>
          <a:xfrm>
            <a:off x="6315075" y="3381375"/>
            <a:ext cx="133350" cy="133350"/>
          </a:xfrm>
          <a:prstGeom prst="roundRect">
            <a:avLst>
              <a:gd name="adj" fmla="val 8000"/>
            </a:avLst>
          </a:prstGeom>
          <a:solidFill>
            <a:srgbClr val="F8717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10287000" y="6534150"/>
            <a:ext cx="1619250" cy="2667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>
              <a:lnSpc>
                <a:spcPct val="100000"/>
              </a:lnSpc>
            </a:pPr>
            <a:r>
              <a:rPr sz="900" b="0">
                <a:solidFill>
                  <a:srgbClr val="94A3B8"/>
                </a:solidFill>
                <a:latin typeface="PingFang SC"/>
              </a:rPr>
              <a:t>第2章 · 140/141</a:t>
            </a:r>
          </a:p>
        </p:txBody>
      </p:sp>
    </p:spTree>
  </p:cSld>
  <p:clrMapOvr>
    <a:masterClrMapping/>
  </p:clrMapOvr>
</p:sld>
</file>

<file path=ppt/slides/slide14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704850"/>
          </a:xfrm>
          <a:prstGeom prst="rect">
            <a:avLst/>
          </a:prstGeom>
          <a:solidFill>
            <a:srgbClr val="0B1D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76200" cy="704850"/>
          </a:xfrm>
          <a:prstGeom prst="rect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266700" y="0"/>
            <a:ext cx="10287000" cy="7048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2000" b="1">
                <a:solidFill>
                  <a:srgbClr val="FFFFFF"/>
                </a:solidFill>
                <a:latin typeface="PingFang SC"/>
              </a:rPr>
              <a:t>下一章预告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334500" y="0"/>
            <a:ext cx="2667000" cy="7048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>
              <a:lnSpc>
                <a:spcPct val="100000"/>
              </a:lnSpc>
            </a:pPr>
            <a:r>
              <a:rPr sz="1100" b="0">
                <a:solidFill>
                  <a:srgbClr val="94A3B8"/>
                </a:solidFill>
                <a:latin typeface="PingFang SC"/>
              </a:rPr>
              <a:t>第2章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876300" y="914400"/>
            <a:ext cx="10439400" cy="10287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DDE5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876300" y="914400"/>
            <a:ext cx="57150" cy="1028700"/>
          </a:xfrm>
          <a:prstGeom prst="rect">
            <a:avLst/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ounded Rectangle 7"/>
          <p:cNvSpPr/>
          <p:nvPr/>
        </p:nvSpPr>
        <p:spPr>
          <a:xfrm>
            <a:off x="1047750" y="1285875"/>
            <a:ext cx="285750" cy="285750"/>
          </a:xfrm>
          <a:prstGeom prst="roundRect">
            <a:avLst>
              <a:gd name="adj" fmla="val 8000"/>
            </a:avLst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047750" y="1276350"/>
            <a:ext cx="285750" cy="2857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300" b="1">
                <a:solidFill>
                  <a:srgbClr val="FFFFFF"/>
                </a:solidFill>
                <a:latin typeface="PingFang SC"/>
              </a:rPr>
              <a:t>1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485900" y="914400"/>
            <a:ext cx="9601200" cy="10287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12000"/>
              </a:lnSpc>
            </a:pPr>
            <a:r>
              <a:rPr sz="1400" b="1">
                <a:solidFill>
                  <a:srgbClr val="475569"/>
                </a:solidFill>
                <a:latin typeface="PingFang SC"/>
              </a:rPr>
              <a:t>单轮调用不够:需要多步执行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876300" y="2114550"/>
            <a:ext cx="10439400" cy="10287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DDE5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876300" y="2114550"/>
            <a:ext cx="57150" cy="1028700"/>
          </a:xfrm>
          <a:prstGeom prst="rect">
            <a:avLst/>
          </a:prstGeom>
          <a:solidFill>
            <a:srgbClr val="14B8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ounded Rectangle 12"/>
          <p:cNvSpPr/>
          <p:nvPr/>
        </p:nvSpPr>
        <p:spPr>
          <a:xfrm>
            <a:off x="1047750" y="2486025"/>
            <a:ext cx="285750" cy="285750"/>
          </a:xfrm>
          <a:prstGeom prst="roundRect">
            <a:avLst>
              <a:gd name="adj" fmla="val 8000"/>
            </a:avLst>
          </a:prstGeom>
          <a:solidFill>
            <a:srgbClr val="14B8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1047750" y="2476500"/>
            <a:ext cx="285750" cy="2857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300" b="1">
                <a:solidFill>
                  <a:srgbClr val="FFFFFF"/>
                </a:solidFill>
                <a:latin typeface="PingFang SC"/>
              </a:rPr>
              <a:t>2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485900" y="2114550"/>
            <a:ext cx="9601200" cy="10287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12000"/>
              </a:lnSpc>
            </a:pPr>
            <a:r>
              <a:rPr sz="1400" b="1">
                <a:solidFill>
                  <a:srgbClr val="475569"/>
                </a:solidFill>
                <a:latin typeface="PingFang SC"/>
              </a:rPr>
              <a:t>Agent Loop 与 9 态状态机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876300" y="3314700"/>
            <a:ext cx="10439400" cy="10287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DDE5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876300" y="3314700"/>
            <a:ext cx="57150" cy="1028700"/>
          </a:xfrm>
          <a:prstGeom prst="rect">
            <a:avLst/>
          </a:prstGeom>
          <a:solidFill>
            <a:srgbClr val="8B5C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ounded Rectangle 17"/>
          <p:cNvSpPr/>
          <p:nvPr/>
        </p:nvSpPr>
        <p:spPr>
          <a:xfrm>
            <a:off x="1047750" y="3686175"/>
            <a:ext cx="285750" cy="285750"/>
          </a:xfrm>
          <a:prstGeom prst="roundRect">
            <a:avLst>
              <a:gd name="adj" fmla="val 8000"/>
            </a:avLst>
          </a:prstGeom>
          <a:solidFill>
            <a:srgbClr val="8B5C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1047750" y="3676650"/>
            <a:ext cx="285750" cy="2857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300" b="1">
                <a:solidFill>
                  <a:srgbClr val="FFFFFF"/>
                </a:solidFill>
                <a:latin typeface="PingFang SC"/>
              </a:rPr>
              <a:t>3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485900" y="3314700"/>
            <a:ext cx="9601200" cy="10287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12000"/>
              </a:lnSpc>
            </a:pPr>
            <a:r>
              <a:rPr sz="1400" b="1">
                <a:solidFill>
                  <a:srgbClr val="475569"/>
                </a:solidFill>
                <a:latin typeface="PingFang SC"/>
              </a:rPr>
              <a:t>Sandbox:安全执行环境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876300" y="4514850"/>
            <a:ext cx="10439400" cy="10287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DDE5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ectangle 21"/>
          <p:cNvSpPr/>
          <p:nvPr/>
        </p:nvSpPr>
        <p:spPr>
          <a:xfrm>
            <a:off x="876300" y="4514850"/>
            <a:ext cx="57150" cy="1028700"/>
          </a:xfrm>
          <a:prstGeom prst="rect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ounded Rectangle 22"/>
          <p:cNvSpPr/>
          <p:nvPr/>
        </p:nvSpPr>
        <p:spPr>
          <a:xfrm>
            <a:off x="1047750" y="4886325"/>
            <a:ext cx="285750" cy="285750"/>
          </a:xfrm>
          <a:prstGeom prst="roundRect">
            <a:avLst>
              <a:gd name="adj" fmla="val 8000"/>
            </a:avLst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1047750" y="4876800"/>
            <a:ext cx="285750" cy="2857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300" b="1">
                <a:solidFill>
                  <a:srgbClr val="FFFFFF"/>
                </a:solidFill>
                <a:latin typeface="PingFang SC"/>
              </a:rPr>
              <a:t>4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1485900" y="4514850"/>
            <a:ext cx="9601200" cy="10287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12000"/>
              </a:lnSpc>
            </a:pPr>
            <a:r>
              <a:rPr sz="1400" b="1">
                <a:solidFill>
                  <a:srgbClr val="475569"/>
                </a:solidFill>
                <a:latin typeface="PingFang SC"/>
              </a:rPr>
              <a:t>目标里程碑 M3:Codebase Agent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876300" y="6019800"/>
            <a:ext cx="10439400" cy="514350"/>
          </a:xfrm>
          <a:prstGeom prst="roundRect">
            <a:avLst>
              <a:gd name="adj" fmla="val 8000"/>
            </a:avLst>
          </a:prstGeom>
          <a:solidFill>
            <a:srgbClr val="F1F5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1066800" y="6019800"/>
            <a:ext cx="10058400" cy="5524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1250" b="0">
                <a:solidFill>
                  <a:srgbClr val="2563EB"/>
                </a:solidFill>
                <a:latin typeface="PingFang SC"/>
              </a:rPr>
              <a:t>▶ 让工具调用"连续作战"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0287000" y="6534150"/>
            <a:ext cx="1619250" cy="2667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>
              <a:lnSpc>
                <a:spcPct val="100000"/>
              </a:lnSpc>
            </a:pPr>
            <a:r>
              <a:rPr sz="900" b="0">
                <a:solidFill>
                  <a:srgbClr val="94A3B8"/>
                </a:solidFill>
                <a:latin typeface="PingFang SC"/>
              </a:rPr>
              <a:t>第2章 · 141/141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