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77120" y="1486160"/>
            <a:ext cx="4953000" cy="4953000"/>
          </a:xfrm>
          <a:prstGeom prst="ellipse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77280" y="1086040"/>
            <a:ext cx="3619500" cy="3619500"/>
          </a:xfrm>
          <a:prstGeom prst="ellipse">
            <a:avLst/>
          </a:prstGeom>
          <a:solidFill>
            <a:srgbClr val="1B3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06000" y="714500"/>
            <a:ext cx="2381250" cy="2381250"/>
          </a:xfrm>
          <a:prstGeom prst="ellipse">
            <a:avLst/>
          </a:prstGeom>
          <a:solidFill>
            <a:srgbClr val="24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18000"/>
            <a:ext cx="12192000" cy="240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7250" y="914400"/>
            <a:ext cx="552450" cy="5524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857250"/>
            <a:ext cx="5524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0B1D3A"/>
                </a:solidFill>
                <a:latin typeface="PingFang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9250" y="1143000"/>
            <a:ext cx="55245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PingFang SC"/>
              </a:rPr>
              <a:t>AI AGENT 全栈工程师训练营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9250" y="2000250"/>
            <a:ext cx="6858000" cy="2000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PingFang SC"/>
              </a:rPr>
              <a:t>Function Calling、Tool Runtime 与 MCP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9250" y="4191000"/>
            <a:ext cx="647700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BD5E1"/>
                </a:solidFill>
                <a:latin typeface="PingFang SC"/>
              </a:rPr>
              <a:t>工具治理与安全边界 · 里程碑 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9250" y="5429250"/>
            <a:ext cx="83820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Agent Engineering Platform · v1.3 · 审计 9.4/10 · 125 测试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6750" y="609600"/>
            <a:ext cx="102870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PingFang SC"/>
              </a:rPr>
              <a:t>本章目录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1238250"/>
            <a:ext cx="933450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PingFang SC"/>
              </a:rPr>
              <a:t>8 个知识模块 · 含实测数据图表与代码走查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725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19050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495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2-1 · Function Calling 与 Tool Use 原理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725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57250" y="26289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870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495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2-2 · Tool Registry 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7250" y="3352800"/>
            <a:ext cx="47625" cy="5905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870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9E0B"/>
                </a:solidFill>
                <a:latin typeface="PingFang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495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2-3 · 工具治理与安全边界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25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250" y="4076700"/>
            <a:ext cx="47625" cy="5905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870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D399"/>
                </a:solidFill>
                <a:latin typeface="PingFang SC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495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2-4 · MCP 协议与接入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9410" y="19050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9410" y="1905000"/>
            <a:ext cx="47625" cy="5905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0860" y="19050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87171"/>
                </a:solidFill>
                <a:latin typeface="PingFang SC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57110" y="19050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讲次 2-5 · Agent Tool Runtime 集成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09410" y="26289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709410" y="2628900"/>
            <a:ext cx="47625" cy="5905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80860" y="26289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57110" y="26289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本章小结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09410" y="33528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709410" y="3352800"/>
            <a:ext cx="47625" cy="5905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80860" y="33528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4B8A6"/>
                </a:solidFill>
                <a:latin typeface="PingFang SC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7110" y="33528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Lab2 验收清单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09410" y="4076700"/>
            <a:ext cx="5364480" cy="5905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709410" y="4076700"/>
            <a:ext cx="47625" cy="5905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80860" y="4076700"/>
            <a:ext cx="41910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8B5CF6"/>
                </a:solidFill>
                <a:latin typeface="PingFang SC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7110" y="4076700"/>
            <a:ext cx="4564380" cy="590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BD5E1"/>
                </a:solidFill>
                <a:latin typeface="PingFang SC"/>
              </a:rPr>
              <a:t>下一章预告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2/141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2-1 · Function Calling 与 Tool Use 原理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01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本章问题域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模型会说,但不会做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目标:让模型安全地"用手干活"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三层:机制(FC)/治理(Runtime)/协议(MCP)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对应工程:src/agent_platform/tools/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4/141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Tool Runtime 全景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注册:Tool Registry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85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385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6250" y="952500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元数据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270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27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100" y="952500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版本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1550" y="952500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155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3950" y="952500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启停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注册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2224087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执行:权限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3385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3385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86250" y="2224087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Schema 校验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270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627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5100" y="2224087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超时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1550" y="2224087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9155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43950" y="2224087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重试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治理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050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审计:InMemory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768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Pulsar 适配(降级)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48600" y="3495674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486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3495674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哈希链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Isosceles Triangle 52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审计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9050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57400" y="4767261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外部:MCP Client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62700" y="4767261"/>
            <a:ext cx="43053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627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15100" y="4767261"/>
            <a:ext cx="40386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文件/DB/GitHub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5/141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Function Calling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模型不执行任何代码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只输出"我想调 toolX,参数是{...}"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执行权永远在 Runtime 手里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意图与执行分离是安全的第一性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6/141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一次工具调用的完整时序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① 请求携带工具定义清单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② 模型返回 tool_calls 意图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③ Runtime 校验并执行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④ 结果以 role=tool 回灌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⑤ 模型基于结果继续推理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7/141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Function Calling 全时序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模型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Runtime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工具实现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审计总线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tool_calls 意图+参数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6289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校验+执行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508500" y="3448050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45085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ToolResult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08500" y="4267200"/>
            <a:ext cx="6350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950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事件落盘(脱敏)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1333500" y="5086350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9700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role=tool 回灌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8/141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工具定义的七要素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name:唯一且动词化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description:给模型看的说明书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parameters:JSON Schema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返回/错误结构约定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权限等级 + 风险等级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描述写不好,模型就选错工具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9/141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工具契约七要素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动词化唯一名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description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给模型看的说明书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parameters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JSON Schema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返回结构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Output Schema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错误结构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Error Schema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权限等级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READ/WRITE/DANGEROUS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10/141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三份契约:Input/Output/Error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Input Schema:参数合法性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Output Schema:结果可消费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Error Schema:失败可处理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契约三方共享:模型/Runtime/审计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11/141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三契约卡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Input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参数类型/必填/范围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Output Schema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结果结构可消费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Error Schema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失败可程序处理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12/141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工具选择机制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模型按任务语义匹配工具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依据:name + description + 参数说明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多工具相似 → 选择抖动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缓解:描述差异化 + few-shot 示范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13/141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@tool 装饰器:签名派生 Schema · src/agent_platform/tools/runtime.py:76-108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762000"/>
            <a:ext cx="9052560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14/141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模型选工具流程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47637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525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25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任务语义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74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7475" y="2667000"/>
            <a:ext cx="147637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527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27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36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匹配 name+description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07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4955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70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57700" y="2667000"/>
            <a:ext cx="147637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5301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301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生成参数(遵循 Schema)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910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42957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792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7925" y="2667000"/>
            <a:ext cx="147637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323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323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Runtime 校验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9122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609600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581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58150" y="2667000"/>
            <a:ext cx="1476375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34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34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43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执行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914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78962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583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58375" y="2667000"/>
            <a:ext cx="1476375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536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536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45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观察回灌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916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96964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描述写不好=选择抖动:描述是给模型看的 Prompt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15/141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模型不选工具怎么办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描述太抽象,模型没信心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参数必填太多,模型绕开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优化:拆细工具 + 简化必填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工具设计是 Prompt 设计的一部分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16/141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工具治理全景图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校验 → 权限 → 执行 → 审计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超时/重试/降级/恢复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Trace 全链路留痕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第2章代码就是这张图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17/141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ToolExecutor 六步管线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47637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525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25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取 Spec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74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57475" y="2667000"/>
            <a:ext cx="147637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527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527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36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enabled 检查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07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24955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45770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57700" y="2667000"/>
            <a:ext cx="147637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5301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301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3390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权限判定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19100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429577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5792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57925" y="2667000"/>
            <a:ext cx="147637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323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323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412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参数校验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99122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5400000">
            <a:off x="609600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058150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58150" y="2667000"/>
            <a:ext cx="1476375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3462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3462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4350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超时执行(wait_for)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91450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Isosceles Triangle 36"/>
          <p:cNvSpPr/>
          <p:nvPr/>
        </p:nvSpPr>
        <p:spPr>
          <a:xfrm rot="5400000">
            <a:off x="7896226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858375" y="2667000"/>
            <a:ext cx="1476375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87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58375" y="2667000"/>
            <a:ext cx="1476375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453687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53687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4575" y="2800350"/>
            <a:ext cx="1323975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审计落盘(脱敏)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591675" y="3238500"/>
            <a:ext cx="190500" cy="0"/>
          </a:xfrm>
          <a:prstGeom prst="line">
            <a:avLst/>
          </a:prstGeom>
          <a:ln w="2032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5400000">
            <a:off x="9696451" y="3195638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7250" y="5715000"/>
            <a:ext cx="10477500" cy="4191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650" y="5715000"/>
            <a:ext cx="10172700" cy="4191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2563EB"/>
                </a:solidFill>
                <a:latin typeface="PingFang SC"/>
              </a:rPr>
              <a:t>▶ 任一步失败都有结构化出口,绝不静默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18/141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应用:天气查询工具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name=get_weather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参数:city(string,必填)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风险:READ,人人可调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平台测试用它演示全流程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19/141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get_weather 端到端实测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381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executor.execute("get_weather", {"city": "Beijing"})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ToolResult(ok=True, output='sunny::Beijing', latency_ms=0.4)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AuditEvent(tool='get_weather', args={'city':'Beijing'})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READ 工具+agent 角色:直接放行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20/141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应用:订单查询工具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参数:order_id+权限透传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只能查自己有权的订单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返回脱敏后的订单摘要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工具内部也要做数据权限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21/141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踩坑:让模型生成 SQL 直接执行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事故:NL2SQL 删了生产表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教训:SQL 是高危工具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防护:只读账号+白名单+审计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更优:封装业务查询工具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22/141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踩坑:参数幻觉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模型编造不存在的 order_id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 只保类型不保真实性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防护:业务层存在性校验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反馈错误让模型重选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23/141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优化:工具描述 A/B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改 description 观察选择准确率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构造工具选择评测集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准确率纳入回归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工具选择率是第5章核心指标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24/141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优化:并行工具调用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模型一次返回多个 tool_calls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无依赖的调用并发执行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有依赖的串行编排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延迟立减,审计要按序落盘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25/141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平台工程对照:装饰器注册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@tool 从函数签名派生 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30 秒注册一个生产级工具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类型注解即文档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代码:tools/runtime.py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26/141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2-1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27/141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@tool 装饰器:签名即 Schema · src/agent_platform/tools/runtime.py:78-108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515" y="762000"/>
            <a:ext cx="956496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28/141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Function Calling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为什么模型永远不直接执行工具?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工具描述里最影响选择准确率的是什么?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参数幻觉如何兜底?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并行调用的前提条件是什么?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29/141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2-2 · Tool Registry 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02 / 05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Registry 的定位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工具的"应用商店"后端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注册/发现/元数据/分类/版本/启停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模型看到的工具清单从这里出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31/141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Registry 六项能力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注册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register(spec,fn)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1724025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发现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关键词检索 discover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172402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1724025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193357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元数据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233362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业务域/负责人/依赖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77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47750" y="3495675"/>
            <a:ext cx="32004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383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分类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01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业务/读写/风险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580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5800" y="3495675"/>
            <a:ext cx="3200400" cy="5715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64820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8635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版本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升级走审批灰度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3850" y="3495675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43850" y="3495675"/>
            <a:ext cx="3200400" cy="5715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0962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962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4400" y="3705225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启停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6250" y="4105275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热下线不发版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32/141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注册:一行代码的仪式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register(spec, fn) 收录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重名即冲突,防误覆盖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spec 与实现强绑定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平台在测试里演示全套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33/141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发现:让 Agent 找到工具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按关键词搜名称与描述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按分类/风险过滤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只暴露 enabled 的工具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discover("天气") 立即可用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34/141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discover 检索实测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66700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000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reg.discover("天气")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ToolSpec(name='get_weather', risk=READ)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reg.discover("删除")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(空)  # 已 disable 的不出现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只返回 enabled:下线即刻生效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35/141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元数据:超越函数签名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业务域/负责人/依赖服务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所需密钥与外部资源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文档链接与变更记录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元数据是治理的原料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36/141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分类维度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业务类型:查询/写入/通知/计算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读写属性:READ/WRITE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风险级别:READ/WRITE/DANGEROUS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一个工具可有多分类标签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37/141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工具三维护分类,业务域,读写属性,风险级别;查询类,READ,低;写入类,WRITE,中;运维类,WRITE/高危,高;数据销毁,DANGEROUS,极高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38/141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版本管理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Schema 变更必须升版本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兼容旧参数一个周期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灰度:新旧版本并存按流量切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SkillRegistry 同思路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39/141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工具版本生命周期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注册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Schema+实现绑定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5285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887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28875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2412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上架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2412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审批+文档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9122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66725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6725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6250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灰度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6250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10% 流量验证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05625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05625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00875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全量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0875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健康分达标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392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下线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92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一键热禁用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40/141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依赖声明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该工具依赖哪些服务/密钥/DB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启动时健康检查依赖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缺依赖 → 工具自动禁用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避免运行时才发现不可用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41/141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工具依赖拓扑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180975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工具层:search_code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33850" y="95250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3385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86250" y="952500"/>
            <a:ext cx="180975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query_db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62700" y="95250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270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100" y="952500"/>
            <a:ext cx="180975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send_mail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1550" y="95250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91550" y="952500"/>
            <a:ext cx="47625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43950" y="952500"/>
            <a:ext cx="180975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run_test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215265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221932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213360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213360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调用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230505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207645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234315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2343150"/>
            <a:ext cx="180975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服务层:Milvus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33850" y="234315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3385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86250" y="2343150"/>
            <a:ext cx="180975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PG 只读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62700" y="234315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6270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5100" y="2343150"/>
            <a:ext cx="180975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SMTP 网关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1550" y="2343150"/>
            <a:ext cx="207645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91550" y="2343150"/>
            <a:ext cx="47625" cy="1143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43950" y="2343150"/>
            <a:ext cx="180975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CI Runner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096000" y="3543300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Isosceles Triangle 37"/>
          <p:cNvSpPr/>
          <p:nvPr/>
        </p:nvSpPr>
        <p:spPr>
          <a:xfrm rot="10800000">
            <a:off x="6053138" y="3609976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743575" y="3524250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43575" y="3524250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连接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47850" y="3695700"/>
            <a:ext cx="8877300" cy="12192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2150" y="34671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905000" y="37338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050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57400" y="3733800"/>
            <a:ext cx="25527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凭据层:DB 密钥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876800" y="37338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0" y="3733800"/>
            <a:ext cx="25527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API Key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48600" y="3733800"/>
            <a:ext cx="28194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848600" y="3733800"/>
            <a:ext cx="47625" cy="1143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3733800"/>
            <a:ext cx="2552700" cy="1143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SMTP Token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42/141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启停管理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高危/异常工具一键下线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下线是热操作,不发版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Runbook 标配动作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disable()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43/141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应用:企业工具目录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搜索/查库/发邮件/生成报表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每个工具标注风险等级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新工具走上架审批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工具目录即治理抓手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44/141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应用:动态工具装配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按任务挑 5~10 个相关工具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避免全量注入挤占上下文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工具越多选择准确率越低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第3章 Harness 复用此能力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45/141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踩坑:共享可变状态污染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平台真实事故:disable 直接改共享 spec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一个测试下线工具,后续测试全挂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修复:启停状态收归 Registry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教学价值:隔离边界要画清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46/141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测试污染事故复盘</a:t>
            </a:r>
          </a:p>
        </p:txBody>
      </p:sp>
      <p:sp>
        <p:nvSpPr>
          <p:cNvPr id="5" name="Rectangle 4"/>
          <p:cNvSpPr/>
          <p:nvPr/>
        </p:nvSpPr>
        <p:spPr>
          <a:xfrm>
            <a:off x="1619250" y="3314700"/>
            <a:ext cx="8953500" cy="38100"/>
          </a:xfrm>
          <a:prstGeom prst="rect">
            <a:avLst/>
          </a:prstGeom>
          <a:solidFill>
            <a:srgbClr val="DDE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144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05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" y="1905000"/>
            <a:ext cx="28575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7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2563EB"/>
                </a:solidFill>
                <a:latin typeface="PingFang SC"/>
              </a:rPr>
              <a:t>disable 改共享 spec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51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9812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81200" y="3619500"/>
            <a:ext cx="285750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764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4B8A6"/>
                </a:solidFill>
                <a:latin typeface="PingFang SC"/>
              </a:rPr>
              <a:t>后续 3 个权限测试连环假失败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64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58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719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71900" y="1905000"/>
            <a:ext cx="28575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671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8B5CF6"/>
                </a:solidFill>
                <a:latin typeface="PingFang SC"/>
              </a:rPr>
              <a:t>单跑全绿/全量必红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1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865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626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2600" y="3619500"/>
            <a:ext cx="28575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78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59E0B"/>
                </a:solidFill>
                <a:latin typeface="PingFang SC"/>
              </a:rPr>
              <a:t>根因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578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可变共享状态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772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53300" y="19050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3300" y="1905000"/>
            <a:ext cx="2857500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8550" y="20002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34D399"/>
                </a:solidFill>
                <a:latin typeface="PingFang SC"/>
              </a:rPr>
              <a:t>修复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8550" y="23050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启停收归 Registry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467975" y="3228975"/>
            <a:ext cx="209550" cy="2095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144000" y="3619500"/>
            <a:ext cx="2857500" cy="11239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144000" y="3619500"/>
            <a:ext cx="2857500" cy="381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9250" y="3714750"/>
            <a:ext cx="266700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87171"/>
                </a:solidFill>
                <a:latin typeface="PingFang SC"/>
              </a:rPr>
              <a:t>回归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9250" y="4019550"/>
            <a:ext cx="2667000" cy="666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475569"/>
                </a:solidFill>
                <a:latin typeface="PingFang SC"/>
              </a:rPr>
              <a:t>加隔离用例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47/141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踩坑:描述与实现漂移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文档说只读,实现里写了库表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防护:CI 扫描写操作关键词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治本:权限模型以代码为准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48/141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优化:工具选择评测集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30 条任务→期望工具标注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描述改动跑一遍评测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选择准确率纳入 CI 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49/141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优化:工具的幂等设计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同参数重复调用结果不变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支持重试而不副作用翻倍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非幂等工具强制人工确认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50/141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优化:慢工具降级路径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预测耗时&gt;阈值的工具给降级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返回近似结果+标记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保证 Agent 主链路不断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51/141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2-2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52/141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Registry 的存储选型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教学版:内存 dict,重启即空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生产版:PG 表+Redis 缓存清单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关键:变更走审批留版本记录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平台接口不变,实现可替换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53/141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发现的排序策略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命中多个时按什么排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相关度+健康分+风险偏好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只读场景优先 READ 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排序直接影响模型选择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54/141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工具的灰度发布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新版本先 10% 流量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观察成功率与参数错误率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达标全量,异常一键回退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与第6章 FeatureFlags 同机制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55/141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应用:多团队工具共建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平台组维护通用工具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业务组维护领域工具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命名空间隔离+上架审批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避免"工具打架"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56/141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踩坑:发现接口被滥用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业务直查 Registry 绕过模型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绕过了权限与审计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治理:发现仅服务 Agent 装配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57/141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优化:Schema 自动对账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CI 对比文档描述与代码签名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不一致即红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描述漂移的自动化防线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58/141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优化:工具依赖拓扑图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依赖声明生成可视化拓扑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上游故障快速定位影响工具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与 Runbook 联动禁用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59/141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Tool Registry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工具下线为什么必须是热操作?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版本升级的兼容窗口怎么定?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动态装配为什么不全量注入?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你如何验证工具描述改好了?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60/141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执行管线 · src/agent_platform/tools/runtime.py:196-236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475" y="762000"/>
            <a:ext cx="7455049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61/141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2-3 · 工具治理与安全边界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03 / 05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治理四道防线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参数校验:挡脏数据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权限分级:挡越权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人工确认:挡高危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审计回放:事后可追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ToolExecutor 即四道串联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63/141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参数校验:Schema 即法律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Pydantic 严格校验类型/必填/范围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拒绝多余字段(防注入)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错误信息结构化返回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校验失败不进执行,直接审计留痕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64/141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权限模型:RBAC 三角色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readonly:仅 READ 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agent:READ + WRITE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admin:全部(含 DANGEROUS)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身份透传:用户权限决定工具权限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65/141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RBAC 风险矩阵,角色,READ 工具,WRITE 工具,DANGEROUS 工具;readonly,✓,✗,✗;agent,✓,✓,需确认凭据;admin,✓,✓,需确认凭据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1047750"/>
            <a:ext cx="9906000" cy="561975"/>
          </a:xfrm>
          <a:prstGeom prst="roundRect">
            <a:avLst>
              <a:gd name="adj" fmla="val 8000"/>
            </a:avLst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1047750"/>
            <a:ext cx="9696450" cy="5619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hl=3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66/141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高危工具:确认凭据制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DANGEROUS 一律拒 readonly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执行必须带 confirmed=True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 drop_database 演示拦截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无确认执行=安全事故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67/141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工具调用状态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98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8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PENDING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0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PERMIT_OK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2625" y="200025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625" y="200025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EXECUTING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98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8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AUDITED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00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REJECTED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625" y="3429000"/>
            <a:ext cx="2190750" cy="552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625" y="3429000"/>
            <a:ext cx="219075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TIMEOUT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89375" y="227647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8482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9687" y="2133600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9687" y="2133600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权限通过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91375" y="2276475"/>
            <a:ext cx="1044575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8150226" y="22336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942137" y="2133600"/>
            <a:ext cx="15430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2137" y="2133600"/>
            <a:ext cx="15430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wait_f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9398000" y="1562100"/>
            <a:ext cx="0" cy="4191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2794000" y="1562100"/>
            <a:ext cx="6604000" cy="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94000" y="1562100"/>
            <a:ext cx="0" cy="1781175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398000" y="2552700"/>
            <a:ext cx="0" cy="809625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9355138" y="3276601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836025" y="2814637"/>
            <a:ext cx="1123950" cy="285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36025" y="2814637"/>
            <a:ext cx="11239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超时降级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2794000" y="1562100"/>
            <a:ext cx="0" cy="4191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94000" y="1562100"/>
            <a:ext cx="3302000" cy="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096000" y="1562100"/>
            <a:ext cx="0" cy="1781175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68/141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工具白名单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场景级白名单:客服场景只开放查询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白名单外静默拒绝+审计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白名单变更走审批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69/141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SQL 风险控制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只读账号 + 表级权限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强制 LIMIT 与超时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禁止 DDL/DML 关键词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全部 SQL 进审计日志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70/141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SQL 四道闸实测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9527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只读账号: SELECT only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表级权限: business_ro 白名单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强制 LIMIT 1000 + 超时 3s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DDL/DML 关键词静态拦截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全部 SQL 进审计(哈希链防篡改)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NL2SQL 永远不直连生产写库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71/141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Shell 风险控制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命令白名单机制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禁用 sudo/dd/shutdown 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危险模式硬拦截(rm -rf 变体)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第3章 Sandbox 详细展开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72/141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人工确认机制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waiting_approval 状态挂起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确认内容:做什么/影响什么/代价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确认记录进审计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第3章状态机原生支持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73/141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HITL 确认时序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状态机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人工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工具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遇 DANGEROUS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492375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4495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2066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waiting_approval+说明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4508500" y="3175000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16200000">
            <a:off x="4508500" y="313213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8892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approved(confirmed=True)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508500" y="3857625"/>
            <a:ext cx="6350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0772776" y="381476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9500" y="357187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放行执行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508500" y="4540250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4508500" y="44973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2545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rejected(默认)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333500" y="5222875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6200000">
            <a:off x="1333500" y="518001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7000" y="49371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6. 取消分支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74/141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调用队列与依赖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多工具调用:顺序/依赖管理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有依赖按拓扑序执行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失败传播策略:中止或跳过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75/141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审计日志:记什么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工具名/版本/参数(脱敏)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权限判定结果与耗时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成功失败/重试次数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run_id 串起全链路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76/141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审计事件实测(JSON)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3812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1714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executor.execute("query_user", {"api_key":"sk-xxx","q":"joel"})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AuditEvent(event_id="e1", run_id="r6", tool="query_user",args={"api_key": "***MASKED***", "q": "joel"}, ok=True)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mask_args 声明的字段在审计层统一脱敏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meta.chain_hash 哈希链防篡改(v1.3)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77/141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敏感数据脱敏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mask_args 集合声明敏感字段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值替换 ***MASKED***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平台实测:api_key 不落日志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生产红线:PII/Key 永不落盘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78/141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审计安全三道数字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高危拦截率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实测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密钥泄露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审计日志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脱敏字段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mask_args 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79/141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超时与失败恢复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wait_for 硬超时,防挂死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失败返回结构化 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策略:重试/参数修正/降级/人工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工具异常不允许拖垮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80/141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应用:工单系统权限矩阵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客服角色:查工单/查知识库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组长角色:+改派/退款(确认)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管理员:+删除数据(高危)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一张表管理所有边界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81/141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踩坑:审计没接 Pulsar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教学版 InMemory 重启即失忆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生产必须落库/落消息队列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平台 PulsarAuditBus 已就绪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旁路降级:失败计数不阻塞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82/141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踩坑:重试放大副作用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邮件工具重试=重复群发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治理:非幂等工具禁自动重试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或引入幂等键去重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83/141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优化:审计的实时风控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审计流实时分析异常模式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单位时间高危调用超阈值→告警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自动降级为只读模式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84/141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优化:权限即代码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权限矩阵进 Git 版本化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变更走 PR 评审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CI 校验角色-风险覆盖关系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85/141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2-3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86/141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执行管线:权限→校验→超时→审计 · src/agent_platform/tools/runtime.py:200-232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762000"/>
            <a:ext cx="9052560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87/141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治理与安全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四道防线各拦住什么?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为什么 DANGEROUS 需要确认凭据?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非幂等工具的重试原则?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脱敏应该在哪一层做?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88/141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2-4 · MCP 协议与接入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04 / 05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Model Context Protocol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连接模型与外部工具/资源的标准协议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Client/Server 架构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Anthropic 开源,已成行业趋势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90/141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前沿①:MCP 生态演进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Streamable HTTP 取代 stdio 为主流传输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Server 目录化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一次接入处处复用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企业网关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集中鉴权/审计/配额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本平台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PulsarAuditBus+三层权限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91/141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调用时序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Agent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5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MCP Client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0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3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MCP Server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8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外部资源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333500" y="180975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44227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9700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发现工具清单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8500" y="2492375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7597776" y="2449513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22066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tools/call(参数)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683500" y="3175000"/>
            <a:ext cx="31750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31321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7000" y="28892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3. 执行(受白名单约束)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683500" y="3857625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7683500" y="381476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47000" y="357187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4. 结果+元数据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4508500" y="4540250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6200000">
            <a:off x="4508500" y="44973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2545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结构化返回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1333500" y="5222875"/>
            <a:ext cx="31750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16200000">
            <a:off x="1333500" y="5180013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7000" y="4937125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6. 观察回灌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92/141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FC 与 MCP 的分工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Function Calling:模型怎么选工具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MCP:工具怎么标准化接入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一个管意图,一个管生态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两者互补而非竞争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93/141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三大能力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Tools:可执行的函数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Resources:可读的数据源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Prompts:预置提示模板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一个 Server 同时暴露三类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94/141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default_registry:四工具装配 · src/agent_platform/api/deps.py:9-30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144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95/141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三大能力卡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可执行函数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Resources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可读数据源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Prompts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预置提示模板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96/141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vs 传统 HTTP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自描述:发现而非硬编码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标准化:一次接入处处可用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会话化:连接复用与状态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更适合 Agent 的动态场景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97/141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生态接入层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D3A"/>
                </a:solidFill>
                <a:latin typeface="PingFang SC"/>
              </a:rPr>
              <a:t>Agent 运行时:Loop+Decider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发现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MCP Client:发现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68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768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调用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8600" y="2224087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486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224087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连接池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调用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05000" y="3495674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7400" y="3495674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MCP Server 群:文件系统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33850" y="3495674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3385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86250" y="3495674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数据库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62700" y="3495674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627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5100" y="3495674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GitHub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91550" y="3495674"/>
            <a:ext cx="207645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9155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43950" y="3495674"/>
            <a:ext cx="180975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内部 API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Isosceles Triangle 43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治理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905000" y="4767261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57400" y="4767261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治理:白名单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876800" y="4767261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8768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0" y="4767261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审计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848600" y="4767261"/>
            <a:ext cx="28194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486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01000" y="4767261"/>
            <a:ext cx="25527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B1D3A"/>
                </a:solidFill>
                <a:latin typeface="PingFang SC"/>
              </a:rPr>
              <a:t>脱敏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98/141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架构位置:防腐层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MCP Client 藏在 Runtime 后面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上层不感知 Server 差异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Server 挂了 → 工具自动摘除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DDD 防腐层的教科书案例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99/141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接入:文件系统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能力:列目录/读文件/搜索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治理:路径白名单映射到 Sandbox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场景:Codebase Agent 的眼睛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100/141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接入:数据库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能力:只读查询/Schema 内省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治理:只读账号+审计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禁止直连生产写库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101/141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接入:GitHub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能力:仓库/Issue/PR 读写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治理:Token 最小权限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场景:软件工厂的 DevOps 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102/141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接入:内部 HTTP 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包装内部 API 为 MCP 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复用现有鉴权与限流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新工具零改造上架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103/141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权限控制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Server 级:可连接哪些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工具级:可调用哪些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参数级:路径/表名白名单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三层收敛,默认拒绝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104/141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PulsarAuditBus:异步安全投递 · src/agent_platform/tools/pulsar_audit.py:56-88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720" y="762000"/>
            <a:ext cx="9052560" cy="5760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105/141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三层权限收敛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Server 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可连接白名单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工具级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可调用子集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参数级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路径/表名白名单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106/141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MCP 审计与连接管理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连接生命周期:握手/心跳/断开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工具调用全部过统一审计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断线自动重连+退避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 PulsarAuditBus 同一出口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107/141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2026 前沿②:Agent 安全框架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724025"/>
            <a:ext cx="4924425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OWASP LLM Top10(2025 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提示注入/敏感泄露/供应链/越权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9825" y="172402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9825" y="1724025"/>
            <a:ext cx="4924425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72225" y="191452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2225" y="191452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0375" y="193357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Agent 身份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2225" y="233362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服务账号+短期凭证(M2M)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7750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47750" y="3495675"/>
            <a:ext cx="4924425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200150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00150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38300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审计防篡改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0150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哈希链(平台已实现)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9825" y="3495675"/>
            <a:ext cx="4924425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9825" y="3495675"/>
            <a:ext cx="4924425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72225" y="3686175"/>
            <a:ext cx="323850" cy="3238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2225" y="3686175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375" y="3705225"/>
            <a:ext cx="4181475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等保 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2225" y="4105275"/>
            <a:ext cx="4619625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日志留存≥6 个月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108/141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连接生命周期时序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1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Client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333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1435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连接池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906000" y="990600"/>
            <a:ext cx="1905000" cy="400050"/>
          </a:xfrm>
          <a:prstGeom prst="roundRect">
            <a:avLst>
              <a:gd name="adj" fmla="val 8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06000" y="990600"/>
            <a:ext cx="1905000" cy="400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MCP Server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858500" y="1428750"/>
            <a:ext cx="0" cy="4381500"/>
          </a:xfrm>
          <a:prstGeom prst="line">
            <a:avLst/>
          </a:prstGeom>
          <a:ln w="12700">
            <a:solidFill>
              <a:srgbClr val="DDE5E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333500" y="180975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6010276" y="176688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0750" y="15240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1. 握手+能力协商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6000" y="26289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10772776" y="25860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53250" y="23431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2. 心跳保活(15s)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096000" y="34480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6200000">
            <a:off x="6096000" y="34051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3250" y="31623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3. 断线检测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6000" y="4267200"/>
            <a:ext cx="47625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10772776" y="4224338"/>
            <a:ext cx="85725" cy="85725"/>
          </a:xfrm>
          <a:prstGeom prst="triangl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53250" y="398145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563EB"/>
                </a:solidFill>
                <a:latin typeface="PingFang SC"/>
              </a:rPr>
              <a:t>4. 指数退避重连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33500" y="5086350"/>
            <a:ext cx="47625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1333500" y="5043488"/>
            <a:ext cx="85725" cy="85725"/>
          </a:xfrm>
          <a:prstGeom prst="triangl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0750" y="4800600"/>
            <a:ext cx="30480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59E0B"/>
                </a:solidFill>
                <a:latin typeface="PingFang SC"/>
              </a:rPr>
              <a:t>5. 连接释放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109/141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应用:多 Server 组合任务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文件 Server 读需求文档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数据库 Server 查订单数据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GitHub Server 提修复 PR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跨 Server 编排=Agent Loop 的活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110/141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多 MCP Server 编排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Agent Loop:任务分解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38825" y="2014537"/>
            <a:ext cx="5143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38825" y="2014537"/>
            <a:ext cx="5143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224087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224087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D3A"/>
                </a:solidFill>
                <a:latin typeface="PingFang SC"/>
              </a:rPr>
              <a:t>文件 Server:读需求(路径白名单)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838825" y="3286124"/>
            <a:ext cx="5143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38825" y="3286124"/>
            <a:ext cx="5143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3495674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95674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DB Server:查数据(只读)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交付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D3A"/>
                </a:solidFill>
                <a:latin typeface="PingFang SC"/>
              </a:rPr>
              <a:t>GitHub Server:提 PR(Token 最小权)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111/141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踩坑:Server 版本漂移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Server 升级后工具签名变了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参数错误率飙升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防护:接入时快照工具清单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变更告警+回归评测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112/141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踩坑:权限过大陷阱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文件 Server 默认给全盘读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应最小化:只挂需要的根目录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与第3章 Sandbox 联动收敛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113/141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优化:连接池与复用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多 Agent 共享 Client 连接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心跳保活+惰性重连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连接数纳入监控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114/141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优化:工具清单缓存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发现结果缓存+版本标记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失效:连接重建时刷新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减少冷启动延迟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115/141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2-4 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116/141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MCP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MCP 解决了 FC 没解决的什么问题?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Tools/Resources/Prompts 各举一例?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三层权限收敛如何设计?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Server 升级的风险如何防控?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117/141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72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954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3355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171700" y="952500"/>
            <a:ext cx="323850" cy="76200"/>
          </a:xfrm>
          <a:prstGeom prst="rect">
            <a:avLst/>
          </a:prstGeom>
          <a:solidFill>
            <a:srgbClr val="274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9850" y="952500"/>
            <a:ext cx="323850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381250"/>
            <a:ext cx="1143000" cy="571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2857500"/>
            <a:ext cx="9906000" cy="1238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FFFFFF"/>
                </a:solidFill>
                <a:latin typeface="PingFang SC"/>
              </a:rPr>
              <a:t>讲次 2-5 · Agent Tool Runtime 集成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250" y="4286250"/>
            <a:ext cx="9334500" cy="476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F59E0B"/>
                </a:solidFill>
                <a:latin typeface="PingFang SC"/>
              </a:rPr>
              <a:t>LECTURE 05 / 05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集成目标:一张运行时全景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Registry 统一注册与发现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FC 集成:模型意图 → 执行管线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校验/权限/审计/超时全链路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MCP 统一外部接入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Trace 贯穿 + CLI 调试入口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119/141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Runtime 执行管线源码走读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execute() 六步:取spec→enabled→权限→校验→超时执行→审计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每一步失败都有结构化出口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代码:tools/runtime.py ToolExecutor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120/141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CLI 调试入口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list:列出全部工具与风险等级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call:命令行直接调工具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脱离模型单独验证工具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工具先行测试,再接模型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121/141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CLI 工具调试实测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1047750"/>
            <a:ext cx="9525000" cy="2952750"/>
          </a:xfrm>
          <a:prstGeom prst="roundRect">
            <a:avLst>
              <a:gd name="adj" fmla="val 8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33500" y="1047750"/>
            <a:ext cx="9525000" cy="3810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5049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5260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00250" y="1181100"/>
            <a:ext cx="123825" cy="123825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1047750"/>
            <a:ext cx="8286750" cy="381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terminal — 平台实测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0" y="1581150"/>
            <a:ext cx="9067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aep tools list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get_weather [read] search_code [read]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run_test [write] drop_table [dangerous]</a:t>
            </a:r>
          </a:p>
          <a:p>
            <a:pPr>
              <a:lnSpc>
                <a:spcPct val="115000"/>
              </a:lnSpc>
            </a:pPr>
            <a:r>
              <a:rPr sz="1300" b="1">
                <a:solidFill>
                  <a:srgbClr val="34D399"/>
                </a:solidFill>
                <a:latin typeface="Menlo"/>
              </a:rPr>
              <a:t>$ aep tools call get_weather --city BJ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CBD5E1"/>
                </a:solidFill>
                <a:latin typeface="Menlo"/>
              </a:rPr>
              <a:t>sunny::BJ  (latency 0.4ms)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94A3B8"/>
                </a:solidFill>
                <a:latin typeface="Menlo"/>
              </a:rPr>
              <a:t># 工具先单测,再接模型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122/141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Trace:工具调用全链路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选择(模型意图)→ 参数生成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→ 校验 → 权限 → 执行 → 返回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每步 span 可视化(第6章展开)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Span 树已支持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123/141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Tool Trace 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47850" y="914400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62150" y="685800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PingFang SC"/>
              </a:rPr>
              <a:t>L1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05000" y="952500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905000" y="952500"/>
            <a:ext cx="47625" cy="102393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952500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选择:模型意图(span)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6000" y="2033587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10800000">
            <a:off x="6053138" y="2100263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743575" y="2014537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43575" y="2014537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串联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850" y="2185987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62150" y="1957387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4B8A6"/>
                </a:solidFill>
                <a:latin typeface="PingFang SC"/>
              </a:rPr>
              <a:t>L2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05000" y="2224087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4B8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05000" y="2224087"/>
            <a:ext cx="47625" cy="1023937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57400" y="2224087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参数:Schema 校验(span)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6000" y="3305174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10800000">
            <a:off x="6053138" y="3371850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743575" y="3286124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43575" y="3286124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计时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850" y="3457574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2150" y="3228974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8B5CF6"/>
                </a:solidFill>
                <a:latin typeface="PingFang SC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05000" y="3495674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905000" y="3495674"/>
            <a:ext cx="47625" cy="1023937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95674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0B1D3A"/>
                </a:solidFill>
                <a:latin typeface="PingFang SC"/>
              </a:rPr>
              <a:t>执行:wait_for 超时(span)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96000" y="4576761"/>
            <a:ext cx="0" cy="152400"/>
          </a:xfrm>
          <a:prstGeom prst="line">
            <a:avLst/>
          </a:prstGeom>
          <a:ln w="17780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10800000">
            <a:off x="6053138" y="4643437"/>
            <a:ext cx="85725" cy="85725"/>
          </a:xfrm>
          <a:prstGeom prst="triangle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743575" y="4557711"/>
            <a:ext cx="704850" cy="1714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43575" y="4557711"/>
            <a:ext cx="704850" cy="171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归档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47850" y="4729161"/>
            <a:ext cx="8877300" cy="1100137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62150" y="4500561"/>
            <a:ext cx="1905000" cy="2095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59E0B"/>
                </a:solidFill>
                <a:latin typeface="PingFang SC"/>
              </a:rPr>
              <a:t>L4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05000" y="4767261"/>
            <a:ext cx="8763000" cy="102393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905000" y="4767261"/>
            <a:ext cx="47625" cy="1023937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4767261"/>
            <a:ext cx="8496300" cy="102393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B1D3A"/>
                </a:solidFill>
                <a:latin typeface="PingFang SC"/>
              </a:rPr>
              <a:t>审计:脱敏落盘(span)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124/141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应用:客服工具包全流程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查订单(READ)直接过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退款(WRITE)要 agent 角色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删除记录(DANGEROUS)人工确认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一个场景走完三道权限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125/141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应用:数据分析工具包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查询(只读 SQL 白名单)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生成图表(写临时文件)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发送报告(外发,需确认)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同一 Runtime 不同工具包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126/141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分析工具包编排-&gt;查询(只读 SQL 白名单)-&gt;生成图表(写临时区)-&gt;发送报告(外发,确认)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250" y="2667000"/>
            <a:ext cx="104775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7250" y="2667000"/>
            <a:ext cx="104775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53125" y="25241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3125" y="25146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3450" y="2800350"/>
            <a:ext cx="10325100" cy="95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75569"/>
                </a:solidFill>
                <a:latin typeface="PingFang SC"/>
              </a:rPr>
              <a:t>note=同一 Runtime 不同工具包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127/141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踩坑:执行器吞异常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except Exception 返回 None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模型以为成功,继续错误推理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修复:失败必须结构化上抛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平台 ToolResult.ok 永远显式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128/141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踩坑:超时值拍脑袋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默认 30s 对慢工具不够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对快工具又太长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优化:按工具画像配置 P99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超时也是审计字段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129/141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优化:工具调用缓存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幂等读工具结果缓存 60s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相同参数直接回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命中率进监控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第6章四级缓存的 L4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130/141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优化:审计批量上报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单条上报吞吐不够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攒批+超时双触发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Pulsar 生产端批量发送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131/141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优化:工具健康分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成功率/延迟/超时率加权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低于阈值自动下线告警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恢复后自动重新启用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132/141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健康分三级响应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2609850"/>
            <a:ext cx="3200400" cy="571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01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01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383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降权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成功率 90~95% 减流量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580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5800" y="2609850"/>
            <a:ext cx="3200400" cy="571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4820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820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635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下线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&lt;90% 自动禁用+告警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43850" y="2609850"/>
            <a:ext cx="32004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43850" y="2609850"/>
            <a:ext cx="3200400" cy="5715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96250" y="2800350"/>
            <a:ext cx="323850" cy="3238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6250" y="2800350"/>
            <a:ext cx="32385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4400" y="2819400"/>
            <a:ext cx="24574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1D3A"/>
                </a:solidFill>
                <a:latin typeface="PingFang SC"/>
              </a:rPr>
              <a:t>恢复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0" y="3219450"/>
            <a:ext cx="2895600" cy="7810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475569"/>
                </a:solidFill>
                <a:latin typeface="PingFang SC"/>
              </a:rPr>
              <a:t>探活连续通过后重启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133/141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Lab2 实战指引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注册 5 个业务工具(含1高危)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readonly 调写工具→被拒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高危无确认→被拒,确认后通过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api_key 参数全程脱敏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验收清单见下一页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134/141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4800" y="0"/>
            <a:ext cx="11430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1D3A"/>
                </a:solidFill>
                <a:latin typeface="PingFang SC"/>
              </a:rPr>
              <a:t>自测 · MCP 与集成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1143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1143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90650" y="1143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143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MCP 与 FC 的分工边界?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1905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905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1905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905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三层权限如何收敛?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2667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2667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2667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5000" y="2667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Server 版本漂移如何防控?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29000"/>
            <a:ext cx="9906000" cy="5905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3429000"/>
            <a:ext cx="47625" cy="647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3429000"/>
            <a:ext cx="4191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563EB"/>
                </a:solidFill>
                <a:latin typeface="PingFang SC"/>
              </a:rP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5000" y="3429000"/>
            <a:ext cx="8572500" cy="647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475569"/>
                </a:solidFill>
                <a:latin typeface="PingFang SC"/>
              </a:rPr>
              <a:t>CLI 调试为何要先于接模型?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135/141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096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143000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9E0B"/>
                </a:solidFill>
                <a:latin typeface="PingFang SC"/>
              </a:rPr>
              <a:t>MCP deps · src/agent_platform/api/deps.py:9-34</a:t>
            </a:r>
          </a:p>
        </p:txBody>
      </p:sp>
      <p:pic>
        <p:nvPicPr>
          <p:cNvPr id="5" name="Picture 4" descr="co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62000"/>
            <a:ext cx="11460480" cy="573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136/141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M2 里程碑数字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2309812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工具模块单测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43312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43312" y="1905000"/>
            <a:ext cx="2309812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3312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3312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5712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执行管线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8874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8874" y="1905000"/>
            <a:ext cx="2309812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8874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8874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角色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274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RBAC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4436" y="1905000"/>
            <a:ext cx="2309812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34436" y="1905000"/>
            <a:ext cx="2309812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34436" y="2286000"/>
            <a:ext cx="2309812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59E0B"/>
                </a:solidFill>
                <a:latin typeface="PingFang SC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34436" y="3333750"/>
            <a:ext cx="2309812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高危拦截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6836" y="4057650"/>
            <a:ext cx="2005012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实测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137/141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FC 机制:意图与执行分离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Registry:工具的治理中枢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治理:四道防线缺一不可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MCP:生态接入的标准化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下一章:工具串成长程任务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138/141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第2章成果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77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7750" y="1905000"/>
            <a:ext cx="3175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77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563EB"/>
                </a:solidFill>
                <a:latin typeface="PingFang SC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77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视觉页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01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本章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850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08500" y="1905000"/>
            <a:ext cx="3175000" cy="76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850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4B8A6"/>
                </a:solidFill>
                <a:latin typeface="PingFang SC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850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组件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090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图形类型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9250" y="1905000"/>
            <a:ext cx="31750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69250" y="1905000"/>
            <a:ext cx="3175000" cy="762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9250" y="2286000"/>
            <a:ext cx="3175000" cy="1047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8B5CF6"/>
                </a:solidFill>
                <a:latin typeface="PingFang SC"/>
              </a:rPr>
              <a:t>6.7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69250" y="3333750"/>
            <a:ext cx="3175000" cy="323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PingFang SC"/>
              </a:rPr>
              <a:t>图/讲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1650" y="4057650"/>
            <a:ext cx="2870200" cy="571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全课程均值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139/141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Lab2 验收清单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47625" cy="8763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450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discover 命中预期工具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9650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9144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914400"/>
            <a:ext cx="47625" cy="8763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19875" y="9144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readonly 调 WRITE 被拒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5075" y="12858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6300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6300" y="1962150"/>
            <a:ext cx="47625" cy="8763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4450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DANGEROUS 无确认被拒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9650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196215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1962150"/>
            <a:ext cx="47625" cy="8763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9875" y="196215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审计事件可在消费端核对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5075" y="233362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76300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6300" y="3009900"/>
            <a:ext cx="47625" cy="8763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非法参数被 Schema 拦截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9650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1725" y="3009900"/>
            <a:ext cx="5133975" cy="8763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725" y="3009900"/>
            <a:ext cx="47625" cy="876300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9875" y="3009900"/>
            <a:ext cx="4524375" cy="876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475569"/>
                </a:solidFill>
                <a:latin typeface="PingFang SC"/>
              </a:rPr>
              <a:t>[ ] 慢工具超时降级不挂死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15075" y="3381375"/>
            <a:ext cx="133350" cy="133350"/>
          </a:xfrm>
          <a:prstGeom prst="roundRect">
            <a:avLst>
              <a:gd name="adj" fmla="val 8000"/>
            </a:avLst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140/141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B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6200" cy="7048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66700" y="0"/>
            <a:ext cx="1028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PingFang SC"/>
              </a:rPr>
              <a:t>下一章预告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34500" y="0"/>
            <a:ext cx="2667000" cy="704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94A3B8"/>
                </a:solidFill>
                <a:latin typeface="PingFang SC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6300" y="9144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6300" y="914400"/>
            <a:ext cx="57150" cy="1028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47750" y="12858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750" y="12763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9144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单轮调用不够:需要多步执行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6300" y="21145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76300" y="2114550"/>
            <a:ext cx="57150" cy="10287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47750" y="24860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7750" y="24765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21145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Agent Loop 与 9 态状态机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6300" y="331470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6300" y="3314700"/>
            <a:ext cx="57150" cy="10287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47750" y="368617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750" y="367665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5900" y="331470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Sandbox:安全执行环境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300" y="4514850"/>
            <a:ext cx="10439400" cy="102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6300" y="4514850"/>
            <a:ext cx="57150" cy="10287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7750" y="4886325"/>
            <a:ext cx="285750" cy="28575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7750" y="4876800"/>
            <a:ext cx="285750" cy="2857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5900" y="4514850"/>
            <a:ext cx="9601200" cy="1028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475569"/>
                </a:solidFill>
                <a:latin typeface="PingFang SC"/>
              </a:rPr>
              <a:t>目标里程碑 M3:Codebase Agent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6300" y="6019800"/>
            <a:ext cx="10439400" cy="51435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6800" y="6019800"/>
            <a:ext cx="10058400" cy="5524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2563EB"/>
                </a:solidFill>
                <a:latin typeface="PingFang SC"/>
              </a:rPr>
              <a:t>▶ 让工具调用"连续作战"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34150"/>
            <a:ext cx="1619250" cy="2667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PingFang SC"/>
              </a:rPr>
              <a:t>第2章 · 141/141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