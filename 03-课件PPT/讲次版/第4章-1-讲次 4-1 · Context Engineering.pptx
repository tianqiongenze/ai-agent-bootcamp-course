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77120" y="1486160"/>
            <a:ext cx="4953000" cy="4953000"/>
          </a:xfrm>
          <a:prstGeom prst="ellipse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77280" y="1086040"/>
            <a:ext cx="3619500" cy="3619500"/>
          </a:xfrm>
          <a:prstGeom prst="ellipse">
            <a:avLst/>
          </a:prstGeom>
          <a:solidFill>
            <a:srgbClr val="1B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06000" y="714500"/>
            <a:ext cx="2381250" cy="2381250"/>
          </a:xfrm>
          <a:prstGeom prst="ellipse">
            <a:avLst/>
          </a:prstGeom>
          <a:solidFill>
            <a:srgbClr val="244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18000"/>
            <a:ext cx="12192000" cy="240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7250" y="914400"/>
            <a:ext cx="552450" cy="5524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7250" y="857250"/>
            <a:ext cx="5524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B1D3A"/>
                </a:solidFill>
                <a:latin typeface="PingFang SC"/>
              </a:rPr>
              <a:t>4.1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9250" y="1143000"/>
            <a:ext cx="55245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4A3B8"/>
                </a:solidFill>
                <a:latin typeface="PingFang SC"/>
              </a:rPr>
              <a:t>AI AGENT 全栈工程师训练营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9250" y="2000250"/>
            <a:ext cx="6858000" cy="2000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PingFang SC"/>
              </a:rPr>
              <a:t>4-1 · Context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9250" y="4191000"/>
            <a:ext cx="6477000" cy="76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CBD5E1"/>
                </a:solidFill>
                <a:latin typeface="PingFang SC"/>
              </a:rPr>
              <a:t>Context Engineering、Memory 与 Codebase RAG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9250" y="5429250"/>
            <a:ext cx="83820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Agent Engineering Platform · v1.3 · 审计 9.4/10 · 125 测试</a:t>
            </a:r>
          </a:p>
        </p:txBody>
      </p:sp>
      <p:sp>
        <p:nvSpPr>
          <p:cNvPr id="13" name="Oval 12"/>
          <p:cNvSpPr/>
          <p:nvPr/>
        </p:nvSpPr>
        <p:spPr>
          <a:xfrm>
            <a:off x="9372600" y="4514850"/>
            <a:ext cx="1066800" cy="1066800"/>
          </a:xfrm>
          <a:prstGeom prst="ellipse">
            <a:avLst/>
          </a:prstGeom>
          <a:noFill/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48800" y="4591050"/>
            <a:ext cx="914400" cy="914400"/>
          </a:xfrm>
          <a:prstGeom prst="ellipse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4895850"/>
            <a:ext cx="106680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59E0B"/>
                </a:solidFill>
                <a:latin typeface="PingFang SC"/>
              </a:rPr>
              <a:t>AEP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01100" y="5638800"/>
            <a:ext cx="22098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PingFang SC"/>
              </a:rPr>
              <a:t>AI Agent 训练营 · 教研室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50" y="609600"/>
            <a:ext cx="102870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PingFang SC"/>
              </a:rPr>
              <a:t>本章目录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1238250"/>
            <a:ext cx="933450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8 个知识模块 · 含实测数据图表与代码走查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1905000"/>
            <a:ext cx="47625" cy="5905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70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B8A6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495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4-1 · Context Engineering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7250" y="2628900"/>
            <a:ext cx="47625" cy="5905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870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B5CF6"/>
                </a:solidFill>
                <a:latin typeface="PingFang S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495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4-2 · Working Memory 与任务上下文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725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7250" y="3352800"/>
            <a:ext cx="47625" cy="5905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870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9E0B"/>
                </a:solidFill>
                <a:latin typeface="PingFang S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495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4-3 · Memory 体系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250" y="40767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250" y="4076700"/>
            <a:ext cx="47625" cy="5905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700" y="40767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4D399"/>
                </a:solidFill>
                <a:latin typeface="PingFang SC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4950" y="40767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4-4 · 现代 RAG 全链路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0941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09410" y="1905000"/>
            <a:ext cx="47625" cy="59055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8086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87171"/>
                </a:solidFill>
                <a:latin typeface="PingFang SC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711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4-5 · LLM Wiki 与 Codebase RAG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0941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09410" y="2628900"/>
            <a:ext cx="47625" cy="5905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8086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5711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本章小结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0941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709410" y="3352800"/>
            <a:ext cx="47625" cy="5905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8086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B8A6"/>
                </a:solidFill>
                <a:latin typeface="PingFang SC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5711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Lab4 验收清单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09410" y="40767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709410" y="4076700"/>
            <a:ext cx="47625" cy="5905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80860" y="40767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B5CF6"/>
                </a:solidFill>
                <a:latin typeface="PingFang SC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57110" y="40767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下一章预告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2/33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4-1 · Context Engi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952500"/>
            <a:ext cx="323850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7250" y="2381250"/>
            <a:ext cx="11430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7250" y="2857500"/>
            <a:ext cx="9906000" cy="1238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FFFFF"/>
                </a:solidFill>
                <a:latin typeface="PingFang SC"/>
              </a:rPr>
              <a:t>讲次 4-1 · Context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4286250"/>
            <a:ext cx="93345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59E0B"/>
                </a:solidFill>
                <a:latin typeface="PingFang SC"/>
              </a:rPr>
              <a:t>LECTURE 01 /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4-1 · Context Engi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与 Prompt Engineering 的分界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PE:写好一段指令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CE:管好整个上下文窗口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CE 是系统设计,PE 是文案设计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两者都要,层次不同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4/33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4-1 · Context Engi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上下文的三重约束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长度:窗口物理上限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成本:Token 计费线性增长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注意力:长内容中间被忽略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三个约束一起做预算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5/33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4-1 · Context Engi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ContextWindow.fit:装箱算法 · src/agent_platform/context_memory/context.py:22-46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62000"/>
            <a:ext cx="11460480" cy="573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6/33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4-1 · Context Engi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窗口三约束量化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128k^窗口^物理上限;96k^预算^实际可用;70%^降幅^压缩实测(20→6条)|长度/成本/注意力同时做预算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7750" y="1905000"/>
            <a:ext cx="31750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47750" y="1905000"/>
            <a:ext cx="3175000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7750" y="2286000"/>
            <a:ext cx="317500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2563EB"/>
                </a:solidFill>
                <a:latin typeface="PingFang SC"/>
              </a:rPr>
              <a:t>128k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750" y="3333750"/>
            <a:ext cx="317500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窗口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4057650"/>
            <a:ext cx="28702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物理上限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08500" y="1905000"/>
            <a:ext cx="31750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08500" y="1905000"/>
            <a:ext cx="3175000" cy="76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8500" y="2286000"/>
            <a:ext cx="317500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14B8A6"/>
                </a:solidFill>
                <a:latin typeface="PingFang SC"/>
              </a:rPr>
              <a:t>96k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8500" y="3333750"/>
            <a:ext cx="317500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预算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0900" y="4057650"/>
            <a:ext cx="28702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实际可用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69250" y="1905000"/>
            <a:ext cx="31750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69250" y="1905000"/>
            <a:ext cx="3175000" cy="762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69250" y="2286000"/>
            <a:ext cx="317500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8B5CF6"/>
                </a:solidFill>
                <a:latin typeface="PingFang SC"/>
              </a:rPr>
              <a:t>70%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69250" y="3333750"/>
            <a:ext cx="317500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降幅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1650" y="4057650"/>
            <a:ext cx="28702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压缩实测(20→6条)|长度/成本/注意力同时做预算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7/33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4-1 · Context Engi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Context Packing:进还是不进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必进:目标/关键约束/活跃任务状态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按需:检索结果/工具输出摘要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不进:全量日志/历史原始数据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留外部状态,窗口只放工作集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8/33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4-1 · Context Engi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Context 装配分层(预算 96k 示例)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FitReport 记录压缩比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47850" y="914400"/>
            <a:ext cx="8877300" cy="895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905000" y="952500"/>
            <a:ext cx="8763000" cy="819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05000" y="952500"/>
            <a:ext cx="47625" cy="819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38350" y="952500"/>
            <a:ext cx="8534400" cy="8191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system: 2k 全局指令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6000" y="1828800"/>
            <a:ext cx="0" cy="152400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10800000">
            <a:off x="6053138" y="1895476"/>
            <a:ext cx="85725" cy="85725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48400" y="1771650"/>
            <a:ext cx="2095500" cy="247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PingFang SC"/>
              </a:rPr>
              <a:t>优先级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47850" y="1981200"/>
            <a:ext cx="8877300" cy="895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905000" y="2019300"/>
            <a:ext cx="8763000" cy="819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05000" y="2019300"/>
            <a:ext cx="47625" cy="819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38350" y="2019300"/>
            <a:ext cx="8534400" cy="8191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记忆: 4k 项目级+长期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6000" y="2895600"/>
            <a:ext cx="0" cy="152400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10800000">
            <a:off x="6053138" y="2962276"/>
            <a:ext cx="85725" cy="85725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8400" y="2838450"/>
            <a:ext cx="2095500" cy="247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PingFang SC"/>
              </a:rPr>
              <a:t>装箱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47850" y="3048000"/>
            <a:ext cx="8877300" cy="895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905000" y="3086100"/>
            <a:ext cx="8763000" cy="819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905000" y="3086100"/>
            <a:ext cx="47625" cy="819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38350" y="3086100"/>
            <a:ext cx="8534400" cy="8191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检索: 16k 证据片段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96000" y="3962400"/>
            <a:ext cx="0" cy="152400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10800000">
            <a:off x="6053138" y="4029076"/>
            <a:ext cx="85725" cy="85725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48400" y="3905250"/>
            <a:ext cx="2095500" cy="247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PingFang SC"/>
              </a:rPr>
              <a:t>压缩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47850" y="4114800"/>
            <a:ext cx="8877300" cy="895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905000" y="4152900"/>
            <a:ext cx="8763000" cy="819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905000" y="4152900"/>
            <a:ext cx="47625" cy="819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38350" y="4152900"/>
            <a:ext cx="8534400" cy="8191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历史: 32k 对话与观察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96000" y="5029200"/>
            <a:ext cx="0" cy="152400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/>
          <p:cNvSpPr/>
          <p:nvPr/>
        </p:nvSpPr>
        <p:spPr>
          <a:xfrm rot="10800000">
            <a:off x="6053138" y="5095876"/>
            <a:ext cx="85725" cy="85725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847850" y="5181600"/>
            <a:ext cx="8877300" cy="895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905000" y="5219700"/>
            <a:ext cx="8763000" cy="819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905000" y="5219700"/>
            <a:ext cx="47625" cy="8191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38350" y="5219700"/>
            <a:ext cx="8534400" cy="8191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输出预留: 8k 生成空间|FitReport 记录压缩比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9/33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4-1 · Context Engi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Context Prioritization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同窗内也要分优先级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关键信息放开头结尾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低优先级可压缩/外置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10/33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4-1 · Context Engi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注意力优先级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头尾:system+最新观察(高保留);中段:历史与长引用(压缩区);外部:原始数据(不进窗)|lost-in-the-middle 实证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5855" y="1333500"/>
            <a:ext cx="2320290" cy="1066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935855" y="1333500"/>
            <a:ext cx="57150" cy="1066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6355" y="1333500"/>
            <a:ext cx="881710" cy="1066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8B5CF6"/>
                </a:solidFill>
                <a:latin typeface="PingFang SC"/>
              </a:rPr>
              <a:t>头尾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63971" y="1333500"/>
            <a:ext cx="1345768" cy="1066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PingFang SC"/>
              </a:rPr>
              <a:t>system+最新观察(高保留)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6000" y="2419350"/>
            <a:ext cx="0" cy="171450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10800000">
            <a:off x="6053138" y="2505076"/>
            <a:ext cx="85725" cy="85725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134802" y="2609850"/>
            <a:ext cx="3922395" cy="1066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34802" y="2609850"/>
            <a:ext cx="57150" cy="1066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25302" y="2609850"/>
            <a:ext cx="1490510" cy="1066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4B8A6"/>
                </a:solidFill>
                <a:latin typeface="PingFang SC"/>
              </a:rPr>
              <a:t>中段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03760" y="2609850"/>
            <a:ext cx="2274989" cy="1066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PingFang SC"/>
              </a:rPr>
              <a:t>历史与长引用(压缩区)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96000" y="3695700"/>
            <a:ext cx="0" cy="171450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10800000">
            <a:off x="6053138" y="3781426"/>
            <a:ext cx="85725" cy="85725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333750" y="3886200"/>
            <a:ext cx="5524500" cy="1066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33750" y="3886200"/>
            <a:ext cx="57150" cy="1066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4250" y="3886200"/>
            <a:ext cx="2099310" cy="1066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563EB"/>
                </a:solidFill>
                <a:latin typeface="PingFang SC"/>
              </a:rPr>
              <a:t>外部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43550" y="3886200"/>
            <a:ext cx="3204210" cy="1066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PingFang SC"/>
              </a:rPr>
              <a:t>原始数据(不进窗)|lost-in-the-middle 实证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11/33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4-1 · Context Engi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Context Budget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为每类内容分配 Token 配额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system/记忆/检索/历史 各占多少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超配额触发压缩或淘汰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ContextWindow.fit 即装箱器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12/33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4-1 · Context Engi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压缩策略:长文件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截断:保头保尾,丢中段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摘要:LLM 生成摘要替换原文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分段索引:需要哪段取哪段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代码相关优先 AST 结构化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13/33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4-1 · Context Engi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压缩策略:工具结果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大 JSON 只留关键字段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列表结果保留分页游标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失败结果保留错误详情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观察回灌前的标准动作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14/33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4-1 · Context Engi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压缩策略:历史对话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保留最近 N 轮原文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更早轮次折叠为摘要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决策性内容显式保留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compress_history 已实现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15/33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4-1 · Context Engi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上下文污染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无关内容稀释关键信息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错误信息引发连锁幻觉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防护:定期清理+来源标注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污染的窗口=中毒的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16/33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4-1 · Context Engi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Token 预算实操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例:窗口 128k,实际预算 96k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system 2k / 记忆 4k / 检索 16k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历史 32k / 输出预留 8k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余量应对突发与超估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17/33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4-1 · Context Engi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96k 预算分配(k)</a:t>
            </a:r>
          </a:p>
        </p:txBody>
      </p:sp>
      <p:pic>
        <p:nvPicPr>
          <p:cNvPr id="5" name="Picture 4" descr="chart_5764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" y="914400"/>
            <a:ext cx="9334500" cy="441655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428750" y="5867400"/>
            <a:ext cx="9334500" cy="609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" y="5867400"/>
            <a:ext cx="89535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PingFang SC"/>
              </a:rPr>
              <a:t>💡 余量 34k 抗突发与超估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18/33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4-1 · Context Engi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KV Cache 对成本的影响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前缀相同可复用缓存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system 稳定 → 前缀命中率高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动态内容放后段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理解机制即可,不必深入实现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19/33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4-1 · Context Engi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成本与延迟的控制组合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缓存:语义缓存减少重复调用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并发:独立任务并行发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限流:保护配额与下游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模型路由:大小模型分层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四个旋钮联合调优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20/33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4-1 · Context Engi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Context Debug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记录:装了什么/丢了什么/为什么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每次压缩留决策日志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排查"模型没看到"的利器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FitReport 是它的雏形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21/33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4-1 · Context Engi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Retrieval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从文档/代码/历史中找相关信息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检索质量决定上下文质量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详见 4-4 RAG 全链路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22/33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4-1 · Context Engi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LiteLLM 演示路由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多供应商统一网关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fallback/日志/成本追踪开箱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与自研 Gateway 思路一致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教学对照,理解取舍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23/33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4-1 · Context Engi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应用:代码审查的上下文装配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只装 diff+相关调用链+规范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不装整个仓库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审查质量与成本兼得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24/33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4-1 · Context Engi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应用:长文档问答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先检索定位章节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只装命中段落±邻段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引用带章节定位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25/33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4-1 · Context Engi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踩坑:一刀切截断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按字符数硬截,切在代码中间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修复:结构感知切分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函数/段落是天然边界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26/33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4-1 · Context Engi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踩坑:摘要失真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摘要丢掉了关键约束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后续步骤全错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修复:摘要后附原文关键行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重要事实不进摘要,进记忆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27/33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4-1 · Context Engi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优化:窗口命中率看板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各类内容占比趋势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压缩率与任务成功率相关性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数据驱动调配额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28/33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4-1 · Context Engi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L1 容量 vs L1 命中数(30键池/6000次)</a:t>
            </a:r>
          </a:p>
        </p:txBody>
      </p:sp>
      <p:pic>
        <p:nvPicPr>
          <p:cNvPr id="5" name="Picture 4" descr="chart_6893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" y="914400"/>
            <a:ext cx="9334500" cy="441655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428750" y="5867400"/>
            <a:ext cx="9334500" cy="609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" y="5867400"/>
            <a:ext cx="89535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PingFang SC"/>
              </a:rPr>
              <a:t>💡 l1=64 已到顶:容量过小→L2 兜底多一跳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29/33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4-1 · Context Engi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缓存优化关键数字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59.5%^混合命中率^四负载等权;+32.3%^语义层提升^绝对值;64^L1 容量^即可 100% L1 命中(30键池)|调优顺序:键归一&gt;容量&gt;TTL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7750" y="1905000"/>
            <a:ext cx="31750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47750" y="1905000"/>
            <a:ext cx="3175000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7750" y="2286000"/>
            <a:ext cx="317500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2563EB"/>
                </a:solidFill>
                <a:latin typeface="PingFang SC"/>
              </a:rPr>
              <a:t>59.5%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750" y="3333750"/>
            <a:ext cx="317500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混合命中率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4057650"/>
            <a:ext cx="28702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四负载等权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08500" y="1905000"/>
            <a:ext cx="31750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08500" y="1905000"/>
            <a:ext cx="3175000" cy="76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8500" y="2286000"/>
            <a:ext cx="317500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14B8A6"/>
                </a:solidFill>
                <a:latin typeface="PingFang SC"/>
              </a:rPr>
              <a:t>+32.3%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8500" y="3333750"/>
            <a:ext cx="317500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语义层提升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0900" y="4057650"/>
            <a:ext cx="28702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绝对值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69250" y="1905000"/>
            <a:ext cx="31750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69250" y="1905000"/>
            <a:ext cx="3175000" cy="762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69250" y="2286000"/>
            <a:ext cx="317500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8B5CF6"/>
                </a:solidFill>
                <a:latin typeface="PingFang SC"/>
              </a:rPr>
              <a:t>64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69250" y="3333750"/>
            <a:ext cx="317500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L1 容量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1650" y="4057650"/>
            <a:ext cx="28702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即可 100% L1 命中(30键池)|调优顺序:键归一&gt;容量&gt;TTL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30/33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4-1 · Context Engi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4-1 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31/33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4-1 · Context Engi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历史压缩:保头尾折中段 · src/agent_platform/context_memory/context.py:10-19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62000"/>
            <a:ext cx="11460480" cy="28000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32/33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4-1 · Context Engi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0"/>
            <a:ext cx="11430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1D3A"/>
                </a:solidFill>
                <a:latin typeface="PingFang SC"/>
              </a:rPr>
              <a:t>自测 · Context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143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90650" y="1143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1143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三重约束分别限制什么?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905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905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1905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1905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哪些内容永远不进窗口?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667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667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2667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2667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摘要为什么会失真,怎么补?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29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3429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3429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5000" y="3429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FitReport 记录了什么?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33/33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4-1 · Context Engi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