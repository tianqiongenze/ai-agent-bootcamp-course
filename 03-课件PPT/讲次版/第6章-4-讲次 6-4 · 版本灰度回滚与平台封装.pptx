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477120" y="1486160"/>
            <a:ext cx="4953000" cy="4953000"/>
          </a:xfrm>
          <a:prstGeom prst="ellipse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477280" y="1086040"/>
            <a:ext cx="3619500" cy="3619500"/>
          </a:xfrm>
          <a:prstGeom prst="ellipse">
            <a:avLst/>
          </a:prstGeom>
          <a:solidFill>
            <a:srgbClr val="1B37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406000" y="714500"/>
            <a:ext cx="2381250" cy="2381250"/>
          </a:xfrm>
          <a:prstGeom prst="ellipse">
            <a:avLst/>
          </a:prstGeom>
          <a:solidFill>
            <a:srgbClr val="244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18000"/>
            <a:ext cx="12192000" cy="240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57250" y="914400"/>
            <a:ext cx="552450" cy="5524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7250" y="857250"/>
            <a:ext cx="55245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0B1D3A"/>
                </a:solidFill>
                <a:latin typeface="PingFang SC"/>
              </a:rPr>
              <a:t>6.4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19250" y="1143000"/>
            <a:ext cx="55245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94A3B8"/>
                </a:solidFill>
                <a:latin typeface="PingFang SC"/>
              </a:rPr>
              <a:t>AI AGENT 全栈工程师训练营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19250" y="2000250"/>
            <a:ext cx="6858000" cy="2000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>
                <a:solidFill>
                  <a:srgbClr val="FFFFFF"/>
                </a:solidFill>
                <a:latin typeface="PingFang SC"/>
              </a:rPr>
              <a:t>6-4 · 版本灰度回滚与平台封装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19250" y="4191000"/>
            <a:ext cx="6477000" cy="762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CBD5E1"/>
                </a:solidFill>
                <a:latin typeface="PingFang SC"/>
              </a:rPr>
              <a:t>工程化、生产部署与可观测性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19250" y="5429250"/>
            <a:ext cx="8382000" cy="476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4A3B8"/>
                </a:solidFill>
                <a:latin typeface="PingFang SC"/>
              </a:rPr>
              <a:t>Agent Engineering Platform · v1.3 · 审计 9.4/10 · 125 测试</a:t>
            </a:r>
          </a:p>
        </p:txBody>
      </p:sp>
      <p:sp>
        <p:nvSpPr>
          <p:cNvPr id="13" name="Oval 12"/>
          <p:cNvSpPr/>
          <p:nvPr/>
        </p:nvSpPr>
        <p:spPr>
          <a:xfrm>
            <a:off x="9372600" y="4514850"/>
            <a:ext cx="1066800" cy="1066800"/>
          </a:xfrm>
          <a:prstGeom prst="ellipse">
            <a:avLst/>
          </a:prstGeom>
          <a:noFill/>
          <a:ln w="254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448800" y="4591050"/>
            <a:ext cx="914400" cy="914400"/>
          </a:xfrm>
          <a:prstGeom prst="ellipse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72600" y="4895850"/>
            <a:ext cx="1066800" cy="304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59E0B"/>
                </a:solidFill>
                <a:latin typeface="PingFang SC"/>
              </a:rPr>
              <a:t>AEP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01100" y="5638800"/>
            <a:ext cx="22098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94A3B8"/>
                </a:solidFill>
                <a:latin typeface="PingFang SC"/>
              </a:rPr>
              <a:t>AI Agent 训练营 · 教研室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66750" y="609600"/>
            <a:ext cx="10287000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PingFang SC"/>
              </a:rPr>
              <a:t>本章目录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6750" y="1238250"/>
            <a:ext cx="9334500" cy="381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4A3B8"/>
                </a:solidFill>
                <a:latin typeface="PingFang SC"/>
              </a:rPr>
              <a:t>7 个知识模块 · 含实测数据图表与代码走查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7250" y="19050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57250" y="1905000"/>
            <a:ext cx="47625" cy="5905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8700" y="19050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4B8A6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4950" y="19050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6-1 · 模型服务与推理部署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7250" y="26289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57250" y="2628900"/>
            <a:ext cx="47625" cy="5905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8700" y="26289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8B5CF6"/>
                </a:solidFill>
                <a:latin typeface="PingFang SC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4950" y="26289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6-2 · 性能与成本优化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7250" y="33528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57250" y="3352800"/>
            <a:ext cx="47625" cy="5905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28700" y="33528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59E0B"/>
                </a:solidFill>
                <a:latin typeface="PingFang SC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04950" y="33528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6-3 · 可观测性与监控告警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250" y="40767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250" y="4076700"/>
            <a:ext cx="47625" cy="59055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28700" y="40767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4D399"/>
                </a:solidFill>
                <a:latin typeface="PingFang SC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04950" y="40767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6-4 · 版本灰度回滚与平台封装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709410" y="19050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709410" y="1905000"/>
            <a:ext cx="47625" cy="590550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80860" y="19050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87171"/>
                </a:solidFill>
                <a:latin typeface="PingFang SC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57110" y="19050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本章小结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709410" y="26289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709410" y="2628900"/>
            <a:ext cx="47625" cy="5905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80860" y="26289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06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57110" y="26289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Lab6 验收清单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709410" y="33528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709410" y="3352800"/>
            <a:ext cx="47625" cy="5905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80860" y="33528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4B8A6"/>
                </a:solidFill>
                <a:latin typeface="PingFang SC"/>
              </a:rPr>
              <a:t>07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57110" y="33528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下一章预告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2/37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6-4 · 版本灰度回滚与平台封装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57250" y="952500"/>
            <a:ext cx="323850" cy="762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57250" y="2381250"/>
            <a:ext cx="1143000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7250" y="2857500"/>
            <a:ext cx="9906000" cy="1238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FFFFFF"/>
                </a:solidFill>
                <a:latin typeface="PingFang SC"/>
              </a:rPr>
              <a:t>讲次 6-4 · 版本灰度回滚与平台封装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7250" y="4286250"/>
            <a:ext cx="9334500" cy="476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F59E0B"/>
                </a:solidFill>
                <a:latin typeface="PingFang SC"/>
              </a:rPr>
              <a:t>LECTURE 01 / 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6-4 · 版本灰度回滚与平台封装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六类版本对象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模型/Prompt/工具/Skill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RAG 策略/知识库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Workflow/Agent 本身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一切皆版本,一切可回滚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4/37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6-4 · 版本灰度回滚与平台封装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版本化对象清单,对象,版本内容,回滚方式;模型,厂商/参数/fallback 链,Flag 切换;Prompt,模板+评测报告,Flag 切换;工具,Schema/权限/逻辑,registry 版本;Skill,步骤/质量标准,版本递增;RAG 策略,分块/模型/Rerank,配置回退;知识库,快照+变更日志,快照恢复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43000" y="1047750"/>
            <a:ext cx="9906000" cy="561975"/>
          </a:xfrm>
          <a:prstGeom prst="roundRect">
            <a:avLst>
              <a:gd name="adj" fmla="val 8000"/>
            </a:avLst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57300" y="1047750"/>
            <a:ext cx="9696450" cy="5619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hl=3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5/37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6-4 · 版本灰度回滚与平台封装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模型与 Prompt 版本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记录:效果差异/适用场景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回滚点:评测通过的旧版本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Prompt 版本绑定评测报告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6/37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6-4 · 版本灰度回滚与平台封装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工具与 Skill 版本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Schema/权限/逻辑变更都算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平台:Skill 版本强制递增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灰度:新旧并存按流量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7/37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6-4 · 版本灰度回滚与平台封装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RAG 策略与知识库版本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切块/Embedding/检索参数/Rerank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知识库快照+变更日志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评测:切换前后引用准确率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8/37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6-4 · 版本灰度回滚与平台封装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Feature Flag:一切切换的开关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控制:Prompt/模型/策略/Planner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平台:FeatureFlags 已实现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Flag 代码比功能代码先上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9/37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6-4 · 版本灰度回滚与平台封装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灰度发布维度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按用户/部门/租户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按任务类型/风险等级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A/B Test+指标观察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平台:一致性哈希百分比灰度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10/37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6-4 · 版本灰度回滚与平台封装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1430000" cy="609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59E0B"/>
                </a:solidFill>
                <a:latin typeface="PingFang SC"/>
              </a:rPr>
              <a:t>JwtCodec:HS256 签发与校验 · src/agent_platform/security/auth.py:36-70</a:t>
            </a:r>
          </a:p>
        </p:txBody>
      </p:sp>
      <p:pic>
        <p:nvPicPr>
          <p:cNvPr id="5" name="Picture 4" descr="code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9869" y="762000"/>
            <a:ext cx="8592260" cy="57607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11/37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6-4 · 版本灰度回滚与平台封装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灰度发布流水线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一致性哈希:同用户判定恒定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7250" y="2667000"/>
            <a:ext cx="1476375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57250" y="2667000"/>
            <a:ext cx="1476375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452562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52562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3450" y="2800350"/>
            <a:ext cx="1323975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变更+评测通过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57475" y="2667000"/>
            <a:ext cx="1476375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657475" y="2667000"/>
            <a:ext cx="1476375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252787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52787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33675" y="2800350"/>
            <a:ext cx="1323975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审批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390775" y="3238500"/>
            <a:ext cx="19050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Isosceles Triangle 16"/>
          <p:cNvSpPr/>
          <p:nvPr/>
        </p:nvSpPr>
        <p:spPr>
          <a:xfrm rot="5400000">
            <a:off x="2495551" y="319563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457700" y="2667000"/>
            <a:ext cx="1476375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457700" y="2667000"/>
            <a:ext cx="1476375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053012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53012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33900" y="2800350"/>
            <a:ext cx="1323975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10% 流量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191000" y="3238500"/>
            <a:ext cx="19050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Isosceles Triangle 23"/>
          <p:cNvSpPr/>
          <p:nvPr/>
        </p:nvSpPr>
        <p:spPr>
          <a:xfrm rot="5400000">
            <a:off x="4295776" y="319563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257925" y="2667000"/>
            <a:ext cx="1476375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57925" y="2667000"/>
            <a:ext cx="1476375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853237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3237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34125" y="2800350"/>
            <a:ext cx="1323975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指标观察 24h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5991225" y="3238500"/>
            <a:ext cx="19050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Isosceles Triangle 30"/>
          <p:cNvSpPr/>
          <p:nvPr/>
        </p:nvSpPr>
        <p:spPr>
          <a:xfrm rot="5400000">
            <a:off x="6096001" y="319563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8058150" y="2667000"/>
            <a:ext cx="1476375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058150" y="2667000"/>
            <a:ext cx="1476375" cy="5715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8653462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53462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34350" y="2800350"/>
            <a:ext cx="1323975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50%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7791450" y="3238500"/>
            <a:ext cx="19050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Isosceles Triangle 37"/>
          <p:cNvSpPr/>
          <p:nvPr/>
        </p:nvSpPr>
        <p:spPr>
          <a:xfrm rot="5400000">
            <a:off x="7896226" y="319563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9858375" y="2667000"/>
            <a:ext cx="1476375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871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858375" y="2667000"/>
            <a:ext cx="1476375" cy="57150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10453687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453687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934575" y="2800350"/>
            <a:ext cx="1323975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100%|一致性哈希:同用户判定恒定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9591675" y="3238500"/>
            <a:ext cx="19050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Isosceles Triangle 44"/>
          <p:cNvSpPr/>
          <p:nvPr/>
        </p:nvSpPr>
        <p:spPr>
          <a:xfrm rot="5400000">
            <a:off x="9696451" y="319563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>
            <a:off x="10596562" y="3867150"/>
            <a:ext cx="0" cy="228600"/>
          </a:xfrm>
          <a:prstGeom prst="line">
            <a:avLst/>
          </a:prstGeom>
          <a:ln w="20320">
            <a:solidFill>
              <a:srgbClr val="F59E0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Isosceles Triangle 46"/>
          <p:cNvSpPr/>
          <p:nvPr/>
        </p:nvSpPr>
        <p:spPr>
          <a:xfrm rot="10800000">
            <a:off x="10553700" y="4010026"/>
            <a:ext cx="85725" cy="85725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 flipH="1">
            <a:off x="6996112" y="4095750"/>
            <a:ext cx="3600450" cy="0"/>
          </a:xfrm>
          <a:prstGeom prst="line">
            <a:avLst/>
          </a:prstGeom>
          <a:ln w="20320">
            <a:solidFill>
              <a:srgbClr val="F59E0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Isosceles Triangle 48"/>
          <p:cNvSpPr/>
          <p:nvPr/>
        </p:nvSpPr>
        <p:spPr>
          <a:xfrm rot="16200000">
            <a:off x="6996112" y="4052888"/>
            <a:ext cx="85725" cy="85725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 flipV="1">
            <a:off x="6996112" y="3867150"/>
            <a:ext cx="0" cy="228600"/>
          </a:xfrm>
          <a:prstGeom prst="line">
            <a:avLst/>
          </a:prstGeom>
          <a:ln w="20320">
            <a:solidFill>
              <a:srgbClr val="F59E0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Isosceles Triangle 50"/>
          <p:cNvSpPr/>
          <p:nvPr/>
        </p:nvSpPr>
        <p:spPr>
          <a:xfrm>
            <a:off x="6953250" y="3867150"/>
            <a:ext cx="85725" cy="85725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996112" y="3848100"/>
            <a:ext cx="5076825" cy="209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59E0B"/>
                </a:solidFill>
                <a:latin typeface="PingFang SC"/>
              </a:rPr>
              <a:t>循环(loop)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57250" y="5715000"/>
            <a:ext cx="10477500" cy="4191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009650" y="5715000"/>
            <a:ext cx="10172700" cy="4191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2563EB"/>
                </a:solidFill>
                <a:latin typeface="PingFang SC"/>
              </a:rPr>
              <a:t>▶ 任一指标异常→FeatureFlag 一键回滚(秒级)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12/37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6-4 · 版本灰度回滚与平台封装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灰度的工程要求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同一用户判定恒定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比例可精确控制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平台实测:50% 灰度千用户命中 40%~60%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逐用户结果不漂移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13/37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6-4 · 版本灰度回滚与平台封装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回滚策略清单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Prompt/模型:Flag 秒级回退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工具:registry 版本切回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知识库:快照恢复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服务:镜像回退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回滚演练进 Lab6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14/37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6-4 · 版本灰度回滚与平台封装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回滚手段时效,对象,手段,时效;Prompt/模型,FeatureFlag 关闭,秒级;工具版本,registry 切回,分钟级;服务,镜像回退,分钟级;知识库,快照恢复,小时级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43000" y="1047750"/>
            <a:ext cx="9906000" cy="561975"/>
          </a:xfrm>
          <a:prstGeom prst="roundRect">
            <a:avLst>
              <a:gd name="adj" fmla="val 8000"/>
            </a:avLst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57300" y="1047750"/>
            <a:ext cx="9696450" cy="5619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hl=2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15/37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6-4 · 版本灰度回滚与平台封装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MCP Server 生产化清单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47625" cy="8763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14450" y="91440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部署/鉴权/网络隔离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9650" y="128587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181725" y="91440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81725" y="914400"/>
            <a:ext cx="47625" cy="8763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19875" y="91440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工具白名单/日志审计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15075" y="128587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76300" y="196215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76300" y="1962150"/>
            <a:ext cx="47625" cy="8763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14450" y="196215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内网接入/密钥管理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09650" y="233362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181725" y="196215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81725" y="1962150"/>
            <a:ext cx="47625" cy="8763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19875" y="196215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多租户隔离/API Key 不入库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15075" y="233362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76300" y="300990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76300" y="3009900"/>
            <a:ext cx="47625" cy="87630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14450" y="300990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配置中心/敏感字段脱敏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09650" y="338137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181725" y="300990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81725" y="3009900"/>
            <a:ext cx="47625" cy="876300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19875" y="300990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数据权限过滤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15075" y="338137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七件事一张清单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16/37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6-4 · 版本灰度回滚与平台封装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2026 前沿②:安全与身份生产化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1724025"/>
            <a:ext cx="4924425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OWASP LLM Top10 落地清单(注入/越权/供应链)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/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9825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9825" y="1724025"/>
            <a:ext cx="4924425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72225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2225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10375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Agent 身份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2225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每 Agent 独立凭证+最小权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47750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47750" y="3495675"/>
            <a:ext cx="4924425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20015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0015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38300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等保 2.0 三级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00150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审计留存/边界防护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9825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19825" y="3495675"/>
            <a:ext cx="4924425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372225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72225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10375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平台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2225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WAF 模板+哈希链+JWT/M2M 可扩展|企业案例:金融 Agent 合规落地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17/37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6-4 · 版本灰度回滚与平台封装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平台化封装三级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SDK:Gateway/Context/ToolCall/AgentRun/EvalRunner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服务化:模型/上下文/工具/工作流/评测/日志服务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治理:鉴权/限流/审计/版本/成本分摊/质量门禁/上线审批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从"项目"到"平台"的进化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18/37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6-4 · 版本灰度回滚与平台封装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生产化封装与 MCP 治理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1724025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1724025"/>
            <a:ext cx="3200400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1933575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SDK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2333625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Gateway/Context/ToolCall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95800" y="1724025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95800" y="1724025"/>
            <a:ext cx="3200400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4820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820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86350" y="1933575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服务化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8200" y="2333625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模型/工具/评测独立扩缩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43850" y="1724025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943850" y="1724025"/>
            <a:ext cx="3200400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09625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9625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34400" y="1933575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治理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96250" y="2333625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鉴权/限流/审计/成本分摊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47750" y="3495675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47750" y="3495675"/>
            <a:ext cx="3200400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20015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20015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38300" y="3705225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质量门禁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00150" y="4105275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评测达标才发布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495800" y="3495675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495800" y="3495675"/>
            <a:ext cx="3200400" cy="5715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464820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64820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86350" y="3705225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密钥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48200" y="4105275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不入库/env 注入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943850" y="3495675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943850" y="3495675"/>
            <a:ext cx="3200400" cy="57150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809625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09625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34400" y="3705225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租户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96250" y="4105275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JWT 声明+数据隔离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19/37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6-4 · 版本灰度回滚与平台封装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部署形态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本地:Compose 一键全家桶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企业内网:模型/业务/知识库全内网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混合:敏感内网+通用云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 Compose 即教学拓扑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20/37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6-4 · 版本灰度回滚与平台封装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安全与合规清单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API Key 不入库,走环境/密钥服务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Trace 日志脱敏(PII)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知识库/向量库/业务数据租户隔离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合规是架构约束,不是补丁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21/37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6-4 · 版本灰度回滚与平台封装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质量门禁与上线审批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CI:测试+覆盖率+评测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评测达标→审批→灰度→全量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变更流水线四道闸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22/37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6-4 · 版本灰度回滚与平台封装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变更流水线四道闸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CI:测试+覆盖率+lint;评测:Golden 全量回归;灰度:10%→50%→100%;观察:24h 指标窗口|regressed 非空 → 阻断</a:t>
            </a:r>
          </a:p>
        </p:txBody>
      </p:sp>
      <p:sp>
        <p:nvSpPr>
          <p:cNvPr id="6" name="Rectangle 5"/>
          <p:cNvSpPr/>
          <p:nvPr/>
        </p:nvSpPr>
        <p:spPr>
          <a:xfrm>
            <a:off x="1619250" y="3314700"/>
            <a:ext cx="8953500" cy="38100"/>
          </a:xfrm>
          <a:prstGeom prst="rect">
            <a:avLst/>
          </a:prstGeom>
          <a:solidFill>
            <a:srgbClr val="DDE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514475" y="3228975"/>
            <a:ext cx="209550" cy="2095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90500" y="1905000"/>
            <a:ext cx="2857500" cy="11239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90500" y="1905000"/>
            <a:ext cx="28575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5750" y="2000250"/>
            <a:ext cx="266700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2563EB"/>
                </a:solidFill>
                <a:latin typeface="PingFang SC"/>
              </a:rPr>
              <a:t>CI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5750" y="2305050"/>
            <a:ext cx="26670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75569"/>
                </a:solidFill>
                <a:latin typeface="PingFang SC"/>
              </a:rPr>
              <a:t>测试+覆盖率+lint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98975" y="3228975"/>
            <a:ext cx="209550" cy="2095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175000" y="3619500"/>
            <a:ext cx="2857500" cy="11239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175000" y="3619500"/>
            <a:ext cx="2857500" cy="381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70250" y="3714750"/>
            <a:ext cx="266700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14B8A6"/>
                </a:solidFill>
                <a:latin typeface="PingFang SC"/>
              </a:rPr>
              <a:t>评测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70250" y="4019550"/>
            <a:ext cx="26670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75569"/>
                </a:solidFill>
                <a:latin typeface="PingFang SC"/>
              </a:rPr>
              <a:t>Golden 全量回归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83475" y="3228975"/>
            <a:ext cx="209550" cy="2095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159500" y="1905000"/>
            <a:ext cx="2857500" cy="11239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59500" y="1905000"/>
            <a:ext cx="2857500" cy="381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54750" y="2000250"/>
            <a:ext cx="266700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8B5CF6"/>
                </a:solidFill>
                <a:latin typeface="PingFang SC"/>
              </a:rPr>
              <a:t>灰度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54750" y="2305050"/>
            <a:ext cx="26670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75569"/>
                </a:solidFill>
                <a:latin typeface="PingFang SC"/>
              </a:rPr>
              <a:t>10%→50%→100%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467975" y="3228975"/>
            <a:ext cx="209550" cy="2095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144000" y="3619500"/>
            <a:ext cx="2857500" cy="11239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3619500"/>
            <a:ext cx="2857500" cy="381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39250" y="3714750"/>
            <a:ext cx="266700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59E0B"/>
                </a:solidFill>
                <a:latin typeface="PingFang SC"/>
              </a:rPr>
              <a:t>观察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39250" y="4019550"/>
            <a:ext cx="26670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75569"/>
                </a:solidFill>
                <a:latin typeface="PingFang SC"/>
              </a:rPr>
              <a:t>24h 指标窗口|regressed 非空 → 阻断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23/37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6-4 · 版本灰度回滚与平台封装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应用:Prompt 上线全流程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改动→评测(improved 12)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Flag 10% 灰度→观察 24h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指标达标→100%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异常→一键回滚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Lab6 实战内容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24/37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6-4 · 版本灰度回滚与平台封装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Prompt 上线五步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改动:PR+变更说明;评测:Golden 全量回归;灰度:Flag 10% 观察 24h;放量:50%→100%;回滚:指标异常一键|regressed 非空→阻断</a:t>
            </a:r>
          </a:p>
        </p:txBody>
      </p:sp>
      <p:sp>
        <p:nvSpPr>
          <p:cNvPr id="6" name="Rectangle 5"/>
          <p:cNvSpPr/>
          <p:nvPr/>
        </p:nvSpPr>
        <p:spPr>
          <a:xfrm>
            <a:off x="1619250" y="3314700"/>
            <a:ext cx="8953500" cy="38100"/>
          </a:xfrm>
          <a:prstGeom prst="rect">
            <a:avLst/>
          </a:prstGeom>
          <a:solidFill>
            <a:srgbClr val="DDE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514475" y="3228975"/>
            <a:ext cx="209550" cy="2095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90500" y="1905000"/>
            <a:ext cx="2857500" cy="11239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90500" y="1905000"/>
            <a:ext cx="28575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5750" y="2000250"/>
            <a:ext cx="266700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2563EB"/>
                </a:solidFill>
                <a:latin typeface="PingFang SC"/>
              </a:rPr>
              <a:t>改动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5750" y="2305050"/>
            <a:ext cx="26670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75569"/>
                </a:solidFill>
                <a:latin typeface="PingFang SC"/>
              </a:rPr>
              <a:t>PR+变更说明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752850" y="3228975"/>
            <a:ext cx="209550" cy="2095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428875" y="3619500"/>
            <a:ext cx="2857500" cy="11239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428875" y="3619500"/>
            <a:ext cx="2857500" cy="381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24125" y="3714750"/>
            <a:ext cx="266700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14B8A6"/>
                </a:solidFill>
                <a:latin typeface="PingFang SC"/>
              </a:rPr>
              <a:t>评测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24125" y="4019550"/>
            <a:ext cx="26670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75569"/>
                </a:solidFill>
                <a:latin typeface="PingFang SC"/>
              </a:rPr>
              <a:t>Golden 全量回归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91225" y="3228975"/>
            <a:ext cx="209550" cy="2095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667250" y="1905000"/>
            <a:ext cx="2857500" cy="11239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667250" y="1905000"/>
            <a:ext cx="2857500" cy="381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62500" y="2000250"/>
            <a:ext cx="266700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8B5CF6"/>
                </a:solidFill>
                <a:latin typeface="PingFang SC"/>
              </a:rPr>
              <a:t>灰度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62500" y="2305050"/>
            <a:ext cx="26670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75569"/>
                </a:solidFill>
                <a:latin typeface="PingFang SC"/>
              </a:rPr>
              <a:t>Flag 10% 观察 24h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0" y="3228975"/>
            <a:ext cx="209550" cy="2095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905625" y="3619500"/>
            <a:ext cx="2857500" cy="11239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905625" y="3619500"/>
            <a:ext cx="2857500" cy="381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000875" y="3714750"/>
            <a:ext cx="266700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59E0B"/>
                </a:solidFill>
                <a:latin typeface="PingFang SC"/>
              </a:rPr>
              <a:t>放量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00875" y="4019550"/>
            <a:ext cx="26670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75569"/>
                </a:solidFill>
                <a:latin typeface="PingFang SC"/>
              </a:rPr>
              <a:t>50%→100%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467975" y="3228975"/>
            <a:ext cx="209550" cy="20955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144000" y="1905000"/>
            <a:ext cx="2857500" cy="11239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144000" y="1905000"/>
            <a:ext cx="2857500" cy="3810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239250" y="2000250"/>
            <a:ext cx="266700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34D399"/>
                </a:solidFill>
                <a:latin typeface="PingFang SC"/>
              </a:rPr>
              <a:t>回滚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39250" y="2305050"/>
            <a:ext cx="26670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75569"/>
                </a:solidFill>
                <a:latin typeface="PingFang SC"/>
              </a:rPr>
              <a:t>指标异常一键|regressed 非空→阻断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25/37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6-4 · 版本灰度回滚与平台封装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踩坑:Flag 清理不及时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上线半年的临时开关还在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组合爆炸无法测试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治理:Flag 生命周期管理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26/37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6-4 · 版本灰度回滚与平台封装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踩坑:灰度看错指标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只看成功率,没看人工接管率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灰度全量后接管率翻倍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规则:核心指标族一起看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27/37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6-4 · 版本灰度回滚与平台封装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优化:发布日历与协同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变更错峰:避免模型+Prompt 同发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发布窗口+值班表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多团队协同的基本功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28/37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6-4 · 版本灰度回滚与平台封装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优化:配置中心化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模型路由/阈值/开关全进配置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变更审计+热生效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 .env 起步,生产进配置中心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29/37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6-4 · 版本灰度回滚与平台封装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6-4 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30/37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6-4 · 版本灰度回滚与平台封装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灰度指标的观察窗口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最短观察时长怎么定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样本量估算:够统计显著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拍脑袋全量是事故之源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31/37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6-4 · 版本灰度回滚与平台封装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演练:全链路上线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评测→审批→10%→50%→100%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中途注入故障→回滚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Lab6 压轴演练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32/37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6-4 · 版本灰度回滚与平台封装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1430000" cy="609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59E0B"/>
                </a:solidFill>
                <a:latin typeface="PingFang SC"/>
              </a:rPr>
              <a:t>一致性哈希灰度:同用户恒定 · src/agent_platform/governance/flags.py:14-31</a:t>
            </a:r>
          </a:p>
        </p:txBody>
      </p:sp>
      <p:pic>
        <p:nvPicPr>
          <p:cNvPr id="5" name="Picture 4" descr="code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62000"/>
            <a:ext cx="11460480" cy="3581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33/37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6-4 · 版本灰度回滚与平台封装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04800" y="0"/>
            <a:ext cx="11430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B1D3A"/>
                </a:solidFill>
                <a:latin typeface="PingFang SC"/>
              </a:rPr>
              <a:t>自测 · 版本与灰度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43000" y="1143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43000" y="1143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90650" y="1143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05000" y="1143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六类版本对象各举一例?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1905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1905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1905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05000" y="1905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一致性哈希灰度保证什么?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2667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2667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2667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05000" y="2667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回滚优先用什么手段?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29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43000" y="3429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3429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05000" y="3429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Flag 的生命周期怎么管?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34/37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6-4 · 版本灰度回滚与平台封装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本章小结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部署:三形态+推理服务选型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成本:四级缓存+路由+预算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观测:三支柱+四族指标+Runbook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治理:六版本+灰度+门禁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下一章:综合实战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35/37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6-4 · 版本灰度回滚与平台封装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Lab6 验收清单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47625" cy="8763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14450" y="91440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[ ] Flag 灰度+回滚演练通过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9650" y="128587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181725" y="91440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81725" y="914400"/>
            <a:ext cx="47625" cy="8763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19875" y="91440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[ ] Trace 复现失败并 Replay 定位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15075" y="128587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76300" y="196215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76300" y="1962150"/>
            <a:ext cx="47625" cy="8763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14450" y="196215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[ ] 成本报表按模型/工具分摊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09650" y="233362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181725" y="196215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81725" y="1962150"/>
            <a:ext cx="47625" cy="8763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19875" y="196215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[ ] Runbook 一条告警一条处置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15075" y="233362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76300" y="300990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76300" y="3009900"/>
            <a:ext cx="47625" cy="87630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14450" y="300990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[ ] Compose 全家桶健康检查通过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09650" y="338137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36/37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6-4 · 版本灰度回滚与平台封装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下一章预告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DeerFlow 九条架构线解析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深度研究平台/软件工厂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产品化方法论+Capstone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从课程到作品集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37/37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6-4 · 版本灰度回滚与平台封装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