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477120" y="1486160"/>
            <a:ext cx="4953000" cy="4953000"/>
          </a:xfrm>
          <a:prstGeom prst="ellipse">
            <a:avLst/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477280" y="1086040"/>
            <a:ext cx="3619500" cy="3619500"/>
          </a:xfrm>
          <a:prstGeom prst="ellipse">
            <a:avLst/>
          </a:prstGeom>
          <a:solidFill>
            <a:srgbClr val="1B37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406000" y="714500"/>
            <a:ext cx="2381250" cy="2381250"/>
          </a:xfrm>
          <a:prstGeom prst="ellipse">
            <a:avLst/>
          </a:prstGeom>
          <a:solidFill>
            <a:srgbClr val="2446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18000"/>
            <a:ext cx="12192000" cy="240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57250" y="914400"/>
            <a:ext cx="552450" cy="5524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7250" y="857250"/>
            <a:ext cx="55245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0B1D3A"/>
                </a:solidFill>
                <a:latin typeface="PingFang SC"/>
              </a:rPr>
              <a:t>3.5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19250" y="1143000"/>
            <a:ext cx="5524500" cy="666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94A3B8"/>
                </a:solidFill>
                <a:latin typeface="PingFang SC"/>
              </a:rPr>
              <a:t>AI AGENT 全栈工程师训练营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19250" y="2000250"/>
            <a:ext cx="6858000" cy="2000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>
                <a:solidFill>
                  <a:srgbClr val="FFFFFF"/>
                </a:solidFill>
                <a:latin typeface="PingFang SC"/>
              </a:rPr>
              <a:t>3-5 · Harness、LangGraph 与 Codebase Agent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19250" y="4191000"/>
            <a:ext cx="6477000" cy="762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CBD5E1"/>
                </a:solidFill>
                <a:latin typeface="PingFang SC"/>
              </a:rPr>
              <a:t>Agent Loop、State Machine 与 Codebase Agent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19250" y="5429250"/>
            <a:ext cx="8382000" cy="476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94A3B8"/>
                </a:solidFill>
                <a:latin typeface="PingFang SC"/>
              </a:rPr>
              <a:t>Agent Engineering Platform · v1.3 · 审计 9.4/10 · 125 测试</a:t>
            </a:r>
          </a:p>
        </p:txBody>
      </p:sp>
      <p:sp>
        <p:nvSpPr>
          <p:cNvPr id="13" name="Oval 12"/>
          <p:cNvSpPr/>
          <p:nvPr/>
        </p:nvSpPr>
        <p:spPr>
          <a:xfrm>
            <a:off x="9372600" y="4514850"/>
            <a:ext cx="1066800" cy="1066800"/>
          </a:xfrm>
          <a:prstGeom prst="ellipse">
            <a:avLst/>
          </a:prstGeom>
          <a:noFill/>
          <a:ln w="254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448800" y="4591050"/>
            <a:ext cx="914400" cy="914400"/>
          </a:xfrm>
          <a:prstGeom prst="ellipse">
            <a:avLst/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72600" y="4895850"/>
            <a:ext cx="1066800" cy="304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59E0B"/>
                </a:solidFill>
                <a:latin typeface="PingFang SC"/>
              </a:rPr>
              <a:t>AEP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01100" y="5638800"/>
            <a:ext cx="22098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94A3B8"/>
                </a:solidFill>
                <a:latin typeface="PingFang SC"/>
              </a:rPr>
              <a:t>AI Agent 训练营 · 教研室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66750" y="609600"/>
            <a:ext cx="10287000" cy="571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FFFFFF"/>
                </a:solidFill>
                <a:latin typeface="PingFang SC"/>
              </a:rPr>
              <a:t>本章目录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6750" y="1238250"/>
            <a:ext cx="9334500" cy="381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94A3B8"/>
                </a:solidFill>
                <a:latin typeface="PingFang SC"/>
              </a:rPr>
              <a:t>8 个知识模块 · 含实测数据图表与代码走查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57250" y="19050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57250" y="1905000"/>
            <a:ext cx="47625" cy="5905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8700" y="19050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4B8A6"/>
                </a:solidFill>
                <a:latin typeface="PingFang S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4950" y="19050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3-1 · 从 Tool Agent 到 Agent Loop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57250" y="26289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57250" y="2628900"/>
            <a:ext cx="47625" cy="5905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8700" y="26289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8B5CF6"/>
                </a:solidFill>
                <a:latin typeface="PingFang SC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04950" y="26289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3-2 · Planning 与任务拆解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57250" y="33528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57250" y="3352800"/>
            <a:ext cx="47625" cy="5905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28700" y="33528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59E0B"/>
                </a:solidFill>
                <a:latin typeface="PingFang SC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04950" y="33528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3-3 · State Machine 与 Checkpoint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250" y="40767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7250" y="4076700"/>
            <a:ext cx="47625" cy="59055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28700" y="40767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4D399"/>
                </a:solidFill>
                <a:latin typeface="PingFang SC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04950" y="40767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3-4 · Sandbox 与执行边界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709410" y="19050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709410" y="1905000"/>
            <a:ext cx="47625" cy="590550"/>
          </a:xfrm>
          <a:prstGeom prst="rect">
            <a:avLst/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80860" y="19050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87171"/>
                </a:solidFill>
                <a:latin typeface="PingFang SC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57110" y="19050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3-5 · Harness、LangGraph 与 Codebase Agent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709410" y="26289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709410" y="2628900"/>
            <a:ext cx="47625" cy="5905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80860" y="26289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06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57110" y="26289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本章小结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709410" y="33528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709410" y="3352800"/>
            <a:ext cx="47625" cy="5905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80860" y="33528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4B8A6"/>
                </a:solidFill>
                <a:latin typeface="PingFang SC"/>
              </a:rPr>
              <a:t>07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57110" y="33528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Lab3 验收清单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709410" y="40767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709410" y="4076700"/>
            <a:ext cx="47625" cy="5905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880860" y="40767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8B5CF6"/>
                </a:solidFill>
                <a:latin typeface="PingFang SC"/>
              </a:rPr>
              <a:t>08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57110" y="40767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下一章预告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2/33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05 · 3-5 · Harness、Lang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57250" y="952500"/>
            <a:ext cx="323850" cy="762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57250" y="2381250"/>
            <a:ext cx="1143000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7250" y="2857500"/>
            <a:ext cx="9906000" cy="1238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FFFFFF"/>
                </a:solidFill>
                <a:latin typeface="PingFang SC"/>
              </a:rPr>
              <a:t>讲次 3-5 · Harness、LangGraph 与 Codebase Agent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7250" y="4286250"/>
            <a:ext cx="9334500" cy="476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F59E0B"/>
                </a:solidFill>
                <a:latin typeface="PingFang SC"/>
              </a:rPr>
              <a:t>LECTURE 01 / 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05 · 3-5 · Harness、Lang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Harness 是什么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模型+工具+状态+上下文+环境的组织框架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让 Agent 可配置/可追踪/可恢复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从"一次调用"到"任务执行系统"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平台 orchestration 就是 Harness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4/33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05 · 3-5 · Harness、Lang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Harness 五要素装配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47850" y="914400"/>
            <a:ext cx="8877300" cy="895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962150" y="685800"/>
            <a:ext cx="1905000" cy="209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563EB"/>
                </a:solidFill>
                <a:latin typeface="PingFang SC"/>
              </a:rPr>
              <a:t>L1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905000" y="952500"/>
            <a:ext cx="8763000" cy="819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905000" y="952500"/>
            <a:ext cx="47625" cy="819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57400" y="952500"/>
            <a:ext cx="8496300" cy="8191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模型:Provider+Router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096000" y="1828800"/>
            <a:ext cx="0" cy="152400"/>
          </a:xfrm>
          <a:prstGeom prst="line">
            <a:avLst/>
          </a:prstGeom>
          <a:ln w="1778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Isosceles Triangle 10"/>
          <p:cNvSpPr/>
          <p:nvPr/>
        </p:nvSpPr>
        <p:spPr>
          <a:xfrm rot="10800000">
            <a:off x="6053138" y="1895476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743575" y="1809750"/>
            <a:ext cx="704850" cy="1714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743575" y="1809750"/>
            <a:ext cx="704850" cy="171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0B1D3A"/>
                </a:solidFill>
                <a:latin typeface="PingFang SC"/>
              </a:rPr>
              <a:t>配置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847850" y="1981200"/>
            <a:ext cx="8877300" cy="895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962150" y="1752600"/>
            <a:ext cx="1905000" cy="209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B8A6"/>
                </a:solidFill>
                <a:latin typeface="PingFang SC"/>
              </a:rPr>
              <a:t>L2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905000" y="2019300"/>
            <a:ext cx="8763000" cy="819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905000" y="2019300"/>
            <a:ext cx="47625" cy="8191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057400" y="2019300"/>
            <a:ext cx="8496300" cy="8191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工具:Registry 动态装配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096000" y="2895600"/>
            <a:ext cx="0" cy="152400"/>
          </a:xfrm>
          <a:prstGeom prst="line">
            <a:avLst/>
          </a:prstGeom>
          <a:ln w="1778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Isosceles Triangle 19"/>
          <p:cNvSpPr/>
          <p:nvPr/>
        </p:nvSpPr>
        <p:spPr>
          <a:xfrm rot="10800000">
            <a:off x="6053138" y="2962276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743575" y="2876550"/>
            <a:ext cx="704850" cy="1714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43575" y="2876550"/>
            <a:ext cx="704850" cy="171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0B1D3A"/>
                </a:solidFill>
                <a:latin typeface="PingFang SC"/>
              </a:rPr>
              <a:t>运行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847850" y="3048000"/>
            <a:ext cx="8877300" cy="895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962150" y="2819400"/>
            <a:ext cx="1905000" cy="209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8B5CF6"/>
                </a:solidFill>
                <a:latin typeface="PingFang SC"/>
              </a:rPr>
              <a:t>L3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905000" y="3086100"/>
            <a:ext cx="8763000" cy="819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905000" y="3086100"/>
            <a:ext cx="47625" cy="8191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057400" y="3086100"/>
            <a:ext cx="8496300" cy="8191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状态:State+Checkpoint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6096000" y="3962400"/>
            <a:ext cx="0" cy="152400"/>
          </a:xfrm>
          <a:prstGeom prst="line">
            <a:avLst/>
          </a:prstGeom>
          <a:ln w="1778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Isosceles Triangle 28"/>
          <p:cNvSpPr/>
          <p:nvPr/>
        </p:nvSpPr>
        <p:spPr>
          <a:xfrm rot="10800000">
            <a:off x="6053138" y="4029076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5743575" y="3943350"/>
            <a:ext cx="704850" cy="1714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743575" y="3943350"/>
            <a:ext cx="704850" cy="171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0B1D3A"/>
                </a:solidFill>
                <a:latin typeface="PingFang SC"/>
              </a:rPr>
              <a:t>恢复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847850" y="4114800"/>
            <a:ext cx="8877300" cy="895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962150" y="3886200"/>
            <a:ext cx="1905000" cy="209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59E0B"/>
                </a:solidFill>
                <a:latin typeface="PingFang SC"/>
              </a:rPr>
              <a:t>L4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905000" y="4152900"/>
            <a:ext cx="8763000" cy="819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905000" y="4152900"/>
            <a:ext cx="47625" cy="819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057400" y="4152900"/>
            <a:ext cx="8496300" cy="8191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上下文:Context 管理器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6096000" y="5029200"/>
            <a:ext cx="0" cy="152400"/>
          </a:xfrm>
          <a:prstGeom prst="line">
            <a:avLst/>
          </a:prstGeom>
          <a:ln w="1778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Isosceles Triangle 37"/>
          <p:cNvSpPr/>
          <p:nvPr/>
        </p:nvSpPr>
        <p:spPr>
          <a:xfrm rot="10800000">
            <a:off x="6053138" y="5095876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1847850" y="5181600"/>
            <a:ext cx="8877300" cy="895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962150" y="4953000"/>
            <a:ext cx="1905000" cy="209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4D399"/>
                </a:solidFill>
                <a:latin typeface="PingFang SC"/>
              </a:rPr>
              <a:t>L5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905000" y="5219700"/>
            <a:ext cx="8763000" cy="819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905000" y="5219700"/>
            <a:ext cx="47625" cy="81915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057400" y="5219700"/>
            <a:ext cx="8496300" cy="8191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环境:Sandbox 边界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5/33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05 · 3-5 · Harness、Lang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Harness 的装配五要素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47625" cy="8763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14450" y="91440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模型:Provider+Router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9650" y="128587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181725" y="91440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81725" y="914400"/>
            <a:ext cx="47625" cy="8763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19875" y="91440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工具集:Registry 动态装配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15075" y="128587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76300" y="196215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76300" y="1962150"/>
            <a:ext cx="47625" cy="8763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14450" y="196215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状态:State+Checkpoint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09650" y="233362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181725" y="196215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81725" y="1962150"/>
            <a:ext cx="47625" cy="8763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19875" y="196215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上下文:Context 管理器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15075" y="233362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76300" y="300990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76300" y="3009900"/>
            <a:ext cx="47625" cy="87630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14450" y="300990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环境:Sandbox 边界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09650" y="338137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五要素全部可配置替换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6/33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05 · 3-5 · Harness、Lang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Agent 生命周期管理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创建→运行→挂起→恢复→终结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每个阶段有钩子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资源随生命周期释放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教学:构造即启动,Close 即清理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7/33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05 · 3-5 · Harness、Lang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Human-in-the-loop 节点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改文件/删数据/外部请求前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挂起等待确认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平台:waiting_approval+confirmed 凭据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风险节点前置设计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8/33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05 · 3-5 · Harness、Lang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LangGraph 核心对象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StateGraph:状态图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节点=动作,边=流转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条件边实现分支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Checkpointer 内置持久化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9/33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05 · 3-5 · Harness、Lang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1430000" cy="609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59E0B"/>
                </a:solidFill>
                <a:latin typeface="PingFang SC"/>
              </a:rPr>
              <a:t>run 主循环:四出口实现 · src/agent_platform/orchestration/loop.py:128-176</a:t>
            </a:r>
          </a:p>
        </p:txBody>
      </p:sp>
      <p:pic>
        <p:nvPicPr>
          <p:cNvPr id="5" name="Picture 4" descr="code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7604" y="762000"/>
            <a:ext cx="6336792" cy="57607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10/33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05 · 3-5 · Harness、Lang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2026 前沿①:编排生态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47750" y="172402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7750" y="1724025"/>
            <a:ext cx="4924425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200150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00150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38300" y="193357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LangGraph 1.0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00150" y="233362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生产化里程碑(Checkpointer 原生)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9825" y="172402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19825" y="1724025"/>
            <a:ext cx="4924425" cy="571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72225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72225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10375" y="193357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OpenAI Agents SDK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2225" y="233362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Handoffs 范式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47750" y="349567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047750" y="3495675"/>
            <a:ext cx="4924425" cy="571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200150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00150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38300" y="370522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A2A 协议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00150" y="410527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跨厂商 Agent 互操作( discovery/card)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19825" y="349567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19825" y="3495675"/>
            <a:ext cx="4924425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372225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72225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10375" y="370522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本平台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2225" y="410527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Decider 防腐层可对接任一框架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11/33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05 · 3-5 · Harness、Lang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图对象四件套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47750" y="172402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7750" y="1724025"/>
            <a:ext cx="4924425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200150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00150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38300" y="193357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StateGraph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00150" y="233362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状态承载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9825" y="172402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19825" y="1724025"/>
            <a:ext cx="4924425" cy="571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72225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72225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10375" y="193357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Node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2225" y="233362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动作(薄节点)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47750" y="349567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047750" y="3495675"/>
            <a:ext cx="4924425" cy="571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200150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00150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38300" y="370522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Edge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00150" y="410527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流转/条件分支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19825" y="349567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19825" y="3495675"/>
            <a:ext cx="4924425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372225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72225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10375" y="370522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Checkpointer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2225" y="410527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每步持久化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12/33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05 · 3-5 · Harness、Lang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LangGraph 关键能力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Interrupt:图内人工介入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ToolNode:工具节点标准化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循环与条件分支原生支持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Studio 可视化调试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13/33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05 · 3-5 · Harness、Lang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三框架定位对比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LangGraph:状态图编排,控制力强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OpenAI Agents SDK:轻量,生态绑定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AgentScope:多 Agent 消息范式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选型:要控制力选 LangGraph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14/33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05 · 3-5 · Harness、Lang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编排框架对比,维度,LangGraph,OpenAI SDK,AgentScope;范式,状态图,轻量代理,消息协作;控制力,强(DIY),中,中;生态,通用,绑定 OpenAI,多Agent;适合,精细控制,快速原型,协作仿真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43000" y="1047750"/>
            <a:ext cx="9906000" cy="561975"/>
          </a:xfrm>
          <a:prstGeom prst="roundRect">
            <a:avLst>
              <a:gd name="adj" fmla="val 8000"/>
            </a:avLst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57300" y="1047750"/>
            <a:ext cx="9696450" cy="56197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hl=1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15/33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05 · 3-5 · Harness、Lang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与传统 Workflow 的关系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Workflow:确定性流程编排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LangGraph:状态+LLM 决策的混合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固定流程仍用 Workflow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Dify 用户:节点思维可平移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16/33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05 · 3-5 · Harness、Lang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Codebase Agent 工具清单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list_files/read_file/read_directory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search_code/write_file/apply_patch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run_test/run_command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git_diff/git_status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十件套覆盖开发日常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17/33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05 · 3-5 · Harness、Lang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代码工具十件套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47750" y="1724025"/>
            <a:ext cx="182118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7750" y="1724025"/>
            <a:ext cx="1821180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200150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00150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38300" y="1933575"/>
            <a:ext cx="107823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list_files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00150" y="2333625"/>
            <a:ext cx="151638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目录结构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116580" y="1724025"/>
            <a:ext cx="182118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116580" y="1724025"/>
            <a:ext cx="1821180" cy="571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268980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68980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07130" y="1933575"/>
            <a:ext cx="107823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search_code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68980" y="2333625"/>
            <a:ext cx="151638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关键词定位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185410" y="1724025"/>
            <a:ext cx="182118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185410" y="1724025"/>
            <a:ext cx="1821180" cy="571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337810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337810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775960" y="1933575"/>
            <a:ext cx="107823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read_file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37810" y="2333625"/>
            <a:ext cx="151638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单文件读取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254240" y="1724025"/>
            <a:ext cx="182118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254240" y="1724025"/>
            <a:ext cx="1821180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7406640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06640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44790" y="1933575"/>
            <a:ext cx="107823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read_directory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06640" y="2333625"/>
            <a:ext cx="151638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目录概览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323070" y="1724025"/>
            <a:ext cx="182118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323070" y="1724025"/>
            <a:ext cx="1821180" cy="5715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9475470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475470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913620" y="1933575"/>
            <a:ext cx="107823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write_file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475470" y="2333625"/>
            <a:ext cx="151638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写入产出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047750" y="3495675"/>
            <a:ext cx="182118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047750" y="3495675"/>
            <a:ext cx="1821180" cy="57150"/>
          </a:xfrm>
          <a:prstGeom prst="rect">
            <a:avLst/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1200150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200150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638300" y="3705225"/>
            <a:ext cx="107823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apply_patch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200150" y="4105275"/>
            <a:ext cx="151638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精准修改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116580" y="3495675"/>
            <a:ext cx="182118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3116580" y="3495675"/>
            <a:ext cx="1821180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3268980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268980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707130" y="3705225"/>
            <a:ext cx="107823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run_test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268980" y="4105275"/>
            <a:ext cx="151638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执行测试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185410" y="3495675"/>
            <a:ext cx="182118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5185410" y="3495675"/>
            <a:ext cx="1821180" cy="571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5337810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337810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775960" y="3705225"/>
            <a:ext cx="107823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run_command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337810" y="4105275"/>
            <a:ext cx="151638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白名单命令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7254240" y="3495675"/>
            <a:ext cx="182118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7254240" y="3495675"/>
            <a:ext cx="1821180" cy="571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7406640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406640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844790" y="3705225"/>
            <a:ext cx="107823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git_diff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406640" y="4105275"/>
            <a:ext cx="151638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变更视图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9323070" y="3495675"/>
            <a:ext cx="182118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9323070" y="3495675"/>
            <a:ext cx="1821180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ounded Rectangle 60"/>
          <p:cNvSpPr/>
          <p:nvPr/>
        </p:nvSpPr>
        <p:spPr>
          <a:xfrm>
            <a:off x="9475470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9475470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10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913620" y="3705225"/>
            <a:ext cx="107823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git_status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475470" y="4105275"/>
            <a:ext cx="151638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仓库状态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18/33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05 · 3-5 · Harness、Lang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任务一:代码理解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需求:找出登录逻辑,输出 Markdown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路径:search_code(auth)→read 相关文件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→ 梳理调用链 → 生成文档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产物:模块说明+文件路径引用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Lab3 验收任务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19/33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05 · 3-5 · Harness、Lang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代码理解任务流(实测)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57250" y="2667000"/>
            <a:ext cx="160782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57250" y="2667000"/>
            <a:ext cx="1607820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518285" y="25241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518285" y="25146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3450" y="2800350"/>
            <a:ext cx="1455420" cy="95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search_code(auth)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074670" y="2667000"/>
            <a:ext cx="160782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074670" y="2667000"/>
            <a:ext cx="1607820" cy="571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735705" y="25241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35705" y="25146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50870" y="2800350"/>
            <a:ext cx="1455420" cy="95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read 相关文件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522220" y="3238500"/>
            <a:ext cx="476250" cy="0"/>
          </a:xfrm>
          <a:prstGeom prst="line">
            <a:avLst/>
          </a:prstGeom>
          <a:ln w="2032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Isosceles Triangle 15"/>
          <p:cNvSpPr/>
          <p:nvPr/>
        </p:nvSpPr>
        <p:spPr>
          <a:xfrm rot="5400000">
            <a:off x="2912746" y="3195638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292090" y="2667000"/>
            <a:ext cx="160782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292090" y="2667000"/>
            <a:ext cx="1607820" cy="571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53125" y="25241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53125" y="25146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68290" y="2800350"/>
            <a:ext cx="1455420" cy="95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梳理调用链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4739640" y="3238500"/>
            <a:ext cx="476250" cy="0"/>
          </a:xfrm>
          <a:prstGeom prst="line">
            <a:avLst/>
          </a:prstGeom>
          <a:ln w="2032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Isosceles Triangle 22"/>
          <p:cNvSpPr/>
          <p:nvPr/>
        </p:nvSpPr>
        <p:spPr>
          <a:xfrm rot="5400000">
            <a:off x="5130166" y="3195638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7509510" y="2667000"/>
            <a:ext cx="160782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509510" y="2667000"/>
            <a:ext cx="1607820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170545" y="25241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170545" y="25146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85710" y="2800350"/>
            <a:ext cx="1455420" cy="95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生成 Markdown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6957060" y="3238500"/>
            <a:ext cx="476250" cy="0"/>
          </a:xfrm>
          <a:prstGeom prst="line">
            <a:avLst/>
          </a:prstGeom>
          <a:ln w="2032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Isosceles Triangle 29"/>
          <p:cNvSpPr/>
          <p:nvPr/>
        </p:nvSpPr>
        <p:spPr>
          <a:xfrm rot="5400000">
            <a:off x="7347586" y="3195638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9726930" y="2667000"/>
            <a:ext cx="160782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726930" y="2667000"/>
            <a:ext cx="1607820" cy="5715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10387965" y="25241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387965" y="25146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803130" y="2800350"/>
            <a:ext cx="1455420" cy="95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输出文件引用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9174480" y="3238500"/>
            <a:ext cx="476250" cy="0"/>
          </a:xfrm>
          <a:prstGeom prst="line">
            <a:avLst/>
          </a:prstGeom>
          <a:ln w="2032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Isosceles Triangle 36"/>
          <p:cNvSpPr/>
          <p:nvPr/>
        </p:nvSpPr>
        <p:spPr>
          <a:xfrm rot="5400000">
            <a:off x="9565006" y="3195638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857250" y="5715000"/>
            <a:ext cx="10477500" cy="4191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09650" y="5715000"/>
            <a:ext cx="10172700" cy="4191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2563EB"/>
                </a:solidFill>
                <a:latin typeface="PingFang SC"/>
              </a:rPr>
              <a:t>▶ 验收:输出含模块说明+文件路径引用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20/33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05 · 3-5 · Harness、Lang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任务二:测试生成与修复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定位函数 → 分析既有测试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→ 编写新测试 → 执行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→ 读失败日志 → 修正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→ 输出变更说明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典型的多轮纠错循环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21/33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05 · 3-5 · Harness、Lang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测试修复循环(多轮纠错)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57250" y="2667000"/>
            <a:ext cx="12192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57250" y="2667000"/>
            <a:ext cx="1219200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323975" y="25241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23975" y="25146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3450" y="2800350"/>
            <a:ext cx="1066800" cy="95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定位函数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400300" y="2667000"/>
            <a:ext cx="12192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400300" y="2667000"/>
            <a:ext cx="1219200" cy="571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867025" y="25241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867025" y="25146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76500" y="2800350"/>
            <a:ext cx="1066800" cy="95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分析既有测试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133600" y="3238500"/>
            <a:ext cx="190500" cy="0"/>
          </a:xfrm>
          <a:prstGeom prst="line">
            <a:avLst/>
          </a:prstGeom>
          <a:ln w="2032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Isosceles Triangle 15"/>
          <p:cNvSpPr/>
          <p:nvPr/>
        </p:nvSpPr>
        <p:spPr>
          <a:xfrm rot="5400000">
            <a:off x="2238376" y="3195638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943350" y="2667000"/>
            <a:ext cx="12192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943350" y="2667000"/>
            <a:ext cx="1219200" cy="571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410075" y="25241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10075" y="25146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019550" y="2800350"/>
            <a:ext cx="1066800" cy="95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编写新测试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3676650" y="3238500"/>
            <a:ext cx="190500" cy="0"/>
          </a:xfrm>
          <a:prstGeom prst="line">
            <a:avLst/>
          </a:prstGeom>
          <a:ln w="2032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Isosceles Triangle 22"/>
          <p:cNvSpPr/>
          <p:nvPr/>
        </p:nvSpPr>
        <p:spPr>
          <a:xfrm rot="5400000">
            <a:off x="3781426" y="3195638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5486400" y="2667000"/>
            <a:ext cx="12192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486400" y="2667000"/>
            <a:ext cx="1219200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5953125" y="25241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53125" y="25146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562600" y="2800350"/>
            <a:ext cx="1066800" cy="95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执行 run_test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5219700" y="3238500"/>
            <a:ext cx="190500" cy="0"/>
          </a:xfrm>
          <a:prstGeom prst="line">
            <a:avLst/>
          </a:prstGeom>
          <a:ln w="2032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Isosceles Triangle 29"/>
          <p:cNvSpPr/>
          <p:nvPr/>
        </p:nvSpPr>
        <p:spPr>
          <a:xfrm rot="5400000">
            <a:off x="5324476" y="3195638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7029450" y="2667000"/>
            <a:ext cx="12192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029450" y="2667000"/>
            <a:ext cx="1219200" cy="5715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7496175" y="25241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496175" y="25146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105650" y="2800350"/>
            <a:ext cx="1066800" cy="95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读失败日志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6762750" y="3238500"/>
            <a:ext cx="190500" cy="0"/>
          </a:xfrm>
          <a:prstGeom prst="line">
            <a:avLst/>
          </a:prstGeom>
          <a:ln w="2032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Isosceles Triangle 36"/>
          <p:cNvSpPr/>
          <p:nvPr/>
        </p:nvSpPr>
        <p:spPr>
          <a:xfrm rot="5400000">
            <a:off x="6867526" y="3195638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8572500" y="2667000"/>
            <a:ext cx="12192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871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572500" y="2667000"/>
            <a:ext cx="1219200" cy="57150"/>
          </a:xfrm>
          <a:prstGeom prst="rect">
            <a:avLst/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9039225" y="25241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039225" y="25146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648700" y="2800350"/>
            <a:ext cx="1066800" cy="95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修正代码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8305800" y="3238500"/>
            <a:ext cx="190500" cy="0"/>
          </a:xfrm>
          <a:prstGeom prst="line">
            <a:avLst/>
          </a:prstGeom>
          <a:ln w="2032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Isosceles Triangle 43"/>
          <p:cNvSpPr/>
          <p:nvPr/>
        </p:nvSpPr>
        <p:spPr>
          <a:xfrm rot="5400000">
            <a:off x="8410576" y="3195638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10115550" y="2667000"/>
            <a:ext cx="12192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10115550" y="2667000"/>
            <a:ext cx="1219200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10582275" y="25241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0582275" y="25146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7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191750" y="2800350"/>
            <a:ext cx="1066800" cy="95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再执行通过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9848850" y="3238500"/>
            <a:ext cx="190500" cy="0"/>
          </a:xfrm>
          <a:prstGeom prst="line">
            <a:avLst/>
          </a:prstGeom>
          <a:ln w="2032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Isosceles Triangle 50"/>
          <p:cNvSpPr/>
          <p:nvPr/>
        </p:nvSpPr>
        <p:spPr>
          <a:xfrm rot="5400000">
            <a:off x="9953626" y="3195638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2" name="Connector 51"/>
          <p:cNvCxnSpPr/>
          <p:nvPr/>
        </p:nvCxnSpPr>
        <p:spPr>
          <a:xfrm>
            <a:off x="10725150" y="3867150"/>
            <a:ext cx="0" cy="228600"/>
          </a:xfrm>
          <a:prstGeom prst="line">
            <a:avLst/>
          </a:prstGeom>
          <a:ln w="20320">
            <a:solidFill>
              <a:srgbClr val="F59E0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Isosceles Triangle 52"/>
          <p:cNvSpPr/>
          <p:nvPr/>
        </p:nvSpPr>
        <p:spPr>
          <a:xfrm rot="10800000">
            <a:off x="10682288" y="4010026"/>
            <a:ext cx="85725" cy="85725"/>
          </a:xfrm>
          <a:prstGeom prst="triangl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4" name="Connector 53"/>
          <p:cNvCxnSpPr/>
          <p:nvPr/>
        </p:nvCxnSpPr>
        <p:spPr>
          <a:xfrm flipH="1">
            <a:off x="7639050" y="4095750"/>
            <a:ext cx="3086100" cy="0"/>
          </a:xfrm>
          <a:prstGeom prst="line">
            <a:avLst/>
          </a:prstGeom>
          <a:ln w="20320">
            <a:solidFill>
              <a:srgbClr val="F59E0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Isosceles Triangle 54"/>
          <p:cNvSpPr/>
          <p:nvPr/>
        </p:nvSpPr>
        <p:spPr>
          <a:xfrm rot="16200000">
            <a:off x="7639050" y="4052888"/>
            <a:ext cx="85725" cy="85725"/>
          </a:xfrm>
          <a:prstGeom prst="triangl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6" name="Connector 55"/>
          <p:cNvCxnSpPr/>
          <p:nvPr/>
        </p:nvCxnSpPr>
        <p:spPr>
          <a:xfrm flipV="1">
            <a:off x="7639050" y="3867150"/>
            <a:ext cx="0" cy="228600"/>
          </a:xfrm>
          <a:prstGeom prst="line">
            <a:avLst/>
          </a:prstGeom>
          <a:ln w="20320">
            <a:solidFill>
              <a:srgbClr val="F59E0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Isosceles Triangle 56"/>
          <p:cNvSpPr/>
          <p:nvPr/>
        </p:nvSpPr>
        <p:spPr>
          <a:xfrm>
            <a:off x="7596188" y="3867150"/>
            <a:ext cx="85725" cy="85725"/>
          </a:xfrm>
          <a:prstGeom prst="triangl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639050" y="3848100"/>
            <a:ext cx="4305300" cy="209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59E0B"/>
                </a:solidFill>
                <a:latin typeface="PingFang SC"/>
              </a:rPr>
              <a:t>循环(loop)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22/33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05 · 3-5 · Harness、Lang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应用:从岗位任务拆能力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开发岗:代码工具+项目记忆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QA 岗:测试工具+失败分析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运维岗:Shell+监控+回滚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能力包=第5章 Skill 的雏形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23/33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05 · 3-5 · Harness、Lang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岗位→能力包映射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47750" y="172402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7750" y="1724025"/>
            <a:ext cx="4924425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200150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00150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38300" y="193357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开发岗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00150" y="233362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代码工具+项目记忆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9825" y="172402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19825" y="1724025"/>
            <a:ext cx="4924425" cy="571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72225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72225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10375" y="193357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QA 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2225" y="233362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测试工具+失败分析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47750" y="349567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047750" y="3495675"/>
            <a:ext cx="4924425" cy="571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200150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00150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38300" y="370522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运维岗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00150" y="410527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Shell+监控+回滚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19825" y="349567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19825" y="3495675"/>
            <a:ext cx="4924425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372225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72225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10375" y="370522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分析岗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2225" y="410527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检索+报表生成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24/33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05 · 3-5 · Harness、Lang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踩坑:Harness 过度抽象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为未来场景堆配置项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结果:没人会用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原则:三个真实场景驱动抽象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25/33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05 · 3-5 · Harness、Lang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踩坑:LangGraph 全流程依赖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把业务逻辑全塞进图节点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平台代码不可测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建议:节点薄,领域逻辑在平台层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26/33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05 · 3-5 · Harness、Lang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优化:Harness 的测试策略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五要素全部接口化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测试注入 Mock 实现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决策脚本化(平台 ScriptedDecider)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确定性测试是平台根基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27/33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05 · 3-5 · Harness、Lang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编排层测试实测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33500" y="1047750"/>
            <a:ext cx="9525000" cy="2667000"/>
          </a:xfrm>
          <a:prstGeom prst="roundRect">
            <a:avLst>
              <a:gd name="adj" fmla="val 8000"/>
            </a:avLst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333500" y="1047750"/>
            <a:ext cx="9525000" cy="38100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504950" y="1181100"/>
            <a:ext cx="123825" cy="123825"/>
          </a:xfrm>
          <a:prstGeom prst="roundRect">
            <a:avLst>
              <a:gd name="adj" fmla="val 8000"/>
            </a:avLst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752600" y="1181100"/>
            <a:ext cx="123825" cy="123825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000250" y="1181100"/>
            <a:ext cx="123825" cy="123825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381250" y="1047750"/>
            <a:ext cx="8286750" cy="381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terminal — 平台实测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62100" y="1581150"/>
            <a:ext cx="9067800" cy="2000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34D399"/>
                </a:solidFill>
                <a:latin typeface="Menlo"/>
              </a:rPr>
              <a:t>$ uv run pytest -m unit tests/unit/orchestration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CBD5E1"/>
                </a:solidFill>
                <a:latin typeface="Menlo"/>
              </a:rPr>
              <a:t>............ 12 passed in 0.31s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94A3B8"/>
                </a:solidFill>
                <a:latin typeface="Menlo"/>
              </a:rPr>
              <a:t># ScriptedDecider:决策脚本化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94A3B8"/>
                </a:solidFill>
                <a:latin typeface="Menlo"/>
              </a:rPr>
              <a:t># 四条终止路径全覆盖(含死循环熔断)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94A3B8"/>
                </a:solidFill>
                <a:latin typeface="Menlo"/>
              </a:rPr>
              <a:t># 无需真实模型即可回归编排层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28/33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05 · 3-5 · Harness、Lang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本章小结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Loop:四出口+死循环熔断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Planning:按任务选策略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状态机+Checkpoint:可恢复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Sandbox:三类边界最小权限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下一章:认知能力扩展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29/33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05 · 3-5 · Harness、Lang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2026 前沿②:Computer Use 与多模态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47750" y="172402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7750" y="1724025"/>
            <a:ext cx="4924425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200150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00150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38300" y="193357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Computer Use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00150" y="233362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GUI 操作型 Agent(浏览器/桌面)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9825" y="172402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19825" y="1724025"/>
            <a:ext cx="4924425" cy="571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72225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72225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10375" y="193357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Browser Use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2225" y="233362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结构化网页操作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47750" y="349567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047750" y="3495675"/>
            <a:ext cx="4924425" cy="571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200150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00150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38300" y="370522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多模态输入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00150" y="410527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截图理解→操作决策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19825" y="349567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19825" y="3495675"/>
            <a:ext cx="4924425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372225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72225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10375" y="370522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本平台延伸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2225" y="410527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Sandbox 内跑无头浏览器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30/33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05 · 3-5 · Harness、Lang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Lab3 验收清单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47625" cy="8763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14450" y="91440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[ ] 演示仓库完成代码理解任务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9650" y="128587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181725" y="91440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81725" y="914400"/>
            <a:ext cx="47625" cy="8763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19875" y="91440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[ ] kill 后 resume_from 恢复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15075" y="128587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76300" y="196215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76300" y="1962150"/>
            <a:ext cx="47625" cy="8763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14450" y="196215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[ ] 危险命令被 Sandbox 拦截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09650" y="233362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181725" y="196215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81725" y="1962150"/>
            <a:ext cx="47625" cy="8763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19875" y="196215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[ ] 连续重复动作触发熔断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15075" y="233362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76300" y="300990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76300" y="3009900"/>
            <a:ext cx="47625" cy="87630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14450" y="300990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[ ] 九态流转全程留痕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09650" y="338137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31/33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05 · 3-5 · Harness、Lang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04800" y="0"/>
            <a:ext cx="11430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B1D3A"/>
                </a:solidFill>
                <a:latin typeface="PingFang SC"/>
              </a:rPr>
              <a:t>自测 · Harness 与 LangGraph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43000" y="1143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43000" y="1143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90650" y="1143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05000" y="1143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Harness 五要素如何注入测试?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1905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1905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1905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05000" y="1905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LangGraph 与本平台 Loop 的映射?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2667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43000" y="2667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2667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05000" y="2667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Computer Use 型 Agent 的沙箱要求?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3429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43000" y="3429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3429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05000" y="3429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何时选 A2A 而非进程内子代理?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32/33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05 · 3-5 · Harness、Lang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下一章预告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上下文:Agent 的认知带宽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记忆:短期/长期/项目级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RAG:让 Agent 查到该查的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目标里程碑 M4:Codebase RAG&amp;Memory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决定上限的不是模型,是喂了什么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33/33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05 · 3-5 · Harness、Lang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