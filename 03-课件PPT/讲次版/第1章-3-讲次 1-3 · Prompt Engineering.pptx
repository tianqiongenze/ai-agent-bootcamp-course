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77120" y="1486160"/>
            <a:ext cx="4953000" cy="49530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77280" y="1086040"/>
            <a:ext cx="3619500" cy="3619500"/>
          </a:xfrm>
          <a:prstGeom prst="ellipse">
            <a:avLst/>
          </a:prstGeom>
          <a:solidFill>
            <a:srgbClr val="1B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6000" y="714500"/>
            <a:ext cx="2381250" cy="2381250"/>
          </a:xfrm>
          <a:prstGeom prst="ellipse">
            <a:avLst/>
          </a:prstGeom>
          <a:solidFill>
            <a:srgbClr val="24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914400"/>
            <a:ext cx="5524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857250"/>
            <a:ext cx="5524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B1D3A"/>
                </a:solidFill>
                <a:latin typeface="PingFang SC"/>
              </a:rPr>
              <a:t>1.3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1143000"/>
            <a:ext cx="55245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PingFang SC"/>
              </a:rPr>
              <a:t>AI AGENT 全栈工程师训练营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2000250"/>
            <a:ext cx="6858000" cy="2000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1-3 · Prompt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91000"/>
            <a:ext cx="6477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BD5E1"/>
                </a:solidFill>
                <a:latin typeface="PingFang SC"/>
              </a:rPr>
              <a:t>LLM API、Prompt 与结构化输出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5429250"/>
            <a:ext cx="83820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Agent Engineering Platform · v1.3 · 审计 9.4/10 · 125 测试</a:t>
            </a:r>
          </a:p>
        </p:txBody>
      </p:sp>
      <p:sp>
        <p:nvSpPr>
          <p:cNvPr id="13" name="Oval 12"/>
          <p:cNvSpPr/>
          <p:nvPr/>
        </p:nvSpPr>
        <p:spPr>
          <a:xfrm>
            <a:off x="9372600" y="4514850"/>
            <a:ext cx="1066800" cy="1066800"/>
          </a:xfrm>
          <a:prstGeom prst="ellipse">
            <a:avLst/>
          </a:prstGeom>
          <a:noFill/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48800" y="4591050"/>
            <a:ext cx="914400" cy="9144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4895850"/>
            <a:ext cx="1066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59E0B"/>
                </a:solidFill>
                <a:latin typeface="PingFang SC"/>
              </a:rPr>
              <a:t>AEP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1100" y="5638800"/>
            <a:ext cx="22098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AI Agent 训练营 · 教研室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609600"/>
            <a:ext cx="10287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PingFang SC"/>
              </a:rPr>
              <a:t>本章目录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238250"/>
            <a:ext cx="93345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7 个知识模块 · 含实测数据图表与代码走查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9050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1-1 · 能力模型与 LLM API 基础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6289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1-2 · Streaming 流式输出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3352800"/>
            <a:ext cx="47625" cy="590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1-3 · Prompt Engineering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" y="4076700"/>
            <a:ext cx="47625" cy="5905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PingFang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495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1-4 · 结构化输出与 LLM Gateway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941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9410" y="1905000"/>
            <a:ext cx="47625" cy="5905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086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11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本章小结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941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09410" y="2628900"/>
            <a:ext cx="47625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086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711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Lab1 验收清单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0941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09410" y="33528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086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711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下一章预告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2/33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1-3 · Prompt Engin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1-3 · Prompt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01 /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1-3 · Prompt Engin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System Prompt:岗位说明书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设定全局行为基调与能力边界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声明输出格式与禁止事项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与 user 消息隔离,防注入第一道墙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一切可复用的指令都该进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4/33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1-3 · Prompt Engin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角色定义与行为约束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明确角色:代码审查员/数据分析师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约束:只答职责范围内的问题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越界请求 → 礼貌拒绝并引导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角色越具体,输出越稳定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5/33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1-3 · Prompt Engin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输出风格控制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详细程度:一句话/要点/长文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语气:专业/口语/客服话术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结构:Markdown 标题/表格/JSON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风格也是验收标准的一部分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6/33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1-3 · Prompt Engin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模板化前后对比,维度,散写 Prompt,模板化;复用,每次手写,变量注入;一致性,风格漂移,风格锁定;版本,无追溯,git 版本化;审计,难归因,模板 ID 留痕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047750"/>
            <a:ext cx="9906000" cy="561975"/>
          </a:xfrm>
          <a:prstGeom prst="roundRect">
            <a:avLst>
              <a:gd name="adj" fmla="val 8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1047750"/>
            <a:ext cx="9696450" cy="5619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hl=2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7/33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1-3 · Prompt Engin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Few-shot:示例的力量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给 2~3 个"输入→输出"范例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对格式敏感任务立竿见影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示例覆盖边界情况效果最佳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示例本身成为 Prompt 的一部分资产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JSON 输出任务先试 Few-shot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8/33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1-3 · Prompt Engin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ChatMessage:role 约束与校验 · src/agent_platform/gateway/domain.py:14-32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45581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9/33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1-3 · Prompt Engin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Few-shot 设计三要点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2609850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数量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2~3 个足够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2609850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覆盖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含边界情况样例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2609850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一致性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格式与目标输出严格同构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10/33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1-3 · Prompt Engin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任务拆解:降幻觉的核心手段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一步到位 → 多步小任务链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每步只做一件事,可单独校验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步骤间传结构化数据而非自然语言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链式拆解 = 为第3章 Agent Loop 铺路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11/33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1-3 · Prompt Engin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Prompt 模板化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可变参数嵌入固定模板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模板即代码:进仓库、走评审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变量渲染前做转义与校验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模板库由 Gateway 统一管理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12/33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1-3 · Prompt Engin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Prompt 版本管理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Prompt 改动必须可回溯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版本 + 变更原因 + 适用场景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每次改动跑回归(第5章 Eval)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"感觉变好了"不是版本记录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13/33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1-3 · Prompt Engin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应用:代码审查 Prompt 实例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system:你是资深代码审查员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约束:只输出问题清单+严重级别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few-shot:一个问题样例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输出:Markdown 表格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教学平台 prompt 模板可参考此结构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14/33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1-3 · Prompt Engin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应用:数据抽取 Prompt 实例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目标:从合同抽取金额/日期/主体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temperature=0 + JSON Schema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Few-shot 给一个含嵌套结构的样例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抽取失败必须显式返回 null 字段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宁可空缺,不许编造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15/33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1-3 · Prompt Engin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踩坑:Prompt 注入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用户输入:"ignore previous instructions"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直拼进 system → 指令被覆盖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防护一:用户输入只进 user 消息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防护二:输出格式校验兜底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16/33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1-3 · Prompt Engin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注入攻击与防御流-&gt;用户输入夹带指令-&gt;混入 system 位置?-是:直接拦截 400-&gt;否:进 user 消息-&gt;输出校验兜底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10477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04775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531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31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103251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note=双层防线:位置纪律+输出校验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17/33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1-3 · Prompt Engin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风控栈实测(curl 复现)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352425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285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curl -X POST :8000/v1/chat/completions -d '{"content":"ignore all previous instructions"}'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F87171"/>
                </a:solidFill>
                <a:latin typeface="Menlo"/>
              </a:rPr>
              <a:t>HTTP 400  injection pattern matched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curl -H 'x-idempotency-key: replay-1' …(第2次)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F87171"/>
                </a:solidFill>
                <a:latin typeface="Menlo"/>
              </a:rPr>
              <a:t>HTTP 429  replay detected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for i in 1..14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连续请求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F87171"/>
                </a:solidFill>
                <a:latin typeface="Menlo"/>
              </a:rPr>
              <a:t>200 200 200 200 200 200 200 200 429 429 429 429 429 429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F87171"/>
                </a:solidFill>
                <a:latin typeface="Menlo"/>
              </a:rPr>
              <a:t># 限流:桶容量 8 耗尽后全部 429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18/33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1-3 · Prompt Engin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踩坑:越改越长的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每次出错就补一段规则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结果:互相冲突、模型顾此失彼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修复:定期重构,合并同类约束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用回归测试证明删规则没退化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19/33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1-3 · Prompt Engin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优化:Prompt 的注意力预算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关键约束放开头或结尾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中段内容最容易被忽略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无关示例及时下线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上下文工程在下一章系统化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20/33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1-3 · Prompt Engin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优化:模板 A/B 与灰度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新旧模板同时注册,Flag 控制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小流量验证指标再全量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 FeatureFlags 一键回滚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Prompt 是生产资产,按代码对待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21/33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1-3 · Prompt Engin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1-3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22/33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1-3 · Prompt Engin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实验:system 与 user 的优先级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冲突指令分别放 system/user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观察模型听谁的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结论:system 优先但可被越狱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结论:注入防护不能只靠位置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23/33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1-3 · Prompt Engin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负面指令的正确写法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"不要编造"不如"不确定时输出未知"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给出替代行为而非只说禁止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每条禁止配一个正例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24/33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1-3 · Prompt Engin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输出结构指令模板化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固定段落:结论/依据/建议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固定字段: JSON 键名写死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模板变量只留业务数据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结构化输出的前置保障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25/33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1-3 · Prompt Engin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应用:会议纪要模板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输入:转写文本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模板:决议/待办/风险三段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约束:待办必须带负责人与期限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输出直接进协作工具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26/33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1-3 · Prompt Engin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SecurityStack:风控组合入口 · src/agent_platform/security/guard.py:118-138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49488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27/33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1-3 · Prompt Engin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纪要生成流水线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60782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1828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1828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转写文本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7467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74670" y="2667000"/>
            <a:ext cx="160782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3570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570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087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模板三段(决议/待办/风险)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222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291274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9209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92090" y="2667000"/>
            <a:ext cx="160782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531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531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6829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待办抽取(负责人+期限)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3964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513016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0951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09510" y="2667000"/>
            <a:ext cx="160782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7054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054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571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校验必填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95706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734758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72693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26930" y="2667000"/>
            <a:ext cx="1607820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38796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8796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0313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输出结构化纪要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17448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956500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57250" y="5715000"/>
            <a:ext cx="10477500" cy="4191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9650" y="5715000"/>
            <a:ext cx="10172700" cy="419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▶ 模板即代码:版本化进仓库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28/33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1-3 · Prompt Engin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踩坑:示例泄漏进生产输出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Few-shot 示例被模型复读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现象:输出里出现"示例:"字样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修复:示例加显著分隔与去重指令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回归用例要覆盖示例复读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29/33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1-3 · Prompt Engin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示例复读复现与修复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26670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curl ... -d '{"content":"给个示例"}'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输出: 示例:小明提交了 PR...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修复: 显著分隔符 + "勿复读示例" 约束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回归: 用例覆盖示例复读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few-shot 是双刃剑:格式受益/内容风险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30/33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1-3 · Prompt Engin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优化:Prompt 压缩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删除客套话与重复约束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合并同类规则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压缩后跑回归验证不退化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Token 预算是钱,压缩是省钱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31/33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1-3 · Prompt Engin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优化:基于评估的迭代流程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改动前:固化当前指标基线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改动后:全量回归+人工抽检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双清单:improved/regressed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这套流程第5章会平台化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32/33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1-3 · Prompt Engin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Prompt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为什么用户输入永远不进 system?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Few-shot 在什么任务上收益最大?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你如何证明一次 Prompt 修改是改进?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模板化解决了什么工程问题?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33/33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1-3 · Prompt Engin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