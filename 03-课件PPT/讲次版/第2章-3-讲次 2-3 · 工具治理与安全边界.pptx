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77120" y="1486160"/>
            <a:ext cx="4953000" cy="49530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77280" y="1086040"/>
            <a:ext cx="3619500" cy="3619500"/>
          </a:xfrm>
          <a:prstGeom prst="ellipse">
            <a:avLst/>
          </a:prstGeom>
          <a:solidFill>
            <a:srgbClr val="1B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6000" y="714500"/>
            <a:ext cx="2381250" cy="2381250"/>
          </a:xfrm>
          <a:prstGeom prst="ellipse">
            <a:avLst/>
          </a:prstGeom>
          <a:solidFill>
            <a:srgbClr val="24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914400"/>
            <a:ext cx="5524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857250"/>
            <a:ext cx="5524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B1D3A"/>
                </a:solidFill>
                <a:latin typeface="PingFang SC"/>
              </a:rPr>
              <a:t>2.3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0" y="1143000"/>
            <a:ext cx="55245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PingFang SC"/>
              </a:rPr>
              <a:t>AI AGENT 全栈工程师训练营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2000250"/>
            <a:ext cx="6858000" cy="2000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PingFang SC"/>
              </a:rPr>
              <a:t>2-3 · 工具治理与安全边界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91000"/>
            <a:ext cx="64770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BD5E1"/>
                </a:solidFill>
                <a:latin typeface="PingFang SC"/>
              </a:rPr>
              <a:t>Function Calling、Tool Runtime 与 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5429250"/>
            <a:ext cx="83820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Agent Engineering Platform · v1.3 · 审计 9.4/10 · 125 测试</a:t>
            </a:r>
          </a:p>
        </p:txBody>
      </p:sp>
      <p:sp>
        <p:nvSpPr>
          <p:cNvPr id="13" name="Oval 12"/>
          <p:cNvSpPr/>
          <p:nvPr/>
        </p:nvSpPr>
        <p:spPr>
          <a:xfrm>
            <a:off x="9372600" y="4514850"/>
            <a:ext cx="1066800" cy="1066800"/>
          </a:xfrm>
          <a:prstGeom prst="ellipse">
            <a:avLst/>
          </a:prstGeom>
          <a:noFill/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48800" y="4591050"/>
            <a:ext cx="914400" cy="9144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4895850"/>
            <a:ext cx="1066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59E0B"/>
                </a:solidFill>
                <a:latin typeface="PingFang SC"/>
              </a:rPr>
              <a:t>AEP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1100" y="5638800"/>
            <a:ext cx="22098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AI Agent 训练营 · 教研室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609600"/>
            <a:ext cx="10287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PingFang SC"/>
              </a:rPr>
              <a:t>本章目录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238250"/>
            <a:ext cx="93345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8 个知识模块 · 含实测数据图表与代码走查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9050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2-1 · Function Calling 与 Tool Use 原理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26289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5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2-2 · Tool Registry 设计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3352800"/>
            <a:ext cx="47625" cy="590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2-3 · 工具治理与安全边界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250" y="4076700"/>
            <a:ext cx="47625" cy="5905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PingFang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495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2-4 · MCP 协议与接入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941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9410" y="1905000"/>
            <a:ext cx="47625" cy="5905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086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7171"/>
                </a:solidFill>
                <a:latin typeface="PingFang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11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2-5 · Agent Tool Runtime 集成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941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09410" y="2628900"/>
            <a:ext cx="47625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086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711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本章小结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0941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09410" y="33528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086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711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Lab2 验收清单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0941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09410" y="40767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8086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5711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下一章预告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2/29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2-3 · 工具治理与安全边界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2-3 · 工具治理与安全边界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01 /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2-3 · 工具治理与安全边界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治理四道防线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参数校验:挡脏数据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权限分级:挡越权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人工确认:挡高危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审计回放:事后可追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ToolExecutor 即四道串联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4/29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2-3 · 工具治理与安全边界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参数校验:Schema 即法律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Pydantic 严格校验类型/必填/范围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拒绝多余字段(防注入)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错误信息结构化返回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校验失败不进执行,直接审计留痕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5/29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2-3 · 工具治理与安全边界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权限模型:RBAC 三角色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readonly:仅 READ 工具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agent:READ + WRITE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admin:全部(含 DANGEROUS)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身份透传:用户权限决定工具权限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6/29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2-3 · 工具治理与安全边界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RBAC 风险矩阵,角色,READ 工具,WRITE 工具,DANGEROUS 工具;readonly,✓,✗,✗;agent,✓,✓,需确认凭据;admin,✓,✓,需确认凭据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047750"/>
            <a:ext cx="9906000" cy="561975"/>
          </a:xfrm>
          <a:prstGeom prst="roundRect">
            <a:avLst>
              <a:gd name="adj" fmla="val 8000"/>
            </a:avLst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1047750"/>
            <a:ext cx="9696450" cy="5619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hl=3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7/29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2-3 · 工具治理与安全边界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高危工具:确认凭据制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DANGEROUS 一律拒 readonly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执行必须带 confirmed=True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 drop_database 演示拦截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无确认执行=安全事故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8/29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2-3 · 工具治理与安全边界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工具调用状态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98625" y="200025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8625" y="200025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PENDING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0625" y="200025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625" y="200025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PERMIT_OK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02625" y="200025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625" y="200025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EXECUTING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8625" y="342900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8625" y="342900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AUDITED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00625" y="342900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625" y="342900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REJECTED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625" y="342900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625" y="342900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TIMEOUT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89375" y="2276475"/>
            <a:ext cx="1044575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4848226" y="2233613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49687" y="2133600"/>
            <a:ext cx="1123950" cy="285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9687" y="2133600"/>
            <a:ext cx="11239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权限通过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91375" y="2276475"/>
            <a:ext cx="1044575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8150226" y="2233613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942137" y="2133600"/>
            <a:ext cx="1543050" cy="285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2137" y="2133600"/>
            <a:ext cx="15430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wait_f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9398000" y="1562100"/>
            <a:ext cx="0" cy="4191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2794000" y="1562100"/>
            <a:ext cx="6604000" cy="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94000" y="1562100"/>
            <a:ext cx="0" cy="1781175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398000" y="2552700"/>
            <a:ext cx="0" cy="809625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0800000">
            <a:off x="9355138" y="3276601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836025" y="2814637"/>
            <a:ext cx="1123950" cy="285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36025" y="2814637"/>
            <a:ext cx="11239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超时降级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2794000" y="1562100"/>
            <a:ext cx="0" cy="4191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794000" y="1562100"/>
            <a:ext cx="3302000" cy="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096000" y="1562100"/>
            <a:ext cx="0" cy="1781175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9/29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2-3 · 工具治理与安全边界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工具白名单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场景级白名单:客服场景只开放查询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白名单外静默拒绝+审计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白名单变更走审批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10/29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2-3 · 工具治理与安全边界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SQL 风险控制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只读账号 + 表级权限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强制 LIMIT 与超时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禁止 DDL/DML 关键词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全部 SQL 进审计日志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11/29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2-3 · 工具治理与安全边界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SQL 四道闸实测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047750"/>
            <a:ext cx="9525000" cy="295275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04775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9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260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02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104775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581150"/>
            <a:ext cx="9067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只读账号: SELECT only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表级权限: business_ro 白名单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强制 LIMIT 1000 + 超时 3s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DDL/DML 关键词静态拦截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全部 SQL 进审计(哈希链防篡改)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NL2SQL 永远不直连生产写库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12/29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2-3 · 工具治理与安全边界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Shell 风险控制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命令白名单机制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禁用 sudo/dd/shutdown 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危险模式硬拦截(rm -rf 变体)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第3章 Sandbox 详细展开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13/29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2-3 · 工具治理与安全边界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人工确认机制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waiting_approval 状态挂起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确认内容:做什么/影响什么/代价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确认记录进审计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第3章状态机原生支持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14/29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2-3 · 工具治理与安全边界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HITL 确认时序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Agent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5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状态机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0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73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人工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8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工具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33500" y="1809750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44227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9700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遇 DANGEROUS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08500" y="2492375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7597776" y="2449513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206625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2. waiting_approval+说明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4508500" y="3175000"/>
            <a:ext cx="317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16200000">
            <a:off x="4508500" y="313213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28892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3. approved(confirmed=True)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508500" y="3857625"/>
            <a:ext cx="6350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10772776" y="3814763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9500" y="3571875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4. 放行执行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4508500" y="4540250"/>
            <a:ext cx="317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16200000">
            <a:off x="4508500" y="44973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42545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5. rejected(默认)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1333500" y="5222875"/>
            <a:ext cx="317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16200000">
            <a:off x="1333500" y="5180013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7000" y="4937125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6. 取消分支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15/29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2-3 · 工具治理与安全边界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调用队列与依赖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多工具调用:顺序/依赖管理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有依赖按拓扑序执行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失败传播策略:中止或跳过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16/29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2-3 · 工具治理与安全边界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审计日志:记什么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工具名/版本/参数(脱敏)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权限判定结果与耗时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成功失败/重试次数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run_id 串起全链路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17/29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2-3 · 工具治理与安全边界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审计事件实测(JSON)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047750"/>
            <a:ext cx="9525000" cy="238125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04775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9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260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02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104775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581150"/>
            <a:ext cx="906780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executor.execute("query_user", {"api_key":"sk-xxx","q":"joel"})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AuditEvent(event_id="e1", run_id="r6", tool="query_user",args={"api_key": "***MASKED***", "q": "joel"}, ok=True)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mask_args 声明的字段在审计层统一脱敏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meta.chain_hash 哈希链防篡改(v1.3)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18/29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2-3 · 工具治理与安全边界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敏感数据脱敏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mask_args 集合声明敏感字段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值替换 ***MASKED***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平台实测:api_key 不落日志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生产红线:PII/Key 永不落盘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19/29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2-3 · 工具治理与安全边界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审计安全三道数字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905000"/>
            <a:ext cx="317500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775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563EB"/>
                </a:solidFill>
                <a:latin typeface="PingFang SC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高危拦截率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15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实测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850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08500" y="1905000"/>
            <a:ext cx="3175000" cy="76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850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4B8A6"/>
                </a:solidFill>
                <a:latin typeface="PingFang SC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850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密钥泄露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090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审计日志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6925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1905000"/>
            <a:ext cx="3175000" cy="76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6925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8B5CF6"/>
                </a:solidFill>
                <a:latin typeface="PingFang SC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6925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脱敏字段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165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mask_args 机制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20/29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2-3 · 工具治理与安全边界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超时与失败恢复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wait_for 硬超时,防挂死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失败返回结构化 error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策略:重试/参数修正/降级/人工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工具异常不允许拖垮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21/29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2-3 · 工具治理与安全边界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应用:工单系统权限矩阵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客服角色:查工单/查知识库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组长角色:+改派/退款(确认)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管理员:+删除数据(高危)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一张表管理所有边界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22/29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2-3 · 工具治理与安全边界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踩坑:审计没接 Pulsar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教学版 InMemory 重启即失忆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生产必须落库/落消息队列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 PulsarAuditBus 已就绪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旁路降级:失败计数不阻塞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23/29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2-3 · 工具治理与安全边界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踩坑:重试放大副作用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邮件工具重试=重复群发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治理:非幂等工具禁自动重试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或引入幂等键去重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24/29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2-3 · 工具治理与安全边界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优化:审计的实时风控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审计流实时分析异常模式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单位时间高危调用超阈值→告警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自动降级为只读模式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25/29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2-3 · 工具治理与安全边界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优化:权限即代码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权限矩阵进 Git 版本化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变更走 PR 评审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CI 校验角色-风险覆盖关系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26/29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2-3 · 工具治理与安全边界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2-3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27/29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2-3 · 工具治理与安全边界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执行管线:权限→校验→超时→审计 · src/agent_platform/tools/runtime.py:200-232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720" y="762000"/>
            <a:ext cx="9052560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28/29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2-3 · 工具治理与安全边界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治理与安全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四道防线各拦住什么?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为什么 DANGEROUS 需要确认凭据?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非幂等工具的重试原则?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脱敏应该在哪一层做?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29/29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2-3 · 工具治理与安全边界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