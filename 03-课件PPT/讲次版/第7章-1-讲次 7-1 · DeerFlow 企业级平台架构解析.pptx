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77120" y="1486160"/>
            <a:ext cx="4953000" cy="49530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77280" y="1086040"/>
            <a:ext cx="3619500" cy="3619500"/>
          </a:xfrm>
          <a:prstGeom prst="ellipse">
            <a:avLst/>
          </a:prstGeom>
          <a:solidFill>
            <a:srgbClr val="1B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06000" y="714500"/>
            <a:ext cx="2381250" cy="2381250"/>
          </a:xfrm>
          <a:prstGeom prst="ellipse">
            <a:avLst/>
          </a:prstGeom>
          <a:solidFill>
            <a:srgbClr val="244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18000"/>
            <a:ext cx="12192000" cy="240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7250" y="914400"/>
            <a:ext cx="552450" cy="5524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857250"/>
            <a:ext cx="5524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B1D3A"/>
                </a:solidFill>
                <a:latin typeface="PingFang SC"/>
              </a:rPr>
              <a:t>7.1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9250" y="1143000"/>
            <a:ext cx="55245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4A3B8"/>
                </a:solidFill>
                <a:latin typeface="PingFang SC"/>
              </a:rPr>
              <a:t>AI AGENT 全栈工程师训练营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9250" y="2000250"/>
            <a:ext cx="6858000" cy="2000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PingFang SC"/>
              </a:rPr>
              <a:t>7-1 · DeerFlow 企业级平台架构解析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9250" y="4191000"/>
            <a:ext cx="6477000" cy="76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CBD5E1"/>
                </a:solidFill>
                <a:latin typeface="PingFang SC"/>
              </a:rPr>
              <a:t>企业级综合项目与产品化落地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9250" y="5429250"/>
            <a:ext cx="83820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Agent Engineering Platform · v1.3 · 审计 9.4/10 · 125 测试</a:t>
            </a:r>
          </a:p>
        </p:txBody>
      </p:sp>
      <p:sp>
        <p:nvSpPr>
          <p:cNvPr id="13" name="Oval 12"/>
          <p:cNvSpPr/>
          <p:nvPr/>
        </p:nvSpPr>
        <p:spPr>
          <a:xfrm>
            <a:off x="9372600" y="4514850"/>
            <a:ext cx="1066800" cy="1066800"/>
          </a:xfrm>
          <a:prstGeom prst="ellipse">
            <a:avLst/>
          </a:prstGeom>
          <a:noFill/>
          <a:ln w="254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48800" y="4591050"/>
            <a:ext cx="914400" cy="9144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4895850"/>
            <a:ext cx="106680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59E0B"/>
                </a:solidFill>
                <a:latin typeface="PingFang SC"/>
              </a:rPr>
              <a:t>AEP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01100" y="5638800"/>
            <a:ext cx="22098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AI Agent 训练营 · 教研室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609600"/>
            <a:ext cx="102870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PingFang SC"/>
              </a:rPr>
              <a:t>本章目录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1238250"/>
            <a:ext cx="93345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6 个知识模块 · 含实测数据图表与代码走查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19050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870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495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7-1 · DeerFlow 企业级平台架构解析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7250" y="26289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870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495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7-2 · 高阶案例:深度研究与软件工厂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7250" y="3352800"/>
            <a:ext cx="47625" cy="5905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70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9E0B"/>
                </a:solidFill>
                <a:latin typeface="PingFang SC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495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7-3 · Agent 产品化与作品集表达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0941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709410" y="1905000"/>
            <a:ext cx="47625" cy="5905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8086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4D399"/>
                </a:solidFill>
                <a:latin typeface="PingFang SC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5711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本章小结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0941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09410" y="2628900"/>
            <a:ext cx="47625" cy="5905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8086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7171"/>
                </a:solidFill>
                <a:latin typeface="PingFang SC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11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Capstone 指引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941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709410" y="3352800"/>
            <a:ext cx="47625" cy="5905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8086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711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结课寄语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2/44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7-1 · DeerFlow 企业级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7-1 · DeerFlow 企业级平台架构解析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01 /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7-1 · DeerFlow 企业级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为什么解剖 DeerFlow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成熟开源 Agent 平台的完整样本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九条架构线贯穿全课程知识点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学会读源码=学会二次开发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对照本平台,每条线都有回声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4/44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7-1 · DeerFlow 企业级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DeerFlow 九条架构线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83820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838200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02870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02870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04775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① 请求入口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144780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run 托管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83820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838200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102870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102870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104775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② 智能体工厂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144780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配置→图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83820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838200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102870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102870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104775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③ 工具装配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144780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动态子集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477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47750" y="2609850"/>
            <a:ext cx="32004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2001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001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383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④ 中间件 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01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上下文准备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9580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495800" y="2609850"/>
            <a:ext cx="3200400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64820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4820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8635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⑤ 中间件 II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4820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输出门控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438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943850" y="2609850"/>
            <a:ext cx="3200400" cy="571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0962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962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344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⑥ 沙箱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962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执行边界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47750" y="438150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047750" y="4381500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200150" y="457200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200150" y="457200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638300" y="459105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⑦ 子代理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00150" y="499110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受限委托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495800" y="438150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495800" y="4381500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4648200" y="457200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648200" y="457200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86350" y="459105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⑧ 技能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648200" y="499110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经验资产化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943850" y="438150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943850" y="4381500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8096250" y="457200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096250" y="457200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534400" y="459105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⑨ 持久化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096250" y="499110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恢复/查询/审计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5/44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7-1 · DeerFlow 企业级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架构线①:请求入口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用户输入如何被托管成 run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可观察:run 全程有 ID 有 Trace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可控制:中断/取消/接管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本平台:AgentRun+GraphQL 查询面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6/44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7-1 · DeerFlow 企业级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run 托管时序(线①)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用户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1435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435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Gateway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Run 管理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333500" y="180975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Isosceles Triangle 14"/>
          <p:cNvSpPr/>
          <p:nvPr/>
        </p:nvSpPr>
        <p:spPr>
          <a:xfrm rot="5400000">
            <a:off x="60102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075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提交输入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6000" y="262890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10772776" y="25860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53250" y="23431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2. 创建 run(ID+状态)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1333500" y="3448050"/>
            <a:ext cx="952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16200000">
            <a:off x="1333500" y="34051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0" y="31623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3. 可观察:进度流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333500" y="4267200"/>
            <a:ext cx="952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5400000">
            <a:off x="10772776" y="42243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0" y="39814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4. 取消/接管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1333500" y="5086350"/>
            <a:ext cx="952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16200000">
            <a:off x="1333500" y="50434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48006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5. 终态+Trace 归档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7/44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7-1 · DeerFlow 企业级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架构线②:主智能体工厂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运行时配置 → 可运行的智能体图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模型/工具/提示按配置装配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配置即部署,变更即发布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本平台:AgentLoop+Provider 装配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8/44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7-1 · DeerFlow 企业级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架构线③:工具组装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注册了不代表这次能用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按任务动态挑工具子集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依赖缺失自动降级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本平台:Registry.discover+动态装配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9/44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7-1 · DeerFlow 企业级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动态装配流(线③)-&gt;任务解析-&gt;依赖健康检查-&gt;挑选工具子集-&gt;白名单过滤-&gt;注入本次上下文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667000"/>
            <a:ext cx="104775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7250" y="2667000"/>
            <a:ext cx="104775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531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531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2800350"/>
            <a:ext cx="103251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note=注册了≠能用:每次装配都是一次决策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10/44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7-1 · DeerFlow 企业级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架构线④:中间件管道 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模型调用前准备上下文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注入记忆/检索结果/历史摘要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管道可插拔,顺序可编排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本平台:ContextWindow+compress_history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11/44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7-1 · DeerFlow 企业级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调用前准备时序(线④)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请求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1435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435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管道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模型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333500" y="180975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Isosceles Triangle 14"/>
          <p:cNvSpPr/>
          <p:nvPr/>
        </p:nvSpPr>
        <p:spPr>
          <a:xfrm rot="5400000">
            <a:off x="60102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075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进入管道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6000" y="2628900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6581776" y="2586038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6667500" y="2628900"/>
            <a:ext cx="0" cy="20955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10800000">
            <a:off x="6624638" y="2752726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 flipH="1">
            <a:off x="6096000" y="2838450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Isosceles Triangle 21"/>
          <p:cNvSpPr/>
          <p:nvPr/>
        </p:nvSpPr>
        <p:spPr>
          <a:xfrm rot="16200000">
            <a:off x="6096000" y="2795588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91250" y="2362200"/>
            <a:ext cx="2476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4B8A6"/>
                </a:solidFill>
                <a:latin typeface="PingFang SC"/>
              </a:rPr>
              <a:t>记忆注入→检索注入→历史压缩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1333500" y="3448050"/>
            <a:ext cx="47625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Isosceles Triangle 24"/>
          <p:cNvSpPr/>
          <p:nvPr/>
        </p:nvSpPr>
        <p:spPr>
          <a:xfrm rot="16200000">
            <a:off x="1333500" y="34051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190750" y="31623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3. 装配完成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333500" y="426720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Isosceles Triangle 27"/>
          <p:cNvSpPr/>
          <p:nvPr/>
        </p:nvSpPr>
        <p:spPr>
          <a:xfrm rot="5400000">
            <a:off x="6010276" y="42243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190750" y="39814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4. 调用模型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1333500" y="5086350"/>
            <a:ext cx="47625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/>
          <p:cNvSpPr/>
          <p:nvPr/>
        </p:nvSpPr>
        <p:spPr>
          <a:xfrm rot="16200000">
            <a:off x="1333500" y="50434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190750" y="48006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5. 响应进管道 II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12/44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7-1 · DeerFlow 企业级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架构线⑤:中间件管道 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输出裁决/门控/清理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敏感信息过滤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格式校验不合格打回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本平台:Schema 校验+反喂重试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13/44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7-1 · DeerFlow 企业级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输出门控流(线⑤)-&gt;模型输出-&gt;敏感信息过滤-&gt;格式校验-&gt;通过:放行-&gt;不通过:打回重生成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667000"/>
            <a:ext cx="104775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7250" y="2667000"/>
            <a:ext cx="104775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531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531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2800350"/>
            <a:ext cx="103251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loop=4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5715000"/>
            <a:ext cx="10477500" cy="4191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9650" y="5715000"/>
            <a:ext cx="10172700" cy="4191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▶ 门控规则即产品策略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14/44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7-1 · DeerFlow 企业级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架构线⑥:沙箱系统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工具执行的位置决定安全边界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本地与容器不是同一边界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审计与回放配套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本平台:LocalSandbox 同构设计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15/44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7-1 · DeerFlow 企业级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DeerFlow 沙箱要点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执行位置决定边界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本地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教学/调试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容器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生产隔离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审计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全操作回放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16/44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7-1 · DeerFlow 企业级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架构线⑦:子代理系统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复杂子任务委托给受限的完整代理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受限=工具/权限/预算三重收敛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结果聚合回主 Agent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本平台:SubagentTask+Supervisor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17/44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7-1 · DeerFlow 企业级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受限完整代理(线⑦)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47850" y="914400"/>
            <a:ext cx="8877300" cy="12192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62150" y="685800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563EB"/>
                </a:solidFill>
                <a:latin typeface="PingFang SC"/>
              </a:rPr>
              <a:t>L1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05000" y="952500"/>
            <a:ext cx="8763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0" y="952500"/>
            <a:ext cx="47625" cy="1143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952500"/>
            <a:ext cx="8496300" cy="1143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主代理:拆解+预算分配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2152650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Isosceles Triangle 10"/>
          <p:cNvSpPr/>
          <p:nvPr/>
        </p:nvSpPr>
        <p:spPr>
          <a:xfrm rot="10800000">
            <a:off x="6053138" y="2219326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743575" y="2133600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43575" y="2133600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委托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47850" y="2305050"/>
            <a:ext cx="8877300" cy="12192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62150" y="2076450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PingFang SC"/>
              </a:rPr>
              <a:t>L2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05000" y="2343150"/>
            <a:ext cx="2819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905000" y="2343150"/>
            <a:ext cx="47625" cy="1143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57400" y="2343150"/>
            <a:ext cx="2552700" cy="1143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子代理:上下文裁剪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76800" y="2343150"/>
            <a:ext cx="2819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76800" y="2343150"/>
            <a:ext cx="47625" cy="1143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0" y="2343150"/>
            <a:ext cx="2552700" cy="1143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工具白名单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48600" y="2343150"/>
            <a:ext cx="2819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848600" y="2343150"/>
            <a:ext cx="47625" cy="1143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1000" y="2343150"/>
            <a:ext cx="2552700" cy="1143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Token 上限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096000" y="3543300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Isosceles Triangle 25"/>
          <p:cNvSpPr/>
          <p:nvPr/>
        </p:nvSpPr>
        <p:spPr>
          <a:xfrm rot="10800000">
            <a:off x="6053138" y="3609976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553075" y="3524250"/>
            <a:ext cx="1085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53075" y="3524250"/>
            <a:ext cx="1085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受限执行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847850" y="3695700"/>
            <a:ext cx="8877300" cy="12192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962150" y="3467100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B5CF6"/>
                </a:solidFill>
                <a:latin typeface="PingFang SC"/>
              </a:rPr>
              <a:t>L3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905000" y="3733800"/>
            <a:ext cx="8763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905000" y="3733800"/>
            <a:ext cx="47625" cy="11430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057400" y="3733800"/>
            <a:ext cx="8496300" cy="1143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回流:结论+证据+风险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18/44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7-1 · DeerFlow 企业级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架构线⑧:技能系统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经验变成可安装/可审查/可重用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能力包:方法+工具+质量标准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本平台:SkillRegistry 同思想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19/44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7-1 · DeerFlow 企业级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架构线⑨:持久化与检查点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什么可恢复:状态与步骤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什么可查询:任务与 Trace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什么可审计:动作与决策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本平台:Checkpoint+AuditBus+Trace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20/44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7-1 · DeerFlow 企业级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持久化三问(线⑨)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2609850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可恢复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状态+步骤 Checkpoint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2609850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可查询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任务/Trace 索引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2609850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可审计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动作+决策日志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21/44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7-1 · DeerFlow 企业级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九线合一张全景图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入口→工厂→装配→管道→执行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沙箱/子代理/技能横向支撑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持久化纵向兜底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画一遍,胜过读十遍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22/44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7-1 · DeerFlow 企业级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DeerFlow 线↔平台模块,DeerFlow 架构线,平台对应,章节;① 请求入口,AgentRun+GraphQL,M3;③ 工具装配,Registry.discover,M2;⑤ 输出门控,Schema 校验+反喂,M1;⑥ 沙箱系统,LocalSandbox,M3;⑧ 技能系统,SkillRegistry,M5;⑨ 持久化,Checkpoint+AuditBus,M3/M6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047750"/>
            <a:ext cx="9906000" cy="561975"/>
          </a:xfrm>
          <a:prstGeom prst="roundRect">
            <a:avLst>
              <a:gd name="adj" fmla="val 8000"/>
            </a:avLst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1047750"/>
            <a:ext cx="9696450" cy="5619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hl=1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23/44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7-1 · DeerFlow 企业级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应用:DeerFlow 部署走查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环境/依赖/模型接入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跑通第一个研究任务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观察 run 的生命周期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课堂跟做环节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24/44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7-1 · DeerFlow 企业级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应用:定位一次执行源码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从 API 入口断点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沿九线走读真实调用栈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建立"源码地图"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25/44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7-1 · DeerFlow 企业级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踩坑:只看文档不读码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文档滞后于实现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行为与预期不符时无解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治理:关键路径必须读码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26/44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7-1 · DeerFlow 企业级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踩坑:二次开发破坏升级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直接改核心文件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上游更新即冲突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治理:扩展点优先,补丁记录 ADR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27/44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7-1 · DeerFlow 企业级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优化:定制专属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继承默认编排,只改决策段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复用平台全部治理设施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改造最小化的姿势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28/44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7-1 · DeerFlow 企业级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优化:扩展工具生态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按 MCP 标准接入自有系统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权限与审计沿用平台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新工具零成本进场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29/44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7-1 · DeerFlow 企业级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优化:持久化策略调优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高频任务的 Checkpoint 瘦身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Trace 采样与分级存储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成本与可靠性的平衡点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30/44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7-1 · DeerFlow 企业级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二次开发方法论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先跑通→再读码→后改造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每步有验证,每改有 ADR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软件工程的通用范式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31/44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7-1 · DeerFlow 企业级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7-1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32/44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7-1 · DeerFlow 企业级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DeerFlow 项目结构走查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入口/Agent 工厂/工具/中间件目录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沙箱与子代理模块位置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持久化与存储层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先建地图,再进细节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33/44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7-1 · DeerFlow 企业级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①run 的元数据设计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run_id/用户/目标/状态/版本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元数据决定可查询性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设计时想清楚"以后怎么查"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34/44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7-1 · DeerFlow 企业级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②配置热更新的实现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配置变更→重建智能体图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在途任务不受影响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配置也是版本对象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35/44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7-1 · DeerFlow 企业级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③工具依赖检查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装配时校验依赖服务可用性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缺依赖工具自动剔除并告警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不让 Agent 带病上场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36/44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7-1 · DeerFlow 企业级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④检索注入的顺序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记忆→检索→历史→用户输入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顺序影响注意力分配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高频信息放前后,低频放中间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37/44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7-1 · DeerFlow 企业级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⑤输出门控示例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敏感词过滤+格式校验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不合格输出打回重生成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门控规则即产品策略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38/44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7-1 · DeerFlow 企业级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⑦受限代理的上下文构造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只给子任务相关的最小上下文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防泄漏也防污染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最小知识原则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39/44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7-1 · DeerFlow 企业级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⑧技能的安装与审查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技能包:安装→审查→启用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审查清单:权限/数据/副作用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技能供应链也要治理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40/44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7-1 · DeerFlow 企业级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⑨检查点的存储选型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本地文件/PG/对象存储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按恢复时延要求选型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教学版与生产版的差距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41/44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7-1 · DeerFlow 企业级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二次开发实战:加一条架构线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示例:加"成本护栏"中间件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五步:设计→实现→测试→ADR→文档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本课程方法论的真实演练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42/44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7-1 · DeerFlow 企业级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多协议网关:anthropic-messages 适配 · src/agent_platform/gateway/anthropic_provider.py:53-83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3515" y="762000"/>
            <a:ext cx="9564969" cy="5760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43/44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7-1 · DeerFlow 企业级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DeerFlow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九条线各对应本平台哪个组件?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为什么"注册了不代表能用"?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二次开发如何避免升级冲突?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44/44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7-1 · DeerFlow 企业级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