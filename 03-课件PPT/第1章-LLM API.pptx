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77120" y="1486160"/>
            <a:ext cx="4953000" cy="4953000"/>
          </a:xfrm>
          <a:prstGeom prst="ellipse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477280" y="1086040"/>
            <a:ext cx="3619500" cy="3619500"/>
          </a:xfrm>
          <a:prstGeom prst="ellipse">
            <a:avLst/>
          </a:prstGeom>
          <a:solidFill>
            <a:srgbClr val="1B3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406000" y="714500"/>
            <a:ext cx="2381250" cy="2381250"/>
          </a:xfrm>
          <a:prstGeom prst="ellipse">
            <a:avLst/>
          </a:prstGeom>
          <a:solidFill>
            <a:srgbClr val="244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18000"/>
            <a:ext cx="12192000" cy="240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7250" y="914400"/>
            <a:ext cx="552450" cy="5524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7250" y="857250"/>
            <a:ext cx="55245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0B1D3A"/>
                </a:solidFill>
                <a:latin typeface="PingFang S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19250" y="1143000"/>
            <a:ext cx="55245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4A3B8"/>
                </a:solidFill>
                <a:latin typeface="PingFang SC"/>
              </a:rPr>
              <a:t>AI AGENT 全栈工程师训练营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19250" y="2000250"/>
            <a:ext cx="6858000" cy="2000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PingFang SC"/>
              </a:rPr>
              <a:t>LLM API、Prompt 与结构化输出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19250" y="4191000"/>
            <a:ext cx="6477000" cy="76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CBD5E1"/>
                </a:solidFill>
                <a:latin typeface="PingFang SC"/>
              </a:rPr>
              <a:t>从 HTTP 工程师到模型调用工程师 · 里程碑 M1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9250" y="5429250"/>
            <a:ext cx="8382000" cy="476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4A3B8"/>
                </a:solidFill>
                <a:latin typeface="PingFang SC"/>
              </a:rPr>
              <a:t>Agent Engineering Platform · v1.3 · 审计 9.4/10 · 125 测试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6750" y="609600"/>
            <a:ext cx="10287000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PingFang SC"/>
              </a:rPr>
              <a:t>本章目录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750" y="1238250"/>
            <a:ext cx="9334500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4A3B8"/>
                </a:solidFill>
                <a:latin typeface="PingFang SC"/>
              </a:rPr>
              <a:t>7 个知识模块 · 含实测数据图表与代码走查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19050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57250" y="1905000"/>
            <a:ext cx="47625" cy="5905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8700" y="19050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4B8A6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4950" y="19050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1-1 · 能力模型与 LLM API 基础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250" y="26289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7250" y="2628900"/>
            <a:ext cx="47625" cy="5905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8700" y="26289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8B5CF6"/>
                </a:solidFill>
                <a:latin typeface="PingFang S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4950" y="26289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1-2 · Streaming 流式输出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7250" y="33528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7250" y="3352800"/>
            <a:ext cx="47625" cy="5905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8700" y="33528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59E0B"/>
                </a:solidFill>
                <a:latin typeface="PingFang SC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4950" y="33528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1-3 · Prompt Engineering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250" y="40767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250" y="4076700"/>
            <a:ext cx="47625" cy="59055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8700" y="40767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4D399"/>
                </a:solidFill>
                <a:latin typeface="PingFang SC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4950" y="40767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1-4 · 结构化输出与 LLM Gateway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09410" y="19050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09410" y="1905000"/>
            <a:ext cx="47625" cy="59055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80860" y="19050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87171"/>
                </a:solidFill>
                <a:latin typeface="PingFang SC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57110" y="19050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本章小结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09410" y="26289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709410" y="2628900"/>
            <a:ext cx="47625" cy="5905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80860" y="26289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57110" y="26289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Lab1 验收清单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709410" y="33528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709410" y="3352800"/>
            <a:ext cx="47625" cy="5905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80860" y="33528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4B8A6"/>
                </a:solidFill>
                <a:latin typeface="PingFang SC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57110" y="33528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下一章预告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2/139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7250" y="952500"/>
            <a:ext cx="323850" cy="76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95400" y="952500"/>
            <a:ext cx="323850" cy="76200"/>
          </a:xfrm>
          <a:prstGeom prst="rect">
            <a:avLst/>
          </a:prstGeom>
          <a:solidFill>
            <a:srgbClr val="27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733550" y="952500"/>
            <a:ext cx="323850" cy="76200"/>
          </a:xfrm>
          <a:prstGeom prst="rect">
            <a:avLst/>
          </a:prstGeom>
          <a:solidFill>
            <a:srgbClr val="27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171700" y="952500"/>
            <a:ext cx="323850" cy="76200"/>
          </a:xfrm>
          <a:prstGeom prst="rect">
            <a:avLst/>
          </a:prstGeom>
          <a:solidFill>
            <a:srgbClr val="27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57250" y="2381250"/>
            <a:ext cx="1143000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7250" y="2857500"/>
            <a:ext cx="9906000" cy="1238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FFFFFF"/>
                </a:solidFill>
                <a:latin typeface="PingFang SC"/>
              </a:rPr>
              <a:t>讲次 1-1 · 能力模型与 LLM API 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4286250"/>
            <a:ext cx="9334500" cy="476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59E0B"/>
                </a:solidFill>
                <a:latin typeface="PingFang SC"/>
              </a:rPr>
              <a:t>LECTURE 01 / 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本章学习地图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目标:解决【如何稳定调用模型】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四讲:API基础 → Streaming → Prompt → 结构化+Gateway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产出:平台入口层 LLM Gateway(M1 里程碑)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对应工程:src/agent_platform/gateway/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学完即可在简历写"统一模型调用服务"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4/139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平台六大演进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M1:LLM Gateway 双协议;M2:Tool Runtime+MCP;M3:Agent Loop+状态机;M4:Context+RAG;M5:Multi-Agent+Eval;M6:生产化+风控|M7=Capstone 三选一</a:t>
            </a:r>
          </a:p>
        </p:txBody>
      </p:sp>
      <p:sp>
        <p:nvSpPr>
          <p:cNvPr id="6" name="Rectangle 5"/>
          <p:cNvSpPr/>
          <p:nvPr/>
        </p:nvSpPr>
        <p:spPr>
          <a:xfrm>
            <a:off x="1619250" y="3314700"/>
            <a:ext cx="8953500" cy="38100"/>
          </a:xfrm>
          <a:prstGeom prst="rect">
            <a:avLst/>
          </a:prstGeom>
          <a:solidFill>
            <a:srgbClr val="DD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14475" y="3228975"/>
            <a:ext cx="209550" cy="2095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90500" y="1905000"/>
            <a:ext cx="2857500" cy="11239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90500" y="1905000"/>
            <a:ext cx="28575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5750" y="2000250"/>
            <a:ext cx="266700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2563EB"/>
                </a:solidFill>
                <a:latin typeface="PingFang SC"/>
              </a:rPr>
              <a:t>M1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5750" y="2305050"/>
            <a:ext cx="26670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75569"/>
                </a:solidFill>
                <a:latin typeface="PingFang SC"/>
              </a:rPr>
              <a:t>LLM Gateway 双协议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05175" y="3228975"/>
            <a:ext cx="209550" cy="2095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981200" y="3619500"/>
            <a:ext cx="2857500" cy="11239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81200" y="3619500"/>
            <a:ext cx="285750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76450" y="3714750"/>
            <a:ext cx="266700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4B8A6"/>
                </a:solidFill>
                <a:latin typeface="PingFang SC"/>
              </a:rPr>
              <a:t>M2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76450" y="4019550"/>
            <a:ext cx="26670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75569"/>
                </a:solidFill>
                <a:latin typeface="PingFang SC"/>
              </a:rPr>
              <a:t>Tool Runtime+MCP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95875" y="3228975"/>
            <a:ext cx="209550" cy="2095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771900" y="1905000"/>
            <a:ext cx="2857500" cy="11239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771900" y="1905000"/>
            <a:ext cx="2857500" cy="381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67150" y="2000250"/>
            <a:ext cx="266700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8B5CF6"/>
                </a:solidFill>
                <a:latin typeface="PingFang SC"/>
              </a:rPr>
              <a:t>M3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67150" y="2305050"/>
            <a:ext cx="26670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75569"/>
                </a:solidFill>
                <a:latin typeface="PingFang SC"/>
              </a:rPr>
              <a:t>Agent Loop+状态机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86575" y="3228975"/>
            <a:ext cx="209550" cy="2095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562600" y="3619500"/>
            <a:ext cx="2857500" cy="11239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562600" y="3619500"/>
            <a:ext cx="285750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57850" y="3714750"/>
            <a:ext cx="266700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59E0B"/>
                </a:solidFill>
                <a:latin typeface="PingFang SC"/>
              </a:rPr>
              <a:t>M4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57850" y="4019550"/>
            <a:ext cx="26670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75569"/>
                </a:solidFill>
                <a:latin typeface="PingFang SC"/>
              </a:rPr>
              <a:t>Context+RAG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77275" y="3228975"/>
            <a:ext cx="209550" cy="209550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353300" y="1905000"/>
            <a:ext cx="2857500" cy="11239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53300" y="1905000"/>
            <a:ext cx="2857500" cy="381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48550" y="2000250"/>
            <a:ext cx="266700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34D399"/>
                </a:solidFill>
                <a:latin typeface="PingFang SC"/>
              </a:rPr>
              <a:t>M5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48550" y="2305050"/>
            <a:ext cx="26670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75569"/>
                </a:solidFill>
                <a:latin typeface="PingFang SC"/>
              </a:rPr>
              <a:t>Multi-Agent+Eval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467975" y="3228975"/>
            <a:ext cx="209550" cy="209550"/>
          </a:xfrm>
          <a:prstGeom prst="roundRect">
            <a:avLst>
              <a:gd name="adj" fmla="val 8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144000" y="3619500"/>
            <a:ext cx="2857500" cy="11239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4000" y="3619500"/>
            <a:ext cx="2857500" cy="3810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39250" y="3714750"/>
            <a:ext cx="266700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87171"/>
                </a:solidFill>
                <a:latin typeface="PingFang SC"/>
              </a:rPr>
              <a:t>M6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39250" y="4019550"/>
            <a:ext cx="26670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75569"/>
                </a:solidFill>
                <a:latin typeface="PingFang SC"/>
              </a:rPr>
              <a:t>生产化+风控|M7=Capstone 三选一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5/139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平台总架构:一图看懂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47850" y="914400"/>
            <a:ext cx="8877300" cy="1100137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905000" y="952500"/>
            <a:ext cx="28194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905000" y="952500"/>
            <a:ext cx="47625" cy="1023937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38350" y="952500"/>
            <a:ext cx="2590800" cy="10239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客户端:CLI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76800" y="952500"/>
            <a:ext cx="28194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76800" y="952500"/>
            <a:ext cx="47625" cy="1023937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10150" y="952500"/>
            <a:ext cx="2590800" cy="10239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Web 控制台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48600" y="952500"/>
            <a:ext cx="28194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48600" y="952500"/>
            <a:ext cx="47625" cy="1023937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81950" y="952500"/>
            <a:ext cx="2590800" cy="10239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移动端(规划)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96000" y="2033587"/>
            <a:ext cx="0" cy="152400"/>
          </a:xfrm>
          <a:prstGeom prst="line">
            <a:avLst/>
          </a:prstGeom>
          <a:ln w="1524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sosceles Triangle 15"/>
          <p:cNvSpPr/>
          <p:nvPr/>
        </p:nvSpPr>
        <p:spPr>
          <a:xfrm rot="10800000">
            <a:off x="6053138" y="2100263"/>
            <a:ext cx="85725" cy="85725"/>
          </a:xfrm>
          <a:prstGeom prst="triangl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48400" y="1976437"/>
            <a:ext cx="2095500" cy="2476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4A3B8"/>
                </a:solidFill>
                <a:latin typeface="PingFang SC"/>
              </a:rPr>
              <a:t>请求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47850" y="2185987"/>
            <a:ext cx="8877300" cy="1100137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905000" y="2224087"/>
            <a:ext cx="28194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905000" y="2224087"/>
            <a:ext cx="47625" cy="1023937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038350" y="2224087"/>
            <a:ext cx="2590800" cy="10239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接入层:GraphQL BFF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76800" y="2224087"/>
            <a:ext cx="28194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76800" y="2224087"/>
            <a:ext cx="47625" cy="1023937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10150" y="2224087"/>
            <a:ext cx="2590800" cy="10239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SSE 流式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48600" y="2224087"/>
            <a:ext cx="28194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848600" y="2224087"/>
            <a:ext cx="47625" cy="1023937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81950" y="2224087"/>
            <a:ext cx="2590800" cy="10239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风控栈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096000" y="3305174"/>
            <a:ext cx="0" cy="152400"/>
          </a:xfrm>
          <a:prstGeom prst="line">
            <a:avLst/>
          </a:prstGeom>
          <a:ln w="1524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Isosceles Triangle 28"/>
          <p:cNvSpPr/>
          <p:nvPr/>
        </p:nvSpPr>
        <p:spPr>
          <a:xfrm rot="10800000">
            <a:off x="6053138" y="3371850"/>
            <a:ext cx="85725" cy="85725"/>
          </a:xfrm>
          <a:prstGeom prst="triangl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48400" y="3248024"/>
            <a:ext cx="2095500" cy="2476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4A3B8"/>
                </a:solidFill>
                <a:latin typeface="PingFang SC"/>
              </a:rPr>
              <a:t>编排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847850" y="3457574"/>
            <a:ext cx="8877300" cy="1100137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905000" y="3495674"/>
            <a:ext cx="13335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905000" y="3495674"/>
            <a:ext cx="47625" cy="1023937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038350" y="3495674"/>
            <a:ext cx="1104900" cy="10239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业务层:Gateway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390900" y="3495674"/>
            <a:ext cx="13335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390900" y="3495674"/>
            <a:ext cx="47625" cy="1023937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24250" y="3495674"/>
            <a:ext cx="1104900" cy="10239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Tool Runtime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876800" y="3495674"/>
            <a:ext cx="13335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876800" y="3495674"/>
            <a:ext cx="47625" cy="1023937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10150" y="3495674"/>
            <a:ext cx="1104900" cy="10239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Agent Loop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362700" y="3495674"/>
            <a:ext cx="13335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362700" y="3495674"/>
            <a:ext cx="47625" cy="1023937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96050" y="3495674"/>
            <a:ext cx="1104900" cy="10239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Context·RAG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848600" y="3495674"/>
            <a:ext cx="13335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848600" y="3495674"/>
            <a:ext cx="47625" cy="1023937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981950" y="3495674"/>
            <a:ext cx="1104900" cy="10239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MultiAgent·Eval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334500" y="3495674"/>
            <a:ext cx="13335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334500" y="3495674"/>
            <a:ext cx="47625" cy="1023937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467850" y="3495674"/>
            <a:ext cx="1104900" cy="10239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治理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6096000" y="4576761"/>
            <a:ext cx="0" cy="152400"/>
          </a:xfrm>
          <a:prstGeom prst="line">
            <a:avLst/>
          </a:prstGeom>
          <a:ln w="1524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Isosceles Triangle 50"/>
          <p:cNvSpPr/>
          <p:nvPr/>
        </p:nvSpPr>
        <p:spPr>
          <a:xfrm rot="10800000">
            <a:off x="6053138" y="4643437"/>
            <a:ext cx="85725" cy="85725"/>
          </a:xfrm>
          <a:prstGeom prst="triangl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48400" y="4519611"/>
            <a:ext cx="2095500" cy="2476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4A3B8"/>
                </a:solidFill>
                <a:latin typeface="PingFang SC"/>
              </a:rPr>
              <a:t>读写/事件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847850" y="4729161"/>
            <a:ext cx="8877300" cy="1100137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1905000" y="4767261"/>
            <a:ext cx="207645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905000" y="4767261"/>
            <a:ext cx="47625" cy="1023937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038350" y="4767261"/>
            <a:ext cx="1847850" cy="10239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基础设施:PG 主从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133850" y="4767261"/>
            <a:ext cx="207645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133850" y="4767261"/>
            <a:ext cx="47625" cy="1023937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267200" y="4767261"/>
            <a:ext cx="1847850" cy="10239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Redis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362700" y="4767261"/>
            <a:ext cx="207645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362700" y="4767261"/>
            <a:ext cx="47625" cy="1023937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96050" y="4767261"/>
            <a:ext cx="1847850" cy="10239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Pulsar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591550" y="4767261"/>
            <a:ext cx="207645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591550" y="4767261"/>
            <a:ext cx="47625" cy="1023937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724900" y="4767261"/>
            <a:ext cx="1847850" cy="10239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Milvus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6/139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你的后端经验值多少钱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API 服务开发:LLM 服务同样是 HTTP 服务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数据库与缓存:成本治理的直接迁移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异步任务/权限认证/日志监控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限流、重试、熔断:本章全部复用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转型不是清零,是能力平移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7/139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转型能力平移图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1724025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1724025"/>
            <a:ext cx="32004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00150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150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8300" y="1933575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API 服务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2333625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LLM 服务同为 HTTP 服务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95800" y="1724025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95800" y="1724025"/>
            <a:ext cx="3200400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48200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8200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6350" y="1933575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限流重试熔断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8200" y="2333625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直接复用风控栈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43850" y="1724025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43850" y="1724025"/>
            <a:ext cx="3200400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96250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96250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34400" y="1933575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数据库缓存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6250" y="2333625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成本治理迁移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47750" y="3495675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47750" y="3495675"/>
            <a:ext cx="3200400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200150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00150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38300" y="3705225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权限认证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00150" y="4105275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RBAC+JWT 同源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95800" y="3495675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495800" y="3495675"/>
            <a:ext cx="3200400" cy="5715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648200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48200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86350" y="3705225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日志监控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48200" y="4105275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Trace·Metrics 延伸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943850" y="3495675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943850" y="3495675"/>
            <a:ext cx="3200400" cy="5715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096250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96250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34400" y="3705225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异步任务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96250" y="4105275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Agent Loop 载体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8/139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需要补齐的 Agent 新能力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模型调用与参数语义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Prompt 与结构化输出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工具协议(Function Calling/MCP)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上下文管理、Agent 状态机、Eval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前两项本章拿下,后三项后续章节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9/139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Chat Completions API 请求结构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POST /v1/chat/completions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必填:model + messages 数组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可选:temperature/top_p/max_tokens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OpenAI Compatible 已成事实标准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DeepSeek/vLLM/TGI 全部兼容此协议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10/139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一次完整的 LLM 调用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1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Client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333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1435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435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Gateway(风控)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960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906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06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Provider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858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333500" y="1809750"/>
            <a:ext cx="476250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Isosceles Triangle 14"/>
          <p:cNvSpPr/>
          <p:nvPr/>
        </p:nvSpPr>
        <p:spPr>
          <a:xfrm rot="5400000">
            <a:off x="6010276" y="1766888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90750" y="152400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1. POST /v1/chat/completions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96000" y="2628900"/>
            <a:ext cx="571500" cy="0"/>
          </a:xfrm>
          <a:prstGeom prst="line">
            <a:avLst/>
          </a:prstGeom>
          <a:ln w="1778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Isosceles Triangle 17"/>
          <p:cNvSpPr/>
          <p:nvPr/>
        </p:nvSpPr>
        <p:spPr>
          <a:xfrm rot="5400000">
            <a:off x="6581776" y="2586038"/>
            <a:ext cx="85725" cy="85725"/>
          </a:xfrm>
          <a:prstGeom prst="triangl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6667500" y="2628900"/>
            <a:ext cx="0" cy="209550"/>
          </a:xfrm>
          <a:prstGeom prst="line">
            <a:avLst/>
          </a:prstGeom>
          <a:ln w="1778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Isosceles Triangle 19"/>
          <p:cNvSpPr/>
          <p:nvPr/>
        </p:nvSpPr>
        <p:spPr>
          <a:xfrm rot="10800000">
            <a:off x="6624638" y="2752726"/>
            <a:ext cx="85725" cy="85725"/>
          </a:xfrm>
          <a:prstGeom prst="triangl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 flipH="1">
            <a:off x="6096000" y="2838450"/>
            <a:ext cx="571500" cy="0"/>
          </a:xfrm>
          <a:prstGeom prst="line">
            <a:avLst/>
          </a:prstGeom>
          <a:ln w="1778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Isosceles Triangle 21"/>
          <p:cNvSpPr/>
          <p:nvPr/>
        </p:nvSpPr>
        <p:spPr>
          <a:xfrm rot="16200000">
            <a:off x="6096000" y="2795588"/>
            <a:ext cx="85725" cy="85725"/>
          </a:xfrm>
          <a:prstGeom prst="triangl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91250" y="2362200"/>
            <a:ext cx="24765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4B8A6"/>
                </a:solidFill>
                <a:latin typeface="PingFang SC"/>
              </a:rPr>
              <a:t>注入→重放→限流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096000" y="3448050"/>
            <a:ext cx="476250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Isosceles Triangle 24"/>
          <p:cNvSpPr/>
          <p:nvPr/>
        </p:nvSpPr>
        <p:spPr>
          <a:xfrm rot="5400000">
            <a:off x="10772776" y="3405188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53250" y="316230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3. 路由 primary→fast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6096000" y="4267200"/>
            <a:ext cx="4762500" cy="0"/>
          </a:xfrm>
          <a:prstGeom prst="line">
            <a:avLst/>
          </a:prstGeom>
          <a:ln w="2032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Isosceles Triangle 27"/>
          <p:cNvSpPr/>
          <p:nvPr/>
        </p:nvSpPr>
        <p:spPr>
          <a:xfrm rot="16200000">
            <a:off x="6096000" y="4224338"/>
            <a:ext cx="85725" cy="85725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53250" y="398145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59E0B"/>
                </a:solidFill>
                <a:latin typeface="PingFang SC"/>
              </a:rPr>
              <a:t>4. SSE 帧流+末帧 usage</a:t>
            </a:r>
          </a:p>
        </p:txBody>
      </p:sp>
      <p:cxnSp>
        <p:nvCxnSpPr>
          <p:cNvPr id="30" name="Connector 29"/>
          <p:cNvCxnSpPr/>
          <p:nvPr/>
        </p:nvCxnSpPr>
        <p:spPr>
          <a:xfrm flipH="1">
            <a:off x="1333500" y="5086350"/>
            <a:ext cx="4762500" cy="0"/>
          </a:xfrm>
          <a:prstGeom prst="line">
            <a:avLst/>
          </a:prstGeom>
          <a:ln w="2032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Isosceles Triangle 30"/>
          <p:cNvSpPr/>
          <p:nvPr/>
        </p:nvSpPr>
        <p:spPr>
          <a:xfrm rot="16200000">
            <a:off x="1333500" y="5043488"/>
            <a:ext cx="85725" cy="85725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90750" y="480060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59E0B"/>
                </a:solidFill>
                <a:latin typeface="PingFang SC"/>
              </a:rPr>
              <a:t>5. 打字机输出 [DONE]|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11/139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消息角色:四种 role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system:全局指令,模型岗位说明书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user:用户输入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assistant:模型历史回复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tool:工具执行结果(第2章登场)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角色错放是最常见调用错误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12/139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四种消息角色卡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172402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1724025"/>
            <a:ext cx="4924425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00150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150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8300" y="193357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233362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全局指令/岗位书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9825" y="172402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9825" y="1724025"/>
            <a:ext cx="4924425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72225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2225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0375" y="193357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user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2225" y="233362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用户输入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7750" y="349567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47750" y="3495675"/>
            <a:ext cx="4924425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200150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00150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38300" y="370522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assistant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0150" y="410527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模型历史回复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9825" y="349567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9825" y="3495675"/>
            <a:ext cx="4924425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72225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2225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0375" y="370522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tool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2225" y="410527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工具结果回灌|role 错放是最常见调用错误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13/139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响应结构:三层拆解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choices[0].message.content:正文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usage:prompt/completion_tokens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finish_reason:stop/length/tool_calls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length=被 max_tokens 截断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监控必须同时看 usage 与 finish_reason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14/139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响应字段速查,字段,含义,监控点;choices[0].message.content,正文,body 为空告警;usage.prompt/completion,输入输出 token,成本核算;finish_reason,stop/length/tool_calls,length=截断告警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1047750"/>
            <a:ext cx="9906000" cy="561975"/>
          </a:xfrm>
          <a:prstGeom prst="roundRect">
            <a:avLst>
              <a:gd name="adj" fmla="val 8000"/>
            </a:avLst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57300" y="1047750"/>
            <a:ext cx="9696450" cy="5619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hl=2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15/139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temperature:采样温度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概念:缩放 logits 分布平坦度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越高越随机,越低越确定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应用:抽取/分类任务用 0~0.3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创作类任务 0.7~1.0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16/139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temperature 踩坑与优化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坑:评测任务开了高温,指标抖动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坑:temperature 与 top_p 同时大改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优化:生产默认 0,按任务分级覆盖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优化:参数进配置中心,可灰度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固定温度是可复现性的第一步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17/139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top_p 与 max_tokens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top_p:核采样,截断累计概率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经验:只调其一,别同时大改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max_tokens:输出上限,防失控成本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max_tokens 太小 → 内容被腰斩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18/139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Token:计费与延迟的单位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1 token ≈ 0.75 个英文单词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中文约 1 字 ≈ 0.6~1 token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计费 = 输入+输出 token 之和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延迟与输出 token 数近似线性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做成本预算,先学会估 token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19/139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真实联调实测(APIS-glm-5.3)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17.0^秒^complete 全程延迟;626^tokens^单次调用总量;246^tokens^流式输出用量;7^帧^SSE 分块数|2026-10-03 实测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7750" y="1905000"/>
            <a:ext cx="2309812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47750" y="1905000"/>
            <a:ext cx="2309812" cy="76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7750" y="2286000"/>
            <a:ext cx="2309812" cy="1047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2563EB"/>
                </a:solidFill>
                <a:latin typeface="PingFang SC"/>
              </a:rPr>
              <a:t>17.0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7750" y="3333750"/>
            <a:ext cx="2309812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PingFang SC"/>
              </a:rPr>
              <a:t>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4057650"/>
            <a:ext cx="2005012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complete 全程延迟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43312" y="1905000"/>
            <a:ext cx="2309812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43312" y="1905000"/>
            <a:ext cx="2309812" cy="76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43312" y="2286000"/>
            <a:ext cx="2309812" cy="1047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14B8A6"/>
                </a:solidFill>
                <a:latin typeface="PingFang SC"/>
              </a:rPr>
              <a:t>626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3312" y="3333750"/>
            <a:ext cx="2309812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PingFang SC"/>
              </a:rPr>
              <a:t>tokens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5712" y="4057650"/>
            <a:ext cx="2005012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单次调用总量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8874" y="1905000"/>
            <a:ext cx="2309812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8874" y="1905000"/>
            <a:ext cx="2309812" cy="762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38874" y="2286000"/>
            <a:ext cx="2309812" cy="1047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8B5CF6"/>
                </a:solidFill>
                <a:latin typeface="PingFang SC"/>
              </a:rPr>
              <a:t>246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8874" y="3333750"/>
            <a:ext cx="2309812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PingFang SC"/>
              </a:rPr>
              <a:t>tokens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1274" y="4057650"/>
            <a:ext cx="2005012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流式输出用量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34436" y="1905000"/>
            <a:ext cx="2309812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834436" y="1905000"/>
            <a:ext cx="2309812" cy="76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34436" y="2286000"/>
            <a:ext cx="2309812" cy="1047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F59E0B"/>
                </a:solidFill>
                <a:latin typeface="PingFang SC"/>
              </a:rP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34436" y="3333750"/>
            <a:ext cx="2309812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PingFang SC"/>
              </a:rPr>
              <a:t>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86836" y="4057650"/>
            <a:ext cx="2005012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SSE 分块数|2026-10-03 实测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20/139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Context Window:模型的作业本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输入+输出共享同一个窗口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超窗直接报错或静默截断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长窗口 ≠ 免费注意力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有效注意力随长度衰减(lost in the middle)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21/139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多模型调用的现实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不同厂商 API 字段有差异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价格/能力/上下文长度分层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策略:强模型难任务,弱模型杂任务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统一封装 = 供应商可替换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网关层的价值从这里开始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22/139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双协议多供应商网关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47850" y="914400"/>
            <a:ext cx="8877300" cy="1100137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905000" y="952500"/>
            <a:ext cx="43053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905000" y="952500"/>
            <a:ext cx="47625" cy="1023937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38350" y="952500"/>
            <a:ext cx="4076700" cy="10239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统一入口:GraphQL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62700" y="952500"/>
            <a:ext cx="43053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62700" y="952500"/>
            <a:ext cx="47625" cy="1023937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6050" y="952500"/>
            <a:ext cx="4076700" cy="10239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SSE REST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96000" y="2033587"/>
            <a:ext cx="0" cy="152400"/>
          </a:xfrm>
          <a:prstGeom prst="line">
            <a:avLst/>
          </a:prstGeom>
          <a:ln w="1524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Isosceles Triangle 12"/>
          <p:cNvSpPr/>
          <p:nvPr/>
        </p:nvSpPr>
        <p:spPr>
          <a:xfrm rot="10800000">
            <a:off x="6053138" y="2100263"/>
            <a:ext cx="85725" cy="85725"/>
          </a:xfrm>
          <a:prstGeom prst="triangl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48400" y="1976437"/>
            <a:ext cx="2095500" cy="2476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4A3B8"/>
                </a:solidFill>
                <a:latin typeface="PingFang SC"/>
              </a:rPr>
              <a:t>路由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47850" y="2185987"/>
            <a:ext cx="8877300" cy="1100137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905000" y="2224087"/>
            <a:ext cx="87630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05000" y="2224087"/>
            <a:ext cx="47625" cy="1023937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38350" y="2224087"/>
            <a:ext cx="8534400" cy="10239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路由:ModelRouter 链式 fallback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96000" y="3305174"/>
            <a:ext cx="0" cy="152400"/>
          </a:xfrm>
          <a:prstGeom prst="line">
            <a:avLst/>
          </a:prstGeom>
          <a:ln w="1524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Isosceles Triangle 19"/>
          <p:cNvSpPr/>
          <p:nvPr/>
        </p:nvSpPr>
        <p:spPr>
          <a:xfrm rot="10800000">
            <a:off x="6053138" y="3371850"/>
            <a:ext cx="85725" cy="85725"/>
          </a:xfrm>
          <a:prstGeom prst="triangl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48400" y="3248024"/>
            <a:ext cx="2095500" cy="2476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4A3B8"/>
                </a:solidFill>
                <a:latin typeface="PingFang SC"/>
              </a:rPr>
              <a:t>协议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847850" y="3457574"/>
            <a:ext cx="8877300" cy="1100137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905000" y="3495674"/>
            <a:ext cx="28194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905000" y="3495674"/>
            <a:ext cx="47625" cy="1023937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038350" y="3495674"/>
            <a:ext cx="2590800" cy="10239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协议适配:OpenAI Compatible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876800" y="3495674"/>
            <a:ext cx="28194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876800" y="3495674"/>
            <a:ext cx="47625" cy="1023937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10150" y="3495674"/>
            <a:ext cx="2590800" cy="10239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Anthropic Messages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848600" y="3495674"/>
            <a:ext cx="28194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848600" y="3495674"/>
            <a:ext cx="47625" cy="1023937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81950" y="3495674"/>
            <a:ext cx="2590800" cy="10239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Mock(CI)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096000" y="4576761"/>
            <a:ext cx="0" cy="152400"/>
          </a:xfrm>
          <a:prstGeom prst="line">
            <a:avLst/>
          </a:prstGeom>
          <a:ln w="1524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Isosceles Triangle 32"/>
          <p:cNvSpPr/>
          <p:nvPr/>
        </p:nvSpPr>
        <p:spPr>
          <a:xfrm rot="10800000">
            <a:off x="6053138" y="4643437"/>
            <a:ext cx="85725" cy="85725"/>
          </a:xfrm>
          <a:prstGeom prst="triangl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48400" y="4519611"/>
            <a:ext cx="2095500" cy="2476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4A3B8"/>
                </a:solidFill>
                <a:latin typeface="PingFang SC"/>
              </a:rPr>
              <a:t>审计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847850" y="4729161"/>
            <a:ext cx="8877300" cy="1100137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905000" y="4767261"/>
            <a:ext cx="43053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905000" y="4767261"/>
            <a:ext cx="47625" cy="1023937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038350" y="4767261"/>
            <a:ext cx="4076700" cy="10239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留痕:Cost Ledger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62700" y="4767261"/>
            <a:ext cx="43053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62700" y="4767261"/>
            <a:ext cx="47625" cy="1023937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96050" y="4767261"/>
            <a:ext cx="4076700" cy="10239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Trace Span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23/139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错误类型全景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47625" cy="8763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14450" y="91440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429 限流:请求太猛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9650" y="128587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81725" y="91440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81725" y="914400"/>
            <a:ext cx="47625" cy="8763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19875" y="91440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401/403 鉴权:Key 失效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15075" y="128587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76300" y="196215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76300" y="1962150"/>
            <a:ext cx="47625" cy="8763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14450" y="196215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408/超时:推理太慢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9650" y="233362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81725" y="196215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81725" y="1962150"/>
            <a:ext cx="47625" cy="8763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19875" y="196215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5xx:服务端故障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15075" y="233362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76300" y="300990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76300" y="3009900"/>
            <a:ext cx="47625" cy="8763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14450" y="300990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400:参数错误(schema 不合法)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9650" y="338137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24/139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四类典型故障处置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172402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1724025"/>
            <a:ext cx="4924425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00150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150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8300" y="193357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429 限流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233362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令牌桶拦截→退避重试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9825" y="172402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9825" y="1724025"/>
            <a:ext cx="4924425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72225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2225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0375" y="193357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401 鉴权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2225" y="233362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Key 失效→轮转密钥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7750" y="349567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47750" y="3495675"/>
            <a:ext cx="4924425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200150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00150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38300" y="370522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5xx 服务端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0150" y="410527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fallback 次模型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9825" y="349567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9825" y="3495675"/>
            <a:ext cx="4924425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72225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2225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0375" y="370522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400 参数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2225" y="410527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Schema 校验→反喂纠错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25/139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重试策略:指数退避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只重试可重试错误(429/5xx/超时)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退避:1s → 2s → 4s + 随机抖动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上限 3 次,总时长别超外层预算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400 参数错重试无意义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非幂等操作禁止盲目重试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26/139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错误处理决策链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7250" y="2667000"/>
            <a:ext cx="12192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57250" y="2667000"/>
            <a:ext cx="12192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323975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3975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3450" y="2800350"/>
            <a:ext cx="1066800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请求发起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00300" y="2667000"/>
            <a:ext cx="12192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400300" y="2667000"/>
            <a:ext cx="1219200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867025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67025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76500" y="2800350"/>
            <a:ext cx="1066800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失败分类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133600" y="3238500"/>
            <a:ext cx="190500" cy="0"/>
          </a:xfrm>
          <a:prstGeom prst="line">
            <a:avLst/>
          </a:prstGeom>
          <a:ln w="2032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sosceles Triangle 15"/>
          <p:cNvSpPr/>
          <p:nvPr/>
        </p:nvSpPr>
        <p:spPr>
          <a:xfrm rot="5400000">
            <a:off x="2238376" y="3195638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943350" y="2667000"/>
            <a:ext cx="12192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943350" y="2667000"/>
            <a:ext cx="1219200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410075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10075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19550" y="2800350"/>
            <a:ext cx="1066800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可重试?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676650" y="3238500"/>
            <a:ext cx="190500" cy="0"/>
          </a:xfrm>
          <a:prstGeom prst="line">
            <a:avLst/>
          </a:prstGeom>
          <a:ln w="2032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/>
          <p:cNvSpPr/>
          <p:nvPr/>
        </p:nvSpPr>
        <p:spPr>
          <a:xfrm rot="5400000">
            <a:off x="3781426" y="3195638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486400" y="2667000"/>
            <a:ext cx="12192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0" y="2667000"/>
            <a:ext cx="1219200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953125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53125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62600" y="2800350"/>
            <a:ext cx="1066800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指数退避重试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219700" y="3238500"/>
            <a:ext cx="190500" cy="0"/>
          </a:xfrm>
          <a:prstGeom prst="line">
            <a:avLst/>
          </a:prstGeom>
          <a:ln w="2032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Isosceles Triangle 29"/>
          <p:cNvSpPr/>
          <p:nvPr/>
        </p:nvSpPr>
        <p:spPr>
          <a:xfrm rot="5400000">
            <a:off x="5324476" y="3195638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029450" y="2667000"/>
            <a:ext cx="12192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029450" y="2667000"/>
            <a:ext cx="1219200" cy="5715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496175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96175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05650" y="2800350"/>
            <a:ext cx="1066800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3 次仍失败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762750" y="3238500"/>
            <a:ext cx="190500" cy="0"/>
          </a:xfrm>
          <a:prstGeom prst="line">
            <a:avLst/>
          </a:prstGeom>
          <a:ln w="2032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Isosceles Triangle 36"/>
          <p:cNvSpPr/>
          <p:nvPr/>
        </p:nvSpPr>
        <p:spPr>
          <a:xfrm rot="5400000">
            <a:off x="6867526" y="3195638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572500" y="2667000"/>
            <a:ext cx="12192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572500" y="2667000"/>
            <a:ext cx="1219200" cy="5715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039225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39225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48700" y="2800350"/>
            <a:ext cx="1066800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fallback 次模型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8305800" y="3238500"/>
            <a:ext cx="190500" cy="0"/>
          </a:xfrm>
          <a:prstGeom prst="line">
            <a:avLst/>
          </a:prstGeom>
          <a:ln w="2032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Isosceles Triangle 43"/>
          <p:cNvSpPr/>
          <p:nvPr/>
        </p:nvSpPr>
        <p:spPr>
          <a:xfrm rot="5400000">
            <a:off x="8410576" y="3195638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10115550" y="2667000"/>
            <a:ext cx="12192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115550" y="2667000"/>
            <a:ext cx="12192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0582275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582275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191750" y="2800350"/>
            <a:ext cx="1066800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AllProvidersFailed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9848850" y="3238500"/>
            <a:ext cx="190500" cy="0"/>
          </a:xfrm>
          <a:prstGeom prst="line">
            <a:avLst/>
          </a:prstGeom>
          <a:ln w="2032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Isosceles Triangle 50"/>
          <p:cNvSpPr/>
          <p:nvPr/>
        </p:nvSpPr>
        <p:spPr>
          <a:xfrm rot="5400000">
            <a:off x="9953626" y="3195638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>
            <a:off x="10725150" y="3867150"/>
            <a:ext cx="0" cy="228600"/>
          </a:xfrm>
          <a:prstGeom prst="line">
            <a:avLst/>
          </a:prstGeom>
          <a:ln w="20320">
            <a:solidFill>
              <a:srgbClr val="F59E0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Isosceles Triangle 52"/>
          <p:cNvSpPr/>
          <p:nvPr/>
        </p:nvSpPr>
        <p:spPr>
          <a:xfrm rot="10800000">
            <a:off x="10682288" y="4010026"/>
            <a:ext cx="85725" cy="85725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 flipH="1">
            <a:off x="6096000" y="4095750"/>
            <a:ext cx="4629150" cy="0"/>
          </a:xfrm>
          <a:prstGeom prst="line">
            <a:avLst/>
          </a:prstGeom>
          <a:ln w="20320">
            <a:solidFill>
              <a:srgbClr val="F59E0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Isosceles Triangle 54"/>
          <p:cNvSpPr/>
          <p:nvPr/>
        </p:nvSpPr>
        <p:spPr>
          <a:xfrm rot="16200000">
            <a:off x="6096000" y="4052888"/>
            <a:ext cx="85725" cy="85725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 flipV="1">
            <a:off x="6096000" y="3867150"/>
            <a:ext cx="0" cy="228600"/>
          </a:xfrm>
          <a:prstGeom prst="line">
            <a:avLst/>
          </a:prstGeom>
          <a:ln w="20320">
            <a:solidFill>
              <a:srgbClr val="F59E0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Isosceles Triangle 56"/>
          <p:cNvSpPr/>
          <p:nvPr/>
        </p:nvSpPr>
        <p:spPr>
          <a:xfrm>
            <a:off x="6053138" y="3867150"/>
            <a:ext cx="85725" cy="85725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096000" y="3848100"/>
            <a:ext cx="5848350" cy="209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59E0B"/>
                </a:solidFill>
                <a:latin typeface="PingFang SC"/>
              </a:rPr>
              <a:t>循环(loop)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57250" y="5715000"/>
            <a:ext cx="10477500" cy="4191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09650" y="5715000"/>
            <a:ext cx="10172700" cy="4191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563EB"/>
                </a:solidFill>
                <a:latin typeface="PingFang SC"/>
              </a:rPr>
              <a:t>▶ 实测:主模型故障自动 fallback,attempts=2 留痕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27/139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超时预算分级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本地计算:100ms 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同机房 RPC:1s 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LLM 推理:30~90s 级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每层独立预算,并跨层传播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下游没预算了就别再发请求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28/139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平台工程对照:gateway 域模型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ChatMessage/ChatRequest/ChatResponse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Usage.total_tokens 派生不变量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Pydantic 校验挡住脏数据入口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代码:src/agent_platform/gateway/domain.py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29/139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MockProvider:确定性的价值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按 prompt 关键词回放预设脚本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CI 零外部依赖、断言可重复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call_count 可断言调用次数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LLM 输出不可复现会毁掉 TDD 节奏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30/139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1-1 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31/139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鉴权与请求头实践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Authorization: Bearer &lt;api_key&gt;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Key 走环境变量/密钥服务,不入库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网关层统一注入,业务侧零 Key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平台 OPENAI_API_KEY 只在 .env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32/139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认证头与风控头实测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$ curl -H "Authorization: Bearer sk-***" ...;Authorization: Bearer sk-*****(掩码);x-idempotency-key: req-20261003-001;x-tenant-id: acme(开发态);# 生产:JWT 强制(SEC_JWT_REQUIRED=1);# Key 只在 .env 与请求头,永不落库/日志|v1.3 实测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33500" y="952500"/>
            <a:ext cx="9525000" cy="504825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33500" y="952500"/>
            <a:ext cx="9525000" cy="381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504950" y="108585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752600" y="108585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000250" y="108585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81250" y="952500"/>
            <a:ext cx="8286750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terminal — 平台实测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62100" y="1485900"/>
            <a:ext cx="9067800" cy="438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34D399"/>
                </a:solidFill>
                <a:latin typeface="Menlo"/>
              </a:rPr>
              <a:t>$ curl -H "Authorization: Bearer sk-***" ...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CBD5E1"/>
                </a:solidFill>
                <a:latin typeface="Menlo"/>
              </a:rPr>
              <a:t>Authorization: Bearer sk-*****(掩码)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CBD5E1"/>
                </a:solidFill>
                <a:latin typeface="Menlo"/>
              </a:rPr>
              <a:t>x-idempotency-key: req-20261003-001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CBD5E1"/>
                </a:solidFill>
                <a:latin typeface="Menlo"/>
              </a:rPr>
              <a:t>x-tenant-id: acme(开发态)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94A3B8"/>
                </a:solidFill>
                <a:latin typeface="Menlo"/>
              </a:rPr>
              <a:t># 生产:JWT 强制(SEC_JWT_REQUIRED=1)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94A3B8"/>
                </a:solidFill>
                <a:latin typeface="Menlo"/>
              </a:rPr>
              <a:t># Key 只在 .env 与请求头,永不落库/日志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33/139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流式与非流式的成本差异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计费相同,体验与失败代价不同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非流式超时=整单作废重计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流式取消只计已生成部分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长输出任务默认流式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34/139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模型选择矩阵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维度:能力/价格/上下文/延迟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难任务(推理/代码)→ 强模型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杂任务(分类/抽取)→ 小模型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矩阵进配置,随价格变化调整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35/139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强弱模型选型,维度,强模型,小模型;任务,推理/代码/长链,分类/抽取/改写;成本,高(约5x),低;延迟,10~25s,1~3s;占比,难任务 20%,杂任务 80%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1047750"/>
            <a:ext cx="9906000" cy="561975"/>
          </a:xfrm>
          <a:prstGeom prst="roundRect">
            <a:avLst>
              <a:gd name="adj" fmla="val 8000"/>
            </a:avLst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57300" y="1047750"/>
            <a:ext cx="9696450" cy="5619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hl=2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36/139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多模型路由设计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链式:primary → fast → local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失败原因决定是否换链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attempts 全程留痕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平台 ModelRouter 已实现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37/139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供应商抽象接口设计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LLMProvider 协议两个方法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complete:一次性返回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stream_events:增量+末帧用量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新增供应商=新增一个实现类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38/139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双协议适配时序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1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Client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333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556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56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Gateway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08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731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31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OpenAI 协议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683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906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06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Anthropic 协议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858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333500" y="1809750"/>
            <a:ext cx="317500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Isosceles Triangle 17"/>
          <p:cNvSpPr/>
          <p:nvPr/>
        </p:nvSpPr>
        <p:spPr>
          <a:xfrm rot="5400000">
            <a:off x="4422776" y="1766888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97000" y="152400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1. 统一请求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508500" y="2492375"/>
            <a:ext cx="317500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/>
          <p:cNvSpPr/>
          <p:nvPr/>
        </p:nvSpPr>
        <p:spPr>
          <a:xfrm rot="5400000">
            <a:off x="7597776" y="2449513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2206625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2. POST /chat/completions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508500" y="3175000"/>
            <a:ext cx="635000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Isosceles Triangle 23"/>
          <p:cNvSpPr/>
          <p:nvPr/>
        </p:nvSpPr>
        <p:spPr>
          <a:xfrm rot="5400000">
            <a:off x="10772776" y="3132138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59500" y="288925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3. POST /v1/messages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4508500" y="3857625"/>
            <a:ext cx="3175000" cy="0"/>
          </a:xfrm>
          <a:prstGeom prst="line">
            <a:avLst/>
          </a:prstGeom>
          <a:ln w="2032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Isosceles Triangle 26"/>
          <p:cNvSpPr/>
          <p:nvPr/>
        </p:nvSpPr>
        <p:spPr>
          <a:xfrm rot="16200000">
            <a:off x="4508500" y="3814763"/>
            <a:ext cx="85725" cy="85725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0" y="3571875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59E0B"/>
                </a:solidFill>
                <a:latin typeface="PingFang SC"/>
              </a:rPr>
              <a:t>4. choices+usage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4508500" y="4540250"/>
            <a:ext cx="6350000" cy="0"/>
          </a:xfrm>
          <a:prstGeom prst="line">
            <a:avLst/>
          </a:prstGeom>
          <a:ln w="2032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Isosceles Triangle 29"/>
          <p:cNvSpPr/>
          <p:nvPr/>
        </p:nvSpPr>
        <p:spPr>
          <a:xfrm rot="16200000">
            <a:off x="4508500" y="4497388"/>
            <a:ext cx="85725" cy="85725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59500" y="425450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59E0B"/>
                </a:solidFill>
                <a:latin typeface="PingFang SC"/>
              </a:rPr>
              <a:t>5. content_blocks+usage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1333500" y="5222875"/>
            <a:ext cx="3175000" cy="0"/>
          </a:xfrm>
          <a:prstGeom prst="line">
            <a:avLst/>
          </a:prstGeom>
          <a:ln w="2032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Isosceles Triangle 32"/>
          <p:cNvSpPr/>
          <p:nvPr/>
        </p:nvSpPr>
        <p:spPr>
          <a:xfrm rot="16200000">
            <a:off x="1333500" y="5180013"/>
            <a:ext cx="85725" cy="85725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97000" y="4937125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59E0B"/>
                </a:solidFill>
                <a:latin typeface="PingFang SC"/>
              </a:rPr>
              <a:t>6. 统一 ChatResponse|同一 Provider 协议,两个实现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39/139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应用:客服问答参数基线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temperature 0.3:稳定带一点语气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max_tokens 512:控制话术长度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system:角色+禁答清单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基线进配置中心,按业务覆盖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40/139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踩坑:Key 泄露事故复盘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事故:示例代码把 Key 提交进仓库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影响:被扫描机器人抓取盗刷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处置:立即轮转+历史清除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预防:pre-commit 扫描 sk- 模式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41/139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143000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59E0B"/>
                </a:solidFill>
                <a:latin typeface="PingFang SC"/>
              </a:rPr>
              <a:t>域模型不变量:TDD 守护 · src/agent_platform/gateway/domain.py:24-58</a:t>
            </a:r>
          </a:p>
        </p:txBody>
      </p:sp>
      <p:pic>
        <p:nvPicPr>
          <p:cNvPr id="5" name="Picture 4" descr="cod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5143" y="762000"/>
            <a:ext cx="9301713" cy="5760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42/139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4800" y="0"/>
            <a:ext cx="11430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B1D3A"/>
                </a:solidFill>
                <a:latin typeface="PingFang SC"/>
              </a:rPr>
              <a:t>自测 · LLM API 基础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" y="1143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3000" y="1143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90650" y="1143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05000" y="1143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finish_reason=length 说明什么?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1905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1905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1905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5000" y="1905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哪些错误值得重试,哪些不值得?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2667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2667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2667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05000" y="2667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为什么 temperature=0 是评测基线?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29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3429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3429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05000" y="3429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你的项目里哪个参数最该进配置中心?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43/139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7250" y="952500"/>
            <a:ext cx="323850" cy="76200"/>
          </a:xfrm>
          <a:prstGeom prst="rect">
            <a:avLst/>
          </a:prstGeom>
          <a:solidFill>
            <a:srgbClr val="27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95400" y="952500"/>
            <a:ext cx="323850" cy="76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733550" y="952500"/>
            <a:ext cx="323850" cy="76200"/>
          </a:xfrm>
          <a:prstGeom prst="rect">
            <a:avLst/>
          </a:prstGeom>
          <a:solidFill>
            <a:srgbClr val="27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171700" y="952500"/>
            <a:ext cx="323850" cy="76200"/>
          </a:xfrm>
          <a:prstGeom prst="rect">
            <a:avLst/>
          </a:prstGeom>
          <a:solidFill>
            <a:srgbClr val="27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57250" y="2381250"/>
            <a:ext cx="1143000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7250" y="2857500"/>
            <a:ext cx="9906000" cy="1238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FFFFFF"/>
                </a:solidFill>
                <a:latin typeface="PingFang SC"/>
              </a:rPr>
              <a:t>讲次 1-2 · Streaming 流式输出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4286250"/>
            <a:ext cx="9334500" cy="476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59E0B"/>
                </a:solidFill>
                <a:latin typeface="PingFang SC"/>
              </a:rPr>
              <a:t>LECTURE 02 / 04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为什么必须流式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推理延迟秒级起步,长输出数十秒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串行等待:用户盯着白屏离开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流式:首字延迟 &lt;1s,体验质变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附加收益:用户可提前取消省 Token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45/139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SSE 协议本质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HTTP 长连接 + 文本事件流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帧格式:data: {json}\n\n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结束标记:data: [DONE]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单向服务端推送,浏览器原生支持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比 WebSocket 轻,够用就是最好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46/139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SSE 打字机实测输出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$ curl -N -X POST :8000/v1/chat/completions;data: {"delta": "worl", "usage": null};data: {"delta": "d, f", "usage": null};data: {"delta": "rom ", "usage": null};data: {"delta": "", "usage": {"total_tokens": 626}};data: [DONE];# 末帧强制携带 usage → 成本留痕数据源|平台真实输出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33500" y="952500"/>
            <a:ext cx="9525000" cy="504825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33500" y="952500"/>
            <a:ext cx="9525000" cy="381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504950" y="108585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752600" y="108585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000250" y="108585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81250" y="952500"/>
            <a:ext cx="8286750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terminal — 平台实测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62100" y="1485900"/>
            <a:ext cx="9067800" cy="438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34D399"/>
                </a:solidFill>
                <a:latin typeface="Menlo"/>
              </a:rPr>
              <a:t>$ curl -N -X POST :8000/v1/chat/completions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CBD5E1"/>
                </a:solidFill>
                <a:latin typeface="Menlo"/>
              </a:rPr>
              <a:t>data: {"delta": "worl", "usage": null}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CBD5E1"/>
                </a:solidFill>
                <a:latin typeface="Menlo"/>
              </a:rPr>
              <a:t>data: {"delta": "d, f", "usage": null}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CBD5E1"/>
                </a:solidFill>
                <a:latin typeface="Menlo"/>
              </a:rPr>
              <a:t>data: {"delta": "rom ", "usage": null}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CBD5E1"/>
                </a:solidFill>
                <a:latin typeface="Menlo"/>
              </a:rPr>
              <a:t>data: {"delta": "", "usage": {"total_tokens": 626}}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CBD5E1"/>
                </a:solidFill>
                <a:latin typeface="Menlo"/>
              </a:rPr>
              <a:t>data: [DONE]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94A3B8"/>
                </a:solidFill>
                <a:latin typeface="Menlo"/>
              </a:rPr>
              <a:t># 末帧强制携带 usage → 成本留痕数据源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47/139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FastAPI 流式转发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StreamingResponse 包装 async 生成器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media_type=text/event-stream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逐块转发,不做全量缓冲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代码:api/app.py 的 sse() 生成器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48/139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前端/CLI 消费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浏览器:EventSource 或 fetch 流读取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CLI:逐块 print 实现打字机效果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每帧 JSON:delta 增量 + 末帧 usage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平台实测:curl -N 可见打字机输出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49/139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打字机渲染管线-&gt;收到 delta 帧-&gt;追加缓冲-&gt;节流上屏(16ms)-&gt;usage 帧更新计数-&gt;[DONE] 收尾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TTFT&lt;200ms 上屏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2667000"/>
            <a:ext cx="104775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57250" y="2667000"/>
            <a:ext cx="104775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53125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53125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3450" y="2800350"/>
            <a:ext cx="10325100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note=直接逐帧 DOM 更新会卡:节流是前端必修课|TTFT&lt;200ms 上屏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50/139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中断与取消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用户点击停止 → 关闭连接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服务端检测写失败即终止推理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省下的是真金白银的 Token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取消也必须留痕:用量已产生部分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51/139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流式会话状态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714750" y="1905000"/>
            <a:ext cx="2228850" cy="1047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714750" y="1905000"/>
            <a:ext cx="2228850" cy="1047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streaming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6000" y="1905000"/>
            <a:ext cx="2228850" cy="1047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0" y="1905000"/>
            <a:ext cx="2228850" cy="1047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paused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14750" y="3524250"/>
            <a:ext cx="2228850" cy="1047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4750" y="3524250"/>
            <a:ext cx="2228850" cy="1047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done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6000" y="3524250"/>
            <a:ext cx="2228850" cy="1047750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6000" y="3524250"/>
            <a:ext cx="2228850" cy="1047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cancelled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943600" y="2428875"/>
            <a:ext cx="152400" cy="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Isosceles Triangle 13"/>
          <p:cNvSpPr/>
          <p:nvPr/>
        </p:nvSpPr>
        <p:spPr>
          <a:xfrm rot="5400000">
            <a:off x="6010276" y="2386013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62550" y="2105025"/>
            <a:ext cx="17145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网络抖动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5943600" y="2428875"/>
            <a:ext cx="1266825" cy="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Isosceles Triangle 16"/>
          <p:cNvSpPr/>
          <p:nvPr/>
        </p:nvSpPr>
        <p:spPr>
          <a:xfrm rot="16200000">
            <a:off x="5943600" y="2386013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43562" y="2105025"/>
            <a:ext cx="17145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自动重连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29175" y="2952750"/>
            <a:ext cx="0" cy="57150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Isosceles Triangle 19"/>
          <p:cNvSpPr/>
          <p:nvPr/>
        </p:nvSpPr>
        <p:spPr>
          <a:xfrm rot="10800000">
            <a:off x="4786313" y="3438526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52937" y="2105025"/>
            <a:ext cx="17145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[DONE]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943600" y="2428875"/>
            <a:ext cx="152400" cy="161925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/>
          <p:cNvSpPr/>
          <p:nvPr/>
        </p:nvSpPr>
        <p:spPr>
          <a:xfrm rot="10477398">
            <a:off x="6049122" y="3962590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62550" y="2105025"/>
            <a:ext cx="17145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用户停止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210425" y="2952750"/>
            <a:ext cx="0" cy="57150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Isosceles Triangle 25"/>
          <p:cNvSpPr/>
          <p:nvPr/>
        </p:nvSpPr>
        <p:spPr>
          <a:xfrm rot="10800000">
            <a:off x="7167563" y="3438526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34187" y="2105025"/>
            <a:ext cx="17145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超时|已生成部分保留+计量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52/139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流式异常处理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网络抖动:连接中断而非报错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限流:可能在流中途触发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策略:已收内容保留 + 提示重试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禁止整段重流造成双倍计费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53/139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长文本断点保存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会话断开 → 丢弃还是续传?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方案:持久化已生成内容+序列号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恢复:从断点继续生成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本平台:任务摘要即恢复锚点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断点续传是长文任务的刚需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54/139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踩坑:缓冲毁掉流式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反向代理默认缓冲响应体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现象:打字机变成"憋大招"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修复:nginx 加 X-Accel-Buffering: no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自检:curl 必须逐块可见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55/139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踩坑:SSE 帧粘包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两帧数据连在同一个 chunk 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解析器按 \n\n 切分才能还原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修复:跨 chunk 维护行缓冲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协议细节在集成测试里暴露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56/139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优化:流式下的成本留痕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usage 在流结束后才有(上游行为)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平台方案:末帧强制携带 usage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上游不带时按内容长度合成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没有留痕,成本治理无从谈起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57/139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优化:首字延迟 P95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指标:time-to-first-token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优化:路由到近机房/更快模型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优化:短 system prompt 优先命中缓存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TTFT 是流式体验的北极星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58/139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GraphQL 与流式的分工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GraphQL:聚合查询面(任务/报表)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SSE:LLM 流式响应专用通道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两者共存于同一 FastAPI 应用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平台 /graphql 与 /v1/chat/completions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59/139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1-2 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60/139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SSE 帧结构图解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事件三要素:event/data/id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最简实现只用 data 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空行分隔帧,双换行必须保留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自己抓包看一次胜过十页文档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61/139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SSE 客户端解析流(防粘包)-&gt;收 TCP chunk-&gt;行缓冲累积-&gt;按空行切帧-&gt;校验 data: 前缀-&gt;JSON 解析-&gt;分发渲染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末帧 usage + [DONE]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2667000"/>
            <a:ext cx="104775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57250" y="2667000"/>
            <a:ext cx="104775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53125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53125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3450" y="2800350"/>
            <a:ext cx="10325100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note=跨 chunk 半帧是常见坑:必须缓冲|末帧 usage + [DONE]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62/139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客户端重连语义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EventSource 断线自动重连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服务端需幂等:避免重复生成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会话标识绑定生成任务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重连风暴要做退避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63/139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断点续传 Last-Event-ID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客户端带着最后收到的 id 重连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服务端从断点继续推送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平台映射:任务摘要做恢复锚点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64/139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断线重连时序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1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Client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333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1435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435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API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960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906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06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生成器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858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333500" y="1809750"/>
            <a:ext cx="476250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Isosceles Triangle 14"/>
          <p:cNvSpPr/>
          <p:nvPr/>
        </p:nvSpPr>
        <p:spPr>
          <a:xfrm rot="5400000">
            <a:off x="6010276" y="1766888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90750" y="152400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1. 流式中断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96000" y="2628900"/>
            <a:ext cx="476250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Isosceles Triangle 17"/>
          <p:cNvSpPr/>
          <p:nvPr/>
        </p:nvSpPr>
        <p:spPr>
          <a:xfrm rot="5400000">
            <a:off x="10772776" y="2586038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53250" y="234315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2. 生成暂停(用量已记)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333500" y="3448050"/>
            <a:ext cx="476250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/>
          <p:cNvSpPr/>
          <p:nvPr/>
        </p:nvSpPr>
        <p:spPr>
          <a:xfrm rot="5400000">
            <a:off x="6010276" y="3405188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90750" y="316230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3. 重连+Last-Event-ID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96000" y="4267200"/>
            <a:ext cx="476250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Isosceles Triangle 23"/>
          <p:cNvSpPr/>
          <p:nvPr/>
        </p:nvSpPr>
        <p:spPr>
          <a:xfrm rot="5400000">
            <a:off x="10772776" y="4224338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53250" y="398145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4. 从断点续推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1333500" y="5086350"/>
            <a:ext cx="9525000" cy="0"/>
          </a:xfrm>
          <a:prstGeom prst="line">
            <a:avLst/>
          </a:prstGeom>
          <a:ln w="2032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Isosceles Triangle 26"/>
          <p:cNvSpPr/>
          <p:nvPr/>
        </p:nvSpPr>
        <p:spPr>
          <a:xfrm rot="16200000">
            <a:off x="1333500" y="5043488"/>
            <a:ext cx="85725" cy="85725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0" y="480060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59E0B"/>
                </a:solidFill>
                <a:latin typeface="PingFang SC"/>
              </a:rPr>
              <a:t>5. 剩余帧+usage|重连需幂等:防重复生成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65/139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应用:长文写作流水线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大纲流式确认 → 分节生成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每节独立可取消可重写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全文状态持久化支撑恢复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66/139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踩坑:取消后的资源泄漏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客户端断开,生成器未感知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后台推理继续烧 Token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修复:请求取消事件联动 Abort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自检:取消后 usage 停止增长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67/139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优化:分块大小调优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块太小:帧开销大,吞吐低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块太大:打字机卡顿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经验:按句/按 16~32 字符切块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平台 MockProvider 块长可配置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68/139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优化:多模型流式聚合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同题并发两模型,取先到流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差异过大时触发仲裁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成本翻倍,仅关键路径使用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对冲是尾延迟优化手段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69/139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143000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59E0B"/>
                </a:solidFill>
                <a:latin typeface="PingFang SC"/>
              </a:rPr>
              <a:t>SSE 逐块转发(平台实测打字机) · src/agent_platform/api/app.py:150-172</a:t>
            </a:r>
          </a:p>
        </p:txBody>
      </p:sp>
      <p:pic>
        <p:nvPicPr>
          <p:cNvPr id="5" name="Picture 4" descr="cod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62000"/>
            <a:ext cx="11460480" cy="533954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70/139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4800" y="0"/>
            <a:ext cx="11430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B1D3A"/>
                </a:solidFill>
                <a:latin typeface="PingFang SC"/>
              </a:rPr>
              <a:t>自测 · Streaming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" y="1143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3000" y="1143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90650" y="1143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05000" y="1143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SSE 与 WebSocket 选型依据?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1905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1905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1905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5000" y="1905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流式中途限流,已生成内容怎么处理?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2667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2667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2667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05000" y="2667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为什么代理层会毁掉打字机效果?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29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3429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3429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05000" y="3429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TTFT 为什么比总时长更重要?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71/139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7250" y="952500"/>
            <a:ext cx="323850" cy="76200"/>
          </a:xfrm>
          <a:prstGeom prst="rect">
            <a:avLst/>
          </a:prstGeom>
          <a:solidFill>
            <a:srgbClr val="27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95400" y="952500"/>
            <a:ext cx="323850" cy="76200"/>
          </a:xfrm>
          <a:prstGeom prst="rect">
            <a:avLst/>
          </a:prstGeom>
          <a:solidFill>
            <a:srgbClr val="27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733550" y="952500"/>
            <a:ext cx="323850" cy="76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171700" y="952500"/>
            <a:ext cx="323850" cy="76200"/>
          </a:xfrm>
          <a:prstGeom prst="rect">
            <a:avLst/>
          </a:prstGeom>
          <a:solidFill>
            <a:srgbClr val="27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57250" y="2381250"/>
            <a:ext cx="1143000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7250" y="2857500"/>
            <a:ext cx="9906000" cy="1238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FFFFFF"/>
                </a:solidFill>
                <a:latin typeface="PingFang SC"/>
              </a:rPr>
              <a:t>讲次 1-3 · Prompt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4286250"/>
            <a:ext cx="9334500" cy="476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59E0B"/>
                </a:solidFill>
                <a:latin typeface="PingFang SC"/>
              </a:rPr>
              <a:t>LECTURE 03 / 04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System Prompt:岗位说明书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设定全局行为基调与能力边界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声明输出格式与禁止事项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与 user 消息隔离,防注入第一道墙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一切可复用的指令都该进 system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73/139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角色定义与行为约束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明确角色:代码审查员/数据分析师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约束:只答职责范围内的问题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越界请求 → 礼貌拒绝并引导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角色越具体,输出越稳定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74/139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输出风格控制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详细程度:一句话/要点/长文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语气:专业/口语/客服话术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结构:Markdown 标题/表格/JSON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风格也是验收标准的一部分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75/139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模板化前后对比,维度,散写 Prompt,模板化;复用,每次手写,变量注入;一致性,风格漂移,风格锁定;版本,无追溯,git 版本化;审计,难归因,模板 ID 留痕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1047750"/>
            <a:ext cx="9906000" cy="561975"/>
          </a:xfrm>
          <a:prstGeom prst="roundRect">
            <a:avLst>
              <a:gd name="adj" fmla="val 8000"/>
            </a:avLst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57300" y="1047750"/>
            <a:ext cx="9696450" cy="5619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hl=2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76/139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Few-shot:示例的力量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给 2~3 个"输入→输出"范例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对格式敏感任务立竿见影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示例覆盖边界情况效果最佳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示例本身成为 Prompt 的一部分资产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JSON 输出任务先试 Few-shot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77/139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143000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59E0B"/>
                </a:solidFill>
                <a:latin typeface="PingFang SC"/>
              </a:rPr>
              <a:t>ChatMessage:role 约束与校验 · src/agent_platform/gateway/domain.py:14-32</a:t>
            </a:r>
          </a:p>
        </p:txBody>
      </p:sp>
      <p:pic>
        <p:nvPicPr>
          <p:cNvPr id="5" name="Picture 4" descr="cod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62000"/>
            <a:ext cx="11460480" cy="455814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78/139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Few-shot 设计三要点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2609850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2609850"/>
            <a:ext cx="32004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00150" y="2800350"/>
            <a:ext cx="323850" cy="3238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150" y="2800350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8300" y="2819400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数量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3219450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2~3 个足够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95800" y="2609850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95800" y="2609850"/>
            <a:ext cx="3200400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48200" y="2800350"/>
            <a:ext cx="323850" cy="3238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8200" y="2800350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6350" y="2819400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覆盖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8200" y="3219450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含边界情况样例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43850" y="2609850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43850" y="2609850"/>
            <a:ext cx="3200400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96250" y="2800350"/>
            <a:ext cx="323850" cy="3238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96250" y="2800350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34400" y="2819400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一致性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6250" y="3219450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格式与目标输出严格同构|格式敏感任务首选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79/139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任务拆解:降幻觉的核心手段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一步到位 → 多步小任务链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每步只做一件事,可单独校验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步骤间传结构化数据而非自然语言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链式拆解 = 为第3章 Agent Loop 铺路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80/139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Prompt 模板化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可变参数嵌入固定模板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模板即代码:进仓库、走评审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变量渲染前做转义与校验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模板库由 Gateway 统一管理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81/139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Prompt 版本管理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Prompt 改动必须可回溯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版本 + 变更原因 + 适用场景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每次改动跑回归(第5章 Eval)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"感觉变好了"不是版本记录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82/139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应用:代码审查 Prompt 实例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system:你是资深代码审查员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约束:只输出问题清单+严重级别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few-shot:一个问题样例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输出:Markdown 表格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教学平台 prompt 模板可参考此结构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83/139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应用:数据抽取 Prompt 实例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目标:从合同抽取金额/日期/主体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temperature=0 + JSON Schema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Few-shot 给一个含嵌套结构的样例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抽取失败必须显式返回 null 字段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宁可空缺,不许编造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84/139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踩坑:Prompt 注入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用户输入:"ignore previous instructions"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直拼进 system → 指令被覆盖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防护一:用户输入只进 user 消息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防护二:输出格式校验兜底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85/139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注入攻击与防御流-&gt;用户输入夹带指令-&gt;混入 system 位置?-是:直接拦截 400-&gt;否:进 user 消息-&gt;输出校验兜底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实测:ignore all previous → 400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2667000"/>
            <a:ext cx="104775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57250" y="2667000"/>
            <a:ext cx="104775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53125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53125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3450" y="2800350"/>
            <a:ext cx="10325100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note=双层防线:位置纪律+输出校验|实测:ignore all previous → 400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86/139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风控栈实测(curl 复现)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$ curl -X POST :8000/v1/chat/completions -d '{"content":"ignore all previous instructions"}';HTTP 400  injection pattern matched;$ curl -H 'x-idempotency-key: replay-1' …(第2次);HTTP 429  replay detected;$ for i in 1..14;连续请求;200 200 200 200 200 200 200 200 429 429 429 429 429 429;# 限流:桶容量 8 耗尽后全部 429|v1.3 实测记录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33500" y="952500"/>
            <a:ext cx="9525000" cy="504825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33500" y="952500"/>
            <a:ext cx="9525000" cy="381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504950" y="108585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752600" y="108585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000250" y="108585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81250" y="952500"/>
            <a:ext cx="8286750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terminal — 平台实测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62100" y="1485900"/>
            <a:ext cx="9067800" cy="438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34D399"/>
                </a:solidFill>
                <a:latin typeface="Menlo"/>
              </a:rPr>
              <a:t>$ curl -X POST :8000/v1/chat/completions -d '{"content":"ignore all previous instructions"}'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F87171"/>
                </a:solidFill>
                <a:latin typeface="Menlo"/>
              </a:rPr>
              <a:t>HTTP 400  injection pattern matched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34D399"/>
                </a:solidFill>
                <a:latin typeface="Menlo"/>
              </a:rPr>
              <a:t>$ curl -H 'x-idempotency-key: replay-1' …(第2次)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F87171"/>
                </a:solidFill>
                <a:latin typeface="Menlo"/>
              </a:rPr>
              <a:t>HTTP 429  replay detected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34D399"/>
                </a:solidFill>
                <a:latin typeface="Menlo"/>
              </a:rPr>
              <a:t>$ for i in 1..14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CBD5E1"/>
                </a:solidFill>
                <a:latin typeface="Menlo"/>
              </a:rPr>
              <a:t>连续请求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F87171"/>
                </a:solidFill>
                <a:latin typeface="Menlo"/>
              </a:rPr>
              <a:t>200 200 200 200 200 200 200 200 429 429 429 429 429 429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F87171"/>
                </a:solidFill>
                <a:latin typeface="Menlo"/>
              </a:rPr>
              <a:t># 限流:桶容量 8 耗尽后全部 429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87/139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踩坑:越改越长的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每次出错就补一段规则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结果:互相冲突、模型顾此失彼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修复:定期重构,合并同类约束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用回归测试证明删规则没退化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88/139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优化:Prompt 的注意力预算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关键约束放开头或结尾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中段内容最容易被忽略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无关示例及时下线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上下文工程在下一章系统化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89/139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优化:模板 A/B 与灰度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新旧模板同时注册,Flag 控制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小流量验证指标再全量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平台 FeatureFlags 一键回滚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Prompt 是生产资产,按代码对待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90/139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1-3 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91/139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实验:system 与 user 的优先级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冲突指令分别放 system/user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观察模型听谁的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结论:system 优先但可被越狱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结论:注入防护不能只靠位置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92/139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负面指令的正确写法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"不要编造"不如"不确定时输出未知"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给出替代行为而非只说禁止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每条禁止配一个正例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93/139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输出结构指令模板化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固定段落:结论/依据/建议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固定字段: JSON 键名写死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模板变量只留业务数据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结构化输出的前置保障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94/139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应用:会议纪要模板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输入:转写文本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模板:决议/待办/风险三段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约束:待办必须带负责人与期限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输出直接进协作工具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95/139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143000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59E0B"/>
                </a:solidFill>
                <a:latin typeface="PingFang SC"/>
              </a:rPr>
              <a:t>SecurityStack:风控组合入口 · src/agent_platform/security/guard.py:118-138</a:t>
            </a:r>
          </a:p>
        </p:txBody>
      </p:sp>
      <p:pic>
        <p:nvPicPr>
          <p:cNvPr id="5" name="Picture 4" descr="cod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62000"/>
            <a:ext cx="11460480" cy="182325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96/139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纪要生成流水线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7250" y="2667000"/>
            <a:ext cx="16078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57250" y="2667000"/>
            <a:ext cx="160782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18285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18285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3450" y="2800350"/>
            <a:ext cx="1455420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转写文本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74670" y="2667000"/>
            <a:ext cx="16078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074670" y="2667000"/>
            <a:ext cx="1607820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735705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35705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0870" y="2800350"/>
            <a:ext cx="1455420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模板三段(决议/待办/风险)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22220" y="3238500"/>
            <a:ext cx="476250" cy="0"/>
          </a:xfrm>
          <a:prstGeom prst="line">
            <a:avLst/>
          </a:prstGeom>
          <a:ln w="2032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sosceles Triangle 15"/>
          <p:cNvSpPr/>
          <p:nvPr/>
        </p:nvSpPr>
        <p:spPr>
          <a:xfrm rot="5400000">
            <a:off x="2912746" y="3195638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292090" y="2667000"/>
            <a:ext cx="16078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292090" y="2667000"/>
            <a:ext cx="1607820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953125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53125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68290" y="2800350"/>
            <a:ext cx="1455420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待办抽取(负责人+期限)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739640" y="3238500"/>
            <a:ext cx="476250" cy="0"/>
          </a:xfrm>
          <a:prstGeom prst="line">
            <a:avLst/>
          </a:prstGeom>
          <a:ln w="2032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/>
          <p:cNvSpPr/>
          <p:nvPr/>
        </p:nvSpPr>
        <p:spPr>
          <a:xfrm rot="5400000">
            <a:off x="5130166" y="3195638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509510" y="2667000"/>
            <a:ext cx="16078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509510" y="2667000"/>
            <a:ext cx="1607820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170545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70545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5710" y="2800350"/>
            <a:ext cx="1455420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校验必填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957060" y="3238500"/>
            <a:ext cx="476250" cy="0"/>
          </a:xfrm>
          <a:prstGeom prst="line">
            <a:avLst/>
          </a:prstGeom>
          <a:ln w="2032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Isosceles Triangle 29"/>
          <p:cNvSpPr/>
          <p:nvPr/>
        </p:nvSpPr>
        <p:spPr>
          <a:xfrm rot="5400000">
            <a:off x="7347586" y="3195638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726930" y="2667000"/>
            <a:ext cx="16078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726930" y="2667000"/>
            <a:ext cx="1607820" cy="5715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387965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387965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03130" y="2800350"/>
            <a:ext cx="1455420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输出结构化纪要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174480" y="3238500"/>
            <a:ext cx="476250" cy="0"/>
          </a:xfrm>
          <a:prstGeom prst="line">
            <a:avLst/>
          </a:prstGeom>
          <a:ln w="2032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Isosceles Triangle 36"/>
          <p:cNvSpPr/>
          <p:nvPr/>
        </p:nvSpPr>
        <p:spPr>
          <a:xfrm rot="5400000">
            <a:off x="9565006" y="3195638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57250" y="5715000"/>
            <a:ext cx="10477500" cy="4191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9650" y="5715000"/>
            <a:ext cx="10172700" cy="4191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563EB"/>
                </a:solidFill>
                <a:latin typeface="PingFang SC"/>
              </a:rPr>
              <a:t>▶ 模板即代码:版本化进仓库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97/139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踩坑:示例泄漏进生产输出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Few-shot 示例被模型复读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现象:输出里出现"示例:"字样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修复:示例加显著分隔与去重指令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回归用例要覆盖示例复读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98/139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示例复读复现与修复,$ curl ... -d '{"content":"给个示例"}';输出: 示例:小明提交了 PR...;修复: 显著分隔符 + "勿复读示例" 约束;回归: 用例覆盖示例复读;# few-shot 是双刃剑:格式受益/内容风险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真实踩坑记录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33500" y="952500"/>
            <a:ext cx="9525000" cy="504825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33500" y="952500"/>
            <a:ext cx="9525000" cy="381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504950" y="108585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752600" y="108585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000250" y="108585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81250" y="952500"/>
            <a:ext cx="8286750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terminal — 平台实测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62100" y="1485900"/>
            <a:ext cx="9067800" cy="438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>
                <a:solidFill>
                  <a:srgbClr val="CBD5E1"/>
                </a:solidFill>
                <a:latin typeface="Menlo"/>
              </a:rPr>
              <a:t>真实踩坑记录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99/139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优化:Prompt 压缩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删除客套话与重复约束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合并同类规则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压缩后跑回归验证不退化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Token 预算是钱,压缩是省钱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100/139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优化:基于评估的迭代流程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改动前:固化当前指标基线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改动后:全量回归+人工抽检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双清单:improved/regressed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这套流程第5章会平台化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101/139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4800" y="0"/>
            <a:ext cx="11430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B1D3A"/>
                </a:solidFill>
                <a:latin typeface="PingFang SC"/>
              </a:rPr>
              <a:t>自测 · Prompt Engineering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" y="1143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3000" y="1143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90650" y="1143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05000" y="1143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为什么用户输入永远不进 system?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1905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1905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1905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5000" y="1905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Few-shot 在什么任务上收益最大?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2667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2667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2667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05000" y="2667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你如何证明一次 Prompt 修改是改进?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29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3429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3429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05000" y="3429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模板化解决了什么工程问题?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102/139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7250" y="952500"/>
            <a:ext cx="323850" cy="76200"/>
          </a:xfrm>
          <a:prstGeom prst="rect">
            <a:avLst/>
          </a:prstGeom>
          <a:solidFill>
            <a:srgbClr val="27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95400" y="952500"/>
            <a:ext cx="323850" cy="76200"/>
          </a:xfrm>
          <a:prstGeom prst="rect">
            <a:avLst/>
          </a:prstGeom>
          <a:solidFill>
            <a:srgbClr val="27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733550" y="952500"/>
            <a:ext cx="323850" cy="76200"/>
          </a:xfrm>
          <a:prstGeom prst="rect">
            <a:avLst/>
          </a:prstGeom>
          <a:solidFill>
            <a:srgbClr val="27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171700" y="952500"/>
            <a:ext cx="323850" cy="76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57250" y="2381250"/>
            <a:ext cx="1143000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7250" y="2857500"/>
            <a:ext cx="9906000" cy="1238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FFFFFF"/>
                </a:solidFill>
                <a:latin typeface="PingFang SC"/>
              </a:rPr>
              <a:t>讲次 1-4 · 结构化输出与 LLM Gateway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4286250"/>
            <a:ext cx="9334500" cy="476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59E0B"/>
                </a:solidFill>
                <a:latin typeface="PingFang SC"/>
              </a:rPr>
              <a:t>LECTURE 04 / 04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为什么禁止裸解析自然语言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Agent 需要机器可读的决策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正则解析自由文本 = 脆弱管道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结构化 = 可校验/可重试/可降级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这是 Demo 与工程的分水岭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104/139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JSON Schema:结构契约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字段名/类型/必填/枚举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是模型、Runtime、审计三方共享契约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也是第2章工具参数的校验基石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105/139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Pydantic:三合一利器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定义结构 + Schema 导出 + 反序列化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校验失败抛具体字段错误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与 FastAPI/strawberry 无缝集成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平台全链路 Pydantic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106/139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模型原生结构化输出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API 层直接传 response_format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模型保证 JSON 合法(约束解码)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平台:response_schema 字段已预留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降级:不支持时退回 Few-shot 约束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107/139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Schema 校验闭环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模型返回 → json.loads → Pydantic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失败:把报错反喂给模型自修复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二次失败:降级默认值/缓存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错误反喂是自修复的标准姿势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108/139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应用:工单分类器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输入:用户工单原文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Schema:category/urgency/summary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校验:category 限定枚举值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失败重试一次后走人工兜底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109/139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应用:NL2SQL 前置校验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模型产出 SQL 与涉及的表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Schema 校验字段白名单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只读账号 + LIMIT 强制注入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结构化让"危险操作"可拦截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110/139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踩坑:JSON 外壳污染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模型输出 ```json 代码围栏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直接 loads 失败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修复:剥围栏 + 容错解析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根治:原生结构化输出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111/139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踩坑:枚举值幻觉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要求输出 A/B/C,模型输出 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Schema 校验挡下 → 反喂纠错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优化:在 prompt 里重复枚举约束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校验器是最后一道防线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112/139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LLM Gateway:为什么需要统一入口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密钥集中管理,业务侧零 Key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多厂商协议差异屏蔽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成本留痕/限流/降级集中实现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平台 20 项能力的第一项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113/139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Gateway 内部分层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47850" y="914400"/>
            <a:ext cx="8877300" cy="1100137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905000" y="952500"/>
            <a:ext cx="207645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905000" y="952500"/>
            <a:ext cx="47625" cy="1023937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38350" y="952500"/>
            <a:ext cx="1847850" cy="10239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入口:JWT/租户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33850" y="952500"/>
            <a:ext cx="207645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33850" y="952500"/>
            <a:ext cx="47625" cy="1023937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67200" y="952500"/>
            <a:ext cx="1847850" cy="10239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注入检查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62700" y="952500"/>
            <a:ext cx="207645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62700" y="952500"/>
            <a:ext cx="47625" cy="1023937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6050" y="952500"/>
            <a:ext cx="1847850" cy="10239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重放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91550" y="952500"/>
            <a:ext cx="207645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591550" y="952500"/>
            <a:ext cx="47625" cy="1023937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24900" y="952500"/>
            <a:ext cx="1847850" cy="10239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限流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096000" y="2033587"/>
            <a:ext cx="0" cy="152400"/>
          </a:xfrm>
          <a:prstGeom prst="line">
            <a:avLst/>
          </a:prstGeom>
          <a:ln w="1524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Isosceles Triangle 18"/>
          <p:cNvSpPr/>
          <p:nvPr/>
        </p:nvSpPr>
        <p:spPr>
          <a:xfrm rot="10800000">
            <a:off x="6053138" y="2100263"/>
            <a:ext cx="85725" cy="85725"/>
          </a:xfrm>
          <a:prstGeom prst="triangl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8400" y="1976437"/>
            <a:ext cx="2095500" cy="2476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4A3B8"/>
                </a:solidFill>
                <a:latin typeface="PingFang SC"/>
              </a:rPr>
              <a:t>风控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847850" y="2185987"/>
            <a:ext cx="8877300" cy="1100137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905000" y="2224087"/>
            <a:ext cx="28194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905000" y="2224087"/>
            <a:ext cx="47625" cy="1023937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038350" y="2224087"/>
            <a:ext cx="2590800" cy="10239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核心:Provider 抽象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76800" y="2224087"/>
            <a:ext cx="28194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876800" y="2224087"/>
            <a:ext cx="47625" cy="1023937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10150" y="2224087"/>
            <a:ext cx="2590800" cy="10239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ModelRouter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48600" y="2224087"/>
            <a:ext cx="28194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848600" y="2224087"/>
            <a:ext cx="47625" cy="1023937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81950" y="2224087"/>
            <a:ext cx="2590800" cy="10239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Prompt 模板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096000" y="3305174"/>
            <a:ext cx="0" cy="152400"/>
          </a:xfrm>
          <a:prstGeom prst="line">
            <a:avLst/>
          </a:prstGeom>
          <a:ln w="1524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Isosceles Triangle 31"/>
          <p:cNvSpPr/>
          <p:nvPr/>
        </p:nvSpPr>
        <p:spPr>
          <a:xfrm rot="10800000">
            <a:off x="6053138" y="3371850"/>
            <a:ext cx="85725" cy="85725"/>
          </a:xfrm>
          <a:prstGeom prst="triangl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48400" y="3248024"/>
            <a:ext cx="2095500" cy="2476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4A3B8"/>
                </a:solidFill>
                <a:latin typeface="PingFang SC"/>
              </a:rPr>
              <a:t>调用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847850" y="3457574"/>
            <a:ext cx="8877300" cy="1100137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905000" y="3495674"/>
            <a:ext cx="28194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905000" y="3495674"/>
            <a:ext cx="47625" cy="1023937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038350" y="3495674"/>
            <a:ext cx="2590800" cy="10239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输出:SSE 代理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876800" y="3495674"/>
            <a:ext cx="28194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876800" y="3495674"/>
            <a:ext cx="47625" cy="1023937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10150" y="3495674"/>
            <a:ext cx="2590800" cy="10239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Schema 校验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848600" y="3495674"/>
            <a:ext cx="28194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848600" y="3495674"/>
            <a:ext cx="47625" cy="1023937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981950" y="3495674"/>
            <a:ext cx="2590800" cy="10239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双向 Pydantic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096000" y="4576761"/>
            <a:ext cx="0" cy="152400"/>
          </a:xfrm>
          <a:prstGeom prst="line">
            <a:avLst/>
          </a:prstGeom>
          <a:ln w="1524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Isosceles Triangle 44"/>
          <p:cNvSpPr/>
          <p:nvPr/>
        </p:nvSpPr>
        <p:spPr>
          <a:xfrm rot="10800000">
            <a:off x="6053138" y="4643437"/>
            <a:ext cx="85725" cy="85725"/>
          </a:xfrm>
          <a:prstGeom prst="triangl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48400" y="4519611"/>
            <a:ext cx="2095500" cy="2476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4A3B8"/>
                </a:solidFill>
                <a:latin typeface="PingFang SC"/>
              </a:rPr>
              <a:t>留痕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847850" y="4729161"/>
            <a:ext cx="8877300" cy="1100137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1905000" y="4767261"/>
            <a:ext cx="28194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905000" y="4767261"/>
            <a:ext cx="47625" cy="1023937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038350" y="4767261"/>
            <a:ext cx="2590800" cy="10239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旁路:Cost Ledger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876800" y="4767261"/>
            <a:ext cx="28194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876800" y="4767261"/>
            <a:ext cx="47625" cy="1023937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10150" y="4767261"/>
            <a:ext cx="2590800" cy="10239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Prometheus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848600" y="4767261"/>
            <a:ext cx="28194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848600" y="4767261"/>
            <a:ext cx="47625" cy="1023937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981950" y="4767261"/>
            <a:ext cx="2590800" cy="10239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Pulsar 审计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114/139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Gateway 核心职责清单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OpenAI Compatible 统一协议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Streaming 逐块代理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Schema 传入机制屏蔽底层差异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请求/响应双向 Pydantic 校验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115/139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Gateway 的路由与降级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ModelRouter:按链 primary→fast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ProviderError 触发 fallback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全失败 → AllProvidersFailedError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attempts 留痕供 Trace 分析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平台已实现,测试守护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116/139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路由状态机(实测路径)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714750" y="1905000"/>
            <a:ext cx="2228850" cy="1047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714750" y="1905000"/>
            <a:ext cx="2228850" cy="1047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IDLE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6000" y="1905000"/>
            <a:ext cx="2228850" cy="1047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0" y="1905000"/>
            <a:ext cx="2228850" cy="1047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PRIMARY_OK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14750" y="3524250"/>
            <a:ext cx="2228850" cy="1047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4750" y="3524250"/>
            <a:ext cx="2228850" cy="1047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FALLBACK_FAST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6000" y="3524250"/>
            <a:ext cx="2228850" cy="1047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6000" y="3524250"/>
            <a:ext cx="2228850" cy="1047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ALL_FAILED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943600" y="2428875"/>
            <a:ext cx="152400" cy="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Isosceles Triangle 13"/>
          <p:cNvSpPr/>
          <p:nvPr/>
        </p:nvSpPr>
        <p:spPr>
          <a:xfrm rot="5400000">
            <a:off x="6010276" y="2386013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62550" y="2105025"/>
            <a:ext cx="17145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200 返回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829175" y="2952750"/>
            <a:ext cx="0" cy="57150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Isosceles Triangle 16"/>
          <p:cNvSpPr/>
          <p:nvPr/>
        </p:nvSpPr>
        <p:spPr>
          <a:xfrm rot="10800000">
            <a:off x="4786313" y="3438526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52937" y="2105025"/>
            <a:ext cx="17145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primary 429→fast 承接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5943600" y="2428875"/>
            <a:ext cx="1266825" cy="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Isosceles Triangle 19"/>
          <p:cNvSpPr/>
          <p:nvPr/>
        </p:nvSpPr>
        <p:spPr>
          <a:xfrm rot="16200000">
            <a:off x="5943600" y="2386013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43562" y="2105025"/>
            <a:ext cx="17145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连接复用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943600" y="4048125"/>
            <a:ext cx="152400" cy="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/>
          <p:cNvSpPr/>
          <p:nvPr/>
        </p:nvSpPr>
        <p:spPr>
          <a:xfrm rot="5400000">
            <a:off x="6010276" y="4005263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62550" y="3724275"/>
            <a:ext cx="17145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fast 亦失败|ALL_FAILED 聚合报错+attempts 留痕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117/139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Gateway 的可观测性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每次调用:模型/参数/用量/耗时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失败原因结构化记录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为第6章成本账本供数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gateway.py 只缺真实供应商适配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118/139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踩坑:网关变单点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网关挂了全部业务瘫痪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多副本部署 + 健康检查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客户端保留直连降级路径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无状态服务才敢水平扩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119/139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优化:语义缓存(预告)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相同/相似问题直接回缓存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精确 hash 命中 → 向量语义命中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第4章 Embedding 就绪后落地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命中率 30% 即省近三成成本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120/139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Schema 设计原则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必填最小化:可选字段显式可空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枚举优先于自由字符串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嵌套不超过两层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Schema 越简单遵循度越高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121/139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Schema 五原则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1724025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1724025"/>
            <a:ext cx="32004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00150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150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8300" y="1933575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必填最小化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2333625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可选显式可空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95800" y="1724025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95800" y="1724025"/>
            <a:ext cx="3200400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48200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8200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6350" y="1933575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枚举优先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8200" y="2333625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禁自由字符串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43850" y="1724025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43850" y="1724025"/>
            <a:ext cx="3200400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96250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96250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34400" y="1933575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嵌套≤2 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6250" y="2333625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遵循度友好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47750" y="3495675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47750" y="3495675"/>
            <a:ext cx="3200400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200150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00150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38300" y="3705225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错误留位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00150" y="4105275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null 表缺失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95800" y="3495675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495800" y="3495675"/>
            <a:ext cx="3200400" cy="5715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648200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48200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86350" y="3705225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版本字段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48200" y="4105275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兼容演进|Schema 越简单遵循度越高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122/139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反喂重试的 Prompt 构造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附上原始输出+校验错误详情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明确要求:只修错误,别重写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附上 Schema 全文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反喂一次的修复率通常超八成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123/139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降级策略设计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缓存上次成功结果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业务默认值(标记降级)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转人工队列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降级路径必须有测试覆盖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124/139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结构化输出降级路径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24125" y="1905000"/>
            <a:ext cx="2228850" cy="1047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4125" y="1905000"/>
            <a:ext cx="2228850" cy="1047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OK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05375" y="1905000"/>
            <a:ext cx="2228850" cy="1047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05375" y="1905000"/>
            <a:ext cx="2228850" cy="1047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RETRY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86625" y="1905000"/>
            <a:ext cx="2228850" cy="1047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86625" y="1905000"/>
            <a:ext cx="2228850" cy="1047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FEEDBACK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24125" y="3524250"/>
            <a:ext cx="2228850" cy="1047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24125" y="3524250"/>
            <a:ext cx="2228850" cy="1047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CACHED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05375" y="3524250"/>
            <a:ext cx="2228850" cy="1047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05375" y="3524250"/>
            <a:ext cx="2228850" cy="1047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DEFAULT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86625" y="3524250"/>
            <a:ext cx="2228850" cy="1047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86625" y="3524250"/>
            <a:ext cx="2228850" cy="1047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MANUAL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752975" y="2428875"/>
            <a:ext cx="152400" cy="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Isosceles Triangle 17"/>
          <p:cNvSpPr/>
          <p:nvPr/>
        </p:nvSpPr>
        <p:spPr>
          <a:xfrm rot="5400000">
            <a:off x="4819651" y="2386013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71925" y="2105025"/>
            <a:ext cx="17145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校验失败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134225" y="2428875"/>
            <a:ext cx="152400" cy="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/>
          <p:cNvSpPr/>
          <p:nvPr/>
        </p:nvSpPr>
        <p:spPr>
          <a:xfrm rot="5400000">
            <a:off x="7200901" y="2386013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3175" y="2105025"/>
            <a:ext cx="17145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错误反喂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4752975" y="2428875"/>
            <a:ext cx="3648075" cy="161925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Isosceles Triangle 23"/>
          <p:cNvSpPr/>
          <p:nvPr/>
        </p:nvSpPr>
        <p:spPr>
          <a:xfrm rot="14763917">
            <a:off x="4749289" y="3987874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43562" y="2105025"/>
            <a:ext cx="17145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二败取缓存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752975" y="4048125"/>
            <a:ext cx="152400" cy="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Isosceles Triangle 26"/>
          <p:cNvSpPr/>
          <p:nvPr/>
        </p:nvSpPr>
        <p:spPr>
          <a:xfrm rot="5400000">
            <a:off x="4819651" y="4005263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71925" y="3724275"/>
            <a:ext cx="17145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无缓存给默认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134225" y="4048125"/>
            <a:ext cx="152400" cy="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Isosceles Triangle 29"/>
          <p:cNvSpPr/>
          <p:nvPr/>
        </p:nvSpPr>
        <p:spPr>
          <a:xfrm rot="5400000">
            <a:off x="7200901" y="4005263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3175" y="3724275"/>
            <a:ext cx="17145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高危转人工|每一级都可测试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125/139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应用:周报复生成器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Schema:指标名/值/环比/归因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归因字段强制引用原文片段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校验:数值类型+环比方向合法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126/139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踩坑:大 Schema 降低遵循度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字段超过 20 个错误率飙升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修复:拆多次调用+程序合并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或顶层拆 subsection 分步抽取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127/139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优化:Schema 缓存与复用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常用 Schema 进模板库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版本化:字段变更走评审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导出 JSON Schema 供多语言消费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128/139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Gateway 部署拓扑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无状态多副本 + LB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依赖:Redis(限流)/PG(留痕)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健康检查:LLM Provider 探活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单机 Compose 验证,多节点同构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129/139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M1 里程碑:平台已有能力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Provider 抽象 + Mock 确定性回放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模型路由 fallback + 留痕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SSE 流式 + GraphQL 查询面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68 个测试,覆盖率 96%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真实供应商只需 .env 切换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130/139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2026 前沿①:提示词工程新范式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172402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1724025"/>
            <a:ext cx="4924425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00150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150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8300" y="193357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DSPy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233362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Prompt 编译器(程序化优化)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9825" y="172402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9825" y="1724025"/>
            <a:ext cx="4924425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72225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2225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0375" y="193357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Prompt Caching 经济学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2225" y="233362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官方缓存省 50~90% 输入费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7750" y="349567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47750" y="3495675"/>
            <a:ext cx="4924425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200150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00150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38300" y="370522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结构化输出已成为 API 原生能力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0150" y="410527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/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9825" y="349567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9825" y="3495675"/>
            <a:ext cx="4924425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72225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2225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0375" y="370522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A/B→多臂老虎机自动择优|企业案例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2225" y="410527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Cursor 的 Cursor Rules 生态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131/139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真实联调延迟对比(秒)</a:t>
            </a:r>
          </a:p>
        </p:txBody>
      </p:sp>
      <p:pic>
        <p:nvPicPr>
          <p:cNvPr id="5" name="Picture 4" descr="chart_5475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50" y="914400"/>
            <a:ext cx="9334500" cy="441655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428750" y="5867400"/>
            <a:ext cx="9334500" cy="609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" y="5867400"/>
            <a:ext cx="895350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563EB"/>
                </a:solidFill>
                <a:latin typeface="PingFang SC"/>
              </a:rPr>
              <a:t>💡 流式首响应快 3.5 倍:TTFT 是体验北极星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132/139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本章小结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能力模型:后端优势平移+四项新能力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API/参数/Token:调用稳定性基石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Streaming:体验与成本的双重解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Prompt/结构化:从 Demo 到工程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下一章:让模型长出手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133/139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2026 前沿②:模型生态与案例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172402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1724025"/>
            <a:ext cx="4924425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00150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150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8300" y="193357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国产双雄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233362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GLM-5(1M 上下文)/DeepSeek-V4(推理强)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9825" y="172402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9825" y="1724025"/>
            <a:ext cx="4924425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72225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2225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0375" y="193357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编码代理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2225" y="233362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Claude Code/Cursor/Devin(任务级自主)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7750" y="349567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47750" y="3495675"/>
            <a:ext cx="4924425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200150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00150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38300" y="370522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国内平台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0150" y="410527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扣子(Coze)/百炼(阿里)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9825" y="349567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9825" y="3495675"/>
            <a:ext cx="4924425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72225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2225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0375" y="370522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本课程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2225" y="410527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双协议实测 GLM-5.3|2026-10 实测数据在册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134/139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M1 里程碑成果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2^协议^OpenAI+Anthropic;17.0^秒^真实联调;626^tokens^单次全程;93%^覆盖率^模块级|两协议实测 2026-10-03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7750" y="1905000"/>
            <a:ext cx="2309812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47750" y="1905000"/>
            <a:ext cx="2309812" cy="76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7750" y="2286000"/>
            <a:ext cx="2309812" cy="1047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2563EB"/>
                </a:solidFill>
                <a:latin typeface="PingFang SC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7750" y="3333750"/>
            <a:ext cx="2309812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PingFang SC"/>
              </a:rPr>
              <a:t>协议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4057650"/>
            <a:ext cx="2005012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OpenAI+Anthropic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43312" y="1905000"/>
            <a:ext cx="2309812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43312" y="1905000"/>
            <a:ext cx="2309812" cy="76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43312" y="2286000"/>
            <a:ext cx="2309812" cy="1047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14B8A6"/>
                </a:solidFill>
                <a:latin typeface="PingFang SC"/>
              </a:rPr>
              <a:t>17.0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3312" y="3333750"/>
            <a:ext cx="2309812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PingFang SC"/>
              </a:rPr>
              <a:t>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5712" y="4057650"/>
            <a:ext cx="2005012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真实联调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8874" y="1905000"/>
            <a:ext cx="2309812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8874" y="1905000"/>
            <a:ext cx="2309812" cy="762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38874" y="2286000"/>
            <a:ext cx="2309812" cy="1047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8B5CF6"/>
                </a:solidFill>
                <a:latin typeface="PingFang SC"/>
              </a:rPr>
              <a:t>626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8874" y="3333750"/>
            <a:ext cx="2309812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PingFang SC"/>
              </a:rPr>
              <a:t>tokens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1274" y="4057650"/>
            <a:ext cx="2005012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单次全程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34436" y="1905000"/>
            <a:ext cx="2309812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834436" y="1905000"/>
            <a:ext cx="2309812" cy="76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34436" y="2286000"/>
            <a:ext cx="2309812" cy="1047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F59E0B"/>
                </a:solidFill>
                <a:latin typeface="PingFang SC"/>
              </a:rPr>
              <a:t>93%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34436" y="3333750"/>
            <a:ext cx="2309812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PingFang SC"/>
              </a:rPr>
              <a:t>覆盖率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86836" y="4057650"/>
            <a:ext cx="2005012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模块级|两协议实测 2026-10-03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135/139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Lab1 验收清单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47625" cy="8763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14450" y="91440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[ ] Mock 单测全绿,覆盖率 ≥80%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9650" y="128587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81725" y="91440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81725" y="914400"/>
            <a:ext cx="47625" cy="8763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19875" y="91440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[ ] SSE 打字机效果(curl -N 演示)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15075" y="128587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76300" y="196215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76300" y="1962150"/>
            <a:ext cx="47625" cy="8763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14450" y="196215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[ ] 主模型故障自动 fallback(attempts=2)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9650" y="233362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81725" y="196215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81725" y="1962150"/>
            <a:ext cx="47625" cy="8763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19875" y="196215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[ ] 结构化输出反喂重试成功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15075" y="233362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76300" y="300990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76300" y="3009900"/>
            <a:ext cx="47625" cy="8763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14450" y="300990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[ ] Prompt 模板进仓库并带版本号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9650" y="338137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136/139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4800" y="0"/>
            <a:ext cx="11430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B1D3A"/>
                </a:solidFill>
                <a:latin typeface="PingFang SC"/>
              </a:rPr>
              <a:t>自测 · 结构化输出与 Gateway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" y="1143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3000" y="1143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90650" y="1143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05000" y="1143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为什么禁止裸解析自然语言?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1905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1905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1905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5000" y="1905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反喂重试的 Prompt 怎么构造?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2667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2667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2667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05000" y="2667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语义缓存阈值为什么 0.92?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29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3429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3429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05000" y="3429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Gateway 单点怎么防?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137/139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143000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59E0B"/>
                </a:solidFill>
                <a:latin typeface="PingFang SC"/>
              </a:rPr>
              <a:t>Anthropic complete · src/agent_platform/gateway/anthropic_provider.py:86-116</a:t>
            </a:r>
          </a:p>
        </p:txBody>
      </p:sp>
      <p:pic>
        <p:nvPicPr>
          <p:cNvPr id="5" name="Picture 4" descr="cod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3515" y="762000"/>
            <a:ext cx="9564969" cy="5760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138/139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下一章预告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Function Calling:模型如何选工具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Tool Registry:工具如何被治理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MCP:工具如何标准化接入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目标里程碑 M2:工具调用基础设施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把"会说话"的模型变成"能干活"的模型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139/139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